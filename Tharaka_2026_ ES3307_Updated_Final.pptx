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84"/>
  </p:notesMasterIdLst>
  <p:sldIdLst>
    <p:sldId id="638" r:id="rId2"/>
    <p:sldId id="616" r:id="rId3"/>
    <p:sldId id="632" r:id="rId4"/>
    <p:sldId id="614" r:id="rId5"/>
    <p:sldId id="639" r:id="rId6"/>
    <p:sldId id="631" r:id="rId7"/>
    <p:sldId id="633" r:id="rId8"/>
    <p:sldId id="617" r:id="rId9"/>
    <p:sldId id="634" r:id="rId10"/>
    <p:sldId id="622" r:id="rId11"/>
    <p:sldId id="623" r:id="rId12"/>
    <p:sldId id="624" r:id="rId13"/>
    <p:sldId id="625" r:id="rId14"/>
    <p:sldId id="626" r:id="rId15"/>
    <p:sldId id="620" r:id="rId16"/>
    <p:sldId id="615" r:id="rId17"/>
    <p:sldId id="598" r:id="rId18"/>
    <p:sldId id="587" r:id="rId19"/>
    <p:sldId id="599" r:id="rId20"/>
    <p:sldId id="577" r:id="rId21"/>
    <p:sldId id="539" r:id="rId22"/>
    <p:sldId id="541" r:id="rId23"/>
    <p:sldId id="554" r:id="rId24"/>
    <p:sldId id="556" r:id="rId25"/>
    <p:sldId id="553" r:id="rId26"/>
    <p:sldId id="589" r:id="rId27"/>
    <p:sldId id="600" r:id="rId28"/>
    <p:sldId id="601" r:id="rId29"/>
    <p:sldId id="604" r:id="rId30"/>
    <p:sldId id="605" r:id="rId31"/>
    <p:sldId id="602" r:id="rId32"/>
    <p:sldId id="544" r:id="rId33"/>
    <p:sldId id="559" r:id="rId34"/>
    <p:sldId id="560" r:id="rId35"/>
    <p:sldId id="607" r:id="rId36"/>
    <p:sldId id="606" r:id="rId37"/>
    <p:sldId id="478" r:id="rId38"/>
    <p:sldId id="561" r:id="rId39"/>
    <p:sldId id="565" r:id="rId40"/>
    <p:sldId id="502" r:id="rId41"/>
    <p:sldId id="608" r:id="rId42"/>
    <p:sldId id="562" r:id="rId43"/>
    <p:sldId id="563" r:id="rId44"/>
    <p:sldId id="609" r:id="rId45"/>
    <p:sldId id="564" r:id="rId46"/>
    <p:sldId id="570" r:id="rId47"/>
    <p:sldId id="503" r:id="rId48"/>
    <p:sldId id="504" r:id="rId49"/>
    <p:sldId id="611" r:id="rId50"/>
    <p:sldId id="505" r:id="rId51"/>
    <p:sldId id="566" r:id="rId52"/>
    <p:sldId id="612" r:id="rId53"/>
    <p:sldId id="580" r:id="rId54"/>
    <p:sldId id="513" r:id="rId55"/>
    <p:sldId id="514" r:id="rId56"/>
    <p:sldId id="515" r:id="rId57"/>
    <p:sldId id="516" r:id="rId58"/>
    <p:sldId id="517" r:id="rId59"/>
    <p:sldId id="518" r:id="rId60"/>
    <p:sldId id="520" r:id="rId61"/>
    <p:sldId id="581" r:id="rId62"/>
    <p:sldId id="640" r:id="rId63"/>
    <p:sldId id="648" r:id="rId64"/>
    <p:sldId id="644" r:id="rId65"/>
    <p:sldId id="645" r:id="rId66"/>
    <p:sldId id="649" r:id="rId67"/>
    <p:sldId id="582" r:id="rId68"/>
    <p:sldId id="525" r:id="rId69"/>
    <p:sldId id="583" r:id="rId70"/>
    <p:sldId id="501" r:id="rId71"/>
    <p:sldId id="280" r:id="rId72"/>
    <p:sldId id="284" r:id="rId73"/>
    <p:sldId id="646" r:id="rId74"/>
    <p:sldId id="647" r:id="rId75"/>
    <p:sldId id="330" r:id="rId76"/>
    <p:sldId id="286" r:id="rId77"/>
    <p:sldId id="531" r:id="rId78"/>
    <p:sldId id="526" r:id="rId79"/>
    <p:sldId id="264" r:id="rId80"/>
    <p:sldId id="266" r:id="rId81"/>
    <p:sldId id="527" r:id="rId82"/>
    <p:sldId id="637" r:id="rId8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31DF4"/>
    <a:srgbClr val="F300D1"/>
    <a:srgbClr val="F6BE9B"/>
    <a:srgbClr val="92D355"/>
    <a:srgbClr val="F4C099"/>
    <a:srgbClr val="EEC423"/>
    <a:srgbClr val="EEC424"/>
    <a:srgbClr val="EFC32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7461" autoAdjust="0"/>
    <p:restoredTop sz="89142" autoAdjust="0"/>
  </p:normalViewPr>
  <p:slideViewPr>
    <p:cSldViewPr snapToGrid="0">
      <p:cViewPr varScale="1">
        <p:scale>
          <a:sx n="111" d="100"/>
          <a:sy n="111" d="100"/>
        </p:scale>
        <p:origin x="2744" y="2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notesMaster" Target="notesMasters/notesMaster1.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theme" Target="theme/theme1.xml"/><Relationship Id="rId61" Type="http://schemas.openxmlformats.org/officeDocument/2006/relationships/slide" Target="slides/slide60.xml"/><Relationship Id="rId82" Type="http://schemas.openxmlformats.org/officeDocument/2006/relationships/slide" Target="slides/slide8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5C381A3-B0D4-4C0D-B0D1-6E607D324D3C}" type="datetimeFigureOut">
              <a:rPr lang="en-US" smtClean="0"/>
              <a:t>10/22/26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F51045D-5295-401B-A3F3-9FD35C01FE75}" type="slidenum">
              <a:rPr lang="en-US" smtClean="0"/>
              <a:t>‹#›</a:t>
            </a:fld>
            <a:endParaRPr lang="en-US"/>
          </a:p>
        </p:txBody>
      </p:sp>
    </p:spTree>
    <p:extLst>
      <p:ext uri="{BB962C8B-B14F-4D97-AF65-F5344CB8AC3E}">
        <p14:creationId xmlns:p14="http://schemas.microsoft.com/office/powerpoint/2010/main" val="997583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AIC/BIC/WIC/ focus on multiple non-null models and model uncertainty, but will not fix science. There is no theory where the models come from </a:t>
            </a:r>
          </a:p>
        </p:txBody>
      </p:sp>
      <p:sp>
        <p:nvSpPr>
          <p:cNvPr id="4" name="Slide Number Placeholder 3"/>
          <p:cNvSpPr>
            <a:spLocks noGrp="1"/>
          </p:cNvSpPr>
          <p:nvPr>
            <p:ph type="sldNum" sz="quarter" idx="5"/>
          </p:nvPr>
        </p:nvSpPr>
        <p:spPr/>
        <p:txBody>
          <a:bodyPr/>
          <a:lstStyle/>
          <a:p>
            <a:fld id="{1F51045D-5295-401B-A3F3-9FD35C01FE75}" type="slidenum">
              <a:rPr lang="en-US" smtClean="0"/>
              <a:t>20</a:t>
            </a:fld>
            <a:endParaRPr lang="en-US"/>
          </a:p>
        </p:txBody>
      </p:sp>
    </p:spTree>
    <p:extLst>
      <p:ext uri="{BB962C8B-B14F-4D97-AF65-F5344CB8AC3E}">
        <p14:creationId xmlns:p14="http://schemas.microsoft.com/office/powerpoint/2010/main" val="193037673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goal is to infer causes </a:t>
            </a:r>
          </a:p>
          <a:p>
            <a:r>
              <a:rPr lang="en-US" dirty="0"/>
              <a:t>All inference requires casual information </a:t>
            </a:r>
          </a:p>
          <a:p>
            <a:r>
              <a:rPr lang="en-US" dirty="0"/>
              <a:t>What produce the sample that we are trying to describe </a:t>
            </a:r>
          </a:p>
          <a:p>
            <a:endParaRPr lang="en-US" dirty="0"/>
          </a:p>
        </p:txBody>
      </p:sp>
      <p:sp>
        <p:nvSpPr>
          <p:cNvPr id="4" name="Slide Number Placeholder 3"/>
          <p:cNvSpPr>
            <a:spLocks noGrp="1"/>
          </p:cNvSpPr>
          <p:nvPr>
            <p:ph type="sldNum" sz="quarter" idx="5"/>
          </p:nvPr>
        </p:nvSpPr>
        <p:spPr/>
        <p:txBody>
          <a:bodyPr/>
          <a:lstStyle/>
          <a:p>
            <a:fld id="{1F51045D-5295-401B-A3F3-9FD35C01FE75}" type="slidenum">
              <a:rPr lang="en-US" smtClean="0"/>
              <a:t>21</a:t>
            </a:fld>
            <a:endParaRPr lang="en-US"/>
          </a:p>
        </p:txBody>
      </p:sp>
    </p:spTree>
    <p:extLst>
      <p:ext uri="{BB962C8B-B14F-4D97-AF65-F5344CB8AC3E}">
        <p14:creationId xmlns:p14="http://schemas.microsoft.com/office/powerpoint/2010/main" val="286604398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Screen Recording 2026-10-16 at 4.22.21 PM.mp4</a:t>
            </a:r>
          </a:p>
        </p:txBody>
      </p:sp>
      <p:sp>
        <p:nvSpPr>
          <p:cNvPr id="4" name="Slide Number Placeholder 3"/>
          <p:cNvSpPr>
            <a:spLocks noGrp="1"/>
          </p:cNvSpPr>
          <p:nvPr>
            <p:ph type="sldNum" sz="quarter" idx="5"/>
          </p:nvPr>
        </p:nvSpPr>
        <p:spPr/>
        <p:txBody>
          <a:bodyPr/>
          <a:lstStyle/>
          <a:p>
            <a:fld id="{1F51045D-5295-401B-A3F3-9FD35C01FE75}" type="slidenum">
              <a:rPr lang="en-US" smtClean="0"/>
              <a:t>24</a:t>
            </a:fld>
            <a:endParaRPr lang="en-US"/>
          </a:p>
        </p:txBody>
      </p:sp>
    </p:spTree>
    <p:extLst>
      <p:ext uri="{BB962C8B-B14F-4D97-AF65-F5344CB8AC3E}">
        <p14:creationId xmlns:p14="http://schemas.microsoft.com/office/powerpoint/2010/main" val="67445052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F51045D-5295-401B-A3F3-9FD35C01FE75}" type="slidenum">
              <a:rPr lang="en-US" smtClean="0"/>
              <a:t>27</a:t>
            </a:fld>
            <a:endParaRPr lang="en-US"/>
          </a:p>
        </p:txBody>
      </p:sp>
    </p:spTree>
    <p:extLst>
      <p:ext uri="{BB962C8B-B14F-4D97-AF65-F5344CB8AC3E}">
        <p14:creationId xmlns:p14="http://schemas.microsoft.com/office/powerpoint/2010/main" val="70910896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84C383-4765-C307-D73D-34594B5C7E3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1CADEDE-A25B-BBEB-886B-D249D02EA85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9BE102C-3A58-18D2-C960-7BE99518150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2B93E6F-4462-2279-1AA7-F1DE2F4D452E}"/>
              </a:ext>
            </a:extLst>
          </p:cNvPr>
          <p:cNvSpPr>
            <a:spLocks noGrp="1"/>
          </p:cNvSpPr>
          <p:nvPr>
            <p:ph type="sldNum" sz="quarter" idx="5"/>
          </p:nvPr>
        </p:nvSpPr>
        <p:spPr/>
        <p:txBody>
          <a:bodyPr/>
          <a:lstStyle/>
          <a:p>
            <a:fld id="{1F51045D-5295-401B-A3F3-9FD35C01FE75}" type="slidenum">
              <a:rPr lang="en-US" smtClean="0"/>
              <a:t>29</a:t>
            </a:fld>
            <a:endParaRPr lang="en-US"/>
          </a:p>
        </p:txBody>
      </p:sp>
    </p:spTree>
    <p:extLst>
      <p:ext uri="{BB962C8B-B14F-4D97-AF65-F5344CB8AC3E}">
        <p14:creationId xmlns:p14="http://schemas.microsoft.com/office/powerpoint/2010/main" val="53390181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we say “statistical information passes from X to Y” in causal inference, we mean that knowing the value of X tells us something about the likely value of Y.</a:t>
            </a:r>
          </a:p>
        </p:txBody>
      </p:sp>
      <p:sp>
        <p:nvSpPr>
          <p:cNvPr id="4" name="Slide Number Placeholder 3"/>
          <p:cNvSpPr>
            <a:spLocks noGrp="1"/>
          </p:cNvSpPr>
          <p:nvPr>
            <p:ph type="sldNum" sz="quarter" idx="5"/>
          </p:nvPr>
        </p:nvSpPr>
        <p:spPr/>
        <p:txBody>
          <a:bodyPr/>
          <a:lstStyle/>
          <a:p>
            <a:fld id="{1F51045D-5295-401B-A3F3-9FD35C01FE75}" type="slidenum">
              <a:rPr lang="en-US" smtClean="0"/>
              <a:t>56</a:t>
            </a:fld>
            <a:endParaRPr lang="en-US"/>
          </a:p>
        </p:txBody>
      </p:sp>
    </p:spTree>
    <p:extLst>
      <p:ext uri="{BB962C8B-B14F-4D97-AF65-F5344CB8AC3E}">
        <p14:creationId xmlns:p14="http://schemas.microsoft.com/office/powerpoint/2010/main" val="116915871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Yes, Yes, Non-collider, No, Yes</a:t>
            </a:r>
          </a:p>
        </p:txBody>
      </p:sp>
      <p:sp>
        <p:nvSpPr>
          <p:cNvPr id="4" name="Slide Number Placeholder 3"/>
          <p:cNvSpPr>
            <a:spLocks noGrp="1"/>
          </p:cNvSpPr>
          <p:nvPr>
            <p:ph type="sldNum" sz="quarter" idx="5"/>
          </p:nvPr>
        </p:nvSpPr>
        <p:spPr/>
        <p:txBody>
          <a:bodyPr/>
          <a:lstStyle/>
          <a:p>
            <a:fld id="{1F51045D-5295-401B-A3F3-9FD35C01FE75}" type="slidenum">
              <a:rPr lang="en-US" smtClean="0"/>
              <a:t>57</a:t>
            </a:fld>
            <a:endParaRPr lang="en-US"/>
          </a:p>
        </p:txBody>
      </p:sp>
    </p:spTree>
    <p:extLst>
      <p:ext uri="{BB962C8B-B14F-4D97-AF65-F5344CB8AC3E}">
        <p14:creationId xmlns:p14="http://schemas.microsoft.com/office/powerpoint/2010/main" val="353517946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a:t>
            </a:r>
          </a:p>
        </p:txBody>
      </p:sp>
      <p:sp>
        <p:nvSpPr>
          <p:cNvPr id="4" name="Slide Number Placeholder 3"/>
          <p:cNvSpPr>
            <a:spLocks noGrp="1"/>
          </p:cNvSpPr>
          <p:nvPr>
            <p:ph type="sldNum" sz="quarter" idx="5"/>
          </p:nvPr>
        </p:nvSpPr>
        <p:spPr/>
        <p:txBody>
          <a:bodyPr/>
          <a:lstStyle/>
          <a:p>
            <a:fld id="{1F51045D-5295-401B-A3F3-9FD35C01FE75}" type="slidenum">
              <a:rPr lang="en-US" smtClean="0"/>
              <a:t>59</a:t>
            </a:fld>
            <a:endParaRPr lang="en-US"/>
          </a:p>
        </p:txBody>
      </p:sp>
    </p:spTree>
    <p:extLst>
      <p:ext uri="{BB962C8B-B14F-4D97-AF65-F5344CB8AC3E}">
        <p14:creationId xmlns:p14="http://schemas.microsoft.com/office/powerpoint/2010/main" val="135791748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Yes, No, Yes</a:t>
            </a:r>
          </a:p>
          <a:p>
            <a:r>
              <a:rPr lang="en-US" dirty="0"/>
              <a:t>Axiom of conditional independence </a:t>
            </a:r>
          </a:p>
        </p:txBody>
      </p:sp>
      <p:sp>
        <p:nvSpPr>
          <p:cNvPr id="4" name="Slide Number Placeholder 3"/>
          <p:cNvSpPr>
            <a:spLocks noGrp="1"/>
          </p:cNvSpPr>
          <p:nvPr>
            <p:ph type="sldNum" sz="quarter" idx="5"/>
          </p:nvPr>
        </p:nvSpPr>
        <p:spPr/>
        <p:txBody>
          <a:bodyPr/>
          <a:lstStyle/>
          <a:p>
            <a:fld id="{1F51045D-5295-401B-A3F3-9FD35C01FE75}" type="slidenum">
              <a:rPr lang="en-US" smtClean="0"/>
              <a:t>60</a:t>
            </a:fld>
            <a:endParaRPr lang="en-US"/>
          </a:p>
        </p:txBody>
      </p:sp>
    </p:spTree>
    <p:extLst>
      <p:ext uri="{BB962C8B-B14F-4D97-AF65-F5344CB8AC3E}">
        <p14:creationId xmlns:p14="http://schemas.microsoft.com/office/powerpoint/2010/main" val="181564543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F51045D-5295-401B-A3F3-9FD35C01FE75}" type="slidenum">
              <a:rPr lang="en-US" smtClean="0"/>
              <a:t>81</a:t>
            </a:fld>
            <a:endParaRPr lang="en-US"/>
          </a:p>
        </p:txBody>
      </p:sp>
    </p:spTree>
    <p:extLst>
      <p:ext uri="{BB962C8B-B14F-4D97-AF65-F5344CB8AC3E}">
        <p14:creationId xmlns:p14="http://schemas.microsoft.com/office/powerpoint/2010/main" val="252213526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C003964-5EF3-4107-B4B4-932D91DF2A44}" type="datetimeFigureOut">
              <a:rPr lang="en-US" smtClean="0"/>
              <a:t>10/22/26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9798CD-6990-46C7-A154-18B2D6757F27}" type="slidenum">
              <a:rPr lang="en-US" smtClean="0"/>
              <a:t>‹#›</a:t>
            </a:fld>
            <a:endParaRPr lang="en-US"/>
          </a:p>
        </p:txBody>
      </p:sp>
    </p:spTree>
    <p:extLst>
      <p:ext uri="{BB962C8B-B14F-4D97-AF65-F5344CB8AC3E}">
        <p14:creationId xmlns:p14="http://schemas.microsoft.com/office/powerpoint/2010/main" val="20021057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C003964-5EF3-4107-B4B4-932D91DF2A44}" type="datetimeFigureOut">
              <a:rPr lang="en-US" smtClean="0"/>
              <a:t>10/22/26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9798CD-6990-46C7-A154-18B2D6757F27}" type="slidenum">
              <a:rPr lang="en-US" smtClean="0"/>
              <a:t>‹#›</a:t>
            </a:fld>
            <a:endParaRPr lang="en-US"/>
          </a:p>
        </p:txBody>
      </p:sp>
    </p:spTree>
    <p:extLst>
      <p:ext uri="{BB962C8B-B14F-4D97-AF65-F5344CB8AC3E}">
        <p14:creationId xmlns:p14="http://schemas.microsoft.com/office/powerpoint/2010/main" val="18914743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C003964-5EF3-4107-B4B4-932D91DF2A44}" type="datetimeFigureOut">
              <a:rPr lang="en-US" smtClean="0"/>
              <a:t>10/22/26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9798CD-6990-46C7-A154-18B2D6757F27}" type="slidenum">
              <a:rPr lang="en-US" smtClean="0"/>
              <a:t>‹#›</a:t>
            </a:fld>
            <a:endParaRPr lang="en-US"/>
          </a:p>
        </p:txBody>
      </p:sp>
    </p:spTree>
    <p:extLst>
      <p:ext uri="{BB962C8B-B14F-4D97-AF65-F5344CB8AC3E}">
        <p14:creationId xmlns:p14="http://schemas.microsoft.com/office/powerpoint/2010/main" val="36400263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C003964-5EF3-4107-B4B4-932D91DF2A44}" type="datetimeFigureOut">
              <a:rPr lang="en-US" smtClean="0"/>
              <a:t>10/22/26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9798CD-6990-46C7-A154-18B2D6757F27}" type="slidenum">
              <a:rPr lang="en-US" smtClean="0"/>
              <a:t>‹#›</a:t>
            </a:fld>
            <a:endParaRPr lang="en-US"/>
          </a:p>
        </p:txBody>
      </p:sp>
    </p:spTree>
    <p:extLst>
      <p:ext uri="{BB962C8B-B14F-4D97-AF65-F5344CB8AC3E}">
        <p14:creationId xmlns:p14="http://schemas.microsoft.com/office/powerpoint/2010/main" val="36243208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C003964-5EF3-4107-B4B4-932D91DF2A44}" type="datetimeFigureOut">
              <a:rPr lang="en-US" smtClean="0"/>
              <a:t>10/22/26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59798CD-6990-46C7-A154-18B2D6757F27}" type="slidenum">
              <a:rPr lang="en-US" smtClean="0"/>
              <a:t>‹#›</a:t>
            </a:fld>
            <a:endParaRPr lang="en-US"/>
          </a:p>
        </p:txBody>
      </p:sp>
    </p:spTree>
    <p:extLst>
      <p:ext uri="{BB962C8B-B14F-4D97-AF65-F5344CB8AC3E}">
        <p14:creationId xmlns:p14="http://schemas.microsoft.com/office/powerpoint/2010/main" val="33757266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C003964-5EF3-4107-B4B4-932D91DF2A44}" type="datetimeFigureOut">
              <a:rPr lang="en-US" smtClean="0"/>
              <a:t>10/22/26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59798CD-6990-46C7-A154-18B2D6757F27}" type="slidenum">
              <a:rPr lang="en-US" smtClean="0"/>
              <a:t>‹#›</a:t>
            </a:fld>
            <a:endParaRPr lang="en-US"/>
          </a:p>
        </p:txBody>
      </p:sp>
    </p:spTree>
    <p:extLst>
      <p:ext uri="{BB962C8B-B14F-4D97-AF65-F5344CB8AC3E}">
        <p14:creationId xmlns:p14="http://schemas.microsoft.com/office/powerpoint/2010/main" val="10404440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C003964-5EF3-4107-B4B4-932D91DF2A44}" type="datetimeFigureOut">
              <a:rPr lang="en-US" smtClean="0"/>
              <a:t>10/22/26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59798CD-6990-46C7-A154-18B2D6757F27}" type="slidenum">
              <a:rPr lang="en-US" smtClean="0"/>
              <a:t>‹#›</a:t>
            </a:fld>
            <a:endParaRPr lang="en-US"/>
          </a:p>
        </p:txBody>
      </p:sp>
    </p:spTree>
    <p:extLst>
      <p:ext uri="{BB962C8B-B14F-4D97-AF65-F5344CB8AC3E}">
        <p14:creationId xmlns:p14="http://schemas.microsoft.com/office/powerpoint/2010/main" val="41591449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C003964-5EF3-4107-B4B4-932D91DF2A44}" type="datetimeFigureOut">
              <a:rPr lang="en-US" smtClean="0"/>
              <a:t>10/22/26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9798CD-6990-46C7-A154-18B2D6757F27}" type="slidenum">
              <a:rPr lang="en-US" smtClean="0"/>
              <a:t>‹#›</a:t>
            </a:fld>
            <a:endParaRPr lang="en-US"/>
          </a:p>
        </p:txBody>
      </p:sp>
    </p:spTree>
    <p:extLst>
      <p:ext uri="{BB962C8B-B14F-4D97-AF65-F5344CB8AC3E}">
        <p14:creationId xmlns:p14="http://schemas.microsoft.com/office/powerpoint/2010/main" val="40248484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C003964-5EF3-4107-B4B4-932D91DF2A44}" type="datetimeFigureOut">
              <a:rPr lang="en-US" smtClean="0"/>
              <a:t>10/22/26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9798CD-6990-46C7-A154-18B2D6757F27}" type="slidenum">
              <a:rPr lang="en-US" smtClean="0"/>
              <a:t>‹#›</a:t>
            </a:fld>
            <a:endParaRPr lang="en-US"/>
          </a:p>
        </p:txBody>
      </p:sp>
    </p:spTree>
    <p:extLst>
      <p:ext uri="{BB962C8B-B14F-4D97-AF65-F5344CB8AC3E}">
        <p14:creationId xmlns:p14="http://schemas.microsoft.com/office/powerpoint/2010/main" val="307656843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C003964-5EF3-4107-B4B4-932D91DF2A44}" type="datetimeFigureOut">
              <a:rPr lang="en-US" smtClean="0"/>
              <a:t>10/22/26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9798CD-6990-46C7-A154-18B2D6757F27}" type="slidenum">
              <a:rPr lang="en-US" smtClean="0"/>
              <a:t>‹#›</a:t>
            </a:fld>
            <a:endParaRPr lang="en-US"/>
          </a:p>
        </p:txBody>
      </p:sp>
    </p:spTree>
    <p:extLst>
      <p:ext uri="{BB962C8B-B14F-4D97-AF65-F5344CB8AC3E}">
        <p14:creationId xmlns:p14="http://schemas.microsoft.com/office/powerpoint/2010/main" val="34863202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C003964-5EF3-4107-B4B4-932D91DF2A44}" type="datetimeFigureOut">
              <a:rPr lang="en-US" smtClean="0"/>
              <a:t>10/22/26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9798CD-6990-46C7-A154-18B2D6757F27}" type="slidenum">
              <a:rPr lang="en-US" smtClean="0"/>
              <a:t>‹#›</a:t>
            </a:fld>
            <a:endParaRPr lang="en-US"/>
          </a:p>
        </p:txBody>
      </p:sp>
    </p:spTree>
    <p:extLst>
      <p:ext uri="{BB962C8B-B14F-4D97-AF65-F5344CB8AC3E}">
        <p14:creationId xmlns:p14="http://schemas.microsoft.com/office/powerpoint/2010/main" val="26794934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C003964-5EF3-4107-B4B4-932D91DF2A44}" type="datetimeFigureOut">
              <a:rPr lang="en-US" smtClean="0"/>
              <a:t>10/22/26</a:t>
            </a:fld>
            <a:endParaRPr 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59798CD-6990-46C7-A154-18B2D6757F27}" type="slidenum">
              <a:rPr lang="en-US" smtClean="0"/>
              <a:t>‹#›</a:t>
            </a:fld>
            <a:endParaRPr lang="en-US"/>
          </a:p>
        </p:txBody>
      </p:sp>
    </p:spTree>
    <p:extLst>
      <p:ext uri="{BB962C8B-B14F-4D97-AF65-F5344CB8AC3E}">
        <p14:creationId xmlns:p14="http://schemas.microsoft.com/office/powerpoint/2010/main" val="29264970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6.jpg"/></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6.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6.xml"/><Relationship Id="rId4" Type="http://schemas.openxmlformats.org/officeDocument/2006/relationships/image" Target="../media/image21.png"/></Relationships>
</file>

<file path=ppt/slides/_rels/slide15.xml.rels><?xml version="1.0" encoding="UTF-8" standalone="yes"?>
<Relationships xmlns="http://schemas.openxmlformats.org/package/2006/relationships"><Relationship Id="rId2" Type="http://schemas.openxmlformats.org/officeDocument/2006/relationships/image" Target="../media/image22.jp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3.jp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8" Type="http://schemas.openxmlformats.org/officeDocument/2006/relationships/image" Target="../media/image30.jpg"/><Relationship Id="rId3" Type="http://schemas.openxmlformats.org/officeDocument/2006/relationships/image" Target="../media/image25.jpg"/><Relationship Id="rId7" Type="http://schemas.openxmlformats.org/officeDocument/2006/relationships/image" Target="../media/image29.jpg"/><Relationship Id="rId2" Type="http://schemas.openxmlformats.org/officeDocument/2006/relationships/image" Target="../media/image24.png"/><Relationship Id="rId1" Type="http://schemas.openxmlformats.org/officeDocument/2006/relationships/slideLayout" Target="../slideLayouts/slideLayout2.xml"/><Relationship Id="rId6" Type="http://schemas.openxmlformats.org/officeDocument/2006/relationships/image" Target="../media/image28.jpg"/><Relationship Id="rId5" Type="http://schemas.openxmlformats.org/officeDocument/2006/relationships/image" Target="../media/image27.jpeg"/><Relationship Id="rId4" Type="http://schemas.openxmlformats.org/officeDocument/2006/relationships/image" Target="../media/image26.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32.jp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33.jp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39.jp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41.jp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42.jpe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46.jp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6.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48.jp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52.jpeg"/><Relationship Id="rId2" Type="http://schemas.openxmlformats.org/officeDocument/2006/relationships/image" Target="../media/image51.jpg"/><Relationship Id="rId1" Type="http://schemas.openxmlformats.org/officeDocument/2006/relationships/slideLayout" Target="../slideLayouts/slideLayout2.xml"/><Relationship Id="rId5" Type="http://schemas.openxmlformats.org/officeDocument/2006/relationships/image" Target="../media/image54.png"/><Relationship Id="rId4" Type="http://schemas.openxmlformats.org/officeDocument/2006/relationships/image" Target="../media/image53.jpg"/></Relationships>
</file>

<file path=ppt/slides/_rels/slide74.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5.jp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hyperlink" Target="https://doi.org/10.1007/s10531-015-1001-x" TargetMode="Externa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56.jp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a:extLst>
              <a:ext uri="{FF2B5EF4-FFF2-40B4-BE49-F238E27FC236}">
                <a16:creationId xmlns:a16="http://schemas.microsoft.com/office/drawing/2014/main" id="{496A5F5A-944E-94F2-BE2E-4698F5282DC6}"/>
              </a:ext>
            </a:extLst>
          </p:cNvPr>
          <p:cNvSpPr txBox="1"/>
          <p:nvPr/>
        </p:nvSpPr>
        <p:spPr>
          <a:xfrm>
            <a:off x="222885" y="350939"/>
            <a:ext cx="6953458" cy="461665"/>
          </a:xfrm>
          <a:prstGeom prst="rect">
            <a:avLst/>
          </a:prstGeom>
          <a:noFill/>
        </p:spPr>
        <p:txBody>
          <a:bodyPr wrap="square">
            <a:spAutoFit/>
          </a:bodyPr>
          <a:lstStyle/>
          <a:p>
            <a:r>
              <a:rPr lang="en-US" sz="2400" b="1" dirty="0">
                <a:latin typeface="Arial" panose="020B0604020202020204" pitchFamily="34" charset="0"/>
                <a:cs typeface="Arial" panose="020B0604020202020204" pitchFamily="34" charset="0"/>
              </a:rPr>
              <a:t>Learning Objectives</a:t>
            </a:r>
          </a:p>
        </p:txBody>
      </p:sp>
      <p:sp>
        <p:nvSpPr>
          <p:cNvPr id="13" name="TextBox 12">
            <a:extLst>
              <a:ext uri="{FF2B5EF4-FFF2-40B4-BE49-F238E27FC236}">
                <a16:creationId xmlns:a16="http://schemas.microsoft.com/office/drawing/2014/main" id="{394D30EC-270C-80E1-201A-D4FDA3AA9A4B}"/>
              </a:ext>
            </a:extLst>
          </p:cNvPr>
          <p:cNvSpPr txBox="1"/>
          <p:nvPr/>
        </p:nvSpPr>
        <p:spPr>
          <a:xfrm>
            <a:off x="222885" y="945700"/>
            <a:ext cx="8521065" cy="4057457"/>
          </a:xfrm>
          <a:prstGeom prst="rect">
            <a:avLst/>
          </a:prstGeom>
          <a:noFill/>
        </p:spPr>
        <p:txBody>
          <a:bodyPr wrap="square">
            <a:spAutoFit/>
          </a:bodyPr>
          <a:lstStyle/>
          <a:p>
            <a:r>
              <a:rPr lang="en-US" dirty="0">
                <a:latin typeface="Arial" panose="020B0604020202020204" pitchFamily="34" charset="0"/>
                <a:cs typeface="Arial" panose="020B0604020202020204" pitchFamily="34" charset="0"/>
              </a:rPr>
              <a:t>By the end of this lecture, you should be able to:</a:t>
            </a:r>
          </a:p>
          <a:p>
            <a:endParaRPr lang="en-US" dirty="0">
              <a:latin typeface="Arial" panose="020B0604020202020204" pitchFamily="34" charset="0"/>
              <a:cs typeface="Arial" panose="020B0604020202020204" pitchFamily="34" charset="0"/>
            </a:endParaRPr>
          </a:p>
          <a:p>
            <a:pPr>
              <a:lnSpc>
                <a:spcPct val="150000"/>
              </a:lnSpc>
            </a:pPr>
            <a:r>
              <a:rPr lang="en-US" dirty="0">
                <a:latin typeface="Arial" panose="020B0604020202020204" pitchFamily="34" charset="0"/>
                <a:cs typeface="Arial" panose="020B0604020202020204" pitchFamily="34" charset="0"/>
              </a:rPr>
              <a:t>1. Understand common statistical model selection approaches, including AIC, model averaging, and stepwise regression, and </a:t>
            </a:r>
            <a:r>
              <a:rPr lang="en-US" dirty="0" err="1">
                <a:latin typeface="Arial" panose="020B0604020202020204" pitchFamily="34" charset="0"/>
                <a:cs typeface="Arial" panose="020B0604020202020204" pitchFamily="34" charset="0"/>
              </a:rPr>
              <a:t>recognise</a:t>
            </a:r>
            <a:r>
              <a:rPr lang="en-US" dirty="0">
                <a:latin typeface="Arial" panose="020B0604020202020204" pitchFamily="34" charset="0"/>
                <a:cs typeface="Arial" panose="020B0604020202020204" pitchFamily="34" charset="0"/>
              </a:rPr>
              <a:t> their limitations and potential pitfalls.</a:t>
            </a:r>
          </a:p>
          <a:p>
            <a:endParaRPr lang="en-US" dirty="0">
              <a:latin typeface="Arial" panose="020B0604020202020204" pitchFamily="34" charset="0"/>
              <a:cs typeface="Arial" panose="020B0604020202020204" pitchFamily="34" charset="0"/>
            </a:endParaRPr>
          </a:p>
          <a:p>
            <a:pPr>
              <a:lnSpc>
                <a:spcPct val="150000"/>
              </a:lnSpc>
            </a:pPr>
            <a:r>
              <a:rPr lang="en-US" dirty="0">
                <a:latin typeface="Arial" panose="020B0604020202020204" pitchFamily="34" charset="0"/>
                <a:cs typeface="Arial" panose="020B0604020202020204" pitchFamily="34" charset="0"/>
              </a:rPr>
              <a:t>2. Understand the principles of causal model building, including directed acyclic graphs (DAGs), d-separation, and Structural Equation Modelling (SEM).</a:t>
            </a:r>
          </a:p>
          <a:p>
            <a:endParaRPr lang="en-US" dirty="0">
              <a:latin typeface="Arial" panose="020B0604020202020204" pitchFamily="34" charset="0"/>
              <a:cs typeface="Arial" panose="020B0604020202020204" pitchFamily="34" charset="0"/>
            </a:endParaRPr>
          </a:p>
          <a:p>
            <a:pPr>
              <a:lnSpc>
                <a:spcPct val="150000"/>
              </a:lnSpc>
            </a:pPr>
            <a:r>
              <a:rPr lang="en-US" dirty="0">
                <a:latin typeface="Arial" panose="020B0604020202020204" pitchFamily="34" charset="0"/>
                <a:cs typeface="Arial" panose="020B0604020202020204" pitchFamily="34" charset="0"/>
              </a:rPr>
              <a:t>3. Appreciate the difference between predicting relationships and understanding causal relationships.</a:t>
            </a:r>
          </a:p>
        </p:txBody>
      </p:sp>
      <p:sp>
        <p:nvSpPr>
          <p:cNvPr id="17" name="TextBox 16">
            <a:extLst>
              <a:ext uri="{FF2B5EF4-FFF2-40B4-BE49-F238E27FC236}">
                <a16:creationId xmlns:a16="http://schemas.microsoft.com/office/drawing/2014/main" id="{3566FA93-EB8A-BA6C-AFC4-FBF60F92C835}"/>
              </a:ext>
            </a:extLst>
          </p:cNvPr>
          <p:cNvSpPr txBox="1"/>
          <p:nvPr/>
        </p:nvSpPr>
        <p:spPr>
          <a:xfrm>
            <a:off x="222886" y="5136253"/>
            <a:ext cx="7577702" cy="871970"/>
          </a:xfrm>
          <a:prstGeom prst="rect">
            <a:avLst/>
          </a:prstGeom>
          <a:noFill/>
        </p:spPr>
        <p:txBody>
          <a:bodyPr wrap="square" rtlCol="0">
            <a:spAutoFit/>
          </a:bodyPr>
          <a:lstStyle/>
          <a:p>
            <a:pPr>
              <a:lnSpc>
                <a:spcPct val="150000"/>
              </a:lnSpc>
            </a:pPr>
            <a:r>
              <a:rPr lang="en-US" b="1" dirty="0">
                <a:solidFill>
                  <a:srgbClr val="FF0000"/>
                </a:solidFill>
                <a:latin typeface="Arial" panose="020B0604020202020204" pitchFamily="34" charset="0"/>
                <a:cs typeface="Arial" panose="020B0604020202020204" pitchFamily="34" charset="0"/>
              </a:rPr>
              <a:t>Please go to this link, everything you need to do is explained there,</a:t>
            </a:r>
            <a:r>
              <a:rPr lang="en-US" dirty="0">
                <a:latin typeface="Arial" panose="020B0604020202020204" pitchFamily="34" charset="0"/>
                <a:cs typeface="Arial" panose="020B0604020202020204" pitchFamily="34" charset="0"/>
              </a:rPr>
              <a:t> https://</a:t>
            </a:r>
            <a:r>
              <a:rPr lang="en-US" dirty="0" err="1">
                <a:latin typeface="Arial" panose="020B0604020202020204" pitchFamily="34" charset="0"/>
                <a:cs typeface="Arial" panose="020B0604020202020204" pitchFamily="34" charset="0"/>
              </a:rPr>
              <a:t>pad.riseup.net</a:t>
            </a:r>
            <a:r>
              <a:rPr lang="en-US" dirty="0">
                <a:latin typeface="Arial" panose="020B0604020202020204" pitchFamily="34" charset="0"/>
                <a:cs typeface="Arial" panose="020B0604020202020204" pitchFamily="34" charset="0"/>
              </a:rPr>
              <a:t>/p/ES3307_Tharaka-keep</a:t>
            </a:r>
          </a:p>
        </p:txBody>
      </p:sp>
    </p:spTree>
    <p:extLst>
      <p:ext uri="{BB962C8B-B14F-4D97-AF65-F5344CB8AC3E}">
        <p14:creationId xmlns:p14="http://schemas.microsoft.com/office/powerpoint/2010/main" val="3997819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2B953FE-B0F7-5342-8C32-6C6E0107330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55148" y="1762056"/>
            <a:ext cx="7430756" cy="3715376"/>
          </a:xfrm>
          <a:prstGeom prst="rect">
            <a:avLst/>
          </a:prstGeom>
        </p:spPr>
      </p:pic>
      <p:sp>
        <p:nvSpPr>
          <p:cNvPr id="9" name="Rectangle 2">
            <a:extLst>
              <a:ext uri="{FF2B5EF4-FFF2-40B4-BE49-F238E27FC236}">
                <a16:creationId xmlns:a16="http://schemas.microsoft.com/office/drawing/2014/main" id="{045F2DA1-6A45-383C-81DC-BE5F5CAFF894}"/>
              </a:ext>
            </a:extLst>
          </p:cNvPr>
          <p:cNvSpPr txBox="1">
            <a:spLocks noChangeArrowheads="1"/>
          </p:cNvSpPr>
          <p:nvPr/>
        </p:nvSpPr>
        <p:spPr>
          <a:xfrm>
            <a:off x="91439" y="-127673"/>
            <a:ext cx="7886700" cy="1325563"/>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endParaRPr lang="en-US" altLang="en-US" sz="3000" dirty="0"/>
          </a:p>
        </p:txBody>
      </p:sp>
      <p:sp>
        <p:nvSpPr>
          <p:cNvPr id="11" name="TextBox 10">
            <a:extLst>
              <a:ext uri="{FF2B5EF4-FFF2-40B4-BE49-F238E27FC236}">
                <a16:creationId xmlns:a16="http://schemas.microsoft.com/office/drawing/2014/main" id="{1E9FB0E5-D38E-D83A-6925-31E6EE64D63F}"/>
              </a:ext>
            </a:extLst>
          </p:cNvPr>
          <p:cNvSpPr txBox="1"/>
          <p:nvPr/>
        </p:nvSpPr>
        <p:spPr>
          <a:xfrm>
            <a:off x="627395" y="535108"/>
            <a:ext cx="7458509" cy="461665"/>
          </a:xfrm>
          <a:prstGeom prst="rect">
            <a:avLst/>
          </a:prstGeom>
          <a:noFill/>
        </p:spPr>
        <p:txBody>
          <a:bodyPr wrap="square">
            <a:spAutoFit/>
          </a:bodyPr>
          <a:lstStyle/>
          <a:p>
            <a:r>
              <a:rPr lang="en-US" altLang="en-US" sz="2400" b="1" dirty="0">
                <a:latin typeface="Arial" panose="020B0604020202020204" pitchFamily="34" charset="0"/>
                <a:cs typeface="Arial" panose="020B0604020202020204" pitchFamily="34" charset="0"/>
              </a:rPr>
              <a:t>OK, Our data is in, Now what to do with it?</a:t>
            </a:r>
            <a:endParaRPr lang="en-US" sz="2400"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5109937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FB315A-3945-0E16-2291-316D1F49236F}"/>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0027A057-4208-3A40-7013-5B46695728DC}"/>
              </a:ext>
            </a:extLst>
          </p:cNvPr>
          <p:cNvSpPr txBox="1"/>
          <p:nvPr/>
        </p:nvSpPr>
        <p:spPr>
          <a:xfrm>
            <a:off x="490249" y="696418"/>
            <a:ext cx="7970705" cy="461665"/>
          </a:xfrm>
          <a:prstGeom prst="rect">
            <a:avLst/>
          </a:prstGeom>
          <a:noFill/>
        </p:spPr>
        <p:txBody>
          <a:bodyPr wrap="square">
            <a:spAutoFit/>
          </a:bodyPr>
          <a:lstStyle/>
          <a:p>
            <a:r>
              <a:rPr lang="en-US" sz="2400" b="1" dirty="0">
                <a:latin typeface="Arial" panose="020B0604020202020204" pitchFamily="34" charset="0"/>
                <a:cs typeface="Arial" panose="020B0604020202020204" pitchFamily="34" charset="0"/>
              </a:rPr>
              <a:t>But Which Predictors? All? Some? Which?!?!?!?!</a:t>
            </a:r>
          </a:p>
        </p:txBody>
      </p:sp>
      <p:sp>
        <p:nvSpPr>
          <p:cNvPr id="2" name="CuadroTexto 5">
            <a:extLst>
              <a:ext uri="{FF2B5EF4-FFF2-40B4-BE49-F238E27FC236}">
                <a16:creationId xmlns:a16="http://schemas.microsoft.com/office/drawing/2014/main" id="{DE3FE808-78C3-862F-6CB6-AD268842CD04}"/>
              </a:ext>
            </a:extLst>
          </p:cNvPr>
          <p:cNvSpPr txBox="1"/>
          <p:nvPr/>
        </p:nvSpPr>
        <p:spPr>
          <a:xfrm>
            <a:off x="3018951" y="3434986"/>
            <a:ext cx="516423" cy="523220"/>
          </a:xfrm>
          <a:prstGeom prst="rect">
            <a:avLst/>
          </a:prstGeom>
          <a:noFill/>
          <a:ln w="25400">
            <a:solidFill>
              <a:schemeClr val="tx1"/>
            </a:solidFill>
          </a:ln>
        </p:spPr>
        <p:txBody>
          <a:bodyPr wrap="none" rtlCol="0">
            <a:spAutoFit/>
          </a:bodyPr>
          <a:lstStyle/>
          <a:p>
            <a:pPr algn="ctr"/>
            <a:r>
              <a:rPr lang="es-ES" sz="2800" dirty="0">
                <a:latin typeface="Arial" panose="020B0604020202020204" pitchFamily="34" charset="0"/>
                <a:cs typeface="Arial" panose="020B0604020202020204" pitchFamily="34" charset="0"/>
              </a:rPr>
              <a:t>Y </a:t>
            </a:r>
            <a:endParaRPr lang="es-ES" sz="2800" baseline="-25000" dirty="0">
              <a:latin typeface="Arial" panose="020B0604020202020204" pitchFamily="34" charset="0"/>
              <a:cs typeface="Arial" panose="020B0604020202020204" pitchFamily="34" charset="0"/>
            </a:endParaRPr>
          </a:p>
        </p:txBody>
      </p:sp>
      <p:sp>
        <p:nvSpPr>
          <p:cNvPr id="3" name="CuadroTexto 3">
            <a:extLst>
              <a:ext uri="{FF2B5EF4-FFF2-40B4-BE49-F238E27FC236}">
                <a16:creationId xmlns:a16="http://schemas.microsoft.com/office/drawing/2014/main" id="{DAD7C012-08AA-7D7E-596F-09803CCB51E2}"/>
              </a:ext>
            </a:extLst>
          </p:cNvPr>
          <p:cNvSpPr txBox="1"/>
          <p:nvPr/>
        </p:nvSpPr>
        <p:spPr>
          <a:xfrm>
            <a:off x="1653351" y="3593502"/>
            <a:ext cx="497252" cy="523220"/>
          </a:xfrm>
          <a:prstGeom prst="rect">
            <a:avLst/>
          </a:prstGeom>
          <a:noFill/>
          <a:ln w="25400">
            <a:solidFill>
              <a:schemeClr val="tx1"/>
            </a:solidFill>
          </a:ln>
        </p:spPr>
        <p:txBody>
          <a:bodyPr wrap="none" rtlCol="0">
            <a:spAutoFit/>
          </a:bodyPr>
          <a:lstStyle/>
          <a:p>
            <a:r>
              <a:rPr lang="es-ES" sz="2800" dirty="0">
                <a:latin typeface="Arial" panose="020B0604020202020204" pitchFamily="34" charset="0"/>
                <a:cs typeface="Arial" panose="020B0604020202020204" pitchFamily="34" charset="0"/>
              </a:rPr>
              <a:t>x</a:t>
            </a:r>
            <a:r>
              <a:rPr lang="es-ES" sz="2800" baseline="-25000" dirty="0">
                <a:latin typeface="Arial" panose="020B0604020202020204" pitchFamily="34" charset="0"/>
                <a:cs typeface="Arial" panose="020B0604020202020204" pitchFamily="34" charset="0"/>
              </a:rPr>
              <a:t>7</a:t>
            </a:r>
          </a:p>
        </p:txBody>
      </p:sp>
      <p:sp>
        <p:nvSpPr>
          <p:cNvPr id="4" name="CuadroTexto 3">
            <a:extLst>
              <a:ext uri="{FF2B5EF4-FFF2-40B4-BE49-F238E27FC236}">
                <a16:creationId xmlns:a16="http://schemas.microsoft.com/office/drawing/2014/main" id="{5B09BC00-9ADE-449E-D92A-D7EF938F0192}"/>
              </a:ext>
            </a:extLst>
          </p:cNvPr>
          <p:cNvSpPr txBox="1"/>
          <p:nvPr/>
        </p:nvSpPr>
        <p:spPr>
          <a:xfrm>
            <a:off x="4704027" y="3236298"/>
            <a:ext cx="497252" cy="523220"/>
          </a:xfrm>
          <a:prstGeom prst="rect">
            <a:avLst/>
          </a:prstGeom>
          <a:noFill/>
          <a:ln w="25400">
            <a:solidFill>
              <a:schemeClr val="tx1"/>
            </a:solidFill>
          </a:ln>
        </p:spPr>
        <p:txBody>
          <a:bodyPr wrap="none" rtlCol="0">
            <a:spAutoFit/>
          </a:bodyPr>
          <a:lstStyle/>
          <a:p>
            <a:r>
              <a:rPr lang="es-ES" sz="2800" dirty="0">
                <a:latin typeface="Arial" panose="020B0604020202020204" pitchFamily="34" charset="0"/>
                <a:cs typeface="Arial" panose="020B0604020202020204" pitchFamily="34" charset="0"/>
              </a:rPr>
              <a:t>x</a:t>
            </a:r>
            <a:r>
              <a:rPr lang="es-ES" sz="2800" baseline="-25000" dirty="0">
                <a:latin typeface="Arial" panose="020B0604020202020204" pitchFamily="34" charset="0"/>
                <a:cs typeface="Arial" panose="020B0604020202020204" pitchFamily="34" charset="0"/>
              </a:rPr>
              <a:t>2</a:t>
            </a:r>
          </a:p>
        </p:txBody>
      </p:sp>
      <p:sp>
        <p:nvSpPr>
          <p:cNvPr id="6" name="CuadroTexto 3">
            <a:extLst>
              <a:ext uri="{FF2B5EF4-FFF2-40B4-BE49-F238E27FC236}">
                <a16:creationId xmlns:a16="http://schemas.microsoft.com/office/drawing/2014/main" id="{DDED0D3C-1B78-F3F7-37F8-0452EDF8BBCF}"/>
              </a:ext>
            </a:extLst>
          </p:cNvPr>
          <p:cNvSpPr txBox="1"/>
          <p:nvPr/>
        </p:nvSpPr>
        <p:spPr>
          <a:xfrm>
            <a:off x="3694096" y="4771405"/>
            <a:ext cx="497252" cy="523220"/>
          </a:xfrm>
          <a:prstGeom prst="rect">
            <a:avLst/>
          </a:prstGeom>
          <a:noFill/>
          <a:ln w="25400">
            <a:solidFill>
              <a:schemeClr val="tx1"/>
            </a:solidFill>
          </a:ln>
        </p:spPr>
        <p:txBody>
          <a:bodyPr wrap="none" rtlCol="0">
            <a:spAutoFit/>
          </a:bodyPr>
          <a:lstStyle/>
          <a:p>
            <a:r>
              <a:rPr lang="es-ES" sz="2800" dirty="0">
                <a:latin typeface="Arial" panose="020B0604020202020204" pitchFamily="34" charset="0"/>
                <a:cs typeface="Arial" panose="020B0604020202020204" pitchFamily="34" charset="0"/>
              </a:rPr>
              <a:t>x</a:t>
            </a:r>
            <a:r>
              <a:rPr lang="es-ES" sz="2800" baseline="-25000" dirty="0">
                <a:latin typeface="Arial" panose="020B0604020202020204" pitchFamily="34" charset="0"/>
                <a:cs typeface="Arial" panose="020B0604020202020204" pitchFamily="34" charset="0"/>
              </a:rPr>
              <a:t>6</a:t>
            </a:r>
          </a:p>
        </p:txBody>
      </p:sp>
      <p:sp>
        <p:nvSpPr>
          <p:cNvPr id="8" name="CuadroTexto 3">
            <a:extLst>
              <a:ext uri="{FF2B5EF4-FFF2-40B4-BE49-F238E27FC236}">
                <a16:creationId xmlns:a16="http://schemas.microsoft.com/office/drawing/2014/main" id="{A861C491-85E9-8369-0898-AB7DA52BF343}"/>
              </a:ext>
            </a:extLst>
          </p:cNvPr>
          <p:cNvSpPr txBox="1"/>
          <p:nvPr/>
        </p:nvSpPr>
        <p:spPr>
          <a:xfrm>
            <a:off x="4952653" y="4367638"/>
            <a:ext cx="497252" cy="523220"/>
          </a:xfrm>
          <a:prstGeom prst="rect">
            <a:avLst/>
          </a:prstGeom>
          <a:noFill/>
          <a:ln w="25400">
            <a:solidFill>
              <a:schemeClr val="tx1"/>
            </a:solidFill>
          </a:ln>
        </p:spPr>
        <p:txBody>
          <a:bodyPr wrap="none" rtlCol="0">
            <a:spAutoFit/>
          </a:bodyPr>
          <a:lstStyle/>
          <a:p>
            <a:r>
              <a:rPr lang="es-ES" sz="2800" dirty="0">
                <a:latin typeface="Arial" panose="020B0604020202020204" pitchFamily="34" charset="0"/>
                <a:cs typeface="Arial" panose="020B0604020202020204" pitchFamily="34" charset="0"/>
              </a:rPr>
              <a:t>x</a:t>
            </a:r>
            <a:r>
              <a:rPr lang="es-ES" sz="2800" baseline="-25000" dirty="0">
                <a:latin typeface="Arial" panose="020B0604020202020204" pitchFamily="34" charset="0"/>
                <a:cs typeface="Arial" panose="020B0604020202020204" pitchFamily="34" charset="0"/>
              </a:rPr>
              <a:t>4</a:t>
            </a:r>
          </a:p>
        </p:txBody>
      </p:sp>
      <p:sp>
        <p:nvSpPr>
          <p:cNvPr id="9" name="CuadroTexto 3">
            <a:extLst>
              <a:ext uri="{FF2B5EF4-FFF2-40B4-BE49-F238E27FC236}">
                <a16:creationId xmlns:a16="http://schemas.microsoft.com/office/drawing/2014/main" id="{522ED527-2DF6-66C0-CF80-0F05AB43C1AF}"/>
              </a:ext>
            </a:extLst>
          </p:cNvPr>
          <p:cNvSpPr txBox="1"/>
          <p:nvPr/>
        </p:nvSpPr>
        <p:spPr>
          <a:xfrm>
            <a:off x="4475601" y="2114182"/>
            <a:ext cx="497252" cy="523220"/>
          </a:xfrm>
          <a:prstGeom prst="rect">
            <a:avLst/>
          </a:prstGeom>
          <a:noFill/>
          <a:ln w="25400">
            <a:solidFill>
              <a:schemeClr val="tx1"/>
            </a:solidFill>
          </a:ln>
        </p:spPr>
        <p:txBody>
          <a:bodyPr wrap="none" rtlCol="0">
            <a:spAutoFit/>
          </a:bodyPr>
          <a:lstStyle/>
          <a:p>
            <a:r>
              <a:rPr lang="es-ES" sz="2800" dirty="0">
                <a:latin typeface="Arial" panose="020B0604020202020204" pitchFamily="34" charset="0"/>
                <a:cs typeface="Arial" panose="020B0604020202020204" pitchFamily="34" charset="0"/>
              </a:rPr>
              <a:t>x</a:t>
            </a:r>
            <a:r>
              <a:rPr lang="es-ES" sz="2800" baseline="-25000" dirty="0">
                <a:latin typeface="Arial" panose="020B0604020202020204" pitchFamily="34" charset="0"/>
                <a:cs typeface="Arial" panose="020B0604020202020204" pitchFamily="34" charset="0"/>
              </a:rPr>
              <a:t>3</a:t>
            </a:r>
          </a:p>
        </p:txBody>
      </p:sp>
      <p:sp>
        <p:nvSpPr>
          <p:cNvPr id="10" name="CuadroTexto 3">
            <a:extLst>
              <a:ext uri="{FF2B5EF4-FFF2-40B4-BE49-F238E27FC236}">
                <a16:creationId xmlns:a16="http://schemas.microsoft.com/office/drawing/2014/main" id="{002DAA47-FEF5-D197-AFD9-8CA9C64BC275}"/>
              </a:ext>
            </a:extLst>
          </p:cNvPr>
          <p:cNvSpPr txBox="1"/>
          <p:nvPr/>
        </p:nvSpPr>
        <p:spPr>
          <a:xfrm>
            <a:off x="1703120" y="2404109"/>
            <a:ext cx="497252" cy="523220"/>
          </a:xfrm>
          <a:prstGeom prst="rect">
            <a:avLst/>
          </a:prstGeom>
          <a:noFill/>
          <a:ln w="25400">
            <a:solidFill>
              <a:schemeClr val="tx1"/>
            </a:solidFill>
          </a:ln>
        </p:spPr>
        <p:txBody>
          <a:bodyPr wrap="none" rtlCol="0">
            <a:spAutoFit/>
          </a:bodyPr>
          <a:lstStyle/>
          <a:p>
            <a:r>
              <a:rPr lang="es-ES" sz="2800" dirty="0">
                <a:latin typeface="Arial" panose="020B0604020202020204" pitchFamily="34" charset="0"/>
                <a:cs typeface="Arial" panose="020B0604020202020204" pitchFamily="34" charset="0"/>
              </a:rPr>
              <a:t>x</a:t>
            </a:r>
            <a:r>
              <a:rPr lang="es-ES" sz="2800" baseline="-25000" dirty="0">
                <a:latin typeface="Arial" panose="020B0604020202020204" pitchFamily="34" charset="0"/>
                <a:cs typeface="Arial" panose="020B0604020202020204" pitchFamily="34" charset="0"/>
              </a:rPr>
              <a:t>1</a:t>
            </a:r>
          </a:p>
        </p:txBody>
      </p:sp>
      <p:sp>
        <p:nvSpPr>
          <p:cNvPr id="11" name="CuadroTexto 3">
            <a:extLst>
              <a:ext uri="{FF2B5EF4-FFF2-40B4-BE49-F238E27FC236}">
                <a16:creationId xmlns:a16="http://schemas.microsoft.com/office/drawing/2014/main" id="{09025224-0D35-0ACF-B7CB-B3A78DEBE89D}"/>
              </a:ext>
            </a:extLst>
          </p:cNvPr>
          <p:cNvSpPr txBox="1"/>
          <p:nvPr/>
        </p:nvSpPr>
        <p:spPr>
          <a:xfrm>
            <a:off x="2277266" y="4771405"/>
            <a:ext cx="497252" cy="523220"/>
          </a:xfrm>
          <a:prstGeom prst="rect">
            <a:avLst/>
          </a:prstGeom>
          <a:noFill/>
          <a:ln w="25400">
            <a:solidFill>
              <a:schemeClr val="tx1"/>
            </a:solidFill>
          </a:ln>
        </p:spPr>
        <p:txBody>
          <a:bodyPr wrap="none" rtlCol="0">
            <a:spAutoFit/>
          </a:bodyPr>
          <a:lstStyle/>
          <a:p>
            <a:r>
              <a:rPr lang="es-ES" sz="2800" dirty="0">
                <a:latin typeface="Arial" panose="020B0604020202020204" pitchFamily="34" charset="0"/>
                <a:cs typeface="Arial" panose="020B0604020202020204" pitchFamily="34" charset="0"/>
              </a:rPr>
              <a:t>x</a:t>
            </a:r>
            <a:r>
              <a:rPr lang="es-ES" sz="2800" baseline="-25000" dirty="0">
                <a:latin typeface="Arial" panose="020B0604020202020204" pitchFamily="34" charset="0"/>
                <a:cs typeface="Arial" panose="020B0604020202020204" pitchFamily="34" charset="0"/>
              </a:rPr>
              <a:t>5</a:t>
            </a:r>
          </a:p>
        </p:txBody>
      </p:sp>
      <p:sp>
        <p:nvSpPr>
          <p:cNvPr id="12" name="CuadroTexto 3">
            <a:extLst>
              <a:ext uri="{FF2B5EF4-FFF2-40B4-BE49-F238E27FC236}">
                <a16:creationId xmlns:a16="http://schemas.microsoft.com/office/drawing/2014/main" id="{9B95B613-E943-2F0C-76EA-AC6F39B94BA0}"/>
              </a:ext>
            </a:extLst>
          </p:cNvPr>
          <p:cNvSpPr txBox="1"/>
          <p:nvPr/>
        </p:nvSpPr>
        <p:spPr>
          <a:xfrm>
            <a:off x="3061562" y="2121657"/>
            <a:ext cx="497252" cy="523220"/>
          </a:xfrm>
          <a:prstGeom prst="rect">
            <a:avLst/>
          </a:prstGeom>
          <a:noFill/>
          <a:ln w="25400">
            <a:solidFill>
              <a:schemeClr val="tx1"/>
            </a:solidFill>
          </a:ln>
        </p:spPr>
        <p:txBody>
          <a:bodyPr wrap="none" rtlCol="0">
            <a:spAutoFit/>
          </a:bodyPr>
          <a:lstStyle/>
          <a:p>
            <a:r>
              <a:rPr lang="es-ES" sz="2800" dirty="0">
                <a:latin typeface="Arial" panose="020B0604020202020204" pitchFamily="34" charset="0"/>
                <a:cs typeface="Arial" panose="020B0604020202020204" pitchFamily="34" charset="0"/>
              </a:rPr>
              <a:t>x</a:t>
            </a:r>
            <a:r>
              <a:rPr lang="es-ES" sz="2800" baseline="-25000" dirty="0">
                <a:latin typeface="Arial" panose="020B0604020202020204" pitchFamily="34" charset="0"/>
                <a:cs typeface="Arial" panose="020B0604020202020204" pitchFamily="34" charset="0"/>
              </a:rPr>
              <a:t>8</a:t>
            </a:r>
          </a:p>
        </p:txBody>
      </p:sp>
    </p:spTree>
    <p:extLst>
      <p:ext uri="{BB962C8B-B14F-4D97-AF65-F5344CB8AC3E}">
        <p14:creationId xmlns:p14="http://schemas.microsoft.com/office/powerpoint/2010/main" val="17059666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D670E283-297C-FEAE-CFED-7834FD7DD37D}"/>
              </a:ext>
            </a:extLst>
          </p:cNvPr>
          <p:cNvSpPr txBox="1"/>
          <p:nvPr/>
        </p:nvSpPr>
        <p:spPr>
          <a:xfrm>
            <a:off x="484091" y="407895"/>
            <a:ext cx="6822141" cy="461665"/>
          </a:xfrm>
          <a:prstGeom prst="rect">
            <a:avLst/>
          </a:prstGeom>
          <a:noFill/>
        </p:spPr>
        <p:txBody>
          <a:bodyPr wrap="square">
            <a:spAutoFit/>
          </a:bodyPr>
          <a:lstStyle/>
          <a:p>
            <a:r>
              <a:rPr lang="en-US" sz="2400" b="1" dirty="0">
                <a:latin typeface="Arial" panose="020B0604020202020204" pitchFamily="34" charset="0"/>
                <a:cs typeface="Arial" panose="020B0604020202020204" pitchFamily="34" charset="0"/>
              </a:rPr>
              <a:t>Information Theory </a:t>
            </a:r>
          </a:p>
        </p:txBody>
      </p:sp>
      <p:sp>
        <p:nvSpPr>
          <p:cNvPr id="10" name="TextBox 9">
            <a:extLst>
              <a:ext uri="{FF2B5EF4-FFF2-40B4-BE49-F238E27FC236}">
                <a16:creationId xmlns:a16="http://schemas.microsoft.com/office/drawing/2014/main" id="{B66B0D66-1A72-7737-9AE6-E2456133483C}"/>
              </a:ext>
            </a:extLst>
          </p:cNvPr>
          <p:cNvSpPr txBox="1"/>
          <p:nvPr/>
        </p:nvSpPr>
        <p:spPr>
          <a:xfrm>
            <a:off x="484091" y="915726"/>
            <a:ext cx="7859810" cy="871970"/>
          </a:xfrm>
          <a:prstGeom prst="rect">
            <a:avLst/>
          </a:prstGeom>
          <a:noFill/>
        </p:spPr>
        <p:txBody>
          <a:bodyPr wrap="square">
            <a:spAutoFit/>
          </a:bodyPr>
          <a:lstStyle/>
          <a:p>
            <a:pPr>
              <a:lnSpc>
                <a:spcPct val="150000"/>
              </a:lnSpc>
            </a:pPr>
            <a:r>
              <a:rPr lang="en-US" b="1" dirty="0">
                <a:latin typeface="Arial" panose="020B0604020202020204" pitchFamily="34" charset="0"/>
                <a:cs typeface="Arial" panose="020B0604020202020204" pitchFamily="34" charset="0"/>
              </a:rPr>
              <a:t>Information: </a:t>
            </a:r>
            <a:r>
              <a:rPr lang="en-US" dirty="0">
                <a:latin typeface="Arial" panose="020B0604020202020204" pitchFamily="34" charset="0"/>
                <a:cs typeface="Arial" panose="020B0604020202020204" pitchFamily="34" charset="0"/>
              </a:rPr>
              <a:t>Reduction in uncertainty caused by leaning an outcome (i.e., saying that when something is more uncertain than something else). </a:t>
            </a:r>
          </a:p>
        </p:txBody>
      </p:sp>
      <p:sp>
        <p:nvSpPr>
          <p:cNvPr id="17" name="TextBox 16">
            <a:extLst>
              <a:ext uri="{FF2B5EF4-FFF2-40B4-BE49-F238E27FC236}">
                <a16:creationId xmlns:a16="http://schemas.microsoft.com/office/drawing/2014/main" id="{8B67422C-0BDA-4A7B-A7E7-348B764653B9}"/>
              </a:ext>
            </a:extLst>
          </p:cNvPr>
          <p:cNvSpPr txBox="1"/>
          <p:nvPr/>
        </p:nvSpPr>
        <p:spPr>
          <a:xfrm>
            <a:off x="484091" y="3244334"/>
            <a:ext cx="2088669" cy="369332"/>
          </a:xfrm>
          <a:prstGeom prst="rect">
            <a:avLst/>
          </a:prstGeom>
          <a:noFill/>
        </p:spPr>
        <p:txBody>
          <a:bodyPr wrap="square" rtlCol="0">
            <a:spAutoFit/>
          </a:bodyPr>
          <a:lstStyle/>
          <a:p>
            <a:pPr algn="ctr"/>
            <a:r>
              <a:rPr lang="en-US" b="1" dirty="0">
                <a:latin typeface="Arial" panose="020B0604020202020204" pitchFamily="34" charset="0"/>
                <a:cs typeface="Arial" panose="020B0604020202020204" pitchFamily="34" charset="0"/>
              </a:rPr>
              <a:t>Today</a:t>
            </a:r>
            <a:r>
              <a:rPr lang="en-US" dirty="0">
                <a:latin typeface="Arial" panose="020B0604020202020204" pitchFamily="34" charset="0"/>
                <a:cs typeface="Arial" panose="020B0604020202020204" pitchFamily="34" charset="0"/>
              </a:rPr>
              <a:t> </a:t>
            </a:r>
          </a:p>
        </p:txBody>
      </p:sp>
      <p:sp>
        <p:nvSpPr>
          <p:cNvPr id="18" name="TextBox 17">
            <a:extLst>
              <a:ext uri="{FF2B5EF4-FFF2-40B4-BE49-F238E27FC236}">
                <a16:creationId xmlns:a16="http://schemas.microsoft.com/office/drawing/2014/main" id="{4B7B2964-A8D7-22BA-26DB-67DFA70F546C}"/>
              </a:ext>
            </a:extLst>
          </p:cNvPr>
          <p:cNvSpPr txBox="1"/>
          <p:nvPr/>
        </p:nvSpPr>
        <p:spPr>
          <a:xfrm>
            <a:off x="2664201" y="3244334"/>
            <a:ext cx="2000250" cy="369332"/>
          </a:xfrm>
          <a:prstGeom prst="rect">
            <a:avLst/>
          </a:prstGeom>
          <a:noFill/>
        </p:spPr>
        <p:txBody>
          <a:bodyPr wrap="square" rtlCol="0">
            <a:spAutoFit/>
          </a:bodyPr>
          <a:lstStyle/>
          <a:p>
            <a:pPr algn="ctr"/>
            <a:r>
              <a:rPr lang="en-US" b="1" dirty="0">
                <a:latin typeface="Arial" panose="020B0604020202020204" pitchFamily="34" charset="0"/>
                <a:cs typeface="Arial" panose="020B0604020202020204" pitchFamily="34" charset="0"/>
              </a:rPr>
              <a:t>Tomorrow ?</a:t>
            </a:r>
          </a:p>
        </p:txBody>
      </p:sp>
      <p:sp>
        <p:nvSpPr>
          <p:cNvPr id="27" name="TextBox 26">
            <a:extLst>
              <a:ext uri="{FF2B5EF4-FFF2-40B4-BE49-F238E27FC236}">
                <a16:creationId xmlns:a16="http://schemas.microsoft.com/office/drawing/2014/main" id="{7ED4082D-BAC3-6416-07CA-01B9314EE69C}"/>
              </a:ext>
            </a:extLst>
          </p:cNvPr>
          <p:cNvSpPr txBox="1"/>
          <p:nvPr/>
        </p:nvSpPr>
        <p:spPr>
          <a:xfrm>
            <a:off x="484091" y="2010333"/>
            <a:ext cx="7680961" cy="871970"/>
          </a:xfrm>
          <a:prstGeom prst="rect">
            <a:avLst/>
          </a:prstGeom>
          <a:noFill/>
        </p:spPr>
        <p:txBody>
          <a:bodyPr wrap="square">
            <a:spAutoFit/>
          </a:bodyPr>
          <a:lstStyle/>
          <a:p>
            <a:pPr>
              <a:lnSpc>
                <a:spcPct val="150000"/>
              </a:lnSpc>
            </a:pPr>
            <a:r>
              <a:rPr lang="en-US" b="1" dirty="0">
                <a:latin typeface="Arial" panose="020B0604020202020204" pitchFamily="34" charset="0"/>
                <a:cs typeface="Arial" panose="020B0604020202020204" pitchFamily="34" charset="0"/>
              </a:rPr>
              <a:t>Information theory</a:t>
            </a:r>
            <a:r>
              <a:rPr lang="en-US" dirty="0">
                <a:latin typeface="Arial" panose="020B0604020202020204" pitchFamily="34" charset="0"/>
                <a:cs typeface="Arial" panose="020B0604020202020204" pitchFamily="34" charset="0"/>
              </a:rPr>
              <a:t>: A framework deriving rigorous metric for uncertainty (e.g., AIC = </a:t>
            </a:r>
            <a:r>
              <a:rPr lang="en-GB" dirty="0">
                <a:latin typeface="Arial" panose="020B0604020202020204" pitchFamily="34" charset="0"/>
                <a:cs typeface="Arial" panose="020B0604020202020204" pitchFamily="34" charset="0"/>
              </a:rPr>
              <a:t>Akaike [An] Information Criteria</a:t>
            </a:r>
            <a:r>
              <a:rPr lang="en-US" dirty="0">
                <a:latin typeface="Arial" panose="020B0604020202020204" pitchFamily="34" charset="0"/>
                <a:cs typeface="Arial" panose="020B0604020202020204" pitchFamily="34" charset="0"/>
              </a:rPr>
              <a:t>).</a:t>
            </a:r>
          </a:p>
        </p:txBody>
      </p:sp>
      <p:pic>
        <p:nvPicPr>
          <p:cNvPr id="35" name="Picture 34">
            <a:extLst>
              <a:ext uri="{FF2B5EF4-FFF2-40B4-BE49-F238E27FC236}">
                <a16:creationId xmlns:a16="http://schemas.microsoft.com/office/drawing/2014/main" id="{39821D26-1515-C20E-B86A-F86930FA1F1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4092" y="3613666"/>
            <a:ext cx="4277793" cy="2136485"/>
          </a:xfrm>
          <a:prstGeom prst="rect">
            <a:avLst/>
          </a:prstGeom>
        </p:spPr>
      </p:pic>
      <p:sp>
        <p:nvSpPr>
          <p:cNvPr id="16" name="TextBox 15">
            <a:extLst>
              <a:ext uri="{FF2B5EF4-FFF2-40B4-BE49-F238E27FC236}">
                <a16:creationId xmlns:a16="http://schemas.microsoft.com/office/drawing/2014/main" id="{4B0107D1-BD69-A540-F438-C20C6670E447}"/>
              </a:ext>
            </a:extLst>
          </p:cNvPr>
          <p:cNvSpPr txBox="1"/>
          <p:nvPr/>
        </p:nvSpPr>
        <p:spPr>
          <a:xfrm>
            <a:off x="5489893" y="5601326"/>
            <a:ext cx="2587624" cy="369332"/>
          </a:xfrm>
          <a:prstGeom prst="rect">
            <a:avLst/>
          </a:prstGeom>
          <a:noFill/>
        </p:spPr>
        <p:txBody>
          <a:bodyPr wrap="square">
            <a:spAutoFit/>
          </a:bodyPr>
          <a:lstStyle/>
          <a:p>
            <a:pPr algn="ctr"/>
            <a:r>
              <a:rPr lang="en-US" dirty="0" err="1">
                <a:latin typeface="Arial" panose="020B0604020202020204" pitchFamily="34" charset="0"/>
                <a:cs typeface="Arial" panose="020B0604020202020204" pitchFamily="34" charset="0"/>
              </a:rPr>
              <a:t>Hirotugu</a:t>
            </a:r>
            <a:r>
              <a:rPr lang="en-US" dirty="0">
                <a:latin typeface="Arial" panose="020B0604020202020204" pitchFamily="34" charset="0"/>
                <a:cs typeface="Arial" panose="020B0604020202020204" pitchFamily="34" charset="0"/>
              </a:rPr>
              <a:t> Akaike</a:t>
            </a:r>
          </a:p>
        </p:txBody>
      </p:sp>
      <p:pic>
        <p:nvPicPr>
          <p:cNvPr id="20" name="Picture 19">
            <a:extLst>
              <a:ext uri="{FF2B5EF4-FFF2-40B4-BE49-F238E27FC236}">
                <a16:creationId xmlns:a16="http://schemas.microsoft.com/office/drawing/2014/main" id="{1DB8ACE4-6753-8A44-F4F0-D2BF2DB6DDC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89893" y="2948002"/>
            <a:ext cx="2587624" cy="2587624"/>
          </a:xfrm>
          <a:prstGeom prst="rect">
            <a:avLst/>
          </a:prstGeom>
        </p:spPr>
      </p:pic>
    </p:spTree>
    <p:extLst>
      <p:ext uri="{BB962C8B-B14F-4D97-AF65-F5344CB8AC3E}">
        <p14:creationId xmlns:p14="http://schemas.microsoft.com/office/powerpoint/2010/main" val="13817416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7A413919-D166-9349-DC5B-84CBA791C2B8}"/>
              </a:ext>
            </a:extLst>
          </p:cNvPr>
          <p:cNvSpPr txBox="1"/>
          <p:nvPr/>
        </p:nvSpPr>
        <p:spPr>
          <a:xfrm>
            <a:off x="1154430" y="1494520"/>
            <a:ext cx="3703320" cy="369332"/>
          </a:xfrm>
          <a:prstGeom prst="rect">
            <a:avLst/>
          </a:prstGeom>
          <a:noFill/>
          <a:ln>
            <a:solidFill>
              <a:schemeClr val="tx1"/>
            </a:solidFill>
          </a:ln>
        </p:spPr>
        <p:txBody>
          <a:bodyPr wrap="square">
            <a:spAutoFit/>
          </a:bodyPr>
          <a:lstStyle/>
          <a:p>
            <a:r>
              <a:rPr lang="en-US" dirty="0">
                <a:latin typeface="Arial" panose="020B0604020202020204" pitchFamily="34" charset="0"/>
                <a:cs typeface="Arial" panose="020B0604020202020204" pitchFamily="34" charset="0"/>
              </a:rPr>
              <a:t>AIC = - 2 log (L(</a:t>
            </a:r>
            <a:r>
              <a:rPr lang="en-US" dirty="0" err="1">
                <a:latin typeface="Arial" panose="020B0604020202020204" pitchFamily="34" charset="0"/>
                <a:cs typeface="Arial" panose="020B0604020202020204" pitchFamily="34" charset="0"/>
              </a:rPr>
              <a:t>θhat</a:t>
            </a:r>
            <a:r>
              <a:rPr lang="en-US" dirty="0">
                <a:latin typeface="Arial" panose="020B0604020202020204" pitchFamily="34" charset="0"/>
                <a:cs typeface="Arial" panose="020B0604020202020204" pitchFamily="34" charset="0"/>
              </a:rPr>
              <a:t> | data)) + 2K</a:t>
            </a:r>
          </a:p>
        </p:txBody>
      </p:sp>
      <p:sp>
        <p:nvSpPr>
          <p:cNvPr id="7" name="TextBox 6">
            <a:extLst>
              <a:ext uri="{FF2B5EF4-FFF2-40B4-BE49-F238E27FC236}">
                <a16:creationId xmlns:a16="http://schemas.microsoft.com/office/drawing/2014/main" id="{C4F4C49B-12DB-E5BD-C4BA-722C21A216BD}"/>
              </a:ext>
            </a:extLst>
          </p:cNvPr>
          <p:cNvSpPr txBox="1"/>
          <p:nvPr/>
        </p:nvSpPr>
        <p:spPr>
          <a:xfrm>
            <a:off x="228600" y="1004054"/>
            <a:ext cx="8755380" cy="369332"/>
          </a:xfrm>
          <a:prstGeom prst="rect">
            <a:avLst/>
          </a:prstGeom>
          <a:noFill/>
        </p:spPr>
        <p:txBody>
          <a:bodyPr wrap="square">
            <a:spAutoFit/>
          </a:bodyPr>
          <a:lstStyle/>
          <a:p>
            <a:pPr marL="285750" marR="0" indent="-285750">
              <a:buFont typeface="Arial" panose="020B0604020202020204" pitchFamily="34" charset="0"/>
              <a:buChar char="•"/>
            </a:pPr>
            <a:r>
              <a:rPr lang="en-SG" dirty="0">
                <a:latin typeface="Arial" panose="020B0604020202020204" pitchFamily="34" charset="0"/>
                <a:cs typeface="Arial" panose="020B0604020202020204" pitchFamily="34" charset="0"/>
              </a:rPr>
              <a:t>L</a:t>
            </a:r>
            <a:r>
              <a:rPr lang="en-SG" sz="1800" dirty="0">
                <a:solidFill>
                  <a:schemeClr val="tx1"/>
                </a:solidFill>
                <a:effectLst/>
                <a:latin typeface="Arial" panose="020B0604020202020204" pitchFamily="34" charset="0"/>
                <a:cs typeface="Arial" panose="020B0604020202020204" pitchFamily="34" charset="0"/>
              </a:rPr>
              <a:t>ower AIC means less information is lost by </a:t>
            </a:r>
            <a:r>
              <a:rPr lang="en-SG" dirty="0">
                <a:latin typeface="Arial" panose="020B0604020202020204" pitchFamily="34" charset="0"/>
                <a:cs typeface="Arial" panose="020B0604020202020204" pitchFamily="34" charset="0"/>
              </a:rPr>
              <a:t>a model (i.e., most predictive model).</a:t>
            </a:r>
            <a:endParaRPr lang="en-SG" sz="900" dirty="0">
              <a:solidFill>
                <a:srgbClr val="000000"/>
              </a:solidFill>
              <a:effectLst/>
              <a:latin typeface="Arial" panose="020B0604020202020204" pitchFamily="34" charset="0"/>
              <a:cs typeface="Arial" panose="020B0604020202020204" pitchFamily="34" charset="0"/>
            </a:endParaRPr>
          </a:p>
        </p:txBody>
      </p:sp>
      <p:sp>
        <p:nvSpPr>
          <p:cNvPr id="10" name="TextBox 9">
            <a:extLst>
              <a:ext uri="{FF2B5EF4-FFF2-40B4-BE49-F238E27FC236}">
                <a16:creationId xmlns:a16="http://schemas.microsoft.com/office/drawing/2014/main" id="{7AB0879C-ED9E-FD1E-FD3B-5CD93D0AC604}"/>
              </a:ext>
            </a:extLst>
          </p:cNvPr>
          <p:cNvSpPr txBox="1"/>
          <p:nvPr/>
        </p:nvSpPr>
        <p:spPr>
          <a:xfrm>
            <a:off x="228600" y="333167"/>
            <a:ext cx="8218170" cy="461665"/>
          </a:xfrm>
          <a:prstGeom prst="rect">
            <a:avLst/>
          </a:prstGeom>
          <a:noFill/>
        </p:spPr>
        <p:txBody>
          <a:bodyPr wrap="square">
            <a:spAutoFit/>
          </a:bodyPr>
          <a:lstStyle/>
          <a:p>
            <a:pPr marL="0" marR="0">
              <a:buNone/>
            </a:pPr>
            <a:r>
              <a:rPr lang="en-SG" sz="2400" b="1" dirty="0">
                <a:solidFill>
                  <a:schemeClr val="tx1"/>
                </a:solidFill>
                <a:effectLst/>
                <a:latin typeface="Arial" panose="020B0604020202020204" pitchFamily="34" charset="0"/>
                <a:cs typeface="Arial" panose="020B0604020202020204" pitchFamily="34" charset="0"/>
              </a:rPr>
              <a:t>How many parameters does it take to fit an elephant?</a:t>
            </a:r>
            <a:endParaRPr lang="en-SG" sz="2400" b="1" dirty="0">
              <a:solidFill>
                <a:srgbClr val="000000"/>
              </a:solidFill>
              <a:effectLst/>
              <a:latin typeface="Arial" panose="020B0604020202020204" pitchFamily="34" charset="0"/>
              <a:cs typeface="Arial" panose="020B0604020202020204" pitchFamily="34" charset="0"/>
            </a:endParaRPr>
          </a:p>
        </p:txBody>
      </p:sp>
      <p:grpSp>
        <p:nvGrpSpPr>
          <p:cNvPr id="14" name="Group 13">
            <a:extLst>
              <a:ext uri="{FF2B5EF4-FFF2-40B4-BE49-F238E27FC236}">
                <a16:creationId xmlns:a16="http://schemas.microsoft.com/office/drawing/2014/main" id="{734FFE0F-1DD1-ACB7-31BE-400938D1B2A4}"/>
              </a:ext>
            </a:extLst>
          </p:cNvPr>
          <p:cNvGrpSpPr/>
          <p:nvPr/>
        </p:nvGrpSpPr>
        <p:grpSpPr>
          <a:xfrm>
            <a:off x="3954780" y="2657417"/>
            <a:ext cx="3703320" cy="3432748"/>
            <a:chOff x="514350" y="2263140"/>
            <a:chExt cx="3895748" cy="3590806"/>
          </a:xfrm>
        </p:grpSpPr>
        <p:pic>
          <p:nvPicPr>
            <p:cNvPr id="12" name="Picture 11">
              <a:extLst>
                <a:ext uri="{FF2B5EF4-FFF2-40B4-BE49-F238E27FC236}">
                  <a16:creationId xmlns:a16="http://schemas.microsoft.com/office/drawing/2014/main" id="{B8FB4E47-1464-0819-0731-796C763A779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5790" y="2432566"/>
              <a:ext cx="3804308" cy="3421380"/>
            </a:xfrm>
            <a:prstGeom prst="rect">
              <a:avLst/>
            </a:prstGeom>
          </p:spPr>
        </p:pic>
        <p:sp>
          <p:nvSpPr>
            <p:cNvPr id="13" name="TextBox 12">
              <a:extLst>
                <a:ext uri="{FF2B5EF4-FFF2-40B4-BE49-F238E27FC236}">
                  <a16:creationId xmlns:a16="http://schemas.microsoft.com/office/drawing/2014/main" id="{FF470878-F194-DE8E-6169-2A04BFF0F545}"/>
                </a:ext>
              </a:extLst>
            </p:cNvPr>
            <p:cNvSpPr txBox="1"/>
            <p:nvPr/>
          </p:nvSpPr>
          <p:spPr>
            <a:xfrm>
              <a:off x="514350" y="2263140"/>
              <a:ext cx="3895748" cy="369332"/>
            </a:xfrm>
            <a:prstGeom prst="rect">
              <a:avLst/>
            </a:prstGeom>
            <a:solidFill>
              <a:schemeClr val="bg1"/>
            </a:solidFill>
          </p:spPr>
          <p:txBody>
            <a:bodyPr wrap="square" rtlCol="0">
              <a:spAutoFit/>
            </a:bodyPr>
            <a:lstStyle/>
            <a:p>
              <a:endParaRPr lang="en-US" dirty="0"/>
            </a:p>
          </p:txBody>
        </p:sp>
      </p:grpSp>
      <p:pic>
        <p:nvPicPr>
          <p:cNvPr id="16" name="Picture 15">
            <a:extLst>
              <a:ext uri="{FF2B5EF4-FFF2-40B4-BE49-F238E27FC236}">
                <a16:creationId xmlns:a16="http://schemas.microsoft.com/office/drawing/2014/main" id="{3A8B5ABF-A691-7D30-1674-B5ECA12CF3E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1843" y="2794577"/>
            <a:ext cx="2225354" cy="1483569"/>
          </a:xfrm>
          <a:prstGeom prst="rect">
            <a:avLst/>
          </a:prstGeom>
        </p:spPr>
      </p:pic>
      <p:pic>
        <p:nvPicPr>
          <p:cNvPr id="23" name="Picture 22">
            <a:extLst>
              <a:ext uri="{FF2B5EF4-FFF2-40B4-BE49-F238E27FC236}">
                <a16:creationId xmlns:a16="http://schemas.microsoft.com/office/drawing/2014/main" id="{BA464E31-AA47-7753-A0B7-082CA3AF998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61937" y="4546977"/>
            <a:ext cx="2225354" cy="1510684"/>
          </a:xfrm>
          <a:prstGeom prst="rect">
            <a:avLst/>
          </a:prstGeom>
        </p:spPr>
      </p:pic>
      <p:sp>
        <p:nvSpPr>
          <p:cNvPr id="2" name="TextBox 1">
            <a:extLst>
              <a:ext uri="{FF2B5EF4-FFF2-40B4-BE49-F238E27FC236}">
                <a16:creationId xmlns:a16="http://schemas.microsoft.com/office/drawing/2014/main" id="{984ECE9D-B326-7AC7-89D6-C268173A654F}"/>
              </a:ext>
            </a:extLst>
          </p:cNvPr>
          <p:cNvSpPr txBox="1"/>
          <p:nvPr/>
        </p:nvSpPr>
        <p:spPr>
          <a:xfrm>
            <a:off x="4960620" y="1520470"/>
            <a:ext cx="2331720" cy="307777"/>
          </a:xfrm>
          <a:prstGeom prst="rect">
            <a:avLst/>
          </a:prstGeom>
          <a:noFill/>
        </p:spPr>
        <p:txBody>
          <a:bodyPr wrap="square" rtlCol="0">
            <a:spAutoFit/>
          </a:bodyPr>
          <a:lstStyle/>
          <a:p>
            <a:r>
              <a:rPr lang="en-US" sz="1400" dirty="0">
                <a:latin typeface="Arial" panose="020B0604020202020204" pitchFamily="34" charset="0"/>
                <a:cs typeface="Arial" panose="020B0604020202020204" pitchFamily="34" charset="0"/>
              </a:rPr>
              <a:t>K = Number of Parameters </a:t>
            </a:r>
          </a:p>
        </p:txBody>
      </p:sp>
      <p:sp>
        <p:nvSpPr>
          <p:cNvPr id="3" name="TextBox 2">
            <a:extLst>
              <a:ext uri="{FF2B5EF4-FFF2-40B4-BE49-F238E27FC236}">
                <a16:creationId xmlns:a16="http://schemas.microsoft.com/office/drawing/2014/main" id="{18B452B1-0ABF-9E85-7383-C0B78472697F}"/>
              </a:ext>
            </a:extLst>
          </p:cNvPr>
          <p:cNvSpPr txBox="1"/>
          <p:nvPr/>
        </p:nvSpPr>
        <p:spPr>
          <a:xfrm>
            <a:off x="228600" y="2093771"/>
            <a:ext cx="8755380" cy="369332"/>
          </a:xfrm>
          <a:prstGeom prst="rect">
            <a:avLst/>
          </a:prstGeom>
          <a:noFill/>
        </p:spPr>
        <p:txBody>
          <a:bodyPr wrap="square">
            <a:spAutoFit/>
          </a:bodyPr>
          <a:lstStyle/>
          <a:p>
            <a:pPr marL="285750" marR="0" indent="-285750">
              <a:buFont typeface="Arial" panose="020B0604020202020204" pitchFamily="34" charset="0"/>
              <a:buChar char="•"/>
            </a:pPr>
            <a:r>
              <a:rPr lang="en-SG" dirty="0">
                <a:latin typeface="Arial" panose="020B0604020202020204" pitchFamily="34" charset="0"/>
                <a:cs typeface="Arial" panose="020B0604020202020204" pitchFamily="34" charset="0"/>
              </a:rPr>
              <a:t>We want to balance the idea of perfect fit with generality. </a:t>
            </a:r>
            <a:endParaRPr lang="en-SG" sz="900" dirty="0">
              <a:solidFill>
                <a:srgbClr val="000000"/>
              </a:solidFill>
              <a:effectLst/>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7440687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8A1DF506-C777-42B5-B32A-4413705A6D8D}"/>
              </a:ext>
            </a:extLst>
          </p:cNvPr>
          <p:cNvSpPr txBox="1"/>
          <p:nvPr/>
        </p:nvSpPr>
        <p:spPr>
          <a:xfrm>
            <a:off x="422910" y="1324987"/>
            <a:ext cx="5817870" cy="369332"/>
          </a:xfrm>
          <a:prstGeom prst="rect">
            <a:avLst/>
          </a:prstGeom>
          <a:noFill/>
        </p:spPr>
        <p:txBody>
          <a:bodyPr wrap="square">
            <a:spAutoFit/>
          </a:bodyPr>
          <a:lstStyle/>
          <a:p>
            <a:r>
              <a:rPr lang="en-US" dirty="0">
                <a:solidFill>
                  <a:srgbClr val="FF0000"/>
                </a:solidFill>
                <a:latin typeface="Arial" panose="020B0604020202020204" pitchFamily="34" charset="0"/>
                <a:cs typeface="Arial" panose="020B0604020202020204" pitchFamily="34" charset="0"/>
              </a:rPr>
              <a:t>Let’s open Script_1 and run following codes</a:t>
            </a:r>
          </a:p>
        </p:txBody>
      </p:sp>
      <p:sp>
        <p:nvSpPr>
          <p:cNvPr id="7" name="TextBox 6">
            <a:extLst>
              <a:ext uri="{FF2B5EF4-FFF2-40B4-BE49-F238E27FC236}">
                <a16:creationId xmlns:a16="http://schemas.microsoft.com/office/drawing/2014/main" id="{B0E99594-1C7C-4684-B5B8-186225E06A6B}"/>
              </a:ext>
            </a:extLst>
          </p:cNvPr>
          <p:cNvSpPr txBox="1"/>
          <p:nvPr/>
        </p:nvSpPr>
        <p:spPr>
          <a:xfrm>
            <a:off x="422910" y="546854"/>
            <a:ext cx="4572000" cy="461665"/>
          </a:xfrm>
          <a:prstGeom prst="rect">
            <a:avLst/>
          </a:prstGeom>
          <a:noFill/>
        </p:spPr>
        <p:txBody>
          <a:bodyPr wrap="square">
            <a:spAutoFit/>
          </a:bodyPr>
          <a:lstStyle/>
          <a:p>
            <a:r>
              <a:rPr lang="en-US" sz="2400" b="1" dirty="0">
                <a:latin typeface="Arial" panose="020B0604020202020204" pitchFamily="34" charset="0"/>
                <a:cs typeface="Arial" panose="020B0604020202020204" pitchFamily="34" charset="0"/>
              </a:rPr>
              <a:t>Model Mis-selection</a:t>
            </a:r>
          </a:p>
        </p:txBody>
      </p:sp>
      <p:pic>
        <p:nvPicPr>
          <p:cNvPr id="11" name="Picture 10">
            <a:extLst>
              <a:ext uri="{FF2B5EF4-FFF2-40B4-BE49-F238E27FC236}">
                <a16:creationId xmlns:a16="http://schemas.microsoft.com/office/drawing/2014/main" id="{4E2B3EDC-68A0-EF91-5D83-C4C845C65A6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22910" y="2010787"/>
            <a:ext cx="8190347" cy="3650045"/>
          </a:xfrm>
          <a:prstGeom prst="rect">
            <a:avLst/>
          </a:prstGeom>
        </p:spPr>
      </p:pic>
    </p:spTree>
    <p:extLst>
      <p:ext uri="{BB962C8B-B14F-4D97-AF65-F5344CB8AC3E}">
        <p14:creationId xmlns:p14="http://schemas.microsoft.com/office/powerpoint/2010/main" val="11688805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5AE05D8B-3068-6F06-6469-CD4C35CC74F3}"/>
              </a:ext>
            </a:extLst>
          </p:cNvPr>
          <p:cNvSpPr txBox="1"/>
          <p:nvPr/>
        </p:nvSpPr>
        <p:spPr>
          <a:xfrm>
            <a:off x="422910" y="546854"/>
            <a:ext cx="4572000" cy="461665"/>
          </a:xfrm>
          <a:prstGeom prst="rect">
            <a:avLst/>
          </a:prstGeom>
          <a:noFill/>
        </p:spPr>
        <p:txBody>
          <a:bodyPr wrap="square">
            <a:spAutoFit/>
          </a:bodyPr>
          <a:lstStyle/>
          <a:p>
            <a:r>
              <a:rPr lang="en-US" sz="2400" b="1" dirty="0">
                <a:latin typeface="Arial" panose="020B0604020202020204" pitchFamily="34" charset="0"/>
                <a:cs typeface="Arial" panose="020B0604020202020204" pitchFamily="34" charset="0"/>
              </a:rPr>
              <a:t>Model Mis-selection</a:t>
            </a:r>
          </a:p>
        </p:txBody>
      </p:sp>
      <p:pic>
        <p:nvPicPr>
          <p:cNvPr id="6" name="Picture 5">
            <a:extLst>
              <a:ext uri="{FF2B5EF4-FFF2-40B4-BE49-F238E27FC236}">
                <a16:creationId xmlns:a16="http://schemas.microsoft.com/office/drawing/2014/main" id="{0439ABEB-F302-ABF1-F831-DEE0C0D4AD5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32120" y="1712561"/>
            <a:ext cx="2726970" cy="4033979"/>
          </a:xfrm>
          <a:prstGeom prst="rect">
            <a:avLst/>
          </a:prstGeom>
        </p:spPr>
      </p:pic>
      <p:sp>
        <p:nvSpPr>
          <p:cNvPr id="11" name="TextBox 10">
            <a:extLst>
              <a:ext uri="{FF2B5EF4-FFF2-40B4-BE49-F238E27FC236}">
                <a16:creationId xmlns:a16="http://schemas.microsoft.com/office/drawing/2014/main" id="{064C53B1-264F-351F-4631-BE1B2BCC584F}"/>
              </a:ext>
            </a:extLst>
          </p:cNvPr>
          <p:cNvSpPr txBox="1"/>
          <p:nvPr/>
        </p:nvSpPr>
        <p:spPr>
          <a:xfrm>
            <a:off x="502920" y="1343229"/>
            <a:ext cx="4572000" cy="369332"/>
          </a:xfrm>
          <a:prstGeom prst="rect">
            <a:avLst/>
          </a:prstGeom>
          <a:noFill/>
        </p:spPr>
        <p:txBody>
          <a:bodyPr wrap="square">
            <a:spAutoFit/>
          </a:bodyPr>
          <a:lstStyle/>
          <a:p>
            <a:r>
              <a:rPr lang="en-US" b="1" dirty="0">
                <a:latin typeface="Arial" panose="020B0604020202020204" pitchFamily="34" charset="0"/>
                <a:cs typeface="Arial" panose="020B0604020202020204" pitchFamily="34" charset="0"/>
              </a:rPr>
              <a:t>Model averaging</a:t>
            </a:r>
          </a:p>
        </p:txBody>
      </p:sp>
      <p:pic>
        <p:nvPicPr>
          <p:cNvPr id="15" name="Picture 14">
            <a:extLst>
              <a:ext uri="{FF2B5EF4-FFF2-40B4-BE49-F238E27FC236}">
                <a16:creationId xmlns:a16="http://schemas.microsoft.com/office/drawing/2014/main" id="{59A45FD2-03F9-5E6F-CC9F-88F00A079FB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22910" y="1887250"/>
            <a:ext cx="5005624" cy="2056099"/>
          </a:xfrm>
          <a:prstGeom prst="rect">
            <a:avLst/>
          </a:prstGeom>
        </p:spPr>
      </p:pic>
      <p:sp>
        <p:nvSpPr>
          <p:cNvPr id="17" name="TextBox 16">
            <a:extLst>
              <a:ext uri="{FF2B5EF4-FFF2-40B4-BE49-F238E27FC236}">
                <a16:creationId xmlns:a16="http://schemas.microsoft.com/office/drawing/2014/main" id="{28168897-32CC-4C33-6462-FB14169F2D35}"/>
              </a:ext>
            </a:extLst>
          </p:cNvPr>
          <p:cNvSpPr txBox="1"/>
          <p:nvPr/>
        </p:nvSpPr>
        <p:spPr>
          <a:xfrm>
            <a:off x="502920" y="4217376"/>
            <a:ext cx="5005624" cy="923330"/>
          </a:xfrm>
          <a:prstGeom prst="rect">
            <a:avLst/>
          </a:prstGeom>
          <a:noFill/>
        </p:spPr>
        <p:txBody>
          <a:bodyPr wrap="square">
            <a:spAutoFit/>
          </a:bodyPr>
          <a:lstStyle/>
          <a:p>
            <a:r>
              <a:rPr lang="en-US" dirty="0">
                <a:latin typeface="Arial" panose="020B0604020202020204" pitchFamily="34" charset="0"/>
                <a:cs typeface="Arial" panose="020B0604020202020204" pitchFamily="34" charset="0"/>
              </a:rPr>
              <a:t>Burnham, K.P. and Anderson, D.R. 2002. Model Selection and </a:t>
            </a:r>
            <a:r>
              <a:rPr lang="en-US" dirty="0" err="1">
                <a:latin typeface="Arial" panose="020B0604020202020204" pitchFamily="34" charset="0"/>
                <a:cs typeface="Arial" panose="020B0604020202020204" pitchFamily="34" charset="0"/>
              </a:rPr>
              <a:t>Multimodel</a:t>
            </a:r>
            <a:r>
              <a:rPr lang="en-US" dirty="0">
                <a:latin typeface="Arial" panose="020B0604020202020204" pitchFamily="34" charset="0"/>
                <a:cs typeface="Arial" panose="020B0604020202020204" pitchFamily="34" charset="0"/>
              </a:rPr>
              <a:t> Inference. Springer Verlag. (second edition), p 70.</a:t>
            </a:r>
          </a:p>
        </p:txBody>
      </p:sp>
    </p:spTree>
    <p:extLst>
      <p:ext uri="{BB962C8B-B14F-4D97-AF65-F5344CB8AC3E}">
        <p14:creationId xmlns:p14="http://schemas.microsoft.com/office/powerpoint/2010/main" val="14947431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DBBE02E0-4886-BDE8-AB8C-B65EA4D5338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7810" y="1538060"/>
            <a:ext cx="4751430" cy="3302275"/>
          </a:xfrm>
          <a:prstGeom prst="rect">
            <a:avLst/>
          </a:prstGeom>
        </p:spPr>
      </p:pic>
      <p:sp>
        <p:nvSpPr>
          <p:cNvPr id="11" name="TextBox 10">
            <a:extLst>
              <a:ext uri="{FF2B5EF4-FFF2-40B4-BE49-F238E27FC236}">
                <a16:creationId xmlns:a16="http://schemas.microsoft.com/office/drawing/2014/main" id="{B58B4DAA-3809-3293-973A-0C1F102569AD}"/>
              </a:ext>
            </a:extLst>
          </p:cNvPr>
          <p:cNvSpPr txBox="1"/>
          <p:nvPr/>
        </p:nvSpPr>
        <p:spPr>
          <a:xfrm>
            <a:off x="2973525" y="3907500"/>
            <a:ext cx="5817869" cy="523220"/>
          </a:xfrm>
          <a:prstGeom prst="rect">
            <a:avLst/>
          </a:prstGeom>
          <a:noFill/>
        </p:spPr>
        <p:txBody>
          <a:bodyPr wrap="square" rtlCol="0">
            <a:spAutoFit/>
          </a:bodyPr>
          <a:lstStyle/>
          <a:p>
            <a:r>
              <a:rPr lang="en-US" sz="1400" b="1" dirty="0">
                <a:latin typeface="Arial" panose="020B0604020202020204" pitchFamily="34" charset="0"/>
                <a:cs typeface="Arial" panose="020B0604020202020204" pitchFamily="34" charset="0"/>
              </a:rPr>
              <a:t>For more details about the dataset, </a:t>
            </a:r>
            <a:r>
              <a:rPr lang="en-US" sz="1400" dirty="0">
                <a:latin typeface="Arial" panose="020B0604020202020204" pitchFamily="34" charset="0"/>
                <a:cs typeface="Arial" panose="020B0604020202020204" pitchFamily="34" charset="0"/>
              </a:rPr>
              <a:t>https://</a:t>
            </a:r>
            <a:r>
              <a:rPr lang="en-US" sz="1400" dirty="0" err="1">
                <a:latin typeface="Arial" panose="020B0604020202020204" pitchFamily="34" charset="0"/>
                <a:cs typeface="Arial" panose="020B0604020202020204" pitchFamily="34" charset="0"/>
              </a:rPr>
              <a:t>stat.ethz.ch</a:t>
            </a:r>
            <a:r>
              <a:rPr lang="en-US" sz="1400" dirty="0">
                <a:latin typeface="Arial" panose="020B0604020202020204" pitchFamily="34" charset="0"/>
                <a:cs typeface="Arial" panose="020B0604020202020204" pitchFamily="34" charset="0"/>
              </a:rPr>
              <a:t>/R-manual/R-devel/library/datasets/html/</a:t>
            </a:r>
            <a:r>
              <a:rPr lang="en-US" sz="1400" dirty="0" err="1">
                <a:latin typeface="Arial" panose="020B0604020202020204" pitchFamily="34" charset="0"/>
                <a:cs typeface="Arial" panose="020B0604020202020204" pitchFamily="34" charset="0"/>
              </a:rPr>
              <a:t>swiss.html</a:t>
            </a:r>
            <a:endParaRPr lang="en-US" sz="1400" dirty="0">
              <a:latin typeface="Arial" panose="020B0604020202020204" pitchFamily="34" charset="0"/>
              <a:cs typeface="Arial" panose="020B0604020202020204" pitchFamily="34" charset="0"/>
            </a:endParaRPr>
          </a:p>
        </p:txBody>
      </p:sp>
      <p:sp>
        <p:nvSpPr>
          <p:cNvPr id="12" name="TextBox 11">
            <a:extLst>
              <a:ext uri="{FF2B5EF4-FFF2-40B4-BE49-F238E27FC236}">
                <a16:creationId xmlns:a16="http://schemas.microsoft.com/office/drawing/2014/main" id="{8C6224AC-1504-F291-9D3B-B1BE8C6433CE}"/>
              </a:ext>
            </a:extLst>
          </p:cNvPr>
          <p:cNvSpPr txBox="1"/>
          <p:nvPr/>
        </p:nvSpPr>
        <p:spPr>
          <a:xfrm>
            <a:off x="482360" y="943429"/>
            <a:ext cx="5817870" cy="369332"/>
          </a:xfrm>
          <a:prstGeom prst="rect">
            <a:avLst/>
          </a:prstGeom>
          <a:noFill/>
        </p:spPr>
        <p:txBody>
          <a:bodyPr wrap="square">
            <a:spAutoFit/>
          </a:bodyPr>
          <a:lstStyle/>
          <a:p>
            <a:r>
              <a:rPr lang="en-US" dirty="0">
                <a:solidFill>
                  <a:srgbClr val="FF0000"/>
                </a:solidFill>
                <a:latin typeface="Arial" panose="020B0604020202020204" pitchFamily="34" charset="0"/>
                <a:cs typeface="Arial" panose="020B0604020202020204" pitchFamily="34" charset="0"/>
              </a:rPr>
              <a:t>Let’s open Script_1 and run following codes</a:t>
            </a:r>
          </a:p>
        </p:txBody>
      </p:sp>
      <p:pic>
        <p:nvPicPr>
          <p:cNvPr id="17" name="Picture 16">
            <a:extLst>
              <a:ext uri="{FF2B5EF4-FFF2-40B4-BE49-F238E27FC236}">
                <a16:creationId xmlns:a16="http://schemas.microsoft.com/office/drawing/2014/main" id="{21106998-F154-6E3B-C6E6-C2793D76CFB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7811" y="4922301"/>
            <a:ext cx="5702420" cy="1463012"/>
          </a:xfrm>
          <a:prstGeom prst="rect">
            <a:avLst/>
          </a:prstGeom>
        </p:spPr>
      </p:pic>
      <p:sp>
        <p:nvSpPr>
          <p:cNvPr id="19" name="TextBox 18">
            <a:extLst>
              <a:ext uri="{FF2B5EF4-FFF2-40B4-BE49-F238E27FC236}">
                <a16:creationId xmlns:a16="http://schemas.microsoft.com/office/drawing/2014/main" id="{59CEC108-C530-3EFD-D76A-E81D803FA1BA}"/>
              </a:ext>
            </a:extLst>
          </p:cNvPr>
          <p:cNvSpPr txBox="1"/>
          <p:nvPr/>
        </p:nvSpPr>
        <p:spPr>
          <a:xfrm>
            <a:off x="482360" y="356823"/>
            <a:ext cx="4572000" cy="461665"/>
          </a:xfrm>
          <a:prstGeom prst="rect">
            <a:avLst/>
          </a:prstGeom>
          <a:noFill/>
        </p:spPr>
        <p:txBody>
          <a:bodyPr wrap="square">
            <a:spAutoFit/>
          </a:bodyPr>
          <a:lstStyle/>
          <a:p>
            <a:r>
              <a:rPr lang="en-US" sz="2400" b="1" dirty="0">
                <a:latin typeface="Arial" panose="020B0604020202020204" pitchFamily="34" charset="0"/>
                <a:cs typeface="Arial" panose="020B0604020202020204" pitchFamily="34" charset="0"/>
              </a:rPr>
              <a:t>Model Averaging</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6419113-325F-E198-30C2-BA7E84141CC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63090" y="777240"/>
            <a:ext cx="5132070" cy="5132070"/>
          </a:xfrm>
          <a:prstGeom prst="rect">
            <a:avLst/>
          </a:prstGeom>
        </p:spPr>
      </p:pic>
    </p:spTree>
    <p:extLst>
      <p:ext uri="{BB962C8B-B14F-4D97-AF65-F5344CB8AC3E}">
        <p14:creationId xmlns:p14="http://schemas.microsoft.com/office/powerpoint/2010/main" val="38790426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8EC462-D3E1-9480-6104-3F39795B4CFC}"/>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169B2C36-8AEF-8BD0-398F-4D67CBC7E91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6131" y="2086345"/>
            <a:ext cx="4469525" cy="3520440"/>
          </a:xfrm>
          <a:prstGeom prst="rect">
            <a:avLst/>
          </a:prstGeom>
        </p:spPr>
      </p:pic>
      <p:pic>
        <p:nvPicPr>
          <p:cNvPr id="5" name="Picture 4">
            <a:extLst>
              <a:ext uri="{FF2B5EF4-FFF2-40B4-BE49-F238E27FC236}">
                <a16:creationId xmlns:a16="http://schemas.microsoft.com/office/drawing/2014/main" id="{3E0F0090-C989-B96C-4086-4A0747C46F0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72000" y="3268876"/>
            <a:ext cx="4268008" cy="2078814"/>
          </a:xfrm>
          <a:prstGeom prst="rect">
            <a:avLst/>
          </a:prstGeom>
        </p:spPr>
      </p:pic>
      <p:sp>
        <p:nvSpPr>
          <p:cNvPr id="6" name="TextBox 5">
            <a:extLst>
              <a:ext uri="{FF2B5EF4-FFF2-40B4-BE49-F238E27FC236}">
                <a16:creationId xmlns:a16="http://schemas.microsoft.com/office/drawing/2014/main" id="{4E0C380E-F538-E5EF-0BEB-416354015F34}"/>
              </a:ext>
            </a:extLst>
          </p:cNvPr>
          <p:cNvSpPr txBox="1"/>
          <p:nvPr/>
        </p:nvSpPr>
        <p:spPr>
          <a:xfrm>
            <a:off x="477586" y="1550731"/>
            <a:ext cx="7052310" cy="369332"/>
          </a:xfrm>
          <a:prstGeom prst="rect">
            <a:avLst/>
          </a:prstGeom>
          <a:noFill/>
        </p:spPr>
        <p:txBody>
          <a:bodyPr wrap="square" rtlCol="0">
            <a:spAutoFit/>
          </a:bodyPr>
          <a:lstStyle/>
          <a:p>
            <a:r>
              <a:rPr lang="en-US" b="1" dirty="0">
                <a:latin typeface="Arial" panose="020B0604020202020204" pitchFamily="34" charset="0"/>
                <a:cs typeface="Arial" panose="020B0604020202020204" pitchFamily="34" charset="0"/>
              </a:rPr>
              <a:t>summary()</a:t>
            </a:r>
          </a:p>
        </p:txBody>
      </p:sp>
      <p:sp>
        <p:nvSpPr>
          <p:cNvPr id="8" name="TextBox 7">
            <a:extLst>
              <a:ext uri="{FF2B5EF4-FFF2-40B4-BE49-F238E27FC236}">
                <a16:creationId xmlns:a16="http://schemas.microsoft.com/office/drawing/2014/main" id="{CF60C898-802F-F7DD-33C8-23A88D41B645}"/>
              </a:ext>
            </a:extLst>
          </p:cNvPr>
          <p:cNvSpPr txBox="1"/>
          <p:nvPr/>
        </p:nvSpPr>
        <p:spPr>
          <a:xfrm>
            <a:off x="266131" y="305918"/>
            <a:ext cx="4572000" cy="461665"/>
          </a:xfrm>
          <a:prstGeom prst="rect">
            <a:avLst/>
          </a:prstGeom>
          <a:noFill/>
        </p:spPr>
        <p:txBody>
          <a:bodyPr wrap="square">
            <a:spAutoFit/>
          </a:bodyPr>
          <a:lstStyle/>
          <a:p>
            <a:r>
              <a:rPr lang="en-US" sz="2400" b="1" dirty="0">
                <a:latin typeface="Arial" panose="020B0604020202020204" pitchFamily="34" charset="0"/>
                <a:cs typeface="Arial" panose="020B0604020202020204" pitchFamily="34" charset="0"/>
              </a:rPr>
              <a:t>Model Mis-selection</a:t>
            </a:r>
          </a:p>
        </p:txBody>
      </p:sp>
      <p:sp>
        <p:nvSpPr>
          <p:cNvPr id="9" name="TextBox 8">
            <a:extLst>
              <a:ext uri="{FF2B5EF4-FFF2-40B4-BE49-F238E27FC236}">
                <a16:creationId xmlns:a16="http://schemas.microsoft.com/office/drawing/2014/main" id="{0A149442-1AE0-5F7D-B0DE-D93E38E76EC6}"/>
              </a:ext>
            </a:extLst>
          </p:cNvPr>
          <p:cNvSpPr txBox="1"/>
          <p:nvPr/>
        </p:nvSpPr>
        <p:spPr>
          <a:xfrm>
            <a:off x="266131" y="956548"/>
            <a:ext cx="7475220" cy="369332"/>
          </a:xfrm>
          <a:prstGeom prst="rect">
            <a:avLst/>
          </a:prstGeom>
          <a:noFill/>
        </p:spPr>
        <p:txBody>
          <a:bodyPr wrap="square">
            <a:spAutoFit/>
          </a:bodyPr>
          <a:lstStyle/>
          <a:p>
            <a:r>
              <a:rPr lang="en-US" dirty="0">
                <a:latin typeface="Arial" panose="020B0604020202020204" pitchFamily="34" charset="0"/>
                <a:cs typeface="Arial" panose="020B0604020202020204" pitchFamily="34" charset="0"/>
              </a:rPr>
              <a:t>M1 &lt;- </a:t>
            </a:r>
            <a:r>
              <a:rPr lang="en-US" dirty="0" err="1">
                <a:latin typeface="Arial" panose="020B0604020202020204" pitchFamily="34" charset="0"/>
                <a:cs typeface="Arial" panose="020B0604020202020204" pitchFamily="34" charset="0"/>
              </a:rPr>
              <a:t>lm</a:t>
            </a:r>
            <a:r>
              <a:rPr lang="en-US" dirty="0">
                <a:latin typeface="Arial" panose="020B0604020202020204" pitchFamily="34" charset="0"/>
                <a:cs typeface="Arial" panose="020B0604020202020204" pitchFamily="34" charset="0"/>
              </a:rPr>
              <a:t>(Fertility ~ Agriculture + Education + Catholic, data = </a:t>
            </a:r>
            <a:r>
              <a:rPr lang="en-US" dirty="0" err="1">
                <a:latin typeface="Arial" panose="020B0604020202020204" pitchFamily="34" charset="0"/>
                <a:cs typeface="Arial" panose="020B0604020202020204" pitchFamily="34" charset="0"/>
              </a:rPr>
              <a:t>swiss</a:t>
            </a:r>
            <a:r>
              <a:rPr lang="en-US" dirty="0">
                <a:latin typeface="Arial" panose="020B0604020202020204" pitchFamily="34" charset="0"/>
                <a:cs typeface="Arial" panose="020B0604020202020204" pitchFamily="34" charset="0"/>
              </a:rPr>
              <a:t>)</a:t>
            </a:r>
          </a:p>
        </p:txBody>
      </p:sp>
      <p:sp>
        <p:nvSpPr>
          <p:cNvPr id="11" name="TextBox 10">
            <a:extLst>
              <a:ext uri="{FF2B5EF4-FFF2-40B4-BE49-F238E27FC236}">
                <a16:creationId xmlns:a16="http://schemas.microsoft.com/office/drawing/2014/main" id="{2295C134-7F20-EFF6-6EE9-E82EFE0C6F35}"/>
              </a:ext>
            </a:extLst>
          </p:cNvPr>
          <p:cNvSpPr txBox="1"/>
          <p:nvPr/>
        </p:nvSpPr>
        <p:spPr>
          <a:xfrm>
            <a:off x="5544358" y="2680528"/>
            <a:ext cx="3006090" cy="369332"/>
          </a:xfrm>
          <a:prstGeom prst="rect">
            <a:avLst/>
          </a:prstGeom>
          <a:noFill/>
        </p:spPr>
        <p:txBody>
          <a:bodyPr wrap="square">
            <a:spAutoFit/>
          </a:bodyPr>
          <a:lstStyle/>
          <a:p>
            <a:r>
              <a:rPr lang="en-US" sz="1800" b="1" dirty="0" err="1">
                <a:latin typeface="Arial" panose="020B0604020202020204" pitchFamily="34" charset="0"/>
                <a:cs typeface="Arial" panose="020B0604020202020204" pitchFamily="34" charset="0"/>
              </a:rPr>
              <a:t>anova</a:t>
            </a:r>
            <a:r>
              <a:rPr lang="en-US" sz="1800" b="1" dirty="0">
                <a:latin typeface="Arial" panose="020B0604020202020204" pitchFamily="34" charset="0"/>
                <a:cs typeface="Arial" panose="020B0604020202020204" pitchFamily="34" charset="0"/>
              </a:rPr>
              <a:t>()</a:t>
            </a:r>
            <a:endParaRPr lang="en-US" dirty="0"/>
          </a:p>
        </p:txBody>
      </p:sp>
    </p:spTree>
    <p:extLst>
      <p:ext uri="{BB962C8B-B14F-4D97-AF65-F5344CB8AC3E}">
        <p14:creationId xmlns:p14="http://schemas.microsoft.com/office/powerpoint/2010/main" val="42684116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00979C-CA56-275A-0370-56001D10E58E}"/>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7FCCC6D5-576A-9970-33B2-0D32ABEE279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5185" y="1032741"/>
            <a:ext cx="6356301" cy="5300059"/>
          </a:xfrm>
          <a:prstGeom prst="rect">
            <a:avLst/>
          </a:prstGeom>
        </p:spPr>
      </p:pic>
      <p:sp>
        <p:nvSpPr>
          <p:cNvPr id="10" name="TextBox 9">
            <a:extLst>
              <a:ext uri="{FF2B5EF4-FFF2-40B4-BE49-F238E27FC236}">
                <a16:creationId xmlns:a16="http://schemas.microsoft.com/office/drawing/2014/main" id="{60C799AA-66FD-1792-048E-426AB2D3B260}"/>
              </a:ext>
            </a:extLst>
          </p:cNvPr>
          <p:cNvSpPr txBox="1"/>
          <p:nvPr/>
        </p:nvSpPr>
        <p:spPr>
          <a:xfrm>
            <a:off x="354330" y="377157"/>
            <a:ext cx="5086350" cy="461665"/>
          </a:xfrm>
          <a:prstGeom prst="rect">
            <a:avLst/>
          </a:prstGeom>
          <a:noFill/>
        </p:spPr>
        <p:txBody>
          <a:bodyPr wrap="square" rtlCol="0">
            <a:spAutoFit/>
          </a:bodyPr>
          <a:lstStyle/>
          <a:p>
            <a:r>
              <a:rPr lang="en-US" sz="2400" b="1" dirty="0">
                <a:latin typeface="Arial" panose="020B0604020202020204" pitchFamily="34" charset="0"/>
                <a:cs typeface="Arial" panose="020B0604020202020204" pitchFamily="34" charset="0"/>
              </a:rPr>
              <a:t>Summary () vs </a:t>
            </a:r>
            <a:r>
              <a:rPr lang="en-US" sz="2400" b="1" dirty="0" err="1">
                <a:latin typeface="Arial" panose="020B0604020202020204" pitchFamily="34" charset="0"/>
                <a:cs typeface="Arial" panose="020B0604020202020204" pitchFamily="34" charset="0"/>
              </a:rPr>
              <a:t>anova</a:t>
            </a:r>
            <a:r>
              <a:rPr lang="en-US" sz="2400" b="1" dirty="0">
                <a:latin typeface="Arial" panose="020B0604020202020204" pitchFamily="34" charset="0"/>
                <a:cs typeface="Arial" panose="020B0604020202020204" pitchFamily="34" charset="0"/>
              </a:rPr>
              <a:t>()</a:t>
            </a:r>
          </a:p>
        </p:txBody>
      </p:sp>
      <p:sp>
        <p:nvSpPr>
          <p:cNvPr id="12" name="TextBox 11">
            <a:extLst>
              <a:ext uri="{FF2B5EF4-FFF2-40B4-BE49-F238E27FC236}">
                <a16:creationId xmlns:a16="http://schemas.microsoft.com/office/drawing/2014/main" id="{E66B5234-ED39-B04B-9F55-C5E8CA8DE588}"/>
              </a:ext>
            </a:extLst>
          </p:cNvPr>
          <p:cNvSpPr txBox="1"/>
          <p:nvPr/>
        </p:nvSpPr>
        <p:spPr>
          <a:xfrm>
            <a:off x="4863465" y="6332800"/>
            <a:ext cx="3331844" cy="369332"/>
          </a:xfrm>
          <a:prstGeom prst="rect">
            <a:avLst/>
          </a:prstGeom>
          <a:noFill/>
        </p:spPr>
        <p:txBody>
          <a:bodyPr wrap="square" rtlCol="0">
            <a:spAutoFit/>
          </a:bodyPr>
          <a:lstStyle/>
          <a:p>
            <a:r>
              <a:rPr lang="en-US" b="1" dirty="0">
                <a:latin typeface="Arial" panose="020B0604020202020204" pitchFamily="34" charset="0"/>
                <a:cs typeface="Arial" panose="020B0604020202020204" pitchFamily="34" charset="0"/>
              </a:rPr>
              <a:t>This is an AI summary</a:t>
            </a:r>
          </a:p>
        </p:txBody>
      </p:sp>
    </p:spTree>
    <p:extLst>
      <p:ext uri="{BB962C8B-B14F-4D97-AF65-F5344CB8AC3E}">
        <p14:creationId xmlns:p14="http://schemas.microsoft.com/office/powerpoint/2010/main" val="1801343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A74E4C-E0F1-FCA5-4F4C-D9CAC34B5C0B}"/>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BDA84957-B3AF-DC84-10CD-172A5875931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7208" y="3543298"/>
            <a:ext cx="7772400" cy="2329601"/>
          </a:xfrm>
          <a:prstGeom prst="rect">
            <a:avLst/>
          </a:prstGeom>
        </p:spPr>
      </p:pic>
      <p:pic>
        <p:nvPicPr>
          <p:cNvPr id="4" name="Picture 3">
            <a:extLst>
              <a:ext uri="{FF2B5EF4-FFF2-40B4-BE49-F238E27FC236}">
                <a16:creationId xmlns:a16="http://schemas.microsoft.com/office/drawing/2014/main" id="{3FB44CC0-3719-2009-0C2E-0856E6F6B19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19063" y="1281664"/>
            <a:ext cx="4408691" cy="2147336"/>
          </a:xfrm>
          <a:prstGeom prst="rect">
            <a:avLst/>
          </a:prstGeom>
        </p:spPr>
      </p:pic>
      <p:sp>
        <p:nvSpPr>
          <p:cNvPr id="6" name="TextBox 5">
            <a:extLst>
              <a:ext uri="{FF2B5EF4-FFF2-40B4-BE49-F238E27FC236}">
                <a16:creationId xmlns:a16="http://schemas.microsoft.com/office/drawing/2014/main" id="{74A782E3-6711-10F0-DA30-18909DC85C2C}"/>
              </a:ext>
            </a:extLst>
          </p:cNvPr>
          <p:cNvSpPr txBox="1"/>
          <p:nvPr/>
        </p:nvSpPr>
        <p:spPr>
          <a:xfrm>
            <a:off x="377190" y="798034"/>
            <a:ext cx="7475220" cy="369332"/>
          </a:xfrm>
          <a:prstGeom prst="rect">
            <a:avLst/>
          </a:prstGeom>
          <a:noFill/>
        </p:spPr>
        <p:txBody>
          <a:bodyPr wrap="square">
            <a:spAutoFit/>
          </a:bodyPr>
          <a:lstStyle/>
          <a:p>
            <a:r>
              <a:rPr lang="en-US" dirty="0">
                <a:latin typeface="Arial" panose="020B0604020202020204" pitchFamily="34" charset="0"/>
                <a:cs typeface="Arial" panose="020B0604020202020204" pitchFamily="34" charset="0"/>
              </a:rPr>
              <a:t>M1 &lt;- </a:t>
            </a:r>
            <a:r>
              <a:rPr lang="en-US" dirty="0" err="1">
                <a:latin typeface="Arial" panose="020B0604020202020204" pitchFamily="34" charset="0"/>
                <a:cs typeface="Arial" panose="020B0604020202020204" pitchFamily="34" charset="0"/>
              </a:rPr>
              <a:t>lm</a:t>
            </a:r>
            <a:r>
              <a:rPr lang="en-US" dirty="0">
                <a:latin typeface="Arial" panose="020B0604020202020204" pitchFamily="34" charset="0"/>
                <a:cs typeface="Arial" panose="020B0604020202020204" pitchFamily="34" charset="0"/>
              </a:rPr>
              <a:t>(Fertility ~ Agriculture + Education + Catholic, data = </a:t>
            </a:r>
            <a:r>
              <a:rPr lang="en-US" dirty="0" err="1">
                <a:latin typeface="Arial" panose="020B0604020202020204" pitchFamily="34" charset="0"/>
                <a:cs typeface="Arial" panose="020B0604020202020204" pitchFamily="34" charset="0"/>
              </a:rPr>
              <a:t>swiss</a:t>
            </a:r>
            <a:r>
              <a:rPr lang="en-US" dirty="0">
                <a:latin typeface="Arial" panose="020B0604020202020204" pitchFamily="34" charset="0"/>
                <a:cs typeface="Arial" panose="020B0604020202020204" pitchFamily="34" charset="0"/>
              </a:rPr>
              <a:t>)</a:t>
            </a:r>
          </a:p>
        </p:txBody>
      </p:sp>
      <p:sp>
        <p:nvSpPr>
          <p:cNvPr id="7" name="TextBox 6">
            <a:extLst>
              <a:ext uri="{FF2B5EF4-FFF2-40B4-BE49-F238E27FC236}">
                <a16:creationId xmlns:a16="http://schemas.microsoft.com/office/drawing/2014/main" id="{3905987A-5315-9CEA-A3EC-FF91FBFC9DA9}"/>
              </a:ext>
            </a:extLst>
          </p:cNvPr>
          <p:cNvSpPr txBox="1"/>
          <p:nvPr/>
        </p:nvSpPr>
        <p:spPr>
          <a:xfrm>
            <a:off x="377190" y="255748"/>
            <a:ext cx="3006090" cy="461665"/>
          </a:xfrm>
          <a:prstGeom prst="rect">
            <a:avLst/>
          </a:prstGeom>
          <a:noFill/>
        </p:spPr>
        <p:txBody>
          <a:bodyPr wrap="square">
            <a:spAutoFit/>
          </a:bodyPr>
          <a:lstStyle/>
          <a:p>
            <a:r>
              <a:rPr lang="en-US" sz="2400" b="1" dirty="0" err="1">
                <a:latin typeface="Arial" panose="020B0604020202020204" pitchFamily="34" charset="0"/>
                <a:cs typeface="Arial" panose="020B0604020202020204" pitchFamily="34" charset="0"/>
              </a:rPr>
              <a:t>anova</a:t>
            </a:r>
            <a:r>
              <a:rPr lang="en-US" sz="2400" b="1" dirty="0">
                <a:latin typeface="Arial" panose="020B0604020202020204" pitchFamily="34" charset="0"/>
                <a:cs typeface="Arial" panose="020B0604020202020204" pitchFamily="34" charset="0"/>
              </a:rPr>
              <a:t>()</a:t>
            </a:r>
            <a:endParaRPr lang="en-US" sz="2400" dirty="0"/>
          </a:p>
        </p:txBody>
      </p:sp>
    </p:spTree>
    <p:extLst>
      <p:ext uri="{BB962C8B-B14F-4D97-AF65-F5344CB8AC3E}">
        <p14:creationId xmlns:p14="http://schemas.microsoft.com/office/powerpoint/2010/main" val="419991066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A83FF0-A6CA-A2DE-0623-02AF0B0B6785}"/>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62C679AA-FAAE-F3EC-6180-EB0DFBE6BB20}"/>
              </a:ext>
            </a:extLst>
          </p:cNvPr>
          <p:cNvSpPr txBox="1"/>
          <p:nvPr/>
        </p:nvSpPr>
        <p:spPr>
          <a:xfrm>
            <a:off x="200025" y="1560213"/>
            <a:ext cx="7280910" cy="369332"/>
          </a:xfrm>
          <a:prstGeom prst="rect">
            <a:avLst/>
          </a:prstGeom>
          <a:noFill/>
        </p:spPr>
        <p:txBody>
          <a:bodyPr wrap="square">
            <a:spAutoFit/>
          </a:bodyPr>
          <a:lstStyle/>
          <a:p>
            <a:r>
              <a:rPr lang="en-US" dirty="0">
                <a:latin typeface="Arial" panose="020B0604020202020204" pitchFamily="34" charset="0"/>
                <a:cs typeface="Arial" panose="020B0604020202020204" pitchFamily="34" charset="0"/>
              </a:rPr>
              <a:t>M2 &lt;- </a:t>
            </a:r>
            <a:r>
              <a:rPr lang="en-US" dirty="0" err="1">
                <a:latin typeface="Arial" panose="020B0604020202020204" pitchFamily="34" charset="0"/>
                <a:cs typeface="Arial" panose="020B0604020202020204" pitchFamily="34" charset="0"/>
              </a:rPr>
              <a:t>lm</a:t>
            </a:r>
            <a:r>
              <a:rPr lang="en-US" dirty="0">
                <a:latin typeface="Arial" panose="020B0604020202020204" pitchFamily="34" charset="0"/>
                <a:cs typeface="Arial" panose="020B0604020202020204" pitchFamily="34" charset="0"/>
              </a:rPr>
              <a:t>(Fertility ~ Education + Agriculture + Catholic, data = </a:t>
            </a:r>
            <a:r>
              <a:rPr lang="en-US" dirty="0" err="1">
                <a:latin typeface="Arial" panose="020B0604020202020204" pitchFamily="34" charset="0"/>
                <a:cs typeface="Arial" panose="020B0604020202020204" pitchFamily="34" charset="0"/>
              </a:rPr>
              <a:t>swiss</a:t>
            </a:r>
            <a:r>
              <a:rPr lang="en-US" dirty="0">
                <a:latin typeface="Arial" panose="020B0604020202020204" pitchFamily="34" charset="0"/>
                <a:cs typeface="Arial" panose="020B0604020202020204" pitchFamily="34" charset="0"/>
              </a:rPr>
              <a:t>) </a:t>
            </a:r>
          </a:p>
        </p:txBody>
      </p:sp>
      <p:sp>
        <p:nvSpPr>
          <p:cNvPr id="4" name="TextBox 3">
            <a:extLst>
              <a:ext uri="{FF2B5EF4-FFF2-40B4-BE49-F238E27FC236}">
                <a16:creationId xmlns:a16="http://schemas.microsoft.com/office/drawing/2014/main" id="{92AB665F-98FB-3AB4-98EF-5E571D29A6C6}"/>
              </a:ext>
            </a:extLst>
          </p:cNvPr>
          <p:cNvSpPr txBox="1"/>
          <p:nvPr/>
        </p:nvSpPr>
        <p:spPr>
          <a:xfrm>
            <a:off x="200025" y="978341"/>
            <a:ext cx="7475220" cy="369332"/>
          </a:xfrm>
          <a:prstGeom prst="rect">
            <a:avLst/>
          </a:prstGeom>
          <a:noFill/>
        </p:spPr>
        <p:txBody>
          <a:bodyPr wrap="square">
            <a:spAutoFit/>
          </a:bodyPr>
          <a:lstStyle/>
          <a:p>
            <a:r>
              <a:rPr lang="en-US" dirty="0">
                <a:latin typeface="Arial" panose="020B0604020202020204" pitchFamily="34" charset="0"/>
                <a:cs typeface="Arial" panose="020B0604020202020204" pitchFamily="34" charset="0"/>
              </a:rPr>
              <a:t>M1 &lt;- </a:t>
            </a:r>
            <a:r>
              <a:rPr lang="en-US" dirty="0" err="1">
                <a:latin typeface="Arial" panose="020B0604020202020204" pitchFamily="34" charset="0"/>
                <a:cs typeface="Arial" panose="020B0604020202020204" pitchFamily="34" charset="0"/>
              </a:rPr>
              <a:t>lm</a:t>
            </a:r>
            <a:r>
              <a:rPr lang="en-US" dirty="0">
                <a:latin typeface="Arial" panose="020B0604020202020204" pitchFamily="34" charset="0"/>
                <a:cs typeface="Arial" panose="020B0604020202020204" pitchFamily="34" charset="0"/>
              </a:rPr>
              <a:t>(Fertility ~ Agriculture + Education + Catholic, data = </a:t>
            </a:r>
            <a:r>
              <a:rPr lang="en-US" dirty="0" err="1">
                <a:latin typeface="Arial" panose="020B0604020202020204" pitchFamily="34" charset="0"/>
                <a:cs typeface="Arial" panose="020B0604020202020204" pitchFamily="34" charset="0"/>
              </a:rPr>
              <a:t>swiss</a:t>
            </a:r>
            <a:r>
              <a:rPr lang="en-US" dirty="0">
                <a:latin typeface="Arial" panose="020B0604020202020204" pitchFamily="34" charset="0"/>
                <a:cs typeface="Arial" panose="020B0604020202020204" pitchFamily="34" charset="0"/>
              </a:rPr>
              <a:t>)</a:t>
            </a:r>
          </a:p>
        </p:txBody>
      </p:sp>
      <p:pic>
        <p:nvPicPr>
          <p:cNvPr id="7" name="Picture 6">
            <a:extLst>
              <a:ext uri="{FF2B5EF4-FFF2-40B4-BE49-F238E27FC236}">
                <a16:creationId xmlns:a16="http://schemas.microsoft.com/office/drawing/2014/main" id="{40F0F78F-BE02-9B09-B519-6A3A6553FDA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97880" y="3073113"/>
            <a:ext cx="2552700" cy="2552700"/>
          </a:xfrm>
          <a:prstGeom prst="rect">
            <a:avLst/>
          </a:prstGeom>
        </p:spPr>
      </p:pic>
      <p:pic>
        <p:nvPicPr>
          <p:cNvPr id="9" name="Picture 8">
            <a:extLst>
              <a:ext uri="{FF2B5EF4-FFF2-40B4-BE49-F238E27FC236}">
                <a16:creationId xmlns:a16="http://schemas.microsoft.com/office/drawing/2014/main" id="{319F8A44-68B1-A99E-6A77-776D572701B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1980" y="2234723"/>
            <a:ext cx="4987290" cy="4229481"/>
          </a:xfrm>
          <a:prstGeom prst="rect">
            <a:avLst/>
          </a:prstGeom>
        </p:spPr>
      </p:pic>
      <p:sp>
        <p:nvSpPr>
          <p:cNvPr id="11" name="TextBox 10">
            <a:extLst>
              <a:ext uri="{FF2B5EF4-FFF2-40B4-BE49-F238E27FC236}">
                <a16:creationId xmlns:a16="http://schemas.microsoft.com/office/drawing/2014/main" id="{7FC8B528-180F-AA32-1C3D-A921C459D754}"/>
              </a:ext>
            </a:extLst>
          </p:cNvPr>
          <p:cNvSpPr txBox="1"/>
          <p:nvPr/>
        </p:nvSpPr>
        <p:spPr>
          <a:xfrm>
            <a:off x="200025" y="379835"/>
            <a:ext cx="4572000" cy="461665"/>
          </a:xfrm>
          <a:prstGeom prst="rect">
            <a:avLst/>
          </a:prstGeom>
          <a:noFill/>
        </p:spPr>
        <p:txBody>
          <a:bodyPr wrap="square">
            <a:spAutoFit/>
          </a:bodyPr>
          <a:lstStyle/>
          <a:p>
            <a:r>
              <a:rPr lang="en-US" sz="2400" b="1" dirty="0">
                <a:latin typeface="Arial" panose="020B0604020202020204" pitchFamily="34" charset="0"/>
                <a:cs typeface="Arial" panose="020B0604020202020204" pitchFamily="34" charset="0"/>
              </a:rPr>
              <a:t>So be Careful!</a:t>
            </a:r>
          </a:p>
        </p:txBody>
      </p:sp>
    </p:spTree>
    <p:extLst>
      <p:ext uri="{BB962C8B-B14F-4D97-AF65-F5344CB8AC3E}">
        <p14:creationId xmlns:p14="http://schemas.microsoft.com/office/powerpoint/2010/main" val="10599918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97C9B2-1D2C-F5E1-79EC-3237A37C4CCD}"/>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0344D414-9117-9085-9CBB-047C9F07BC8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4342" y="2082644"/>
            <a:ext cx="3808632" cy="1908894"/>
          </a:xfrm>
          <a:prstGeom prst="rect">
            <a:avLst/>
          </a:prstGeom>
        </p:spPr>
      </p:pic>
      <p:sp>
        <p:nvSpPr>
          <p:cNvPr id="4" name="TextBox 3">
            <a:extLst>
              <a:ext uri="{FF2B5EF4-FFF2-40B4-BE49-F238E27FC236}">
                <a16:creationId xmlns:a16="http://schemas.microsoft.com/office/drawing/2014/main" id="{51467AD8-17D7-2BA0-D7B4-FD55DEB52D4A}"/>
              </a:ext>
            </a:extLst>
          </p:cNvPr>
          <p:cNvSpPr txBox="1"/>
          <p:nvPr/>
        </p:nvSpPr>
        <p:spPr>
          <a:xfrm>
            <a:off x="1074421" y="1744744"/>
            <a:ext cx="2468880" cy="369332"/>
          </a:xfrm>
          <a:prstGeom prst="rect">
            <a:avLst/>
          </a:prstGeom>
          <a:noFill/>
        </p:spPr>
        <p:txBody>
          <a:bodyPr wrap="square" rtlCol="0">
            <a:spAutoFit/>
          </a:bodyPr>
          <a:lstStyle/>
          <a:p>
            <a:r>
              <a:rPr lang="en-US" b="1" dirty="0">
                <a:latin typeface="Arial" panose="020B0604020202020204" pitchFamily="34" charset="0"/>
                <a:cs typeface="Arial" panose="020B0604020202020204" pitchFamily="34" charset="0"/>
              </a:rPr>
              <a:t>Anova()</a:t>
            </a:r>
          </a:p>
        </p:txBody>
      </p:sp>
      <p:sp>
        <p:nvSpPr>
          <p:cNvPr id="6" name="TextBox 5">
            <a:extLst>
              <a:ext uri="{FF2B5EF4-FFF2-40B4-BE49-F238E27FC236}">
                <a16:creationId xmlns:a16="http://schemas.microsoft.com/office/drawing/2014/main" id="{E041337F-6E52-9F3B-5A88-7A80FEAFCA83}"/>
              </a:ext>
            </a:extLst>
          </p:cNvPr>
          <p:cNvSpPr txBox="1"/>
          <p:nvPr/>
        </p:nvSpPr>
        <p:spPr>
          <a:xfrm>
            <a:off x="434342" y="807665"/>
            <a:ext cx="7143750" cy="369332"/>
          </a:xfrm>
          <a:prstGeom prst="rect">
            <a:avLst/>
          </a:prstGeom>
          <a:noFill/>
        </p:spPr>
        <p:txBody>
          <a:bodyPr wrap="square">
            <a:spAutoFit/>
          </a:bodyPr>
          <a:lstStyle/>
          <a:p>
            <a:r>
              <a:rPr lang="en-US" dirty="0">
                <a:latin typeface="Arial" panose="020B0604020202020204" pitchFamily="34" charset="0"/>
                <a:cs typeface="Arial" panose="020B0604020202020204" pitchFamily="34" charset="0"/>
              </a:rPr>
              <a:t>M1 &lt;- </a:t>
            </a:r>
            <a:r>
              <a:rPr lang="en-US" dirty="0" err="1">
                <a:latin typeface="Arial" panose="020B0604020202020204" pitchFamily="34" charset="0"/>
                <a:cs typeface="Arial" panose="020B0604020202020204" pitchFamily="34" charset="0"/>
              </a:rPr>
              <a:t>lm</a:t>
            </a:r>
            <a:r>
              <a:rPr lang="en-US" dirty="0">
                <a:latin typeface="Arial" panose="020B0604020202020204" pitchFamily="34" charset="0"/>
                <a:cs typeface="Arial" panose="020B0604020202020204" pitchFamily="34" charset="0"/>
              </a:rPr>
              <a:t>(Fertility ~ Agriculture + Education + Catholic, data = </a:t>
            </a:r>
            <a:r>
              <a:rPr lang="en-US" dirty="0" err="1">
                <a:latin typeface="Arial" panose="020B0604020202020204" pitchFamily="34" charset="0"/>
                <a:cs typeface="Arial" panose="020B0604020202020204" pitchFamily="34" charset="0"/>
              </a:rPr>
              <a:t>swiss</a:t>
            </a:r>
            <a:r>
              <a:rPr lang="en-US" dirty="0">
                <a:latin typeface="Arial" panose="020B0604020202020204" pitchFamily="34" charset="0"/>
                <a:cs typeface="Arial" panose="020B0604020202020204" pitchFamily="34" charset="0"/>
              </a:rPr>
              <a:t>)</a:t>
            </a:r>
          </a:p>
        </p:txBody>
      </p:sp>
      <p:pic>
        <p:nvPicPr>
          <p:cNvPr id="10" name="Picture 9">
            <a:extLst>
              <a:ext uri="{FF2B5EF4-FFF2-40B4-BE49-F238E27FC236}">
                <a16:creationId xmlns:a16="http://schemas.microsoft.com/office/drawing/2014/main" id="{5464893C-4B7A-AD0D-5075-0AFA4599FF5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74420" y="4274723"/>
            <a:ext cx="5983985" cy="2172624"/>
          </a:xfrm>
          <a:prstGeom prst="rect">
            <a:avLst/>
          </a:prstGeom>
        </p:spPr>
      </p:pic>
      <p:sp>
        <p:nvSpPr>
          <p:cNvPr id="16" name="TextBox 15">
            <a:extLst>
              <a:ext uri="{FF2B5EF4-FFF2-40B4-BE49-F238E27FC236}">
                <a16:creationId xmlns:a16="http://schemas.microsoft.com/office/drawing/2014/main" id="{39F8FF6F-A703-7A01-A1F7-68380167AC40}"/>
              </a:ext>
            </a:extLst>
          </p:cNvPr>
          <p:cNvSpPr txBox="1"/>
          <p:nvPr/>
        </p:nvSpPr>
        <p:spPr>
          <a:xfrm>
            <a:off x="434342" y="1259494"/>
            <a:ext cx="8001000" cy="369332"/>
          </a:xfrm>
          <a:prstGeom prst="rect">
            <a:avLst/>
          </a:prstGeom>
          <a:noFill/>
        </p:spPr>
        <p:txBody>
          <a:bodyPr wrap="square">
            <a:spAutoFit/>
          </a:bodyPr>
          <a:lstStyle/>
          <a:p>
            <a:r>
              <a:rPr lang="en-US" dirty="0">
                <a:latin typeface="Arial" panose="020B0604020202020204" pitchFamily="34" charset="0"/>
                <a:cs typeface="Arial" panose="020B0604020202020204" pitchFamily="34" charset="0"/>
              </a:rPr>
              <a:t>drop1(M1, scope = ~ Agriculture + Education + Catholic, test = "F")</a:t>
            </a:r>
          </a:p>
        </p:txBody>
      </p:sp>
      <p:pic>
        <p:nvPicPr>
          <p:cNvPr id="18" name="Picture 17">
            <a:extLst>
              <a:ext uri="{FF2B5EF4-FFF2-40B4-BE49-F238E27FC236}">
                <a16:creationId xmlns:a16="http://schemas.microsoft.com/office/drawing/2014/main" id="{4964D708-9266-D511-C83D-1166FB76BB0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560570" y="2081436"/>
            <a:ext cx="4126180" cy="1974326"/>
          </a:xfrm>
          <a:prstGeom prst="rect">
            <a:avLst/>
          </a:prstGeom>
        </p:spPr>
      </p:pic>
      <p:sp>
        <p:nvSpPr>
          <p:cNvPr id="19" name="TextBox 18">
            <a:extLst>
              <a:ext uri="{FF2B5EF4-FFF2-40B4-BE49-F238E27FC236}">
                <a16:creationId xmlns:a16="http://schemas.microsoft.com/office/drawing/2014/main" id="{18CFC317-D36B-880F-F9C8-35487FDCB8A9}"/>
              </a:ext>
            </a:extLst>
          </p:cNvPr>
          <p:cNvSpPr txBox="1"/>
          <p:nvPr/>
        </p:nvSpPr>
        <p:spPr>
          <a:xfrm>
            <a:off x="5509260" y="1712104"/>
            <a:ext cx="2468880" cy="369332"/>
          </a:xfrm>
          <a:prstGeom prst="rect">
            <a:avLst/>
          </a:prstGeom>
          <a:noFill/>
        </p:spPr>
        <p:txBody>
          <a:bodyPr wrap="square" rtlCol="0">
            <a:spAutoFit/>
          </a:bodyPr>
          <a:lstStyle/>
          <a:p>
            <a:r>
              <a:rPr lang="en-US" b="1" dirty="0">
                <a:latin typeface="Arial" panose="020B0604020202020204" pitchFamily="34" charset="0"/>
                <a:cs typeface="Arial" panose="020B0604020202020204" pitchFamily="34" charset="0"/>
              </a:rPr>
              <a:t>drop1()</a:t>
            </a:r>
          </a:p>
        </p:txBody>
      </p:sp>
      <p:sp>
        <p:nvSpPr>
          <p:cNvPr id="20" name="TextBox 19">
            <a:extLst>
              <a:ext uri="{FF2B5EF4-FFF2-40B4-BE49-F238E27FC236}">
                <a16:creationId xmlns:a16="http://schemas.microsoft.com/office/drawing/2014/main" id="{C0B54F9A-490F-6B13-78CA-19460D9718FB}"/>
              </a:ext>
            </a:extLst>
          </p:cNvPr>
          <p:cNvSpPr txBox="1"/>
          <p:nvPr/>
        </p:nvSpPr>
        <p:spPr>
          <a:xfrm>
            <a:off x="434342" y="211228"/>
            <a:ext cx="3808632" cy="461665"/>
          </a:xfrm>
          <a:prstGeom prst="rect">
            <a:avLst/>
          </a:prstGeom>
          <a:noFill/>
        </p:spPr>
        <p:txBody>
          <a:bodyPr wrap="square" rtlCol="0">
            <a:spAutoFit/>
          </a:bodyPr>
          <a:lstStyle/>
          <a:p>
            <a:r>
              <a:rPr lang="en-US" sz="2400" b="1" dirty="0">
                <a:latin typeface="Arial" panose="020B0604020202020204" pitchFamily="34" charset="0"/>
                <a:cs typeface="Arial" panose="020B0604020202020204" pitchFamily="34" charset="0"/>
              </a:rPr>
              <a:t>Anova() vs drop1()</a:t>
            </a:r>
          </a:p>
        </p:txBody>
      </p:sp>
    </p:spTree>
    <p:extLst>
      <p:ext uri="{BB962C8B-B14F-4D97-AF65-F5344CB8AC3E}">
        <p14:creationId xmlns:p14="http://schemas.microsoft.com/office/powerpoint/2010/main" val="300916498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F52241-3139-7D70-1290-D119B36554D0}"/>
            </a:ext>
          </a:extLst>
        </p:cNvPr>
        <p:cNvGrpSpPr/>
        <p:nvPr/>
      </p:nvGrpSpPr>
      <p:grpSpPr>
        <a:xfrm>
          <a:off x="0" y="0"/>
          <a:ext cx="0" cy="0"/>
          <a:chOff x="0" y="0"/>
          <a:chExt cx="0" cy="0"/>
        </a:xfrm>
      </p:grpSpPr>
      <p:sp>
        <p:nvSpPr>
          <p:cNvPr id="9219" name="Rectangle 3">
            <a:extLst>
              <a:ext uri="{FF2B5EF4-FFF2-40B4-BE49-F238E27FC236}">
                <a16:creationId xmlns:a16="http://schemas.microsoft.com/office/drawing/2014/main" id="{50067315-CC33-2B85-759F-179301C835DD}"/>
              </a:ext>
            </a:extLst>
          </p:cNvPr>
          <p:cNvSpPr>
            <a:spLocks noGrp="1" noChangeArrowheads="1"/>
          </p:cNvSpPr>
          <p:nvPr>
            <p:ph idx="1"/>
          </p:nvPr>
        </p:nvSpPr>
        <p:spPr>
          <a:xfrm>
            <a:off x="444500" y="1026515"/>
            <a:ext cx="7749540" cy="4452937"/>
          </a:xfrm>
        </p:spPr>
        <p:txBody>
          <a:bodyPr>
            <a:noAutofit/>
          </a:bodyPr>
          <a:lstStyle/>
          <a:p>
            <a:pPr eaLnBrk="1" hangingPunct="1">
              <a:lnSpc>
                <a:spcPct val="100000"/>
              </a:lnSpc>
            </a:pPr>
            <a:r>
              <a:rPr lang="en-NZ" altLang="en-US" sz="1800" dirty="0">
                <a:latin typeface="Arial" panose="020B0604020202020204" pitchFamily="34" charset="0"/>
                <a:cs typeface="Arial" panose="020B0604020202020204" pitchFamily="34" charset="0"/>
              </a:rPr>
              <a:t>It is easy to “fall in love” with a  particular model, but it is important to remember:</a:t>
            </a:r>
          </a:p>
          <a:p>
            <a:pPr lvl="1" eaLnBrk="1" hangingPunct="1">
              <a:lnSpc>
                <a:spcPct val="100000"/>
              </a:lnSpc>
            </a:pPr>
            <a:r>
              <a:rPr lang="en-NZ" altLang="en-US" sz="1800" dirty="0">
                <a:latin typeface="Arial" panose="020B0604020202020204" pitchFamily="34" charset="0"/>
                <a:cs typeface="Arial" panose="020B0604020202020204" pitchFamily="34" charset="0"/>
              </a:rPr>
              <a:t>All models are wrong.</a:t>
            </a:r>
          </a:p>
          <a:p>
            <a:pPr lvl="1" eaLnBrk="1" hangingPunct="1">
              <a:lnSpc>
                <a:spcPct val="100000"/>
              </a:lnSpc>
            </a:pPr>
            <a:r>
              <a:rPr lang="en-NZ" altLang="en-US" sz="1800" dirty="0">
                <a:latin typeface="Arial" panose="020B0604020202020204" pitchFamily="34" charset="0"/>
                <a:cs typeface="Arial" panose="020B0604020202020204" pitchFamily="34" charset="0"/>
              </a:rPr>
              <a:t>Some models are better than others.</a:t>
            </a:r>
          </a:p>
          <a:p>
            <a:pPr lvl="1" eaLnBrk="1" hangingPunct="1">
              <a:lnSpc>
                <a:spcPct val="100000"/>
              </a:lnSpc>
            </a:pPr>
            <a:r>
              <a:rPr lang="en-NZ" altLang="en-US" sz="1800" dirty="0">
                <a:latin typeface="Arial" panose="020B0604020202020204" pitchFamily="34" charset="0"/>
                <a:cs typeface="Arial" panose="020B0604020202020204" pitchFamily="34" charset="0"/>
              </a:rPr>
              <a:t>We can never be certain which is the correct model.</a:t>
            </a:r>
          </a:p>
          <a:p>
            <a:pPr lvl="1" eaLnBrk="1" hangingPunct="1">
              <a:lnSpc>
                <a:spcPct val="100000"/>
              </a:lnSpc>
            </a:pPr>
            <a:r>
              <a:rPr lang="en-NZ" altLang="en-US" sz="1800" dirty="0">
                <a:latin typeface="Arial" panose="020B0604020202020204" pitchFamily="34" charset="0"/>
                <a:cs typeface="Arial" panose="020B0604020202020204" pitchFamily="34" charset="0"/>
              </a:rPr>
              <a:t>The simpler the model, the better it is.</a:t>
            </a:r>
            <a:endParaRPr lang="en-GB" altLang="en-US" sz="1800" dirty="0">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6D327DCA-032D-6911-6897-F27A6934A7CE}"/>
              </a:ext>
            </a:extLst>
          </p:cNvPr>
          <p:cNvSpPr txBox="1"/>
          <p:nvPr/>
        </p:nvSpPr>
        <p:spPr>
          <a:xfrm>
            <a:off x="444500" y="401655"/>
            <a:ext cx="8255000" cy="461665"/>
          </a:xfrm>
          <a:prstGeom prst="rect">
            <a:avLst/>
          </a:prstGeom>
          <a:noFill/>
        </p:spPr>
        <p:txBody>
          <a:bodyPr wrap="square">
            <a:spAutoFit/>
          </a:bodyPr>
          <a:lstStyle/>
          <a:p>
            <a:r>
              <a:rPr lang="en-NZ" altLang="en-US" sz="2400" b="1" dirty="0">
                <a:latin typeface="Arial" panose="020B0604020202020204" pitchFamily="34" charset="0"/>
                <a:cs typeface="Arial" panose="020B0604020202020204" pitchFamily="34" charset="0"/>
              </a:rPr>
              <a:t>Model Criticism and Simplification</a:t>
            </a:r>
            <a:endParaRPr lang="en-US" sz="2400" b="1" dirty="0">
              <a:latin typeface="Arial" panose="020B0604020202020204" pitchFamily="34" charset="0"/>
              <a:cs typeface="Arial" panose="020B0604020202020204" pitchFamily="34" charset="0"/>
            </a:endParaRPr>
          </a:p>
        </p:txBody>
      </p:sp>
      <p:pic>
        <p:nvPicPr>
          <p:cNvPr id="4" name="Picture 3">
            <a:extLst>
              <a:ext uri="{FF2B5EF4-FFF2-40B4-BE49-F238E27FC236}">
                <a16:creationId xmlns:a16="http://schemas.microsoft.com/office/drawing/2014/main" id="{AADAB2E6-A5B0-BA3A-771F-36933612A59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95608" y="3429000"/>
            <a:ext cx="4874578" cy="2594610"/>
          </a:xfrm>
          <a:prstGeom prst="rect">
            <a:avLst/>
          </a:prstGeom>
        </p:spPr>
      </p:pic>
    </p:spTree>
    <p:extLst>
      <p:ext uri="{BB962C8B-B14F-4D97-AF65-F5344CB8AC3E}">
        <p14:creationId xmlns:p14="http://schemas.microsoft.com/office/powerpoint/2010/main" val="330293044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35405DDF-4952-7DB2-2BD2-3F9BFCE8CE23}"/>
              </a:ext>
            </a:extLst>
          </p:cNvPr>
          <p:cNvSpPr txBox="1"/>
          <p:nvPr/>
        </p:nvSpPr>
        <p:spPr>
          <a:xfrm>
            <a:off x="457200" y="1245329"/>
            <a:ext cx="6572250" cy="1200329"/>
          </a:xfrm>
          <a:prstGeom prst="rect">
            <a:avLst/>
          </a:prstGeom>
          <a:noFill/>
        </p:spPr>
        <p:txBody>
          <a:bodyPr wrap="square">
            <a:spAutoFit/>
          </a:bodyPr>
          <a:lstStyle/>
          <a:p>
            <a:pPr marL="342900" indent="-342900">
              <a:buFont typeface="Arial" panose="020B0604020202020204" pitchFamily="34" charset="0"/>
              <a:buChar char="•"/>
            </a:pPr>
            <a:r>
              <a:rPr lang="en-US" sz="2400" dirty="0">
                <a:latin typeface="Arial" panose="020B0604020202020204" pitchFamily="34" charset="0"/>
                <a:cs typeface="Arial" panose="020B0604020202020204" pitchFamily="34" charset="0"/>
              </a:rPr>
              <a:t>Model comparison is not causal inference. </a:t>
            </a:r>
          </a:p>
          <a:p>
            <a:endParaRPr lang="en-US" sz="2400" dirty="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US" sz="2400" dirty="0">
                <a:latin typeface="Arial" panose="020B0604020202020204" pitchFamily="34" charset="0"/>
                <a:cs typeface="Arial" panose="020B0604020202020204" pitchFamily="34" charset="0"/>
              </a:rPr>
              <a:t>Stop testing, start thinking. </a:t>
            </a:r>
          </a:p>
        </p:txBody>
      </p:sp>
      <p:sp>
        <p:nvSpPr>
          <p:cNvPr id="10" name="TextBox 9">
            <a:extLst>
              <a:ext uri="{FF2B5EF4-FFF2-40B4-BE49-F238E27FC236}">
                <a16:creationId xmlns:a16="http://schemas.microsoft.com/office/drawing/2014/main" id="{122CF407-2F1A-8C9F-392B-086E51528ABE}"/>
              </a:ext>
            </a:extLst>
          </p:cNvPr>
          <p:cNvSpPr txBox="1"/>
          <p:nvPr/>
        </p:nvSpPr>
        <p:spPr>
          <a:xfrm>
            <a:off x="457200" y="548640"/>
            <a:ext cx="2686050" cy="461665"/>
          </a:xfrm>
          <a:prstGeom prst="rect">
            <a:avLst/>
          </a:prstGeom>
          <a:noFill/>
        </p:spPr>
        <p:txBody>
          <a:bodyPr wrap="square" rtlCol="0">
            <a:spAutoFit/>
          </a:bodyPr>
          <a:lstStyle/>
          <a:p>
            <a:r>
              <a:rPr lang="en-US" sz="2400" b="1" dirty="0">
                <a:latin typeface="Arial" panose="020B0604020202020204" pitchFamily="34" charset="0"/>
                <a:cs typeface="Arial" panose="020B0604020202020204" pitchFamily="34" charset="0"/>
              </a:rPr>
              <a:t>In Summary</a:t>
            </a:r>
            <a:r>
              <a:rPr lang="en-US" dirty="0"/>
              <a:t> </a:t>
            </a:r>
          </a:p>
        </p:txBody>
      </p:sp>
      <p:pic>
        <p:nvPicPr>
          <p:cNvPr id="17" name="Picture 16">
            <a:extLst>
              <a:ext uri="{FF2B5EF4-FFF2-40B4-BE49-F238E27FC236}">
                <a16:creationId xmlns:a16="http://schemas.microsoft.com/office/drawing/2014/main" id="{6EBC920A-AB1E-CD91-2787-DEC42534E24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40300" y="2004060"/>
            <a:ext cx="2692400" cy="3810000"/>
          </a:xfrm>
          <a:prstGeom prst="rect">
            <a:avLst/>
          </a:prstGeom>
        </p:spPr>
      </p:pic>
    </p:spTree>
    <p:extLst>
      <p:ext uri="{BB962C8B-B14F-4D97-AF65-F5344CB8AC3E}">
        <p14:creationId xmlns:p14="http://schemas.microsoft.com/office/powerpoint/2010/main" val="272533056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4B85112F-259B-132F-049E-AA36AB0A9601}"/>
              </a:ext>
            </a:extLst>
          </p:cNvPr>
          <p:cNvSpPr txBox="1"/>
          <p:nvPr/>
        </p:nvSpPr>
        <p:spPr>
          <a:xfrm>
            <a:off x="298749" y="344852"/>
            <a:ext cx="6822141" cy="461665"/>
          </a:xfrm>
          <a:prstGeom prst="rect">
            <a:avLst/>
          </a:prstGeom>
          <a:noFill/>
        </p:spPr>
        <p:txBody>
          <a:bodyPr wrap="square">
            <a:spAutoFit/>
          </a:bodyPr>
          <a:lstStyle/>
          <a:p>
            <a:r>
              <a:rPr lang="en-US" sz="2400" b="1" dirty="0">
                <a:latin typeface="Arial" panose="020B0604020202020204" pitchFamily="34" charset="0"/>
                <a:cs typeface="Arial" panose="020B0604020202020204" pitchFamily="34" charset="0"/>
              </a:rPr>
              <a:t>Causal Inference</a:t>
            </a:r>
          </a:p>
        </p:txBody>
      </p:sp>
      <p:pic>
        <p:nvPicPr>
          <p:cNvPr id="6" name="Picture 5" descr="A collage of images of a monster fighting with a dog&#10;&#10;AI-generated content may be incorrect.">
            <a:extLst>
              <a:ext uri="{FF2B5EF4-FFF2-40B4-BE49-F238E27FC236}">
                <a16:creationId xmlns:a16="http://schemas.microsoft.com/office/drawing/2014/main" id="{AF05DACB-CE12-0846-9D41-15751E422B3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25635" y="1447227"/>
            <a:ext cx="3389755" cy="4596280"/>
          </a:xfrm>
          <a:prstGeom prst="rect">
            <a:avLst/>
          </a:prstGeom>
          <a:solidFill>
            <a:schemeClr val="tx1"/>
          </a:solidFill>
        </p:spPr>
      </p:pic>
      <p:sp>
        <p:nvSpPr>
          <p:cNvPr id="7" name="TextBox 6">
            <a:extLst>
              <a:ext uri="{FF2B5EF4-FFF2-40B4-BE49-F238E27FC236}">
                <a16:creationId xmlns:a16="http://schemas.microsoft.com/office/drawing/2014/main" id="{60677478-0640-8F6E-9706-72E4E181CAD0}"/>
              </a:ext>
            </a:extLst>
          </p:cNvPr>
          <p:cNvSpPr txBox="1"/>
          <p:nvPr/>
        </p:nvSpPr>
        <p:spPr>
          <a:xfrm>
            <a:off x="2131706" y="5674175"/>
            <a:ext cx="2440294" cy="369332"/>
          </a:xfrm>
          <a:prstGeom prst="rect">
            <a:avLst/>
          </a:prstGeom>
          <a:noFill/>
        </p:spPr>
        <p:txBody>
          <a:bodyPr wrap="square">
            <a:spAutoFit/>
          </a:bodyPr>
          <a:lstStyle/>
          <a:p>
            <a:r>
              <a:rPr lang="en-US" dirty="0">
                <a:latin typeface="Arial" panose="020B0604020202020204" pitchFamily="34" charset="0"/>
                <a:cs typeface="Arial" panose="020B0604020202020204" pitchFamily="34" charset="0"/>
              </a:rPr>
              <a:t>Jonathan </a:t>
            </a:r>
            <a:r>
              <a:rPr lang="en-US" dirty="0" err="1">
                <a:latin typeface="Arial" panose="020B0604020202020204" pitchFamily="34" charset="0"/>
                <a:cs typeface="Arial" panose="020B0604020202020204" pitchFamily="34" charset="0"/>
              </a:rPr>
              <a:t>Lefcheck</a:t>
            </a:r>
            <a:endParaRPr lang="en-US" dirty="0">
              <a:latin typeface="Arial" panose="020B0604020202020204" pitchFamily="34" charset="0"/>
              <a:cs typeface="Arial" panose="020B0604020202020204" pitchFamily="34" charset="0"/>
            </a:endParaRPr>
          </a:p>
        </p:txBody>
      </p:sp>
      <p:pic>
        <p:nvPicPr>
          <p:cNvPr id="3" name="Picture 2">
            <a:extLst>
              <a:ext uri="{FF2B5EF4-FFF2-40B4-BE49-F238E27FC236}">
                <a16:creationId xmlns:a16="http://schemas.microsoft.com/office/drawing/2014/main" id="{CEB44F32-1E6F-909E-9188-7AB4BE94BD6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2896" y="1771050"/>
            <a:ext cx="793172" cy="793172"/>
          </a:xfrm>
          <a:prstGeom prst="rect">
            <a:avLst/>
          </a:prstGeom>
        </p:spPr>
      </p:pic>
      <p:sp>
        <p:nvSpPr>
          <p:cNvPr id="8" name="TextBox 7">
            <a:extLst>
              <a:ext uri="{FF2B5EF4-FFF2-40B4-BE49-F238E27FC236}">
                <a16:creationId xmlns:a16="http://schemas.microsoft.com/office/drawing/2014/main" id="{C7F9F323-596C-0BD9-7346-A87FBD76B4AE}"/>
              </a:ext>
            </a:extLst>
          </p:cNvPr>
          <p:cNvSpPr txBox="1"/>
          <p:nvPr/>
        </p:nvSpPr>
        <p:spPr>
          <a:xfrm>
            <a:off x="209822" y="3822873"/>
            <a:ext cx="2182099" cy="369332"/>
          </a:xfrm>
          <a:prstGeom prst="rect">
            <a:avLst/>
          </a:prstGeom>
          <a:noFill/>
        </p:spPr>
        <p:txBody>
          <a:bodyPr wrap="square">
            <a:spAutoFit/>
          </a:bodyPr>
          <a:lstStyle/>
          <a:p>
            <a:r>
              <a:rPr lang="en-US" sz="1800" dirty="0">
                <a:latin typeface="Arial" panose="020B0604020202020204" pitchFamily="34" charset="0"/>
                <a:cs typeface="Arial" panose="020B0604020202020204" pitchFamily="34" charset="0"/>
              </a:rPr>
              <a:t>Richard McElreath</a:t>
            </a:r>
          </a:p>
        </p:txBody>
      </p:sp>
      <p:sp>
        <p:nvSpPr>
          <p:cNvPr id="10" name="TextBox 9">
            <a:extLst>
              <a:ext uri="{FF2B5EF4-FFF2-40B4-BE49-F238E27FC236}">
                <a16:creationId xmlns:a16="http://schemas.microsoft.com/office/drawing/2014/main" id="{20871788-D6FD-D6DC-5720-F31240B6ACAD}"/>
              </a:ext>
            </a:extLst>
          </p:cNvPr>
          <p:cNvSpPr txBox="1"/>
          <p:nvPr/>
        </p:nvSpPr>
        <p:spPr>
          <a:xfrm>
            <a:off x="2633979" y="3822873"/>
            <a:ext cx="1373930" cy="369332"/>
          </a:xfrm>
          <a:prstGeom prst="rect">
            <a:avLst/>
          </a:prstGeom>
          <a:noFill/>
        </p:spPr>
        <p:txBody>
          <a:bodyPr wrap="square">
            <a:spAutoFit/>
          </a:bodyPr>
          <a:lstStyle/>
          <a:p>
            <a:r>
              <a:rPr lang="en-US" sz="1800" dirty="0">
                <a:latin typeface="Arial" panose="020B0604020202020204" pitchFamily="34" charset="0"/>
                <a:cs typeface="Arial" panose="020B0604020202020204" pitchFamily="34" charset="0"/>
              </a:rPr>
              <a:t>Bill Shipley</a:t>
            </a:r>
          </a:p>
        </p:txBody>
      </p:sp>
      <p:sp>
        <p:nvSpPr>
          <p:cNvPr id="12" name="TextBox 11">
            <a:extLst>
              <a:ext uri="{FF2B5EF4-FFF2-40B4-BE49-F238E27FC236}">
                <a16:creationId xmlns:a16="http://schemas.microsoft.com/office/drawing/2014/main" id="{F79AE58B-1632-0662-3A63-692BB8A2A15F}"/>
              </a:ext>
            </a:extLst>
          </p:cNvPr>
          <p:cNvSpPr txBox="1"/>
          <p:nvPr/>
        </p:nvSpPr>
        <p:spPr>
          <a:xfrm>
            <a:off x="230409" y="5696326"/>
            <a:ext cx="1650668" cy="369332"/>
          </a:xfrm>
          <a:prstGeom prst="rect">
            <a:avLst/>
          </a:prstGeom>
          <a:noFill/>
        </p:spPr>
        <p:txBody>
          <a:bodyPr wrap="square">
            <a:spAutoFit/>
          </a:bodyPr>
          <a:lstStyle/>
          <a:p>
            <a:r>
              <a:rPr lang="en-US" sz="1800" dirty="0">
                <a:latin typeface="Arial" panose="020B0604020202020204" pitchFamily="34" charset="0"/>
                <a:cs typeface="Arial" panose="020B0604020202020204" pitchFamily="34" charset="0"/>
              </a:rPr>
              <a:t>Jarrett Byrnes</a:t>
            </a:r>
          </a:p>
        </p:txBody>
      </p:sp>
      <p:sp>
        <p:nvSpPr>
          <p:cNvPr id="14" name="TextBox 13">
            <a:extLst>
              <a:ext uri="{FF2B5EF4-FFF2-40B4-BE49-F238E27FC236}">
                <a16:creationId xmlns:a16="http://schemas.microsoft.com/office/drawing/2014/main" id="{850B9064-0030-B0C4-3679-0F01C24BB77D}"/>
              </a:ext>
            </a:extLst>
          </p:cNvPr>
          <p:cNvSpPr txBox="1"/>
          <p:nvPr/>
        </p:nvSpPr>
        <p:spPr>
          <a:xfrm>
            <a:off x="492835" y="1077895"/>
            <a:ext cx="2316259" cy="369332"/>
          </a:xfrm>
          <a:prstGeom prst="rect">
            <a:avLst/>
          </a:prstGeom>
          <a:noFill/>
        </p:spPr>
        <p:txBody>
          <a:bodyPr wrap="square">
            <a:spAutoFit/>
          </a:bodyPr>
          <a:lstStyle/>
          <a:p>
            <a:r>
              <a:rPr lang="en-US" sz="1800" b="1" dirty="0">
                <a:latin typeface="Arial" panose="020B0604020202020204" pitchFamily="34" charset="0"/>
                <a:cs typeface="Arial" panose="020B0604020202020204" pitchFamily="34" charset="0"/>
              </a:rPr>
              <a:t>Credits:</a:t>
            </a:r>
          </a:p>
        </p:txBody>
      </p:sp>
      <p:pic>
        <p:nvPicPr>
          <p:cNvPr id="16" name="Picture 15">
            <a:extLst>
              <a:ext uri="{FF2B5EF4-FFF2-40B4-BE49-F238E27FC236}">
                <a16:creationId xmlns:a16="http://schemas.microsoft.com/office/drawing/2014/main" id="{047DEDEE-3071-C14A-8A62-22F8AB9F708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32896" y="2625307"/>
            <a:ext cx="793172" cy="1176238"/>
          </a:xfrm>
          <a:prstGeom prst="rect">
            <a:avLst/>
          </a:prstGeom>
        </p:spPr>
      </p:pic>
      <p:pic>
        <p:nvPicPr>
          <p:cNvPr id="18" name="Picture 17">
            <a:extLst>
              <a:ext uri="{FF2B5EF4-FFF2-40B4-BE49-F238E27FC236}">
                <a16:creationId xmlns:a16="http://schemas.microsoft.com/office/drawing/2014/main" id="{BDFCCA01-3EC0-0692-7488-42D94D12FD3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826948" y="2639185"/>
            <a:ext cx="826904" cy="1176238"/>
          </a:xfrm>
          <a:prstGeom prst="rect">
            <a:avLst/>
          </a:prstGeom>
        </p:spPr>
      </p:pic>
      <p:pic>
        <p:nvPicPr>
          <p:cNvPr id="20" name="Picture 19">
            <a:extLst>
              <a:ext uri="{FF2B5EF4-FFF2-40B4-BE49-F238E27FC236}">
                <a16:creationId xmlns:a16="http://schemas.microsoft.com/office/drawing/2014/main" id="{E52AF382-6F01-521B-827C-1E6B56A77CA5}"/>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826948" y="1525618"/>
            <a:ext cx="793172" cy="1057562"/>
          </a:xfrm>
          <a:prstGeom prst="rect">
            <a:avLst/>
          </a:prstGeom>
        </p:spPr>
      </p:pic>
      <p:pic>
        <p:nvPicPr>
          <p:cNvPr id="22" name="Picture 21">
            <a:extLst>
              <a:ext uri="{FF2B5EF4-FFF2-40B4-BE49-F238E27FC236}">
                <a16:creationId xmlns:a16="http://schemas.microsoft.com/office/drawing/2014/main" id="{AC262093-DF83-1A40-9A1B-B0184BFDDE92}"/>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92835" y="4828150"/>
            <a:ext cx="846025" cy="846025"/>
          </a:xfrm>
          <a:prstGeom prst="rect">
            <a:avLst/>
          </a:prstGeom>
        </p:spPr>
      </p:pic>
      <p:pic>
        <p:nvPicPr>
          <p:cNvPr id="24" name="Picture 23">
            <a:extLst>
              <a:ext uri="{FF2B5EF4-FFF2-40B4-BE49-F238E27FC236}">
                <a16:creationId xmlns:a16="http://schemas.microsoft.com/office/drawing/2014/main" id="{251C2AEE-AAFF-EB18-DF90-3687F11F6AAF}"/>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2625677" y="4813716"/>
            <a:ext cx="846025" cy="907233"/>
          </a:xfrm>
          <a:prstGeom prst="rect">
            <a:avLst/>
          </a:prstGeom>
        </p:spPr>
      </p:pic>
    </p:spTree>
    <p:extLst>
      <p:ext uri="{BB962C8B-B14F-4D97-AF65-F5344CB8AC3E}">
        <p14:creationId xmlns:p14="http://schemas.microsoft.com/office/powerpoint/2010/main" val="14729458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2"/>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4"/>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7"/>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10" grpId="0"/>
      <p:bldP spid="12" grpId="0"/>
      <p:bldP spid="14" grpId="0"/>
    </p:bld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4963C8CA-BA59-93EE-ACA5-F9BF722E3C77}"/>
              </a:ext>
            </a:extLst>
          </p:cNvPr>
          <p:cNvGrpSpPr/>
          <p:nvPr/>
        </p:nvGrpSpPr>
        <p:grpSpPr>
          <a:xfrm>
            <a:off x="2294961" y="4063973"/>
            <a:ext cx="5239230" cy="2338737"/>
            <a:chOff x="838200" y="1505636"/>
            <a:chExt cx="6498772" cy="2737527"/>
          </a:xfrm>
        </p:grpSpPr>
        <p:sp>
          <p:nvSpPr>
            <p:cNvPr id="10" name="TextBox 9">
              <a:extLst>
                <a:ext uri="{FF2B5EF4-FFF2-40B4-BE49-F238E27FC236}">
                  <a16:creationId xmlns:a16="http://schemas.microsoft.com/office/drawing/2014/main" id="{B1155E19-8C14-4CEC-9FB2-2D5501A97574}"/>
                </a:ext>
              </a:extLst>
            </p:cNvPr>
            <p:cNvSpPr txBox="1"/>
            <p:nvPr/>
          </p:nvSpPr>
          <p:spPr>
            <a:xfrm>
              <a:off x="838200" y="1568775"/>
              <a:ext cx="1589314" cy="544196"/>
            </a:xfrm>
            <a:prstGeom prst="rect">
              <a:avLst/>
            </a:prstGeom>
            <a:solidFill>
              <a:schemeClr val="accent2">
                <a:lumMod val="40000"/>
                <a:lumOff val="60000"/>
              </a:schemeClr>
            </a:solidFill>
            <a:ln>
              <a:solidFill>
                <a:schemeClr val="tx1"/>
              </a:solidFill>
            </a:ln>
          </p:spPr>
          <p:txBody>
            <a:bodyPr wrap="square">
              <a:spAutoFit/>
            </a:bodyPr>
            <a:lstStyle/>
            <a:p>
              <a:r>
                <a:rPr lang="en-SG" sz="1400" dirty="0">
                  <a:solidFill>
                    <a:srgbClr val="000000"/>
                  </a:solidFill>
                  <a:effectLst/>
                  <a:latin typeface="Arial" panose="020B0604020202020204" pitchFamily="34" charset="0"/>
                  <a:cs typeface="Arial" panose="020B0604020202020204" pitchFamily="34" charset="0"/>
                </a:rPr>
                <a:t>Pattern</a:t>
              </a:r>
            </a:p>
            <a:p>
              <a:r>
                <a:rPr lang="en-SG" sz="1400" dirty="0">
                  <a:solidFill>
                    <a:srgbClr val="000000"/>
                  </a:solidFill>
                  <a:latin typeface="Arial" panose="020B0604020202020204" pitchFamily="34" charset="0"/>
                  <a:cs typeface="Arial" panose="020B0604020202020204" pitchFamily="34" charset="0"/>
                </a:rPr>
                <a:t>r</a:t>
              </a:r>
              <a:r>
                <a:rPr lang="en-SG" sz="1400" dirty="0">
                  <a:solidFill>
                    <a:srgbClr val="000000"/>
                  </a:solidFill>
                  <a:effectLst/>
                  <a:latin typeface="Arial" panose="020B0604020202020204" pitchFamily="34" charset="0"/>
                  <a:cs typeface="Arial" panose="020B0604020202020204" pitchFamily="34" charset="0"/>
                </a:rPr>
                <a:t>ecognition</a:t>
              </a:r>
            </a:p>
          </p:txBody>
        </p:sp>
        <p:sp>
          <p:nvSpPr>
            <p:cNvPr id="11" name="TextBox 10">
              <a:extLst>
                <a:ext uri="{FF2B5EF4-FFF2-40B4-BE49-F238E27FC236}">
                  <a16:creationId xmlns:a16="http://schemas.microsoft.com/office/drawing/2014/main" id="{1AEC12AD-A604-CD32-E798-76E267405969}"/>
                </a:ext>
              </a:extLst>
            </p:cNvPr>
            <p:cNvSpPr txBox="1"/>
            <p:nvPr/>
          </p:nvSpPr>
          <p:spPr>
            <a:xfrm>
              <a:off x="5551715" y="1505636"/>
              <a:ext cx="1785257" cy="544196"/>
            </a:xfrm>
            <a:prstGeom prst="rect">
              <a:avLst/>
            </a:prstGeom>
            <a:solidFill>
              <a:schemeClr val="accent5">
                <a:lumMod val="40000"/>
                <a:lumOff val="60000"/>
              </a:schemeClr>
            </a:solidFill>
            <a:ln>
              <a:solidFill>
                <a:schemeClr val="tx1"/>
              </a:solidFill>
            </a:ln>
          </p:spPr>
          <p:txBody>
            <a:bodyPr wrap="square">
              <a:spAutoFit/>
            </a:bodyPr>
            <a:lstStyle/>
            <a:p>
              <a:r>
                <a:rPr lang="en-SG" sz="1400" dirty="0">
                  <a:solidFill>
                    <a:srgbClr val="000000"/>
                  </a:solidFill>
                  <a:effectLst/>
                  <a:latin typeface="Arial" panose="020B0604020202020204" pitchFamily="34" charset="0"/>
                  <a:cs typeface="Arial" panose="020B0604020202020204" pitchFamily="34" charset="0"/>
                </a:rPr>
                <a:t>Mechanistic</a:t>
              </a:r>
            </a:p>
            <a:p>
              <a:r>
                <a:rPr lang="en-SG" sz="1400" dirty="0">
                  <a:solidFill>
                    <a:srgbClr val="000000"/>
                  </a:solidFill>
                  <a:latin typeface="Arial" panose="020B0604020202020204" pitchFamily="34" charset="0"/>
                  <a:cs typeface="Arial" panose="020B0604020202020204" pitchFamily="34" charset="0"/>
                </a:rPr>
                <a:t>u</a:t>
              </a:r>
              <a:r>
                <a:rPr lang="en-SG" sz="1400" dirty="0">
                  <a:solidFill>
                    <a:srgbClr val="000000"/>
                  </a:solidFill>
                  <a:effectLst/>
                  <a:latin typeface="Arial" panose="020B0604020202020204" pitchFamily="34" charset="0"/>
                  <a:cs typeface="Arial" panose="020B0604020202020204" pitchFamily="34" charset="0"/>
                </a:rPr>
                <a:t>nderstanding</a:t>
              </a:r>
            </a:p>
          </p:txBody>
        </p:sp>
        <p:sp>
          <p:nvSpPr>
            <p:cNvPr id="12" name="TextBox 11">
              <a:extLst>
                <a:ext uri="{FF2B5EF4-FFF2-40B4-BE49-F238E27FC236}">
                  <a16:creationId xmlns:a16="http://schemas.microsoft.com/office/drawing/2014/main" id="{72EEAC08-0CB1-86A2-09C6-51EE4DE0326A}"/>
                </a:ext>
              </a:extLst>
            </p:cNvPr>
            <p:cNvSpPr txBox="1"/>
            <p:nvPr/>
          </p:nvSpPr>
          <p:spPr>
            <a:xfrm>
              <a:off x="3494315" y="3923047"/>
              <a:ext cx="1338943" cy="320116"/>
            </a:xfrm>
            <a:prstGeom prst="rect">
              <a:avLst/>
            </a:prstGeom>
            <a:solidFill>
              <a:schemeClr val="accent6">
                <a:lumMod val="40000"/>
                <a:lumOff val="60000"/>
              </a:schemeClr>
            </a:solidFill>
            <a:ln>
              <a:solidFill>
                <a:schemeClr val="tx1"/>
              </a:solidFill>
            </a:ln>
          </p:spPr>
          <p:txBody>
            <a:bodyPr wrap="square">
              <a:spAutoFit/>
            </a:bodyPr>
            <a:lstStyle/>
            <a:p>
              <a:r>
                <a:rPr lang="en-SG" sz="1400" dirty="0">
                  <a:effectLst/>
                  <a:latin typeface="Arial" panose="020B0604020202020204" pitchFamily="34" charset="0"/>
                  <a:cs typeface="Arial" panose="020B0604020202020204" pitchFamily="34" charset="0"/>
                </a:rPr>
                <a:t>Prediction</a:t>
              </a:r>
            </a:p>
          </p:txBody>
        </p:sp>
        <p:cxnSp>
          <p:nvCxnSpPr>
            <p:cNvPr id="13" name="Conector recto de flecha 4">
              <a:extLst>
                <a:ext uri="{FF2B5EF4-FFF2-40B4-BE49-F238E27FC236}">
                  <a16:creationId xmlns:a16="http://schemas.microsoft.com/office/drawing/2014/main" id="{26590BAB-908B-9488-0690-0B9B8E063110}"/>
                </a:ext>
              </a:extLst>
            </p:cNvPr>
            <p:cNvCxnSpPr>
              <a:cxnSpLocks/>
            </p:cNvCxnSpPr>
            <p:nvPr/>
          </p:nvCxnSpPr>
          <p:spPr>
            <a:xfrm>
              <a:off x="2141629" y="2405743"/>
              <a:ext cx="1352686" cy="1377720"/>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4" name="Conector recto de flecha 4">
              <a:extLst>
                <a:ext uri="{FF2B5EF4-FFF2-40B4-BE49-F238E27FC236}">
                  <a16:creationId xmlns:a16="http://schemas.microsoft.com/office/drawing/2014/main" id="{D689641B-B44B-95E5-6792-8D76CD120023}"/>
                </a:ext>
              </a:extLst>
            </p:cNvPr>
            <p:cNvCxnSpPr>
              <a:cxnSpLocks/>
            </p:cNvCxnSpPr>
            <p:nvPr/>
          </p:nvCxnSpPr>
          <p:spPr>
            <a:xfrm flipH="1">
              <a:off x="4648199" y="2291551"/>
              <a:ext cx="1143001" cy="1491912"/>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5" name="Conector recto de flecha 4">
              <a:extLst>
                <a:ext uri="{FF2B5EF4-FFF2-40B4-BE49-F238E27FC236}">
                  <a16:creationId xmlns:a16="http://schemas.microsoft.com/office/drawing/2014/main" id="{4C33A01D-CE2A-7540-E26F-0B172C1DB737}"/>
                </a:ext>
              </a:extLst>
            </p:cNvPr>
            <p:cNvCxnSpPr>
              <a:cxnSpLocks/>
            </p:cNvCxnSpPr>
            <p:nvPr/>
          </p:nvCxnSpPr>
          <p:spPr>
            <a:xfrm>
              <a:off x="2547258" y="1810667"/>
              <a:ext cx="2819399" cy="0"/>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grpSp>
      <p:sp>
        <p:nvSpPr>
          <p:cNvPr id="16" name="TextBox 15">
            <a:extLst>
              <a:ext uri="{FF2B5EF4-FFF2-40B4-BE49-F238E27FC236}">
                <a16:creationId xmlns:a16="http://schemas.microsoft.com/office/drawing/2014/main" id="{C7BE143A-D861-8281-DBB5-078226DB8C23}"/>
              </a:ext>
            </a:extLst>
          </p:cNvPr>
          <p:cNvSpPr txBox="1"/>
          <p:nvPr/>
        </p:nvSpPr>
        <p:spPr>
          <a:xfrm>
            <a:off x="484091" y="3302476"/>
            <a:ext cx="4572000" cy="461665"/>
          </a:xfrm>
          <a:prstGeom prst="rect">
            <a:avLst/>
          </a:prstGeom>
          <a:noFill/>
        </p:spPr>
        <p:txBody>
          <a:bodyPr wrap="square">
            <a:spAutoFit/>
          </a:bodyPr>
          <a:lstStyle/>
          <a:p>
            <a:r>
              <a:rPr lang="en-SG" sz="2400" b="1" dirty="0">
                <a:effectLst/>
                <a:latin typeface="Arial" panose="020B0604020202020204" pitchFamily="34" charset="0"/>
                <a:cs typeface="Arial" panose="020B0604020202020204" pitchFamily="34" charset="0"/>
              </a:rPr>
              <a:t>Goals of Science</a:t>
            </a:r>
          </a:p>
        </p:txBody>
      </p:sp>
      <p:sp>
        <p:nvSpPr>
          <p:cNvPr id="20" name="TextBox 19">
            <a:extLst>
              <a:ext uri="{FF2B5EF4-FFF2-40B4-BE49-F238E27FC236}">
                <a16:creationId xmlns:a16="http://schemas.microsoft.com/office/drawing/2014/main" id="{83E063D8-BC9B-480F-4C20-40AADDD25B40}"/>
              </a:ext>
            </a:extLst>
          </p:cNvPr>
          <p:cNvSpPr txBox="1"/>
          <p:nvPr/>
        </p:nvSpPr>
        <p:spPr>
          <a:xfrm>
            <a:off x="484091" y="907440"/>
            <a:ext cx="7240429" cy="2256965"/>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US" dirty="0">
                <a:latin typeface="Arial" panose="020B0604020202020204" pitchFamily="34" charset="0"/>
                <a:cs typeface="Arial" panose="020B0604020202020204" pitchFamily="34" charset="0"/>
              </a:rPr>
              <a:t>Causal inference is more than learning an </a:t>
            </a:r>
            <a:r>
              <a:rPr lang="en-US" b="1" dirty="0">
                <a:latin typeface="Arial" panose="020B0604020202020204" pitchFamily="34" charset="0"/>
                <a:cs typeface="Arial" panose="020B0604020202020204" pitchFamily="34" charset="0"/>
              </a:rPr>
              <a:t>association</a:t>
            </a:r>
            <a:r>
              <a:rPr lang="en-US" dirty="0">
                <a:latin typeface="Arial" panose="020B0604020202020204" pitchFamily="34" charset="0"/>
                <a:cs typeface="Arial" panose="020B0604020202020204" pitchFamily="34" charset="0"/>
              </a:rPr>
              <a:t> (i.e., mutual information among variables).</a:t>
            </a:r>
          </a:p>
          <a:p>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Two concepts: </a:t>
            </a:r>
          </a:p>
          <a:p>
            <a:pPr marL="285750" indent="-285750">
              <a:lnSpc>
                <a:spcPct val="150000"/>
              </a:lnSpc>
              <a:buFont typeface="Arial" panose="020B0604020202020204" pitchFamily="34" charset="0"/>
              <a:buChar char="•"/>
            </a:pPr>
            <a:r>
              <a:rPr lang="en-US" dirty="0">
                <a:latin typeface="Arial" panose="020B0604020202020204" pitchFamily="34" charset="0"/>
                <a:cs typeface="Arial" panose="020B0604020202020204" pitchFamily="34" charset="0"/>
              </a:rPr>
              <a:t>Causal inference is </a:t>
            </a:r>
            <a:r>
              <a:rPr lang="en-US" b="1" dirty="0">
                <a:latin typeface="Arial" panose="020B0604020202020204" pitchFamily="34" charset="0"/>
                <a:cs typeface="Arial" panose="020B0604020202020204" pitchFamily="34" charset="0"/>
              </a:rPr>
              <a:t>prediction of intervention</a:t>
            </a:r>
            <a:r>
              <a:rPr lang="en-US" dirty="0">
                <a:latin typeface="Arial" panose="020B0604020202020204" pitchFamily="34" charset="0"/>
                <a:cs typeface="Arial" panose="020B0604020202020204" pitchFamily="34" charset="0"/>
              </a:rPr>
              <a:t>.</a:t>
            </a:r>
          </a:p>
          <a:p>
            <a:pPr marL="285750" indent="-285750">
              <a:lnSpc>
                <a:spcPct val="150000"/>
              </a:lnSpc>
              <a:buFont typeface="Arial" panose="020B0604020202020204" pitchFamily="34" charset="0"/>
              <a:buChar char="•"/>
            </a:pPr>
            <a:r>
              <a:rPr lang="en-US" dirty="0">
                <a:latin typeface="Arial" panose="020B0604020202020204" pitchFamily="34" charset="0"/>
                <a:cs typeface="Arial" panose="020B0604020202020204" pitchFamily="34" charset="0"/>
              </a:rPr>
              <a:t>Causal inference is </a:t>
            </a:r>
            <a:r>
              <a:rPr lang="en-US" b="1" dirty="0">
                <a:latin typeface="Arial" panose="020B0604020202020204" pitchFamily="34" charset="0"/>
                <a:cs typeface="Arial" panose="020B0604020202020204" pitchFamily="34" charset="0"/>
              </a:rPr>
              <a:t>missing data imputation</a:t>
            </a:r>
            <a:r>
              <a:rPr lang="en-US" dirty="0">
                <a:latin typeface="Arial" panose="020B0604020202020204" pitchFamily="34" charset="0"/>
                <a:cs typeface="Arial" panose="020B0604020202020204" pitchFamily="34" charset="0"/>
              </a:rPr>
              <a:t>.</a:t>
            </a:r>
          </a:p>
        </p:txBody>
      </p:sp>
      <p:sp>
        <p:nvSpPr>
          <p:cNvPr id="22" name="TextBox 21">
            <a:extLst>
              <a:ext uri="{FF2B5EF4-FFF2-40B4-BE49-F238E27FC236}">
                <a16:creationId xmlns:a16="http://schemas.microsoft.com/office/drawing/2014/main" id="{05EF8BBD-4486-AC29-02A8-39D8C6E7C05B}"/>
              </a:ext>
            </a:extLst>
          </p:cNvPr>
          <p:cNvSpPr txBox="1"/>
          <p:nvPr/>
        </p:nvSpPr>
        <p:spPr>
          <a:xfrm>
            <a:off x="484091" y="327885"/>
            <a:ext cx="6822141" cy="461665"/>
          </a:xfrm>
          <a:prstGeom prst="rect">
            <a:avLst/>
          </a:prstGeom>
          <a:noFill/>
        </p:spPr>
        <p:txBody>
          <a:bodyPr wrap="square">
            <a:spAutoFit/>
          </a:bodyPr>
          <a:lstStyle/>
          <a:p>
            <a:r>
              <a:rPr lang="en-US" sz="2400" b="1" dirty="0">
                <a:latin typeface="Arial" panose="020B0604020202020204" pitchFamily="34" charset="0"/>
                <a:cs typeface="Arial" panose="020B0604020202020204" pitchFamily="34" charset="0"/>
              </a:rPr>
              <a:t>What is Causal Inference?</a:t>
            </a:r>
          </a:p>
        </p:txBody>
      </p:sp>
    </p:spTree>
    <p:extLst>
      <p:ext uri="{BB962C8B-B14F-4D97-AF65-F5344CB8AC3E}">
        <p14:creationId xmlns:p14="http://schemas.microsoft.com/office/powerpoint/2010/main" val="389077584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42B91B0-1043-E137-314D-A9B50E3F662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59856" y="1048855"/>
            <a:ext cx="4988883" cy="3325922"/>
          </a:xfrm>
          <a:prstGeom prst="rect">
            <a:avLst/>
          </a:prstGeom>
        </p:spPr>
      </p:pic>
      <p:sp>
        <p:nvSpPr>
          <p:cNvPr id="7" name="TextBox 6">
            <a:extLst>
              <a:ext uri="{FF2B5EF4-FFF2-40B4-BE49-F238E27FC236}">
                <a16:creationId xmlns:a16="http://schemas.microsoft.com/office/drawing/2014/main" id="{23E7D65F-6CF8-5436-22AC-CDBBC83FF93B}"/>
              </a:ext>
            </a:extLst>
          </p:cNvPr>
          <p:cNvSpPr txBox="1"/>
          <p:nvPr/>
        </p:nvSpPr>
        <p:spPr>
          <a:xfrm>
            <a:off x="484091" y="4608816"/>
            <a:ext cx="7781368" cy="1477328"/>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US" dirty="0">
                <a:latin typeface="Arial" panose="020B0604020202020204" pitchFamily="34" charset="0"/>
                <a:cs typeface="Arial" panose="020B0604020202020204" pitchFamily="34" charset="0"/>
              </a:rPr>
              <a:t>Knowing a cause means being able to construct unobserved counterfactual outcomes.</a:t>
            </a:r>
          </a:p>
          <a:p>
            <a:endParaRPr lang="en-US"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i="1" dirty="0">
                <a:latin typeface="Arial" panose="020B0604020202020204" pitchFamily="34" charset="0"/>
                <a:cs typeface="Arial" panose="020B0604020202020204" pitchFamily="34" charset="0"/>
              </a:rPr>
              <a:t>What if I had done something else?</a:t>
            </a:r>
          </a:p>
        </p:txBody>
      </p:sp>
      <p:sp>
        <p:nvSpPr>
          <p:cNvPr id="11" name="TextBox 10">
            <a:extLst>
              <a:ext uri="{FF2B5EF4-FFF2-40B4-BE49-F238E27FC236}">
                <a16:creationId xmlns:a16="http://schemas.microsoft.com/office/drawing/2014/main" id="{CF30B886-33B5-0A18-A1BB-90543BDFB58E}"/>
              </a:ext>
            </a:extLst>
          </p:cNvPr>
          <p:cNvSpPr txBox="1"/>
          <p:nvPr/>
        </p:nvSpPr>
        <p:spPr>
          <a:xfrm>
            <a:off x="484091" y="407895"/>
            <a:ext cx="6822141" cy="461665"/>
          </a:xfrm>
          <a:prstGeom prst="rect">
            <a:avLst/>
          </a:prstGeom>
          <a:noFill/>
        </p:spPr>
        <p:txBody>
          <a:bodyPr wrap="square">
            <a:spAutoFit/>
          </a:bodyPr>
          <a:lstStyle/>
          <a:p>
            <a:r>
              <a:rPr lang="en-US" sz="2400" b="1" dirty="0">
                <a:latin typeface="Arial" panose="020B0604020202020204" pitchFamily="34" charset="0"/>
                <a:cs typeface="Arial" panose="020B0604020202020204" pitchFamily="34" charset="0"/>
              </a:rPr>
              <a:t>Causal Imputation</a:t>
            </a:r>
          </a:p>
        </p:txBody>
      </p:sp>
    </p:spTree>
    <p:extLst>
      <p:ext uri="{BB962C8B-B14F-4D97-AF65-F5344CB8AC3E}">
        <p14:creationId xmlns:p14="http://schemas.microsoft.com/office/powerpoint/2010/main" val="420550628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5EE619-1383-56CA-9391-6F1C2483CD83}"/>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F07427AA-4ED0-F75F-A31C-D3F393F6268C}"/>
              </a:ext>
            </a:extLst>
          </p:cNvPr>
          <p:cNvSpPr txBox="1"/>
          <p:nvPr/>
        </p:nvSpPr>
        <p:spPr>
          <a:xfrm>
            <a:off x="484091" y="1089384"/>
            <a:ext cx="4867838" cy="3364960"/>
          </a:xfrm>
          <a:prstGeom prst="rect">
            <a:avLst/>
          </a:prstGeom>
          <a:noFill/>
        </p:spPr>
        <p:txBody>
          <a:bodyPr wrap="square">
            <a:spAutoFit/>
          </a:bodyPr>
          <a:lstStyle/>
          <a:p>
            <a:pPr>
              <a:lnSpc>
                <a:spcPct val="150000"/>
              </a:lnSpc>
              <a:buNone/>
            </a:pPr>
            <a:r>
              <a:rPr lang="en-SG" b="1" dirty="0">
                <a:latin typeface="Arial" panose="020B0604020202020204" pitchFamily="34" charset="0"/>
                <a:cs typeface="Arial" panose="020B0604020202020204" pitchFamily="34" charset="0"/>
              </a:rPr>
              <a:t>Part 1. Causal design</a:t>
            </a:r>
            <a:r>
              <a:rPr lang="en-SG" dirty="0">
                <a:latin typeface="Arial" panose="020B0604020202020204" pitchFamily="34" charset="0"/>
                <a:cs typeface="Arial" panose="020B0604020202020204" pitchFamily="34" charset="0"/>
              </a:rPr>
              <a:t>: </a:t>
            </a:r>
          </a:p>
          <a:p>
            <a:pPr>
              <a:lnSpc>
                <a:spcPct val="150000"/>
              </a:lnSpc>
              <a:buNone/>
            </a:pPr>
            <a:r>
              <a:rPr lang="en-SG" dirty="0">
                <a:latin typeface="Arial" panose="020B0604020202020204" pitchFamily="34" charset="0"/>
                <a:cs typeface="Arial" panose="020B0604020202020204" pitchFamily="34" charset="0"/>
              </a:rPr>
              <a:t>Thinking </a:t>
            </a:r>
            <a:r>
              <a:rPr lang="en-SG" dirty="0">
                <a:effectLst/>
                <a:latin typeface="Arial" panose="020B0604020202020204" pitchFamily="34" charset="0"/>
                <a:cs typeface="Arial" panose="020B0604020202020204" pitchFamily="34" charset="0"/>
              </a:rPr>
              <a:t>about causal model structure to build valid inference.</a:t>
            </a:r>
          </a:p>
          <a:p>
            <a:pPr>
              <a:lnSpc>
                <a:spcPct val="150000"/>
              </a:lnSpc>
              <a:buNone/>
            </a:pPr>
            <a:endParaRPr lang="en-SG" dirty="0">
              <a:effectLst/>
              <a:latin typeface="Arial" panose="020B0604020202020204" pitchFamily="34" charset="0"/>
              <a:cs typeface="Arial" panose="020B0604020202020204" pitchFamily="34" charset="0"/>
            </a:endParaRPr>
          </a:p>
          <a:p>
            <a:pPr>
              <a:lnSpc>
                <a:spcPct val="150000"/>
              </a:lnSpc>
              <a:buNone/>
            </a:pPr>
            <a:r>
              <a:rPr lang="en-SG" b="1" dirty="0">
                <a:latin typeface="Arial" panose="020B0604020202020204" pitchFamily="34" charset="0"/>
                <a:cs typeface="Arial" panose="020B0604020202020204" pitchFamily="34" charset="0"/>
              </a:rPr>
              <a:t>Part 2. Building causal models</a:t>
            </a:r>
            <a:r>
              <a:rPr lang="en-SG" dirty="0">
                <a:latin typeface="Arial" panose="020B0604020202020204" pitchFamily="34" charset="0"/>
                <a:cs typeface="Arial" panose="020B0604020202020204" pitchFamily="34" charset="0"/>
              </a:rPr>
              <a:t>:</a:t>
            </a:r>
          </a:p>
          <a:p>
            <a:pPr>
              <a:lnSpc>
                <a:spcPct val="150000"/>
              </a:lnSpc>
              <a:buNone/>
            </a:pPr>
            <a:r>
              <a:rPr lang="en-SG" dirty="0">
                <a:latin typeface="Arial" panose="020B0604020202020204" pitchFamily="34" charset="0"/>
                <a:cs typeface="Arial" panose="020B0604020202020204" pitchFamily="34" charset="0"/>
              </a:rPr>
              <a:t>Directed Acyclic Graph (DAG), </a:t>
            </a:r>
          </a:p>
          <a:p>
            <a:pPr>
              <a:lnSpc>
                <a:spcPct val="150000"/>
              </a:lnSpc>
              <a:buNone/>
            </a:pPr>
            <a:r>
              <a:rPr lang="en-US" dirty="0">
                <a:latin typeface="Arial" panose="020B0604020202020204" pitchFamily="34" charset="0"/>
                <a:cs typeface="Arial" panose="020B0604020202020204" pitchFamily="34" charset="0"/>
              </a:rPr>
              <a:t>D-separation, and </a:t>
            </a:r>
          </a:p>
          <a:p>
            <a:pPr>
              <a:lnSpc>
                <a:spcPct val="150000"/>
              </a:lnSpc>
              <a:buNone/>
            </a:pPr>
            <a:r>
              <a:rPr lang="en-SG" dirty="0">
                <a:latin typeface="Arial" panose="020B0604020202020204" pitchFamily="34" charset="0"/>
                <a:cs typeface="Arial" panose="020B0604020202020204" pitchFamily="34" charset="0"/>
              </a:rPr>
              <a:t>Structural Equation Model (SEM).</a:t>
            </a:r>
            <a:endParaRPr lang="en-US" dirty="0">
              <a:latin typeface="Arial" panose="020B0604020202020204" pitchFamily="34" charset="0"/>
              <a:cs typeface="Arial" panose="020B0604020202020204" pitchFamily="34" charset="0"/>
            </a:endParaRPr>
          </a:p>
        </p:txBody>
      </p:sp>
      <p:pic>
        <p:nvPicPr>
          <p:cNvPr id="13" name="Picture 12">
            <a:extLst>
              <a:ext uri="{FF2B5EF4-FFF2-40B4-BE49-F238E27FC236}">
                <a16:creationId xmlns:a16="http://schemas.microsoft.com/office/drawing/2014/main" id="{23B46B1E-01A2-D56C-B739-3D23BCC97BD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51928" y="2061711"/>
            <a:ext cx="2626659" cy="3939987"/>
          </a:xfrm>
          <a:prstGeom prst="rect">
            <a:avLst/>
          </a:prstGeom>
        </p:spPr>
      </p:pic>
      <p:sp>
        <p:nvSpPr>
          <p:cNvPr id="16" name="TextBox 15">
            <a:extLst>
              <a:ext uri="{FF2B5EF4-FFF2-40B4-BE49-F238E27FC236}">
                <a16:creationId xmlns:a16="http://schemas.microsoft.com/office/drawing/2014/main" id="{A8EBD402-E806-0E93-1621-5AED42628172}"/>
              </a:ext>
            </a:extLst>
          </p:cNvPr>
          <p:cNvSpPr txBox="1"/>
          <p:nvPr/>
        </p:nvSpPr>
        <p:spPr>
          <a:xfrm>
            <a:off x="484091" y="407895"/>
            <a:ext cx="6822141" cy="461665"/>
          </a:xfrm>
          <a:prstGeom prst="rect">
            <a:avLst/>
          </a:prstGeom>
          <a:noFill/>
        </p:spPr>
        <p:txBody>
          <a:bodyPr wrap="square">
            <a:spAutoFit/>
          </a:bodyPr>
          <a:lstStyle/>
          <a:p>
            <a:r>
              <a:rPr lang="en-US" sz="2400" b="1" dirty="0">
                <a:latin typeface="Arial" panose="020B0604020202020204" pitchFamily="34" charset="0"/>
                <a:cs typeface="Arial" panose="020B0604020202020204" pitchFamily="34" charset="0"/>
              </a:rPr>
              <a:t>Today's Menu</a:t>
            </a:r>
          </a:p>
        </p:txBody>
      </p:sp>
    </p:spTree>
    <p:extLst>
      <p:ext uri="{BB962C8B-B14F-4D97-AF65-F5344CB8AC3E}">
        <p14:creationId xmlns:p14="http://schemas.microsoft.com/office/powerpoint/2010/main" val="217827247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5">
            <a:extLst>
              <a:ext uri="{FF2B5EF4-FFF2-40B4-BE49-F238E27FC236}">
                <a16:creationId xmlns:a16="http://schemas.microsoft.com/office/drawing/2014/main" id="{A27F5CD7-152C-0FF1-4F06-B2BC7DC01C03}"/>
              </a:ext>
            </a:extLst>
          </p:cNvPr>
          <p:cNvSpPr txBox="1"/>
          <p:nvPr/>
        </p:nvSpPr>
        <p:spPr>
          <a:xfrm>
            <a:off x="5371123" y="1790449"/>
            <a:ext cx="1145755" cy="523220"/>
          </a:xfrm>
          <a:prstGeom prst="rect">
            <a:avLst/>
          </a:prstGeom>
          <a:noFill/>
          <a:ln w="25400">
            <a:solidFill>
              <a:schemeClr val="tx1"/>
            </a:solidFill>
          </a:ln>
        </p:spPr>
        <p:txBody>
          <a:bodyPr wrap="square" rtlCol="0">
            <a:spAutoFit/>
          </a:bodyPr>
          <a:lstStyle/>
          <a:p>
            <a:r>
              <a:rPr lang="es-ES" sz="2800" dirty="0" err="1"/>
              <a:t>Effect</a:t>
            </a:r>
            <a:r>
              <a:rPr lang="es-ES" sz="2800" dirty="0"/>
              <a:t> </a:t>
            </a:r>
            <a:endParaRPr lang="es-ES" sz="2800" baseline="-25000" dirty="0"/>
          </a:p>
        </p:txBody>
      </p:sp>
      <p:cxnSp>
        <p:nvCxnSpPr>
          <p:cNvPr id="5" name="Conector recto de flecha 4">
            <a:extLst>
              <a:ext uri="{FF2B5EF4-FFF2-40B4-BE49-F238E27FC236}">
                <a16:creationId xmlns:a16="http://schemas.microsoft.com/office/drawing/2014/main" id="{50015742-62D2-D3FD-811D-92BB92915771}"/>
              </a:ext>
            </a:extLst>
          </p:cNvPr>
          <p:cNvCxnSpPr>
            <a:cxnSpLocks/>
          </p:cNvCxnSpPr>
          <p:nvPr/>
        </p:nvCxnSpPr>
        <p:spPr>
          <a:xfrm>
            <a:off x="3019021" y="2074093"/>
            <a:ext cx="2247441" cy="0"/>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6" name="CuadroTexto 6">
            <a:extLst>
              <a:ext uri="{FF2B5EF4-FFF2-40B4-BE49-F238E27FC236}">
                <a16:creationId xmlns:a16="http://schemas.microsoft.com/office/drawing/2014/main" id="{C2408173-DAA1-5AB1-F87A-51C3B3197ABC}"/>
              </a:ext>
            </a:extLst>
          </p:cNvPr>
          <p:cNvSpPr txBox="1"/>
          <p:nvPr/>
        </p:nvSpPr>
        <p:spPr>
          <a:xfrm>
            <a:off x="1776353" y="1790449"/>
            <a:ext cx="1145754" cy="523220"/>
          </a:xfrm>
          <a:prstGeom prst="rect">
            <a:avLst/>
          </a:prstGeom>
          <a:noFill/>
          <a:ln w="25400">
            <a:solidFill>
              <a:schemeClr val="tx1"/>
            </a:solidFill>
          </a:ln>
        </p:spPr>
        <p:txBody>
          <a:bodyPr wrap="square" rtlCol="0">
            <a:spAutoFit/>
          </a:bodyPr>
          <a:lstStyle/>
          <a:p>
            <a:r>
              <a:rPr lang="es-ES" sz="2800" dirty="0"/>
              <a:t>Cause</a:t>
            </a:r>
            <a:endParaRPr lang="es-ES" sz="2800" baseline="-25000" dirty="0"/>
          </a:p>
        </p:txBody>
      </p:sp>
      <p:sp>
        <p:nvSpPr>
          <p:cNvPr id="12" name="TextBox 11">
            <a:extLst>
              <a:ext uri="{FF2B5EF4-FFF2-40B4-BE49-F238E27FC236}">
                <a16:creationId xmlns:a16="http://schemas.microsoft.com/office/drawing/2014/main" id="{BCB232C2-90B4-3D2F-D746-5D9BCC029385}"/>
              </a:ext>
            </a:extLst>
          </p:cNvPr>
          <p:cNvSpPr txBox="1"/>
          <p:nvPr/>
        </p:nvSpPr>
        <p:spPr>
          <a:xfrm>
            <a:off x="484091" y="3234559"/>
            <a:ext cx="3903241" cy="1200329"/>
          </a:xfrm>
          <a:prstGeom prst="rect">
            <a:avLst/>
          </a:prstGeom>
          <a:noFill/>
        </p:spPr>
        <p:txBody>
          <a:bodyPr wrap="square">
            <a:spAutoFit/>
          </a:bodyPr>
          <a:lstStyle/>
          <a:p>
            <a:pPr marL="285750" indent="-285750">
              <a:buFont typeface="Arial" panose="020B0604020202020204" pitchFamily="34" charset="0"/>
              <a:buChar char="•"/>
            </a:pPr>
            <a:r>
              <a:rPr lang="en-SG" dirty="0">
                <a:solidFill>
                  <a:srgbClr val="000000"/>
                </a:solidFill>
                <a:latin typeface="Arial" panose="020B0604020202020204" pitchFamily="34" charset="0"/>
                <a:cs typeface="Arial" panose="020B0604020202020204" pitchFamily="34" charset="0"/>
              </a:rPr>
              <a:t>Exogenous variable</a:t>
            </a:r>
          </a:p>
          <a:p>
            <a:pPr marL="285750" indent="-285750">
              <a:buFont typeface="Arial" panose="020B0604020202020204" pitchFamily="34" charset="0"/>
              <a:buChar char="•"/>
            </a:pPr>
            <a:r>
              <a:rPr lang="en-SG" dirty="0">
                <a:solidFill>
                  <a:srgbClr val="000000"/>
                </a:solidFill>
                <a:latin typeface="Arial" panose="020B0604020202020204" pitchFamily="34" charset="0"/>
                <a:cs typeface="Arial" panose="020B0604020202020204" pitchFamily="34" charset="0"/>
              </a:rPr>
              <a:t>I</a:t>
            </a:r>
            <a:r>
              <a:rPr lang="en-SG" dirty="0">
                <a:solidFill>
                  <a:srgbClr val="000000"/>
                </a:solidFill>
                <a:effectLst/>
                <a:latin typeface="Arial" panose="020B0604020202020204" pitchFamily="34" charset="0"/>
                <a:cs typeface="Arial" panose="020B0604020202020204" pitchFamily="34" charset="0"/>
              </a:rPr>
              <a:t>ndependent variable</a:t>
            </a:r>
          </a:p>
          <a:p>
            <a:pPr marL="285750" indent="-285750">
              <a:buFont typeface="Arial" panose="020B0604020202020204" pitchFamily="34" charset="0"/>
              <a:buChar char="•"/>
            </a:pPr>
            <a:r>
              <a:rPr lang="en-SG" dirty="0">
                <a:solidFill>
                  <a:srgbClr val="000000"/>
                </a:solidFill>
                <a:latin typeface="Arial" panose="020B0604020202020204" pitchFamily="34" charset="0"/>
                <a:cs typeface="Arial" panose="020B0604020202020204" pitchFamily="34" charset="0"/>
              </a:rPr>
              <a:t>Explanatory variable </a:t>
            </a:r>
            <a:endParaRPr lang="en-SG" dirty="0">
              <a:solidFill>
                <a:srgbClr val="000000"/>
              </a:solidFill>
              <a:effectLst/>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SG" dirty="0">
                <a:solidFill>
                  <a:srgbClr val="000000"/>
                </a:solidFill>
                <a:latin typeface="Arial" panose="020B0604020202020204" pitchFamily="34" charset="0"/>
                <a:cs typeface="Arial" panose="020B0604020202020204" pitchFamily="34" charset="0"/>
              </a:rPr>
              <a:t>Predictor</a:t>
            </a:r>
            <a:endParaRPr lang="en-SG" dirty="0">
              <a:solidFill>
                <a:srgbClr val="000000"/>
              </a:solidFill>
              <a:effectLst/>
              <a:latin typeface="Arial" panose="020B0604020202020204" pitchFamily="34" charset="0"/>
              <a:cs typeface="Arial" panose="020B0604020202020204" pitchFamily="34" charset="0"/>
            </a:endParaRPr>
          </a:p>
        </p:txBody>
      </p:sp>
      <p:sp>
        <p:nvSpPr>
          <p:cNvPr id="13" name="TextBox 12">
            <a:extLst>
              <a:ext uri="{FF2B5EF4-FFF2-40B4-BE49-F238E27FC236}">
                <a16:creationId xmlns:a16="http://schemas.microsoft.com/office/drawing/2014/main" id="{ED1744BB-4C84-C822-02A6-4A052A02A1E8}"/>
              </a:ext>
            </a:extLst>
          </p:cNvPr>
          <p:cNvSpPr txBox="1"/>
          <p:nvPr/>
        </p:nvSpPr>
        <p:spPr>
          <a:xfrm>
            <a:off x="4905400" y="3234558"/>
            <a:ext cx="4343917" cy="1200329"/>
          </a:xfrm>
          <a:prstGeom prst="rect">
            <a:avLst/>
          </a:prstGeom>
          <a:noFill/>
        </p:spPr>
        <p:txBody>
          <a:bodyPr wrap="square">
            <a:spAutoFit/>
          </a:bodyPr>
          <a:lstStyle/>
          <a:p>
            <a:pPr marL="285750" indent="-285750">
              <a:buFont typeface="Arial" panose="020B0604020202020204" pitchFamily="34" charset="0"/>
              <a:buChar char="•"/>
            </a:pPr>
            <a:r>
              <a:rPr lang="en-SG" dirty="0">
                <a:solidFill>
                  <a:srgbClr val="000000"/>
                </a:solidFill>
                <a:latin typeface="Arial" panose="020B0604020202020204" pitchFamily="34" charset="0"/>
                <a:cs typeface="Arial" panose="020B0604020202020204" pitchFamily="34" charset="0"/>
              </a:rPr>
              <a:t>Endogenous variable</a:t>
            </a:r>
          </a:p>
          <a:p>
            <a:pPr marL="285750" indent="-285750">
              <a:buFont typeface="Arial" panose="020B0604020202020204" pitchFamily="34" charset="0"/>
              <a:buChar char="•"/>
            </a:pPr>
            <a:r>
              <a:rPr lang="en-SG" dirty="0">
                <a:solidFill>
                  <a:srgbClr val="000000"/>
                </a:solidFill>
                <a:latin typeface="Arial" panose="020B0604020202020204" pitchFamily="34" charset="0"/>
                <a:cs typeface="Arial" panose="020B0604020202020204" pitchFamily="34" charset="0"/>
              </a:rPr>
              <a:t>Dependent </a:t>
            </a:r>
            <a:r>
              <a:rPr lang="en-SG" dirty="0">
                <a:solidFill>
                  <a:srgbClr val="000000"/>
                </a:solidFill>
                <a:effectLst/>
                <a:latin typeface="Arial" panose="020B0604020202020204" pitchFamily="34" charset="0"/>
                <a:cs typeface="Arial" panose="020B0604020202020204" pitchFamily="34" charset="0"/>
              </a:rPr>
              <a:t>variable</a:t>
            </a:r>
          </a:p>
          <a:p>
            <a:pPr marL="285750" indent="-285750">
              <a:buFont typeface="Arial" panose="020B0604020202020204" pitchFamily="34" charset="0"/>
              <a:buChar char="•"/>
            </a:pPr>
            <a:r>
              <a:rPr lang="en-SG" dirty="0">
                <a:solidFill>
                  <a:srgbClr val="000000"/>
                </a:solidFill>
                <a:latin typeface="Arial" panose="020B0604020202020204" pitchFamily="34" charset="0"/>
                <a:cs typeface="Arial" panose="020B0604020202020204" pitchFamily="34" charset="0"/>
              </a:rPr>
              <a:t>Response variable </a:t>
            </a:r>
          </a:p>
          <a:p>
            <a:pPr marL="285750" indent="-285750">
              <a:buFont typeface="Arial" panose="020B0604020202020204" pitchFamily="34" charset="0"/>
              <a:buChar char="•"/>
            </a:pPr>
            <a:endParaRPr lang="en-SG" dirty="0">
              <a:solidFill>
                <a:srgbClr val="000000"/>
              </a:solidFill>
              <a:effectLst/>
              <a:latin typeface="Arial" panose="020B0604020202020204" pitchFamily="34" charset="0"/>
              <a:cs typeface="Arial" panose="020B0604020202020204" pitchFamily="34" charset="0"/>
            </a:endParaRPr>
          </a:p>
        </p:txBody>
      </p:sp>
      <p:sp>
        <p:nvSpPr>
          <p:cNvPr id="2" name="TextBox 1">
            <a:extLst>
              <a:ext uri="{FF2B5EF4-FFF2-40B4-BE49-F238E27FC236}">
                <a16:creationId xmlns:a16="http://schemas.microsoft.com/office/drawing/2014/main" id="{1C0F5FA4-87FB-147A-FC85-72C436C90D3D}"/>
              </a:ext>
            </a:extLst>
          </p:cNvPr>
          <p:cNvSpPr txBox="1"/>
          <p:nvPr/>
        </p:nvSpPr>
        <p:spPr>
          <a:xfrm>
            <a:off x="484091" y="407895"/>
            <a:ext cx="6822141" cy="461665"/>
          </a:xfrm>
          <a:prstGeom prst="rect">
            <a:avLst/>
          </a:prstGeom>
          <a:noFill/>
        </p:spPr>
        <p:txBody>
          <a:bodyPr wrap="square">
            <a:spAutoFit/>
          </a:bodyPr>
          <a:lstStyle/>
          <a:p>
            <a:r>
              <a:rPr lang="en-US" sz="2400" b="1" dirty="0">
                <a:latin typeface="Arial" panose="020B0604020202020204" pitchFamily="34" charset="0"/>
                <a:cs typeface="Arial" panose="020B0604020202020204" pitchFamily="34" charset="0"/>
              </a:rPr>
              <a:t>What We Want to Evaluate</a:t>
            </a:r>
          </a:p>
        </p:txBody>
      </p:sp>
    </p:spTree>
    <p:extLst>
      <p:ext uri="{BB962C8B-B14F-4D97-AF65-F5344CB8AC3E}">
        <p14:creationId xmlns:p14="http://schemas.microsoft.com/office/powerpoint/2010/main" val="166400774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0DB641-396F-36BB-510F-73179B65CCC0}"/>
            </a:ext>
          </a:extLst>
        </p:cNvPr>
        <p:cNvGrpSpPr/>
        <p:nvPr/>
      </p:nvGrpSpPr>
      <p:grpSpPr>
        <a:xfrm>
          <a:off x="0" y="0"/>
          <a:ext cx="0" cy="0"/>
          <a:chOff x="0" y="0"/>
          <a:chExt cx="0" cy="0"/>
        </a:xfrm>
      </p:grpSpPr>
      <p:grpSp>
        <p:nvGrpSpPr>
          <p:cNvPr id="8" name="Group 7">
            <a:extLst>
              <a:ext uri="{FF2B5EF4-FFF2-40B4-BE49-F238E27FC236}">
                <a16:creationId xmlns:a16="http://schemas.microsoft.com/office/drawing/2014/main" id="{E395BF68-C35F-79D3-DC3D-CEAE4BBBF9B6}"/>
              </a:ext>
            </a:extLst>
          </p:cNvPr>
          <p:cNvGrpSpPr/>
          <p:nvPr/>
        </p:nvGrpSpPr>
        <p:grpSpPr>
          <a:xfrm>
            <a:off x="2201737" y="1276053"/>
            <a:ext cx="4740525" cy="4797803"/>
            <a:chOff x="1864089" y="1500170"/>
            <a:chExt cx="4740525" cy="4797803"/>
          </a:xfrm>
        </p:grpSpPr>
        <p:sp>
          <p:nvSpPr>
            <p:cNvPr id="2" name="CuadroTexto 5">
              <a:extLst>
                <a:ext uri="{FF2B5EF4-FFF2-40B4-BE49-F238E27FC236}">
                  <a16:creationId xmlns:a16="http://schemas.microsoft.com/office/drawing/2014/main" id="{E23624EB-AD63-5E04-BA3F-13DB1BC423D0}"/>
                </a:ext>
              </a:extLst>
            </p:cNvPr>
            <p:cNvSpPr txBox="1"/>
            <p:nvPr/>
          </p:nvSpPr>
          <p:spPr>
            <a:xfrm>
              <a:off x="5458859" y="3186629"/>
              <a:ext cx="1145755" cy="523220"/>
            </a:xfrm>
            <a:prstGeom prst="rect">
              <a:avLst/>
            </a:prstGeom>
            <a:noFill/>
            <a:ln w="25400">
              <a:solidFill>
                <a:schemeClr val="tx1"/>
              </a:solidFill>
            </a:ln>
          </p:spPr>
          <p:txBody>
            <a:bodyPr wrap="square" rtlCol="0">
              <a:spAutoFit/>
            </a:bodyPr>
            <a:lstStyle/>
            <a:p>
              <a:r>
                <a:rPr lang="es-ES" sz="2800" dirty="0" err="1"/>
                <a:t>Effect</a:t>
              </a:r>
              <a:r>
                <a:rPr lang="es-ES" sz="2800" dirty="0"/>
                <a:t> </a:t>
              </a:r>
              <a:endParaRPr lang="es-ES" sz="2800" baseline="-25000" dirty="0"/>
            </a:p>
          </p:txBody>
        </p:sp>
        <p:cxnSp>
          <p:nvCxnSpPr>
            <p:cNvPr id="3" name="Conector recto de flecha 4">
              <a:extLst>
                <a:ext uri="{FF2B5EF4-FFF2-40B4-BE49-F238E27FC236}">
                  <a16:creationId xmlns:a16="http://schemas.microsoft.com/office/drawing/2014/main" id="{7F158FBA-6D4F-174E-9883-98682EA9B9B2}"/>
                </a:ext>
              </a:extLst>
            </p:cNvPr>
            <p:cNvCxnSpPr>
              <a:cxnSpLocks/>
            </p:cNvCxnSpPr>
            <p:nvPr/>
          </p:nvCxnSpPr>
          <p:spPr>
            <a:xfrm>
              <a:off x="3101896" y="3470273"/>
              <a:ext cx="2219251" cy="0"/>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4" name="CuadroTexto 6">
              <a:extLst>
                <a:ext uri="{FF2B5EF4-FFF2-40B4-BE49-F238E27FC236}">
                  <a16:creationId xmlns:a16="http://schemas.microsoft.com/office/drawing/2014/main" id="{8EB0562B-207F-DDBA-13B3-DE78A0B461D6}"/>
                </a:ext>
              </a:extLst>
            </p:cNvPr>
            <p:cNvSpPr txBox="1"/>
            <p:nvPr/>
          </p:nvSpPr>
          <p:spPr>
            <a:xfrm>
              <a:off x="1864089" y="3186629"/>
              <a:ext cx="1145754" cy="523220"/>
            </a:xfrm>
            <a:prstGeom prst="rect">
              <a:avLst/>
            </a:prstGeom>
            <a:noFill/>
            <a:ln w="25400">
              <a:solidFill>
                <a:schemeClr val="tx1"/>
              </a:solidFill>
            </a:ln>
          </p:spPr>
          <p:txBody>
            <a:bodyPr wrap="square" rtlCol="0">
              <a:spAutoFit/>
            </a:bodyPr>
            <a:lstStyle/>
            <a:p>
              <a:r>
                <a:rPr lang="es-ES" sz="2800" dirty="0"/>
                <a:t>Cause</a:t>
              </a:r>
              <a:endParaRPr lang="es-ES" sz="2800" baseline="-25000" dirty="0"/>
            </a:p>
          </p:txBody>
        </p:sp>
        <p:sp>
          <p:nvSpPr>
            <p:cNvPr id="5" name="CuadroTexto 6">
              <a:extLst>
                <a:ext uri="{FF2B5EF4-FFF2-40B4-BE49-F238E27FC236}">
                  <a16:creationId xmlns:a16="http://schemas.microsoft.com/office/drawing/2014/main" id="{73DD57CA-C763-2E94-4DD0-211EC1055552}"/>
                </a:ext>
              </a:extLst>
            </p:cNvPr>
            <p:cNvSpPr txBox="1"/>
            <p:nvPr/>
          </p:nvSpPr>
          <p:spPr>
            <a:xfrm>
              <a:off x="3573830" y="1500170"/>
              <a:ext cx="1344058" cy="523220"/>
            </a:xfrm>
            <a:prstGeom prst="rect">
              <a:avLst/>
            </a:prstGeom>
            <a:noFill/>
            <a:ln w="25400">
              <a:solidFill>
                <a:schemeClr val="tx1"/>
              </a:solidFill>
            </a:ln>
          </p:spPr>
          <p:txBody>
            <a:bodyPr wrap="square" rtlCol="0">
              <a:spAutoFit/>
            </a:bodyPr>
            <a:lstStyle/>
            <a:p>
              <a:pPr algn="ctr"/>
              <a:r>
                <a:rPr lang="es-ES" sz="2800" dirty="0"/>
                <a:t>Cause 3</a:t>
              </a:r>
              <a:endParaRPr lang="es-ES" sz="2800" baseline="-25000" dirty="0"/>
            </a:p>
          </p:txBody>
        </p:sp>
        <p:cxnSp>
          <p:nvCxnSpPr>
            <p:cNvPr id="6" name="Conector recto de flecha 4">
              <a:extLst>
                <a:ext uri="{FF2B5EF4-FFF2-40B4-BE49-F238E27FC236}">
                  <a16:creationId xmlns:a16="http://schemas.microsoft.com/office/drawing/2014/main" id="{4DF945FF-2AB1-D89B-0390-73C72EFB9FC4}"/>
                </a:ext>
              </a:extLst>
            </p:cNvPr>
            <p:cNvCxnSpPr>
              <a:cxnSpLocks/>
            </p:cNvCxnSpPr>
            <p:nvPr/>
          </p:nvCxnSpPr>
          <p:spPr>
            <a:xfrm flipH="1">
              <a:off x="2491108" y="2137271"/>
              <a:ext cx="1221576" cy="914400"/>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9" name="Conector recto de flecha 4">
              <a:extLst>
                <a:ext uri="{FF2B5EF4-FFF2-40B4-BE49-F238E27FC236}">
                  <a16:creationId xmlns:a16="http://schemas.microsoft.com/office/drawing/2014/main" id="{855544AE-EACE-0892-276A-D39FE31A14B6}"/>
                </a:ext>
              </a:extLst>
            </p:cNvPr>
            <p:cNvCxnSpPr>
              <a:cxnSpLocks/>
            </p:cNvCxnSpPr>
            <p:nvPr/>
          </p:nvCxnSpPr>
          <p:spPr>
            <a:xfrm>
              <a:off x="4825388" y="2136313"/>
              <a:ext cx="1206348" cy="915358"/>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14" name="CuadroTexto 6">
              <a:extLst>
                <a:ext uri="{FF2B5EF4-FFF2-40B4-BE49-F238E27FC236}">
                  <a16:creationId xmlns:a16="http://schemas.microsoft.com/office/drawing/2014/main" id="{09098CCF-5A60-982C-CD43-22EFCBD1ABA7}"/>
                </a:ext>
              </a:extLst>
            </p:cNvPr>
            <p:cNvSpPr txBox="1"/>
            <p:nvPr/>
          </p:nvSpPr>
          <p:spPr>
            <a:xfrm>
              <a:off x="3438704" y="4625328"/>
              <a:ext cx="1587912" cy="523220"/>
            </a:xfrm>
            <a:prstGeom prst="rect">
              <a:avLst/>
            </a:prstGeom>
            <a:noFill/>
            <a:ln w="25400">
              <a:solidFill>
                <a:schemeClr val="tx1"/>
              </a:solidFill>
            </a:ln>
          </p:spPr>
          <p:txBody>
            <a:bodyPr wrap="square" rtlCol="0">
              <a:spAutoFit/>
            </a:bodyPr>
            <a:lstStyle/>
            <a:p>
              <a:r>
                <a:rPr lang="es-ES" sz="2800" dirty="0"/>
                <a:t>Mediator</a:t>
              </a:r>
              <a:endParaRPr lang="es-ES" sz="2800" baseline="-25000" dirty="0"/>
            </a:p>
          </p:txBody>
        </p:sp>
        <p:cxnSp>
          <p:nvCxnSpPr>
            <p:cNvPr id="17" name="Conector recto de flecha 4">
              <a:extLst>
                <a:ext uri="{FF2B5EF4-FFF2-40B4-BE49-F238E27FC236}">
                  <a16:creationId xmlns:a16="http://schemas.microsoft.com/office/drawing/2014/main" id="{EA3BE831-32C9-CF09-7746-2FA6188A830B}"/>
                </a:ext>
              </a:extLst>
            </p:cNvPr>
            <p:cNvCxnSpPr>
              <a:cxnSpLocks/>
            </p:cNvCxnSpPr>
            <p:nvPr/>
          </p:nvCxnSpPr>
          <p:spPr>
            <a:xfrm>
              <a:off x="2491108" y="3844807"/>
              <a:ext cx="1221576" cy="676739"/>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9" name="Conector recto de flecha 4">
              <a:extLst>
                <a:ext uri="{FF2B5EF4-FFF2-40B4-BE49-F238E27FC236}">
                  <a16:creationId xmlns:a16="http://schemas.microsoft.com/office/drawing/2014/main" id="{414E8CF2-3676-578B-9D7A-0B3F1C506B2B}"/>
                </a:ext>
              </a:extLst>
            </p:cNvPr>
            <p:cNvCxnSpPr>
              <a:cxnSpLocks/>
            </p:cNvCxnSpPr>
            <p:nvPr/>
          </p:nvCxnSpPr>
          <p:spPr>
            <a:xfrm flipV="1">
              <a:off x="4704202" y="3844807"/>
              <a:ext cx="1327534" cy="676739"/>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22" name="CuadroTexto 6">
              <a:extLst>
                <a:ext uri="{FF2B5EF4-FFF2-40B4-BE49-F238E27FC236}">
                  <a16:creationId xmlns:a16="http://schemas.microsoft.com/office/drawing/2014/main" id="{4E8EBCD5-0938-B0BB-68B9-FCB20DE38B18}"/>
                </a:ext>
              </a:extLst>
            </p:cNvPr>
            <p:cNvSpPr txBox="1"/>
            <p:nvPr/>
          </p:nvSpPr>
          <p:spPr>
            <a:xfrm>
              <a:off x="3526937" y="5774753"/>
              <a:ext cx="1369168" cy="523220"/>
            </a:xfrm>
            <a:prstGeom prst="rect">
              <a:avLst/>
            </a:prstGeom>
            <a:noFill/>
            <a:ln w="25400">
              <a:solidFill>
                <a:schemeClr val="tx1"/>
              </a:solidFill>
            </a:ln>
          </p:spPr>
          <p:txBody>
            <a:bodyPr wrap="square" rtlCol="0">
              <a:spAutoFit/>
            </a:bodyPr>
            <a:lstStyle/>
            <a:p>
              <a:r>
                <a:rPr lang="es-ES" sz="2800" dirty="0"/>
                <a:t>Cause 2</a:t>
              </a:r>
              <a:endParaRPr lang="es-ES" sz="2800" baseline="-25000" dirty="0"/>
            </a:p>
          </p:txBody>
        </p:sp>
        <p:cxnSp>
          <p:nvCxnSpPr>
            <p:cNvPr id="33" name="Conector recto de flecha 4">
              <a:extLst>
                <a:ext uri="{FF2B5EF4-FFF2-40B4-BE49-F238E27FC236}">
                  <a16:creationId xmlns:a16="http://schemas.microsoft.com/office/drawing/2014/main" id="{CEAC491A-9B5A-5603-2366-A1CC46EAF691}"/>
                </a:ext>
              </a:extLst>
            </p:cNvPr>
            <p:cNvCxnSpPr>
              <a:cxnSpLocks/>
            </p:cNvCxnSpPr>
            <p:nvPr/>
          </p:nvCxnSpPr>
          <p:spPr>
            <a:xfrm flipV="1">
              <a:off x="5026616" y="3887575"/>
              <a:ext cx="1286049" cy="2061532"/>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36" name="Conector recto de flecha 4">
              <a:extLst>
                <a:ext uri="{FF2B5EF4-FFF2-40B4-BE49-F238E27FC236}">
                  <a16:creationId xmlns:a16="http://schemas.microsoft.com/office/drawing/2014/main" id="{753A605D-CF9C-F7EF-30A4-FD8413E23BCF}"/>
                </a:ext>
              </a:extLst>
            </p:cNvPr>
            <p:cNvCxnSpPr>
              <a:cxnSpLocks/>
            </p:cNvCxnSpPr>
            <p:nvPr/>
          </p:nvCxnSpPr>
          <p:spPr>
            <a:xfrm flipV="1">
              <a:off x="4245859" y="5181599"/>
              <a:ext cx="0" cy="525137"/>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46" name="Elbow Connector 45">
              <a:extLst>
                <a:ext uri="{FF2B5EF4-FFF2-40B4-BE49-F238E27FC236}">
                  <a16:creationId xmlns:a16="http://schemas.microsoft.com/office/drawing/2014/main" id="{5E863B2B-9256-FE35-C0AE-ECB28DDDAB99}"/>
                </a:ext>
              </a:extLst>
            </p:cNvPr>
            <p:cNvCxnSpPr>
              <a:cxnSpLocks/>
            </p:cNvCxnSpPr>
            <p:nvPr/>
          </p:nvCxnSpPr>
          <p:spPr>
            <a:xfrm rot="10800000" flipV="1">
              <a:off x="3418153" y="1761780"/>
              <a:ext cx="46893" cy="4274583"/>
            </a:xfrm>
            <a:prstGeom prst="bentConnector3">
              <a:avLst>
                <a:gd name="adj1" fmla="val 4252500"/>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7" name="TextBox 6">
            <a:extLst>
              <a:ext uri="{FF2B5EF4-FFF2-40B4-BE49-F238E27FC236}">
                <a16:creationId xmlns:a16="http://schemas.microsoft.com/office/drawing/2014/main" id="{6DF1EB4B-85E5-353D-BA2F-EBD7B099F115}"/>
              </a:ext>
            </a:extLst>
          </p:cNvPr>
          <p:cNvSpPr txBox="1"/>
          <p:nvPr/>
        </p:nvSpPr>
        <p:spPr>
          <a:xfrm>
            <a:off x="484091" y="407895"/>
            <a:ext cx="6822141" cy="461665"/>
          </a:xfrm>
          <a:prstGeom prst="rect">
            <a:avLst/>
          </a:prstGeom>
          <a:noFill/>
        </p:spPr>
        <p:txBody>
          <a:bodyPr wrap="square">
            <a:spAutoFit/>
          </a:bodyPr>
          <a:lstStyle/>
          <a:p>
            <a:r>
              <a:rPr lang="en-US" sz="2400" b="1" dirty="0">
                <a:latin typeface="Arial" panose="020B0604020202020204" pitchFamily="34" charset="0"/>
                <a:cs typeface="Arial" panose="020B0604020202020204" pitchFamily="34" charset="0"/>
              </a:rPr>
              <a:t>But this is the World</a:t>
            </a:r>
          </a:p>
        </p:txBody>
      </p:sp>
    </p:spTree>
    <p:extLst>
      <p:ext uri="{BB962C8B-B14F-4D97-AF65-F5344CB8AC3E}">
        <p14:creationId xmlns:p14="http://schemas.microsoft.com/office/powerpoint/2010/main" val="301666076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9EE63A-02CE-BF05-D4FC-32313A5E6808}"/>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9767A1AE-9330-9316-3933-3BD6721D7E45}"/>
              </a:ext>
            </a:extLst>
          </p:cNvPr>
          <p:cNvSpPr txBox="1"/>
          <p:nvPr/>
        </p:nvSpPr>
        <p:spPr>
          <a:xfrm>
            <a:off x="511713" y="567890"/>
            <a:ext cx="7441894" cy="461665"/>
          </a:xfrm>
          <a:prstGeom prst="rect">
            <a:avLst/>
          </a:prstGeom>
          <a:noFill/>
        </p:spPr>
        <p:txBody>
          <a:bodyPr wrap="square">
            <a:spAutoFit/>
          </a:bodyPr>
          <a:lstStyle/>
          <a:p>
            <a:r>
              <a:rPr lang="en-US" sz="2400" b="1" dirty="0">
                <a:latin typeface="Arial" panose="020B0604020202020204" pitchFamily="34" charset="0"/>
                <a:cs typeface="Arial" panose="020B0604020202020204" pitchFamily="34" charset="0"/>
              </a:rPr>
              <a:t>Intervention: Experiments! What can we learn?</a:t>
            </a:r>
          </a:p>
        </p:txBody>
      </p:sp>
      <p:grpSp>
        <p:nvGrpSpPr>
          <p:cNvPr id="7" name="Group 6">
            <a:extLst>
              <a:ext uri="{FF2B5EF4-FFF2-40B4-BE49-F238E27FC236}">
                <a16:creationId xmlns:a16="http://schemas.microsoft.com/office/drawing/2014/main" id="{4C0CA602-BBB4-3ABE-8D39-8F11337BE6E8}"/>
              </a:ext>
            </a:extLst>
          </p:cNvPr>
          <p:cNvGrpSpPr/>
          <p:nvPr/>
        </p:nvGrpSpPr>
        <p:grpSpPr>
          <a:xfrm>
            <a:off x="1095375" y="1345932"/>
            <a:ext cx="5509239" cy="5065042"/>
            <a:chOff x="1095375" y="1345932"/>
            <a:chExt cx="5509239" cy="5065042"/>
          </a:xfrm>
        </p:grpSpPr>
        <p:sp>
          <p:nvSpPr>
            <p:cNvPr id="2" name="CuadroTexto 5">
              <a:extLst>
                <a:ext uri="{FF2B5EF4-FFF2-40B4-BE49-F238E27FC236}">
                  <a16:creationId xmlns:a16="http://schemas.microsoft.com/office/drawing/2014/main" id="{DCB1B583-E8A4-5048-6769-6D31755204DB}"/>
                </a:ext>
              </a:extLst>
            </p:cNvPr>
            <p:cNvSpPr txBox="1"/>
            <p:nvPr/>
          </p:nvSpPr>
          <p:spPr>
            <a:xfrm>
              <a:off x="5458859" y="3032391"/>
              <a:ext cx="1145755" cy="523220"/>
            </a:xfrm>
            <a:prstGeom prst="rect">
              <a:avLst/>
            </a:prstGeom>
            <a:noFill/>
            <a:ln w="25400">
              <a:solidFill>
                <a:schemeClr val="tx1"/>
              </a:solidFill>
            </a:ln>
          </p:spPr>
          <p:txBody>
            <a:bodyPr wrap="square" rtlCol="0">
              <a:spAutoFit/>
            </a:bodyPr>
            <a:lstStyle/>
            <a:p>
              <a:r>
                <a:rPr lang="es-ES" sz="2800" dirty="0" err="1"/>
                <a:t>Effect</a:t>
              </a:r>
              <a:r>
                <a:rPr lang="es-ES" sz="2800" dirty="0"/>
                <a:t> </a:t>
              </a:r>
              <a:endParaRPr lang="es-ES" sz="2800" baseline="-25000" dirty="0"/>
            </a:p>
          </p:txBody>
        </p:sp>
        <p:cxnSp>
          <p:nvCxnSpPr>
            <p:cNvPr id="3" name="Conector recto de flecha 4">
              <a:extLst>
                <a:ext uri="{FF2B5EF4-FFF2-40B4-BE49-F238E27FC236}">
                  <a16:creationId xmlns:a16="http://schemas.microsoft.com/office/drawing/2014/main" id="{EB90B47E-20F6-B05B-DBA5-83EC807DF974}"/>
                </a:ext>
              </a:extLst>
            </p:cNvPr>
            <p:cNvCxnSpPr>
              <a:cxnSpLocks/>
            </p:cNvCxnSpPr>
            <p:nvPr/>
          </p:nvCxnSpPr>
          <p:spPr>
            <a:xfrm>
              <a:off x="3101896" y="3316035"/>
              <a:ext cx="2219251" cy="0"/>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4" name="CuadroTexto 6">
              <a:extLst>
                <a:ext uri="{FF2B5EF4-FFF2-40B4-BE49-F238E27FC236}">
                  <a16:creationId xmlns:a16="http://schemas.microsoft.com/office/drawing/2014/main" id="{D368EAF6-1635-D84C-9DAB-1809C7345589}"/>
                </a:ext>
              </a:extLst>
            </p:cNvPr>
            <p:cNvSpPr txBox="1"/>
            <p:nvPr/>
          </p:nvSpPr>
          <p:spPr>
            <a:xfrm>
              <a:off x="1864089" y="3032391"/>
              <a:ext cx="1145754" cy="523220"/>
            </a:xfrm>
            <a:prstGeom prst="rect">
              <a:avLst/>
            </a:prstGeom>
            <a:noFill/>
            <a:ln w="25400">
              <a:solidFill>
                <a:schemeClr val="tx1"/>
              </a:solidFill>
            </a:ln>
          </p:spPr>
          <p:txBody>
            <a:bodyPr wrap="square" rtlCol="0">
              <a:spAutoFit/>
            </a:bodyPr>
            <a:lstStyle/>
            <a:p>
              <a:r>
                <a:rPr lang="es-ES" sz="2800" dirty="0"/>
                <a:t>Cause</a:t>
              </a:r>
              <a:endParaRPr lang="es-ES" sz="2800" baseline="-25000" dirty="0"/>
            </a:p>
          </p:txBody>
        </p:sp>
        <p:sp>
          <p:nvSpPr>
            <p:cNvPr id="5" name="CuadroTexto 6">
              <a:extLst>
                <a:ext uri="{FF2B5EF4-FFF2-40B4-BE49-F238E27FC236}">
                  <a16:creationId xmlns:a16="http://schemas.microsoft.com/office/drawing/2014/main" id="{2D40A7AF-A042-4A23-4DD2-5075F9FE83CB}"/>
                </a:ext>
              </a:extLst>
            </p:cNvPr>
            <p:cNvSpPr txBox="1"/>
            <p:nvPr/>
          </p:nvSpPr>
          <p:spPr>
            <a:xfrm>
              <a:off x="3573830" y="1345932"/>
              <a:ext cx="1344058" cy="523220"/>
            </a:xfrm>
            <a:prstGeom prst="rect">
              <a:avLst/>
            </a:prstGeom>
            <a:noFill/>
            <a:ln w="25400">
              <a:solidFill>
                <a:schemeClr val="tx1"/>
              </a:solidFill>
            </a:ln>
          </p:spPr>
          <p:txBody>
            <a:bodyPr wrap="square" rtlCol="0">
              <a:spAutoFit/>
            </a:bodyPr>
            <a:lstStyle/>
            <a:p>
              <a:pPr algn="ctr"/>
              <a:r>
                <a:rPr lang="es-ES" sz="2800" dirty="0"/>
                <a:t>Cause 3</a:t>
              </a:r>
              <a:endParaRPr lang="es-ES" sz="2800" baseline="-25000" dirty="0"/>
            </a:p>
          </p:txBody>
        </p:sp>
        <p:cxnSp>
          <p:nvCxnSpPr>
            <p:cNvPr id="6" name="Conector recto de flecha 4">
              <a:extLst>
                <a:ext uri="{FF2B5EF4-FFF2-40B4-BE49-F238E27FC236}">
                  <a16:creationId xmlns:a16="http://schemas.microsoft.com/office/drawing/2014/main" id="{D7D98752-069C-4F07-5020-BFDFCD787318}"/>
                </a:ext>
              </a:extLst>
            </p:cNvPr>
            <p:cNvCxnSpPr>
              <a:cxnSpLocks/>
            </p:cNvCxnSpPr>
            <p:nvPr/>
          </p:nvCxnSpPr>
          <p:spPr>
            <a:xfrm flipH="1">
              <a:off x="2491108" y="1983033"/>
              <a:ext cx="1221576" cy="914400"/>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9" name="Conector recto de flecha 4">
              <a:extLst>
                <a:ext uri="{FF2B5EF4-FFF2-40B4-BE49-F238E27FC236}">
                  <a16:creationId xmlns:a16="http://schemas.microsoft.com/office/drawing/2014/main" id="{48710810-769F-3DB3-E49F-6A919EBA0157}"/>
                </a:ext>
              </a:extLst>
            </p:cNvPr>
            <p:cNvCxnSpPr>
              <a:cxnSpLocks/>
            </p:cNvCxnSpPr>
            <p:nvPr/>
          </p:nvCxnSpPr>
          <p:spPr>
            <a:xfrm>
              <a:off x="4825388" y="1982075"/>
              <a:ext cx="1206348" cy="915358"/>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14" name="CuadroTexto 6">
              <a:extLst>
                <a:ext uri="{FF2B5EF4-FFF2-40B4-BE49-F238E27FC236}">
                  <a16:creationId xmlns:a16="http://schemas.microsoft.com/office/drawing/2014/main" id="{B8D0F0AE-5C36-20B0-C818-B3D30718BE2E}"/>
                </a:ext>
              </a:extLst>
            </p:cNvPr>
            <p:cNvSpPr txBox="1"/>
            <p:nvPr/>
          </p:nvSpPr>
          <p:spPr>
            <a:xfrm>
              <a:off x="3438704" y="4471090"/>
              <a:ext cx="1587912" cy="523220"/>
            </a:xfrm>
            <a:prstGeom prst="rect">
              <a:avLst/>
            </a:prstGeom>
            <a:noFill/>
            <a:ln w="25400">
              <a:solidFill>
                <a:schemeClr val="tx1"/>
              </a:solidFill>
            </a:ln>
          </p:spPr>
          <p:txBody>
            <a:bodyPr wrap="square" rtlCol="0">
              <a:spAutoFit/>
            </a:bodyPr>
            <a:lstStyle/>
            <a:p>
              <a:r>
                <a:rPr lang="es-ES" sz="2800" dirty="0"/>
                <a:t>Mediator</a:t>
              </a:r>
              <a:endParaRPr lang="es-ES" sz="2800" baseline="-25000" dirty="0"/>
            </a:p>
          </p:txBody>
        </p:sp>
        <p:cxnSp>
          <p:nvCxnSpPr>
            <p:cNvPr id="17" name="Conector recto de flecha 4">
              <a:extLst>
                <a:ext uri="{FF2B5EF4-FFF2-40B4-BE49-F238E27FC236}">
                  <a16:creationId xmlns:a16="http://schemas.microsoft.com/office/drawing/2014/main" id="{FDB049AB-F9B5-5E16-0948-A52F46852D0A}"/>
                </a:ext>
              </a:extLst>
            </p:cNvPr>
            <p:cNvCxnSpPr>
              <a:cxnSpLocks/>
            </p:cNvCxnSpPr>
            <p:nvPr/>
          </p:nvCxnSpPr>
          <p:spPr>
            <a:xfrm>
              <a:off x="2491108" y="3690569"/>
              <a:ext cx="1221576" cy="676739"/>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9" name="Conector recto de flecha 4">
              <a:extLst>
                <a:ext uri="{FF2B5EF4-FFF2-40B4-BE49-F238E27FC236}">
                  <a16:creationId xmlns:a16="http://schemas.microsoft.com/office/drawing/2014/main" id="{3BC3B539-B528-D7DA-73BF-9593FA1527A7}"/>
                </a:ext>
              </a:extLst>
            </p:cNvPr>
            <p:cNvCxnSpPr>
              <a:cxnSpLocks/>
            </p:cNvCxnSpPr>
            <p:nvPr/>
          </p:nvCxnSpPr>
          <p:spPr>
            <a:xfrm flipV="1">
              <a:off x="4704202" y="3690569"/>
              <a:ext cx="1327534" cy="676739"/>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22" name="CuadroTexto 6">
              <a:extLst>
                <a:ext uri="{FF2B5EF4-FFF2-40B4-BE49-F238E27FC236}">
                  <a16:creationId xmlns:a16="http://schemas.microsoft.com/office/drawing/2014/main" id="{A4669BF1-1D76-E6E3-D93D-E1A87C38FA15}"/>
                </a:ext>
              </a:extLst>
            </p:cNvPr>
            <p:cNvSpPr txBox="1"/>
            <p:nvPr/>
          </p:nvSpPr>
          <p:spPr>
            <a:xfrm>
              <a:off x="3526937" y="5887754"/>
              <a:ext cx="1369168" cy="523220"/>
            </a:xfrm>
            <a:prstGeom prst="rect">
              <a:avLst/>
            </a:prstGeom>
            <a:noFill/>
            <a:ln w="25400">
              <a:solidFill>
                <a:schemeClr val="tx1"/>
              </a:solidFill>
            </a:ln>
          </p:spPr>
          <p:txBody>
            <a:bodyPr wrap="square" rtlCol="0">
              <a:spAutoFit/>
            </a:bodyPr>
            <a:lstStyle/>
            <a:p>
              <a:r>
                <a:rPr lang="es-ES" sz="2800" dirty="0"/>
                <a:t>Cause 2</a:t>
              </a:r>
              <a:endParaRPr lang="es-ES" sz="2800" baseline="-25000" dirty="0"/>
            </a:p>
          </p:txBody>
        </p:sp>
        <p:cxnSp>
          <p:nvCxnSpPr>
            <p:cNvPr id="33" name="Conector recto de flecha 4">
              <a:extLst>
                <a:ext uri="{FF2B5EF4-FFF2-40B4-BE49-F238E27FC236}">
                  <a16:creationId xmlns:a16="http://schemas.microsoft.com/office/drawing/2014/main" id="{A0C72B69-76F1-E203-3198-7DD09703B548}"/>
                </a:ext>
              </a:extLst>
            </p:cNvPr>
            <p:cNvCxnSpPr>
              <a:cxnSpLocks/>
            </p:cNvCxnSpPr>
            <p:nvPr/>
          </p:nvCxnSpPr>
          <p:spPr>
            <a:xfrm flipV="1">
              <a:off x="5026616" y="3733337"/>
              <a:ext cx="1286049" cy="2061532"/>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36" name="Conector recto de flecha 4">
              <a:extLst>
                <a:ext uri="{FF2B5EF4-FFF2-40B4-BE49-F238E27FC236}">
                  <a16:creationId xmlns:a16="http://schemas.microsoft.com/office/drawing/2014/main" id="{141F7662-E545-D214-C52C-B77BA63EBB6F}"/>
                </a:ext>
              </a:extLst>
            </p:cNvPr>
            <p:cNvCxnSpPr>
              <a:cxnSpLocks/>
            </p:cNvCxnSpPr>
            <p:nvPr/>
          </p:nvCxnSpPr>
          <p:spPr>
            <a:xfrm flipV="1">
              <a:off x="4245859" y="4994310"/>
              <a:ext cx="0" cy="800559"/>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A1D84D1B-3199-0AC0-2E30-032DDF405C42}"/>
                </a:ext>
              </a:extLst>
            </p:cNvPr>
            <p:cNvSpPr txBox="1"/>
            <p:nvPr/>
          </p:nvSpPr>
          <p:spPr>
            <a:xfrm>
              <a:off x="2922463" y="2208920"/>
              <a:ext cx="566057" cy="461665"/>
            </a:xfrm>
            <a:prstGeom prst="rect">
              <a:avLst/>
            </a:prstGeom>
            <a:solidFill>
              <a:schemeClr val="bg1"/>
            </a:solidFill>
          </p:spPr>
          <p:txBody>
            <a:bodyPr wrap="square" rtlCol="0">
              <a:spAutoFit/>
            </a:bodyPr>
            <a:lstStyle/>
            <a:p>
              <a:r>
                <a:rPr lang="en-US" sz="2400" b="1" dirty="0">
                  <a:solidFill>
                    <a:srgbClr val="FF0000"/>
                  </a:solidFill>
                  <a:latin typeface="Arial" panose="020B0604020202020204" pitchFamily="34" charset="0"/>
                  <a:cs typeface="Arial" panose="020B0604020202020204" pitchFamily="34" charset="0"/>
                </a:rPr>
                <a:t>X</a:t>
              </a:r>
            </a:p>
          </p:txBody>
        </p:sp>
        <p:sp>
          <p:nvSpPr>
            <p:cNvPr id="12" name="TextBox 11">
              <a:extLst>
                <a:ext uri="{FF2B5EF4-FFF2-40B4-BE49-F238E27FC236}">
                  <a16:creationId xmlns:a16="http://schemas.microsoft.com/office/drawing/2014/main" id="{789DEA7D-7197-FA56-1011-209271790133}"/>
                </a:ext>
              </a:extLst>
            </p:cNvPr>
            <p:cNvSpPr txBox="1"/>
            <p:nvPr/>
          </p:nvSpPr>
          <p:spPr>
            <a:xfrm>
              <a:off x="5103583" y="2179688"/>
              <a:ext cx="566057" cy="461665"/>
            </a:xfrm>
            <a:prstGeom prst="rect">
              <a:avLst/>
            </a:prstGeom>
            <a:solidFill>
              <a:schemeClr val="bg1"/>
            </a:solidFill>
          </p:spPr>
          <p:txBody>
            <a:bodyPr wrap="square" rtlCol="0">
              <a:spAutoFit/>
            </a:bodyPr>
            <a:lstStyle/>
            <a:p>
              <a:r>
                <a:rPr lang="en-US" sz="2400" b="1" dirty="0">
                  <a:solidFill>
                    <a:srgbClr val="FF0000"/>
                  </a:solidFill>
                  <a:latin typeface="Arial" panose="020B0604020202020204" pitchFamily="34" charset="0"/>
                  <a:cs typeface="Arial" panose="020B0604020202020204" pitchFamily="34" charset="0"/>
                </a:rPr>
                <a:t>X</a:t>
              </a:r>
            </a:p>
          </p:txBody>
        </p:sp>
        <p:sp>
          <p:nvSpPr>
            <p:cNvPr id="13" name="TextBox 12">
              <a:extLst>
                <a:ext uri="{FF2B5EF4-FFF2-40B4-BE49-F238E27FC236}">
                  <a16:creationId xmlns:a16="http://schemas.microsoft.com/office/drawing/2014/main" id="{7B8A7AC0-38B1-3E89-F571-12C69B8493DD}"/>
                </a:ext>
              </a:extLst>
            </p:cNvPr>
            <p:cNvSpPr txBox="1"/>
            <p:nvPr/>
          </p:nvSpPr>
          <p:spPr>
            <a:xfrm>
              <a:off x="2786839" y="3715644"/>
              <a:ext cx="566057" cy="461665"/>
            </a:xfrm>
            <a:prstGeom prst="rect">
              <a:avLst/>
            </a:prstGeom>
            <a:solidFill>
              <a:schemeClr val="bg1"/>
            </a:solidFill>
          </p:spPr>
          <p:txBody>
            <a:bodyPr wrap="square" rtlCol="0">
              <a:spAutoFit/>
            </a:bodyPr>
            <a:lstStyle/>
            <a:p>
              <a:r>
                <a:rPr lang="en-US" sz="2400" b="1" dirty="0">
                  <a:solidFill>
                    <a:srgbClr val="FF0000"/>
                  </a:solidFill>
                  <a:latin typeface="Arial" panose="020B0604020202020204" pitchFamily="34" charset="0"/>
                  <a:cs typeface="Arial" panose="020B0604020202020204" pitchFamily="34" charset="0"/>
                </a:rPr>
                <a:t>X</a:t>
              </a:r>
            </a:p>
          </p:txBody>
        </p:sp>
        <p:sp>
          <p:nvSpPr>
            <p:cNvPr id="15" name="TextBox 14">
              <a:extLst>
                <a:ext uri="{FF2B5EF4-FFF2-40B4-BE49-F238E27FC236}">
                  <a16:creationId xmlns:a16="http://schemas.microsoft.com/office/drawing/2014/main" id="{E8F46A27-F238-01C3-3E09-C1753BC1F368}"/>
                </a:ext>
              </a:extLst>
            </p:cNvPr>
            <p:cNvSpPr txBox="1"/>
            <p:nvPr/>
          </p:nvSpPr>
          <p:spPr>
            <a:xfrm>
              <a:off x="5065415" y="3829864"/>
              <a:ext cx="566057" cy="461665"/>
            </a:xfrm>
            <a:prstGeom prst="rect">
              <a:avLst/>
            </a:prstGeom>
            <a:solidFill>
              <a:schemeClr val="bg1"/>
            </a:solidFill>
          </p:spPr>
          <p:txBody>
            <a:bodyPr wrap="square" rtlCol="0">
              <a:spAutoFit/>
            </a:bodyPr>
            <a:lstStyle/>
            <a:p>
              <a:r>
                <a:rPr lang="en-US" sz="2400" b="1" dirty="0">
                  <a:solidFill>
                    <a:srgbClr val="FF0000"/>
                  </a:solidFill>
                  <a:latin typeface="Arial" panose="020B0604020202020204" pitchFamily="34" charset="0"/>
                  <a:cs typeface="Arial" panose="020B0604020202020204" pitchFamily="34" charset="0"/>
                </a:rPr>
                <a:t>X</a:t>
              </a:r>
            </a:p>
          </p:txBody>
        </p:sp>
        <p:sp>
          <p:nvSpPr>
            <p:cNvPr id="16" name="TextBox 15">
              <a:extLst>
                <a:ext uri="{FF2B5EF4-FFF2-40B4-BE49-F238E27FC236}">
                  <a16:creationId xmlns:a16="http://schemas.microsoft.com/office/drawing/2014/main" id="{712FD3A5-506A-2293-70D5-E75CC8F48872}"/>
                </a:ext>
              </a:extLst>
            </p:cNvPr>
            <p:cNvSpPr txBox="1"/>
            <p:nvPr/>
          </p:nvSpPr>
          <p:spPr>
            <a:xfrm>
              <a:off x="4058612" y="5210199"/>
              <a:ext cx="328765" cy="461665"/>
            </a:xfrm>
            <a:prstGeom prst="rect">
              <a:avLst/>
            </a:prstGeom>
            <a:solidFill>
              <a:schemeClr val="bg1"/>
            </a:solidFill>
          </p:spPr>
          <p:txBody>
            <a:bodyPr wrap="square" rtlCol="0">
              <a:spAutoFit/>
            </a:bodyPr>
            <a:lstStyle/>
            <a:p>
              <a:r>
                <a:rPr lang="en-US" sz="2400" b="1" dirty="0">
                  <a:solidFill>
                    <a:srgbClr val="FF0000"/>
                  </a:solidFill>
                  <a:latin typeface="Arial" panose="020B0604020202020204" pitchFamily="34" charset="0"/>
                  <a:cs typeface="Arial" panose="020B0604020202020204" pitchFamily="34" charset="0"/>
                </a:rPr>
                <a:t>X</a:t>
              </a:r>
            </a:p>
          </p:txBody>
        </p:sp>
        <p:cxnSp>
          <p:nvCxnSpPr>
            <p:cNvPr id="25" name="Elbow Connector 24">
              <a:extLst>
                <a:ext uri="{FF2B5EF4-FFF2-40B4-BE49-F238E27FC236}">
                  <a16:creationId xmlns:a16="http://schemas.microsoft.com/office/drawing/2014/main" id="{967BA990-1CE2-7745-AD1F-F1BB9B577CC6}"/>
                </a:ext>
              </a:extLst>
            </p:cNvPr>
            <p:cNvCxnSpPr>
              <a:cxnSpLocks/>
            </p:cNvCxnSpPr>
            <p:nvPr/>
          </p:nvCxnSpPr>
          <p:spPr>
            <a:xfrm rot="10800000" flipV="1">
              <a:off x="3348965" y="1607542"/>
              <a:ext cx="46893" cy="4541822"/>
            </a:xfrm>
            <a:prstGeom prst="bentConnector3">
              <a:avLst>
                <a:gd name="adj1" fmla="val 4487435"/>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B61B6313-C7A3-BEA0-A0F5-81C8E3F1A87C}"/>
                </a:ext>
              </a:extLst>
            </p:cNvPr>
            <p:cNvSpPr txBox="1"/>
            <p:nvPr/>
          </p:nvSpPr>
          <p:spPr>
            <a:xfrm>
              <a:off x="1095375" y="2208920"/>
              <a:ext cx="566057" cy="461665"/>
            </a:xfrm>
            <a:prstGeom prst="rect">
              <a:avLst/>
            </a:prstGeom>
            <a:solidFill>
              <a:schemeClr val="bg1"/>
            </a:solidFill>
          </p:spPr>
          <p:txBody>
            <a:bodyPr wrap="square" rtlCol="0">
              <a:spAutoFit/>
            </a:bodyPr>
            <a:lstStyle/>
            <a:p>
              <a:r>
                <a:rPr lang="en-US" sz="2400" b="1" dirty="0">
                  <a:solidFill>
                    <a:srgbClr val="FF0000"/>
                  </a:solidFill>
                  <a:latin typeface="Arial" panose="020B0604020202020204" pitchFamily="34" charset="0"/>
                  <a:cs typeface="Arial" panose="020B0604020202020204" pitchFamily="34" charset="0"/>
                </a:rPr>
                <a:t>X</a:t>
              </a:r>
            </a:p>
          </p:txBody>
        </p:sp>
      </p:grpSp>
      <p:pic>
        <p:nvPicPr>
          <p:cNvPr id="10" name="Picture 9">
            <a:extLst>
              <a:ext uri="{FF2B5EF4-FFF2-40B4-BE49-F238E27FC236}">
                <a16:creationId xmlns:a16="http://schemas.microsoft.com/office/drawing/2014/main" id="{F373E053-3722-D99A-6B17-6D9D191AB6F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70975" y="4060696"/>
            <a:ext cx="1547049" cy="1827058"/>
          </a:xfrm>
          <a:prstGeom prst="rect">
            <a:avLst/>
          </a:prstGeom>
        </p:spPr>
      </p:pic>
    </p:spTree>
    <p:extLst>
      <p:ext uri="{BB962C8B-B14F-4D97-AF65-F5344CB8AC3E}">
        <p14:creationId xmlns:p14="http://schemas.microsoft.com/office/powerpoint/2010/main" val="217975414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12A590-434E-9653-9147-5E1BA33F8198}"/>
            </a:ext>
          </a:extLst>
        </p:cNvPr>
        <p:cNvGrpSpPr/>
        <p:nvPr/>
      </p:nvGrpSpPr>
      <p:grpSpPr>
        <a:xfrm>
          <a:off x="0" y="0"/>
          <a:ext cx="0" cy="0"/>
          <a:chOff x="0" y="0"/>
          <a:chExt cx="0" cy="0"/>
        </a:xfrm>
      </p:grpSpPr>
      <p:sp>
        <p:nvSpPr>
          <p:cNvPr id="2" name="CuadroTexto 5">
            <a:extLst>
              <a:ext uri="{FF2B5EF4-FFF2-40B4-BE49-F238E27FC236}">
                <a16:creationId xmlns:a16="http://schemas.microsoft.com/office/drawing/2014/main" id="{F0DF058D-ED92-6701-E13B-5D9CEB3E6163}"/>
              </a:ext>
            </a:extLst>
          </p:cNvPr>
          <p:cNvSpPr txBox="1"/>
          <p:nvPr/>
        </p:nvSpPr>
        <p:spPr>
          <a:xfrm>
            <a:off x="4517563" y="2602085"/>
            <a:ext cx="1145755" cy="523220"/>
          </a:xfrm>
          <a:prstGeom prst="rect">
            <a:avLst/>
          </a:prstGeom>
          <a:noFill/>
          <a:ln w="25400">
            <a:solidFill>
              <a:schemeClr val="tx1"/>
            </a:solidFill>
          </a:ln>
        </p:spPr>
        <p:txBody>
          <a:bodyPr wrap="square" rtlCol="0">
            <a:spAutoFit/>
          </a:bodyPr>
          <a:lstStyle/>
          <a:p>
            <a:r>
              <a:rPr lang="es-ES" sz="2800" dirty="0" err="1"/>
              <a:t>Effect</a:t>
            </a:r>
            <a:r>
              <a:rPr lang="es-ES" sz="2800" dirty="0"/>
              <a:t> </a:t>
            </a:r>
            <a:endParaRPr lang="es-ES" sz="2800" baseline="-25000" dirty="0"/>
          </a:p>
        </p:txBody>
      </p:sp>
      <p:cxnSp>
        <p:nvCxnSpPr>
          <p:cNvPr id="3" name="Conector recto de flecha 4">
            <a:extLst>
              <a:ext uri="{FF2B5EF4-FFF2-40B4-BE49-F238E27FC236}">
                <a16:creationId xmlns:a16="http://schemas.microsoft.com/office/drawing/2014/main" id="{9568C973-CA31-4823-443E-0821D521CBF6}"/>
              </a:ext>
            </a:extLst>
          </p:cNvPr>
          <p:cNvCxnSpPr>
            <a:cxnSpLocks/>
          </p:cNvCxnSpPr>
          <p:nvPr/>
        </p:nvCxnSpPr>
        <p:spPr>
          <a:xfrm>
            <a:off x="2160600" y="2885729"/>
            <a:ext cx="2219251" cy="0"/>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4" name="CuadroTexto 6">
            <a:extLst>
              <a:ext uri="{FF2B5EF4-FFF2-40B4-BE49-F238E27FC236}">
                <a16:creationId xmlns:a16="http://schemas.microsoft.com/office/drawing/2014/main" id="{EEA95AE0-001A-9F3C-B716-672C843AD887}"/>
              </a:ext>
            </a:extLst>
          </p:cNvPr>
          <p:cNvSpPr txBox="1"/>
          <p:nvPr/>
        </p:nvSpPr>
        <p:spPr>
          <a:xfrm>
            <a:off x="922793" y="2602085"/>
            <a:ext cx="1145754" cy="523220"/>
          </a:xfrm>
          <a:prstGeom prst="rect">
            <a:avLst/>
          </a:prstGeom>
          <a:noFill/>
          <a:ln w="25400">
            <a:solidFill>
              <a:schemeClr val="tx1"/>
            </a:solidFill>
          </a:ln>
        </p:spPr>
        <p:txBody>
          <a:bodyPr wrap="square" rtlCol="0">
            <a:spAutoFit/>
          </a:bodyPr>
          <a:lstStyle/>
          <a:p>
            <a:r>
              <a:rPr lang="es-ES" sz="2800" dirty="0"/>
              <a:t>Cause</a:t>
            </a:r>
            <a:endParaRPr lang="es-ES" sz="2800" baseline="-25000" dirty="0"/>
          </a:p>
        </p:txBody>
      </p:sp>
      <p:sp>
        <p:nvSpPr>
          <p:cNvPr id="5" name="CuadroTexto 6">
            <a:extLst>
              <a:ext uri="{FF2B5EF4-FFF2-40B4-BE49-F238E27FC236}">
                <a16:creationId xmlns:a16="http://schemas.microsoft.com/office/drawing/2014/main" id="{2746314D-2AFB-B8D6-B464-AEF9669C984E}"/>
              </a:ext>
            </a:extLst>
          </p:cNvPr>
          <p:cNvSpPr txBox="1"/>
          <p:nvPr/>
        </p:nvSpPr>
        <p:spPr>
          <a:xfrm>
            <a:off x="2632534" y="915626"/>
            <a:ext cx="1344058" cy="523220"/>
          </a:xfrm>
          <a:prstGeom prst="rect">
            <a:avLst/>
          </a:prstGeom>
          <a:noFill/>
          <a:ln w="25400">
            <a:solidFill>
              <a:schemeClr val="bg2">
                <a:lumMod val="90000"/>
              </a:schemeClr>
            </a:solidFill>
          </a:ln>
        </p:spPr>
        <p:txBody>
          <a:bodyPr wrap="square" rtlCol="0">
            <a:spAutoFit/>
          </a:bodyPr>
          <a:lstStyle/>
          <a:p>
            <a:pPr algn="ctr"/>
            <a:r>
              <a:rPr lang="es-ES" sz="2800" dirty="0">
                <a:solidFill>
                  <a:schemeClr val="bg2">
                    <a:lumMod val="90000"/>
                  </a:schemeClr>
                </a:solidFill>
              </a:rPr>
              <a:t>Cause 3</a:t>
            </a:r>
            <a:endParaRPr lang="es-ES" sz="2800" baseline="-25000" dirty="0">
              <a:solidFill>
                <a:schemeClr val="bg2">
                  <a:lumMod val="90000"/>
                </a:schemeClr>
              </a:solidFill>
            </a:endParaRPr>
          </a:p>
        </p:txBody>
      </p:sp>
      <p:cxnSp>
        <p:nvCxnSpPr>
          <p:cNvPr id="6" name="Conector recto de flecha 4">
            <a:extLst>
              <a:ext uri="{FF2B5EF4-FFF2-40B4-BE49-F238E27FC236}">
                <a16:creationId xmlns:a16="http://schemas.microsoft.com/office/drawing/2014/main" id="{419CE216-D6C2-719F-5389-65D0C49B3686}"/>
              </a:ext>
            </a:extLst>
          </p:cNvPr>
          <p:cNvCxnSpPr>
            <a:cxnSpLocks/>
          </p:cNvCxnSpPr>
          <p:nvPr/>
        </p:nvCxnSpPr>
        <p:spPr>
          <a:xfrm flipH="1">
            <a:off x="1549812" y="1552727"/>
            <a:ext cx="1221576" cy="914400"/>
          </a:xfrm>
          <a:prstGeom prst="straightConnector1">
            <a:avLst/>
          </a:prstGeom>
          <a:ln w="25400">
            <a:solidFill>
              <a:schemeClr val="bg2">
                <a:lumMod val="90000"/>
              </a:schemeClr>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9" name="Conector recto de flecha 4">
            <a:extLst>
              <a:ext uri="{FF2B5EF4-FFF2-40B4-BE49-F238E27FC236}">
                <a16:creationId xmlns:a16="http://schemas.microsoft.com/office/drawing/2014/main" id="{BFA3B654-9F08-E143-2128-C8E61EFCEE06}"/>
              </a:ext>
            </a:extLst>
          </p:cNvPr>
          <p:cNvCxnSpPr>
            <a:cxnSpLocks/>
          </p:cNvCxnSpPr>
          <p:nvPr/>
        </p:nvCxnSpPr>
        <p:spPr>
          <a:xfrm>
            <a:off x="3884092" y="1551769"/>
            <a:ext cx="1206348" cy="915358"/>
          </a:xfrm>
          <a:prstGeom prst="straightConnector1">
            <a:avLst/>
          </a:prstGeom>
          <a:ln w="25400">
            <a:solidFill>
              <a:schemeClr val="bg2">
                <a:lumMod val="90000"/>
              </a:schemeClr>
            </a:solidFill>
            <a:tailEnd type="triangle" w="lg" len="lg"/>
          </a:ln>
        </p:spPr>
        <p:style>
          <a:lnRef idx="1">
            <a:schemeClr val="accent1"/>
          </a:lnRef>
          <a:fillRef idx="0">
            <a:schemeClr val="accent1"/>
          </a:fillRef>
          <a:effectRef idx="0">
            <a:schemeClr val="accent1"/>
          </a:effectRef>
          <a:fontRef idx="minor">
            <a:schemeClr val="tx1"/>
          </a:fontRef>
        </p:style>
      </p:cxnSp>
      <p:sp>
        <p:nvSpPr>
          <p:cNvPr id="14" name="CuadroTexto 6">
            <a:extLst>
              <a:ext uri="{FF2B5EF4-FFF2-40B4-BE49-F238E27FC236}">
                <a16:creationId xmlns:a16="http://schemas.microsoft.com/office/drawing/2014/main" id="{BA2A244A-D0BF-8CD8-835F-B295301685FB}"/>
              </a:ext>
            </a:extLst>
          </p:cNvPr>
          <p:cNvSpPr txBox="1"/>
          <p:nvPr/>
        </p:nvSpPr>
        <p:spPr>
          <a:xfrm>
            <a:off x="2497408" y="4040784"/>
            <a:ext cx="1587912" cy="523220"/>
          </a:xfrm>
          <a:prstGeom prst="rect">
            <a:avLst/>
          </a:prstGeom>
          <a:noFill/>
          <a:ln w="25400">
            <a:solidFill>
              <a:schemeClr val="bg2">
                <a:lumMod val="90000"/>
              </a:schemeClr>
            </a:solidFill>
          </a:ln>
        </p:spPr>
        <p:txBody>
          <a:bodyPr wrap="square" rtlCol="0">
            <a:spAutoFit/>
          </a:bodyPr>
          <a:lstStyle/>
          <a:p>
            <a:r>
              <a:rPr lang="es-ES" sz="2800" dirty="0">
                <a:solidFill>
                  <a:schemeClr val="bg2">
                    <a:lumMod val="90000"/>
                  </a:schemeClr>
                </a:solidFill>
              </a:rPr>
              <a:t>Mediator</a:t>
            </a:r>
            <a:endParaRPr lang="es-ES" sz="2800" baseline="-25000" dirty="0">
              <a:solidFill>
                <a:schemeClr val="bg2">
                  <a:lumMod val="90000"/>
                </a:schemeClr>
              </a:solidFill>
            </a:endParaRPr>
          </a:p>
        </p:txBody>
      </p:sp>
      <p:cxnSp>
        <p:nvCxnSpPr>
          <p:cNvPr id="17" name="Conector recto de flecha 4">
            <a:extLst>
              <a:ext uri="{FF2B5EF4-FFF2-40B4-BE49-F238E27FC236}">
                <a16:creationId xmlns:a16="http://schemas.microsoft.com/office/drawing/2014/main" id="{555EE214-E4F4-8C94-88B1-0C0A6575423D}"/>
              </a:ext>
            </a:extLst>
          </p:cNvPr>
          <p:cNvCxnSpPr>
            <a:cxnSpLocks/>
          </p:cNvCxnSpPr>
          <p:nvPr/>
        </p:nvCxnSpPr>
        <p:spPr>
          <a:xfrm>
            <a:off x="1549812" y="3260263"/>
            <a:ext cx="1221576" cy="676739"/>
          </a:xfrm>
          <a:prstGeom prst="straightConnector1">
            <a:avLst/>
          </a:prstGeom>
          <a:ln w="25400">
            <a:solidFill>
              <a:schemeClr val="bg2">
                <a:lumMod val="90000"/>
              </a:schemeClr>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9" name="Conector recto de flecha 4">
            <a:extLst>
              <a:ext uri="{FF2B5EF4-FFF2-40B4-BE49-F238E27FC236}">
                <a16:creationId xmlns:a16="http://schemas.microsoft.com/office/drawing/2014/main" id="{FCFED0C4-66C3-485D-30D5-9FDA1C7BA734}"/>
              </a:ext>
            </a:extLst>
          </p:cNvPr>
          <p:cNvCxnSpPr>
            <a:cxnSpLocks/>
          </p:cNvCxnSpPr>
          <p:nvPr/>
        </p:nvCxnSpPr>
        <p:spPr>
          <a:xfrm flipV="1">
            <a:off x="3762906" y="3260263"/>
            <a:ext cx="1327534" cy="676739"/>
          </a:xfrm>
          <a:prstGeom prst="straightConnector1">
            <a:avLst/>
          </a:prstGeom>
          <a:ln w="25400">
            <a:solidFill>
              <a:schemeClr val="bg2">
                <a:lumMod val="90000"/>
              </a:schemeClr>
            </a:solidFill>
            <a:tailEnd type="triangle" w="lg" len="lg"/>
          </a:ln>
        </p:spPr>
        <p:style>
          <a:lnRef idx="1">
            <a:schemeClr val="accent1"/>
          </a:lnRef>
          <a:fillRef idx="0">
            <a:schemeClr val="accent1"/>
          </a:fillRef>
          <a:effectRef idx="0">
            <a:schemeClr val="accent1"/>
          </a:effectRef>
          <a:fontRef idx="minor">
            <a:schemeClr val="tx1"/>
          </a:fontRef>
        </p:style>
      </p:cxnSp>
      <p:sp>
        <p:nvSpPr>
          <p:cNvPr id="22" name="CuadroTexto 6">
            <a:extLst>
              <a:ext uri="{FF2B5EF4-FFF2-40B4-BE49-F238E27FC236}">
                <a16:creationId xmlns:a16="http://schemas.microsoft.com/office/drawing/2014/main" id="{C79F7703-654B-7D1F-9494-5DE5A14C4659}"/>
              </a:ext>
            </a:extLst>
          </p:cNvPr>
          <p:cNvSpPr txBox="1"/>
          <p:nvPr/>
        </p:nvSpPr>
        <p:spPr>
          <a:xfrm>
            <a:off x="2585641" y="5457448"/>
            <a:ext cx="1369168" cy="523220"/>
          </a:xfrm>
          <a:prstGeom prst="rect">
            <a:avLst/>
          </a:prstGeom>
          <a:noFill/>
          <a:ln w="25400">
            <a:solidFill>
              <a:schemeClr val="bg2">
                <a:lumMod val="90000"/>
              </a:schemeClr>
            </a:solidFill>
          </a:ln>
        </p:spPr>
        <p:txBody>
          <a:bodyPr wrap="square" rtlCol="0">
            <a:spAutoFit/>
          </a:bodyPr>
          <a:lstStyle/>
          <a:p>
            <a:r>
              <a:rPr lang="es-ES" sz="2800" dirty="0">
                <a:solidFill>
                  <a:schemeClr val="bg2">
                    <a:lumMod val="90000"/>
                  </a:schemeClr>
                </a:solidFill>
              </a:rPr>
              <a:t>Cause 2</a:t>
            </a:r>
            <a:endParaRPr lang="es-ES" sz="2800" baseline="-25000" dirty="0">
              <a:solidFill>
                <a:schemeClr val="bg2">
                  <a:lumMod val="90000"/>
                </a:schemeClr>
              </a:solidFill>
            </a:endParaRPr>
          </a:p>
        </p:txBody>
      </p:sp>
      <p:cxnSp>
        <p:nvCxnSpPr>
          <p:cNvPr id="33" name="Conector recto de flecha 4">
            <a:extLst>
              <a:ext uri="{FF2B5EF4-FFF2-40B4-BE49-F238E27FC236}">
                <a16:creationId xmlns:a16="http://schemas.microsoft.com/office/drawing/2014/main" id="{E03D1EB6-8FF3-CBED-D5BD-B4BBCAA240A5}"/>
              </a:ext>
            </a:extLst>
          </p:cNvPr>
          <p:cNvCxnSpPr>
            <a:cxnSpLocks/>
          </p:cNvCxnSpPr>
          <p:nvPr/>
        </p:nvCxnSpPr>
        <p:spPr>
          <a:xfrm flipV="1">
            <a:off x="4085320" y="3303031"/>
            <a:ext cx="1286049" cy="2061532"/>
          </a:xfrm>
          <a:prstGeom prst="straightConnector1">
            <a:avLst/>
          </a:prstGeom>
          <a:ln w="25400">
            <a:solidFill>
              <a:schemeClr val="bg2">
                <a:lumMod val="90000"/>
              </a:schemeClr>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36" name="Conector recto de flecha 4">
            <a:extLst>
              <a:ext uri="{FF2B5EF4-FFF2-40B4-BE49-F238E27FC236}">
                <a16:creationId xmlns:a16="http://schemas.microsoft.com/office/drawing/2014/main" id="{EF5900F3-A0F2-5AA7-4BF2-E295A2A10351}"/>
              </a:ext>
            </a:extLst>
          </p:cNvPr>
          <p:cNvCxnSpPr>
            <a:cxnSpLocks/>
          </p:cNvCxnSpPr>
          <p:nvPr/>
        </p:nvCxnSpPr>
        <p:spPr>
          <a:xfrm flipV="1">
            <a:off x="3304563" y="4564004"/>
            <a:ext cx="0" cy="800559"/>
          </a:xfrm>
          <a:prstGeom prst="straightConnector1">
            <a:avLst/>
          </a:prstGeom>
          <a:ln w="25400">
            <a:solidFill>
              <a:schemeClr val="bg2">
                <a:lumMod val="90000"/>
              </a:schemeClr>
            </a:solidFill>
            <a:tailEnd type="triangle" w="lg" len="lg"/>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F27A48E2-2669-C71E-7282-B58750C5625C}"/>
              </a:ext>
            </a:extLst>
          </p:cNvPr>
          <p:cNvSpPr txBox="1"/>
          <p:nvPr/>
        </p:nvSpPr>
        <p:spPr>
          <a:xfrm>
            <a:off x="233862" y="291460"/>
            <a:ext cx="7441894" cy="461665"/>
          </a:xfrm>
          <a:prstGeom prst="rect">
            <a:avLst/>
          </a:prstGeom>
          <a:noFill/>
        </p:spPr>
        <p:txBody>
          <a:bodyPr wrap="square">
            <a:spAutoFit/>
          </a:bodyPr>
          <a:lstStyle/>
          <a:p>
            <a:r>
              <a:rPr lang="en-US" sz="2400" b="1" dirty="0">
                <a:latin typeface="Arial" panose="020B0604020202020204" pitchFamily="34" charset="0"/>
                <a:cs typeface="Arial" panose="020B0604020202020204" pitchFamily="34" charset="0"/>
              </a:rPr>
              <a:t>Experiments: Manipulate Cause of Interest</a:t>
            </a:r>
          </a:p>
        </p:txBody>
      </p:sp>
      <p:cxnSp>
        <p:nvCxnSpPr>
          <p:cNvPr id="25" name="Elbow Connector 24">
            <a:extLst>
              <a:ext uri="{FF2B5EF4-FFF2-40B4-BE49-F238E27FC236}">
                <a16:creationId xmlns:a16="http://schemas.microsoft.com/office/drawing/2014/main" id="{A86D8115-DF81-486D-B286-B4B33FC10F34}"/>
              </a:ext>
            </a:extLst>
          </p:cNvPr>
          <p:cNvCxnSpPr>
            <a:cxnSpLocks/>
          </p:cNvCxnSpPr>
          <p:nvPr/>
        </p:nvCxnSpPr>
        <p:spPr>
          <a:xfrm rot="10800000" flipV="1">
            <a:off x="2407669" y="1177236"/>
            <a:ext cx="46893" cy="4541822"/>
          </a:xfrm>
          <a:prstGeom prst="bentConnector3">
            <a:avLst>
              <a:gd name="adj1" fmla="val 4487435"/>
            </a:avLst>
          </a:prstGeom>
          <a:ln w="25400">
            <a:solidFill>
              <a:schemeClr val="bg2">
                <a:lumMod val="9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971F3BE6-F682-27AF-7870-7B67303A59F4}"/>
              </a:ext>
            </a:extLst>
          </p:cNvPr>
          <p:cNvSpPr txBox="1"/>
          <p:nvPr/>
        </p:nvSpPr>
        <p:spPr>
          <a:xfrm>
            <a:off x="5298542" y="1531229"/>
            <a:ext cx="2842217" cy="584775"/>
          </a:xfrm>
          <a:prstGeom prst="rect">
            <a:avLst/>
          </a:prstGeom>
          <a:noFill/>
        </p:spPr>
        <p:txBody>
          <a:bodyPr wrap="square">
            <a:spAutoFit/>
          </a:bodyPr>
          <a:lstStyle/>
          <a:p>
            <a:r>
              <a:rPr lang="en-US" dirty="0">
                <a:latin typeface="Arial" panose="020B0604020202020204" pitchFamily="34" charset="0"/>
                <a:cs typeface="Arial" panose="020B0604020202020204" pitchFamily="34" charset="0"/>
              </a:rPr>
              <a:t>Karl </a:t>
            </a:r>
            <a:r>
              <a:rPr lang="en-US" dirty="0" err="1">
                <a:latin typeface="Arial" panose="020B0604020202020204" pitchFamily="34" charset="0"/>
                <a:cs typeface="Arial" panose="020B0604020202020204" pitchFamily="34" charset="0"/>
              </a:rPr>
              <a:t>Deisseroth</a:t>
            </a:r>
            <a:r>
              <a:rPr lang="en-US" dirty="0">
                <a:latin typeface="Arial" panose="020B0604020202020204" pitchFamily="34" charset="0"/>
                <a:cs typeface="Arial" panose="020B0604020202020204" pitchFamily="34" charset="0"/>
              </a:rPr>
              <a:t> –</a:t>
            </a:r>
          </a:p>
          <a:p>
            <a:r>
              <a:rPr lang="en-US" sz="1400" dirty="0">
                <a:latin typeface="Arial" panose="020B0604020202020204" pitchFamily="34" charset="0"/>
                <a:cs typeface="Arial" panose="020B0604020202020204" pitchFamily="34" charset="0"/>
              </a:rPr>
              <a:t>Nobel Prize winner 2026  </a:t>
            </a:r>
          </a:p>
        </p:txBody>
      </p:sp>
      <p:pic>
        <p:nvPicPr>
          <p:cNvPr id="15" name="Picture 14">
            <a:extLst>
              <a:ext uri="{FF2B5EF4-FFF2-40B4-BE49-F238E27FC236}">
                <a16:creationId xmlns:a16="http://schemas.microsoft.com/office/drawing/2014/main" id="{1C1E9957-A7F6-FC1A-2ADE-C76F5015C4A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524851" y="915626"/>
            <a:ext cx="1225285" cy="1712258"/>
          </a:xfrm>
          <a:prstGeom prst="rect">
            <a:avLst/>
          </a:prstGeom>
        </p:spPr>
      </p:pic>
      <p:sp>
        <p:nvSpPr>
          <p:cNvPr id="18" name="TextBox 17">
            <a:extLst>
              <a:ext uri="{FF2B5EF4-FFF2-40B4-BE49-F238E27FC236}">
                <a16:creationId xmlns:a16="http://schemas.microsoft.com/office/drawing/2014/main" id="{446758E9-FC9A-FBF0-F264-C15ED5857AB8}"/>
              </a:ext>
            </a:extLst>
          </p:cNvPr>
          <p:cNvSpPr txBox="1"/>
          <p:nvPr/>
        </p:nvSpPr>
        <p:spPr>
          <a:xfrm>
            <a:off x="3847229" y="6218121"/>
            <a:ext cx="4841482" cy="307777"/>
          </a:xfrm>
          <a:prstGeom prst="rect">
            <a:avLst/>
          </a:prstGeom>
          <a:noFill/>
        </p:spPr>
        <p:txBody>
          <a:bodyPr wrap="square">
            <a:spAutoFit/>
          </a:bodyPr>
          <a:lstStyle/>
          <a:p>
            <a:r>
              <a:rPr lang="en-US" sz="1400" dirty="0">
                <a:latin typeface="Arial" panose="020B0604020202020204" pitchFamily="34" charset="0"/>
                <a:cs typeface="Arial" panose="020B0604020202020204" pitchFamily="34" charset="0"/>
              </a:rPr>
              <a:t>https://</a:t>
            </a:r>
            <a:r>
              <a:rPr lang="en-US" sz="1400" dirty="0" err="1">
                <a:latin typeface="Arial" panose="020B0604020202020204" pitchFamily="34" charset="0"/>
                <a:cs typeface="Arial" panose="020B0604020202020204" pitchFamily="34" charset="0"/>
              </a:rPr>
              <a:t>www.youtube.com</a:t>
            </a:r>
            <a:r>
              <a:rPr lang="en-US" sz="1400" dirty="0">
                <a:latin typeface="Arial" panose="020B0604020202020204" pitchFamily="34" charset="0"/>
                <a:cs typeface="Arial" panose="020B0604020202020204" pitchFamily="34" charset="0"/>
              </a:rPr>
              <a:t>/</a:t>
            </a:r>
            <a:r>
              <a:rPr lang="en-US" sz="1400" dirty="0" err="1">
                <a:latin typeface="Arial" panose="020B0604020202020204" pitchFamily="34" charset="0"/>
                <a:cs typeface="Arial" panose="020B0604020202020204" pitchFamily="34" charset="0"/>
              </a:rPr>
              <a:t>watch?v</a:t>
            </a:r>
            <a:r>
              <a:rPr lang="en-US" sz="1400" dirty="0">
                <a:latin typeface="Arial" panose="020B0604020202020204" pitchFamily="34" charset="0"/>
                <a:cs typeface="Arial" panose="020B0604020202020204" pitchFamily="34" charset="0"/>
              </a:rPr>
              <a:t>=bggKUbIN0Ww&amp;t=624s</a:t>
            </a:r>
          </a:p>
        </p:txBody>
      </p:sp>
    </p:spTree>
    <p:extLst>
      <p:ext uri="{BB962C8B-B14F-4D97-AF65-F5344CB8AC3E}">
        <p14:creationId xmlns:p14="http://schemas.microsoft.com/office/powerpoint/2010/main" val="20016603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8"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DC5E2C-3BB6-238D-D042-AA744A48EA33}"/>
            </a:ext>
          </a:extLst>
        </p:cNvPr>
        <p:cNvGrpSpPr/>
        <p:nvPr/>
      </p:nvGrpSpPr>
      <p:grpSpPr>
        <a:xfrm>
          <a:off x="0" y="0"/>
          <a:ext cx="0" cy="0"/>
          <a:chOff x="0" y="0"/>
          <a:chExt cx="0" cy="0"/>
        </a:xfrm>
      </p:grpSpPr>
      <p:sp>
        <p:nvSpPr>
          <p:cNvPr id="45" name="TextBox 44">
            <a:extLst>
              <a:ext uri="{FF2B5EF4-FFF2-40B4-BE49-F238E27FC236}">
                <a16:creationId xmlns:a16="http://schemas.microsoft.com/office/drawing/2014/main" id="{50B48055-A77E-1B55-9E08-DAE60FA6EEEE}"/>
              </a:ext>
            </a:extLst>
          </p:cNvPr>
          <p:cNvSpPr txBox="1"/>
          <p:nvPr/>
        </p:nvSpPr>
        <p:spPr>
          <a:xfrm>
            <a:off x="423771" y="428434"/>
            <a:ext cx="7344883" cy="830997"/>
          </a:xfrm>
          <a:prstGeom prst="rect">
            <a:avLst/>
          </a:prstGeom>
          <a:noFill/>
        </p:spPr>
        <p:txBody>
          <a:bodyPr wrap="square">
            <a:spAutoFit/>
          </a:bodyPr>
          <a:lstStyle/>
          <a:p>
            <a:r>
              <a:rPr lang="en-SG" sz="2400" b="1" dirty="0">
                <a:effectLst/>
                <a:latin typeface="Arial" panose="020B0604020202020204" pitchFamily="34" charset="0"/>
                <a:cs typeface="Arial" panose="020B0604020202020204" pitchFamily="34" charset="0"/>
              </a:rPr>
              <a:t>Can We Think of Multiple Regression from a Causal Standpoint?</a:t>
            </a:r>
          </a:p>
        </p:txBody>
      </p:sp>
      <p:sp>
        <p:nvSpPr>
          <p:cNvPr id="47" name="TextBox 46">
            <a:extLst>
              <a:ext uri="{FF2B5EF4-FFF2-40B4-BE49-F238E27FC236}">
                <a16:creationId xmlns:a16="http://schemas.microsoft.com/office/drawing/2014/main" id="{9F344CD2-A7E0-3714-ED68-FAFA3CED3A3D}"/>
              </a:ext>
            </a:extLst>
          </p:cNvPr>
          <p:cNvSpPr txBox="1"/>
          <p:nvPr/>
        </p:nvSpPr>
        <p:spPr>
          <a:xfrm>
            <a:off x="4451162" y="1791647"/>
            <a:ext cx="4043990" cy="3477875"/>
          </a:xfrm>
          <a:prstGeom prst="rect">
            <a:avLst/>
          </a:prstGeom>
          <a:noFill/>
        </p:spPr>
        <p:txBody>
          <a:bodyPr wrap="square">
            <a:spAutoFit/>
          </a:bodyPr>
          <a:lstStyle/>
          <a:p>
            <a:pPr marL="285750" indent="-285750">
              <a:buFont typeface="Arial" panose="020B0604020202020204" pitchFamily="34" charset="0"/>
              <a:buChar char="•"/>
            </a:pPr>
            <a:r>
              <a:rPr lang="en-US" sz="2000" dirty="0">
                <a:latin typeface="Arial" panose="020B0604020202020204" pitchFamily="34" charset="0"/>
                <a:cs typeface="Arial" panose="020B0604020202020204" pitchFamily="34" charset="0"/>
              </a:rPr>
              <a:t>We estimate the effect of exogenous variables </a:t>
            </a:r>
            <a:r>
              <a:rPr lang="en-US" sz="2000" b="1" i="1" dirty="0">
                <a:latin typeface="Arial" panose="020B0604020202020204" pitchFamily="34" charset="0"/>
                <a:cs typeface="Arial" panose="020B0604020202020204" pitchFamily="34" charset="0"/>
              </a:rPr>
              <a:t>controlling</a:t>
            </a:r>
            <a:r>
              <a:rPr lang="en-US" sz="2000" dirty="0">
                <a:latin typeface="Arial" panose="020B0604020202020204" pitchFamily="34" charset="0"/>
                <a:cs typeface="Arial" panose="020B0604020202020204" pitchFamily="34" charset="0"/>
              </a:rPr>
              <a:t> for all others </a:t>
            </a:r>
          </a:p>
          <a:p>
            <a:endParaRPr lang="en-US" sz="2000"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sz="2000" dirty="0">
                <a:latin typeface="Arial" panose="020B0604020202020204" pitchFamily="34" charset="0"/>
                <a:cs typeface="Arial" panose="020B0604020202020204" pitchFamily="34" charset="0"/>
              </a:rPr>
              <a:t>Covariances implied</a:t>
            </a:r>
          </a:p>
          <a:p>
            <a:endParaRPr lang="en-US" sz="2000"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sz="2000" dirty="0">
                <a:latin typeface="Arial" panose="020B0604020202020204" pitchFamily="34" charset="0"/>
                <a:cs typeface="Arial" panose="020B0604020202020204" pitchFamily="34" charset="0"/>
              </a:rPr>
              <a:t>Not controlling for the right variables = bad inference </a:t>
            </a:r>
          </a:p>
          <a:p>
            <a:endParaRPr lang="en-US" sz="2000"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sz="2000" dirty="0">
                <a:latin typeface="Arial" panose="020B0604020202020204" pitchFamily="34" charset="0"/>
                <a:cs typeface="Arial" panose="020B0604020202020204" pitchFamily="34" charset="0"/>
              </a:rPr>
              <a:t>Controlling for the wrong variables = bad inference </a:t>
            </a:r>
          </a:p>
        </p:txBody>
      </p:sp>
      <p:sp>
        <p:nvSpPr>
          <p:cNvPr id="48" name="CuadroTexto 5">
            <a:extLst>
              <a:ext uri="{FF2B5EF4-FFF2-40B4-BE49-F238E27FC236}">
                <a16:creationId xmlns:a16="http://schemas.microsoft.com/office/drawing/2014/main" id="{3919F473-3506-EA2C-BF17-A2A929D6753B}"/>
              </a:ext>
            </a:extLst>
          </p:cNvPr>
          <p:cNvSpPr txBox="1"/>
          <p:nvPr/>
        </p:nvSpPr>
        <p:spPr>
          <a:xfrm>
            <a:off x="3471154" y="2961199"/>
            <a:ext cx="550004" cy="523220"/>
          </a:xfrm>
          <a:prstGeom prst="rect">
            <a:avLst/>
          </a:prstGeom>
          <a:noFill/>
          <a:ln w="25400">
            <a:solidFill>
              <a:schemeClr val="tx1"/>
            </a:solidFill>
          </a:ln>
        </p:spPr>
        <p:txBody>
          <a:bodyPr wrap="square" rtlCol="0">
            <a:spAutoFit/>
          </a:bodyPr>
          <a:lstStyle/>
          <a:p>
            <a:r>
              <a:rPr lang="es-ES" sz="2800" dirty="0"/>
              <a:t>Y </a:t>
            </a:r>
            <a:endParaRPr lang="es-ES" sz="2800" baseline="-25000" dirty="0"/>
          </a:p>
        </p:txBody>
      </p:sp>
      <p:cxnSp>
        <p:nvCxnSpPr>
          <p:cNvPr id="49" name="Conector recto de flecha 4">
            <a:extLst>
              <a:ext uri="{FF2B5EF4-FFF2-40B4-BE49-F238E27FC236}">
                <a16:creationId xmlns:a16="http://schemas.microsoft.com/office/drawing/2014/main" id="{0BD29C63-5076-FA46-E3FA-170D716C49D5}"/>
              </a:ext>
            </a:extLst>
          </p:cNvPr>
          <p:cNvCxnSpPr>
            <a:cxnSpLocks/>
          </p:cNvCxnSpPr>
          <p:nvPr/>
        </p:nvCxnSpPr>
        <p:spPr>
          <a:xfrm>
            <a:off x="2263219" y="2387786"/>
            <a:ext cx="1107942" cy="545390"/>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50" name="CuadroTexto 6">
            <a:extLst>
              <a:ext uri="{FF2B5EF4-FFF2-40B4-BE49-F238E27FC236}">
                <a16:creationId xmlns:a16="http://schemas.microsoft.com/office/drawing/2014/main" id="{01637E2F-BC3A-A7D3-1397-345DBB444ED1}"/>
              </a:ext>
            </a:extLst>
          </p:cNvPr>
          <p:cNvSpPr txBox="1"/>
          <p:nvPr/>
        </p:nvSpPr>
        <p:spPr>
          <a:xfrm>
            <a:off x="1592591" y="2126176"/>
            <a:ext cx="550004" cy="523220"/>
          </a:xfrm>
          <a:prstGeom prst="rect">
            <a:avLst/>
          </a:prstGeom>
          <a:noFill/>
          <a:ln w="25400">
            <a:solidFill>
              <a:schemeClr val="tx1"/>
            </a:solidFill>
          </a:ln>
        </p:spPr>
        <p:txBody>
          <a:bodyPr wrap="square" rtlCol="0">
            <a:spAutoFit/>
          </a:bodyPr>
          <a:lstStyle/>
          <a:p>
            <a:r>
              <a:rPr lang="es-ES" sz="2800" dirty="0"/>
              <a:t>x</a:t>
            </a:r>
            <a:r>
              <a:rPr lang="es-ES" sz="2800" baseline="-25000" dirty="0"/>
              <a:t>1</a:t>
            </a:r>
          </a:p>
        </p:txBody>
      </p:sp>
      <p:sp>
        <p:nvSpPr>
          <p:cNvPr id="51" name="CuadroTexto 5">
            <a:extLst>
              <a:ext uri="{FF2B5EF4-FFF2-40B4-BE49-F238E27FC236}">
                <a16:creationId xmlns:a16="http://schemas.microsoft.com/office/drawing/2014/main" id="{8D6B43D6-85CF-8BF5-574C-A5C341F544E9}"/>
              </a:ext>
            </a:extLst>
          </p:cNvPr>
          <p:cNvSpPr txBox="1"/>
          <p:nvPr/>
        </p:nvSpPr>
        <p:spPr>
          <a:xfrm>
            <a:off x="1592591" y="2838088"/>
            <a:ext cx="550004" cy="523220"/>
          </a:xfrm>
          <a:prstGeom prst="rect">
            <a:avLst/>
          </a:prstGeom>
          <a:noFill/>
          <a:ln w="25400">
            <a:solidFill>
              <a:schemeClr val="tx1"/>
            </a:solidFill>
          </a:ln>
        </p:spPr>
        <p:txBody>
          <a:bodyPr wrap="square" rtlCol="0">
            <a:spAutoFit/>
          </a:bodyPr>
          <a:lstStyle/>
          <a:p>
            <a:r>
              <a:rPr lang="es-ES" sz="2800" dirty="0"/>
              <a:t>x</a:t>
            </a:r>
            <a:r>
              <a:rPr lang="es-ES" sz="2800" baseline="-25000" dirty="0"/>
              <a:t>2</a:t>
            </a:r>
            <a:r>
              <a:rPr lang="es-ES" sz="2800" dirty="0"/>
              <a:t> </a:t>
            </a:r>
            <a:endParaRPr lang="es-ES" sz="2800" baseline="-25000" dirty="0"/>
          </a:p>
        </p:txBody>
      </p:sp>
      <p:sp>
        <p:nvSpPr>
          <p:cNvPr id="54" name="CuadroTexto 5">
            <a:extLst>
              <a:ext uri="{FF2B5EF4-FFF2-40B4-BE49-F238E27FC236}">
                <a16:creationId xmlns:a16="http://schemas.microsoft.com/office/drawing/2014/main" id="{1CD4FB78-4FD3-376C-7DF0-8A10BDC5B6FD}"/>
              </a:ext>
            </a:extLst>
          </p:cNvPr>
          <p:cNvSpPr txBox="1"/>
          <p:nvPr/>
        </p:nvSpPr>
        <p:spPr>
          <a:xfrm>
            <a:off x="1592591" y="3582171"/>
            <a:ext cx="550004" cy="523220"/>
          </a:xfrm>
          <a:prstGeom prst="rect">
            <a:avLst/>
          </a:prstGeom>
          <a:noFill/>
          <a:ln w="25400">
            <a:solidFill>
              <a:schemeClr val="tx1"/>
            </a:solidFill>
          </a:ln>
        </p:spPr>
        <p:txBody>
          <a:bodyPr wrap="square" rtlCol="0">
            <a:spAutoFit/>
          </a:bodyPr>
          <a:lstStyle/>
          <a:p>
            <a:r>
              <a:rPr lang="es-ES" sz="2800" dirty="0"/>
              <a:t>x</a:t>
            </a:r>
            <a:r>
              <a:rPr lang="es-ES" sz="2800" baseline="-25000" dirty="0"/>
              <a:t>3</a:t>
            </a:r>
            <a:r>
              <a:rPr lang="es-ES" sz="2800" dirty="0"/>
              <a:t> </a:t>
            </a:r>
            <a:endParaRPr lang="es-ES" sz="2800" baseline="-25000" dirty="0"/>
          </a:p>
        </p:txBody>
      </p:sp>
      <p:cxnSp>
        <p:nvCxnSpPr>
          <p:cNvPr id="56" name="Conector recto de flecha 4">
            <a:extLst>
              <a:ext uri="{FF2B5EF4-FFF2-40B4-BE49-F238E27FC236}">
                <a16:creationId xmlns:a16="http://schemas.microsoft.com/office/drawing/2014/main" id="{F309E899-DB6D-B708-9F66-D8DFB4A5895E}"/>
              </a:ext>
            </a:extLst>
          </p:cNvPr>
          <p:cNvCxnSpPr>
            <a:cxnSpLocks/>
          </p:cNvCxnSpPr>
          <p:nvPr/>
        </p:nvCxnSpPr>
        <p:spPr>
          <a:xfrm flipV="1">
            <a:off x="2263219" y="3484419"/>
            <a:ext cx="1107942" cy="410369"/>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58" name="Conector recto de flecha 4">
            <a:extLst>
              <a:ext uri="{FF2B5EF4-FFF2-40B4-BE49-F238E27FC236}">
                <a16:creationId xmlns:a16="http://schemas.microsoft.com/office/drawing/2014/main" id="{22125764-8C32-0DC1-E622-5E3EAF9B4AE3}"/>
              </a:ext>
            </a:extLst>
          </p:cNvPr>
          <p:cNvCxnSpPr>
            <a:cxnSpLocks/>
          </p:cNvCxnSpPr>
          <p:nvPr/>
        </p:nvCxnSpPr>
        <p:spPr>
          <a:xfrm>
            <a:off x="2263219" y="3085174"/>
            <a:ext cx="1107942" cy="165810"/>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61" name="Curved Connector 60">
            <a:extLst>
              <a:ext uri="{FF2B5EF4-FFF2-40B4-BE49-F238E27FC236}">
                <a16:creationId xmlns:a16="http://schemas.microsoft.com/office/drawing/2014/main" id="{C42E5462-D463-5E51-19C3-EC15ED59C4AE}"/>
              </a:ext>
            </a:extLst>
          </p:cNvPr>
          <p:cNvCxnSpPr>
            <a:cxnSpLocks/>
          </p:cNvCxnSpPr>
          <p:nvPr/>
        </p:nvCxnSpPr>
        <p:spPr>
          <a:xfrm rot="10800000" flipV="1">
            <a:off x="1564179" y="2403872"/>
            <a:ext cx="12700" cy="711912"/>
          </a:xfrm>
          <a:prstGeom prst="curvedConnector3">
            <a:avLst>
              <a:gd name="adj1" fmla="val 1800000"/>
            </a:avLst>
          </a:prstGeom>
          <a:ln w="2540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63" name="Curved Connector 62">
            <a:extLst>
              <a:ext uri="{FF2B5EF4-FFF2-40B4-BE49-F238E27FC236}">
                <a16:creationId xmlns:a16="http://schemas.microsoft.com/office/drawing/2014/main" id="{DDCC0EA3-D2B3-CEC4-2E60-4680A72C86B9}"/>
              </a:ext>
            </a:extLst>
          </p:cNvPr>
          <p:cNvCxnSpPr>
            <a:cxnSpLocks/>
          </p:cNvCxnSpPr>
          <p:nvPr/>
        </p:nvCxnSpPr>
        <p:spPr>
          <a:xfrm rot="10800000" flipV="1">
            <a:off x="1564179" y="3150705"/>
            <a:ext cx="12700" cy="744083"/>
          </a:xfrm>
          <a:prstGeom prst="curvedConnector3">
            <a:avLst>
              <a:gd name="adj1" fmla="val 1800000"/>
            </a:avLst>
          </a:prstGeom>
          <a:ln w="2540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75" name="Curved Connector 74">
            <a:extLst>
              <a:ext uri="{FF2B5EF4-FFF2-40B4-BE49-F238E27FC236}">
                <a16:creationId xmlns:a16="http://schemas.microsoft.com/office/drawing/2014/main" id="{72DEE05C-FC42-8086-142D-7E39BD0AA08D}"/>
              </a:ext>
            </a:extLst>
          </p:cNvPr>
          <p:cNvCxnSpPr>
            <a:cxnSpLocks/>
          </p:cNvCxnSpPr>
          <p:nvPr/>
        </p:nvCxnSpPr>
        <p:spPr>
          <a:xfrm rot="10800000" flipV="1">
            <a:off x="1459266" y="2410464"/>
            <a:ext cx="12700" cy="1455995"/>
          </a:xfrm>
          <a:prstGeom prst="curvedConnector3">
            <a:avLst>
              <a:gd name="adj1" fmla="val 7200000"/>
            </a:avLst>
          </a:prstGeom>
          <a:ln w="2540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5478763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229D52-4BF4-F7C8-73BE-E16DEC9E1AB3}"/>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A440A6A8-8443-75AE-5399-F2B8AF4AC14B}"/>
              </a:ext>
            </a:extLst>
          </p:cNvPr>
          <p:cNvSpPr txBox="1"/>
          <p:nvPr/>
        </p:nvSpPr>
        <p:spPr>
          <a:xfrm>
            <a:off x="280392" y="363071"/>
            <a:ext cx="6822141" cy="461665"/>
          </a:xfrm>
          <a:prstGeom prst="rect">
            <a:avLst/>
          </a:prstGeom>
          <a:noFill/>
        </p:spPr>
        <p:txBody>
          <a:bodyPr wrap="square">
            <a:spAutoFit/>
          </a:bodyPr>
          <a:lstStyle/>
          <a:p>
            <a:r>
              <a:rPr lang="en-US" sz="2400" b="1" dirty="0">
                <a:latin typeface="Arial" panose="020B0604020202020204" pitchFamily="34" charset="0"/>
                <a:cs typeface="Arial" panose="020B0604020202020204" pitchFamily="34" charset="0"/>
              </a:rPr>
              <a:t>Causal Salad </a:t>
            </a:r>
          </a:p>
        </p:txBody>
      </p:sp>
      <p:sp>
        <p:nvSpPr>
          <p:cNvPr id="7" name="TextBox 6">
            <a:extLst>
              <a:ext uri="{FF2B5EF4-FFF2-40B4-BE49-F238E27FC236}">
                <a16:creationId xmlns:a16="http://schemas.microsoft.com/office/drawing/2014/main" id="{E2D2B5C7-AA5D-1EF9-E570-D2A1652FD063}"/>
              </a:ext>
            </a:extLst>
          </p:cNvPr>
          <p:cNvSpPr txBox="1"/>
          <p:nvPr/>
        </p:nvSpPr>
        <p:spPr>
          <a:xfrm>
            <a:off x="280392" y="905051"/>
            <a:ext cx="4228855" cy="4611455"/>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US" dirty="0">
                <a:latin typeface="Arial" panose="020B0604020202020204" pitchFamily="34" charset="0"/>
                <a:cs typeface="Arial" panose="020B0604020202020204" pitchFamily="34" charset="0"/>
              </a:rPr>
              <a:t>Ingredients: Vague query, some relevant variables.</a:t>
            </a:r>
          </a:p>
          <a:p>
            <a:pPr marL="285750" indent="-285750">
              <a:lnSpc>
                <a:spcPct val="150000"/>
              </a:lnSpc>
              <a:buFont typeface="Arial" panose="020B0604020202020204" pitchFamily="34" charset="0"/>
              <a:buChar char="•"/>
            </a:pPr>
            <a:r>
              <a:rPr lang="en-US" dirty="0">
                <a:latin typeface="Arial" panose="020B0604020202020204" pitchFamily="34" charset="0"/>
                <a:cs typeface="Arial" panose="020B0604020202020204" pitchFamily="34" charset="0"/>
              </a:rPr>
              <a:t>Add all the variables and let multiple regression sort it out.</a:t>
            </a:r>
          </a:p>
          <a:p>
            <a:pPr marL="285750" indent="-285750">
              <a:lnSpc>
                <a:spcPct val="150000"/>
              </a:lnSpc>
              <a:buFont typeface="Arial" panose="020B0604020202020204" pitchFamily="34" charset="0"/>
              <a:buChar char="•"/>
            </a:pPr>
            <a:r>
              <a:rPr lang="en-US" dirty="0">
                <a:latin typeface="Arial" panose="020B0604020202020204" pitchFamily="34" charset="0"/>
                <a:cs typeface="Arial" panose="020B0604020202020204" pitchFamily="34" charset="0"/>
              </a:rPr>
              <a:t>Pretend there is no confounding.</a:t>
            </a:r>
          </a:p>
          <a:p>
            <a:pPr marL="285750" indent="-285750">
              <a:lnSpc>
                <a:spcPct val="150000"/>
              </a:lnSpc>
              <a:buFont typeface="Arial" panose="020B0604020202020204" pitchFamily="34" charset="0"/>
              <a:buChar char="•"/>
            </a:pPr>
            <a:r>
              <a:rPr lang="en-US" dirty="0">
                <a:latin typeface="Arial" panose="020B0604020202020204" pitchFamily="34" charset="0"/>
                <a:cs typeface="Arial" panose="020B0604020202020204" pitchFamily="34" charset="0"/>
              </a:rPr>
              <a:t>Pretend there are is no measurement error.</a:t>
            </a:r>
          </a:p>
          <a:p>
            <a:pPr marL="285750" indent="-285750">
              <a:lnSpc>
                <a:spcPct val="150000"/>
              </a:lnSpc>
              <a:buFont typeface="Arial" panose="020B0604020202020204" pitchFamily="34" charset="0"/>
              <a:buChar char="•"/>
            </a:pPr>
            <a:r>
              <a:rPr lang="en-US" dirty="0">
                <a:latin typeface="Arial" panose="020B0604020202020204" pitchFamily="34" charset="0"/>
                <a:cs typeface="Arial" panose="020B0604020202020204" pitchFamily="34" charset="0"/>
              </a:rPr>
              <a:t>Pretend pattern of missing data is of no concern.</a:t>
            </a:r>
          </a:p>
          <a:p>
            <a:pPr marL="285750" indent="-285750">
              <a:lnSpc>
                <a:spcPct val="150000"/>
              </a:lnSpc>
              <a:buFont typeface="Arial" panose="020B0604020202020204" pitchFamily="34" charset="0"/>
              <a:buChar char="•"/>
            </a:pPr>
            <a:r>
              <a:rPr lang="en-US" dirty="0">
                <a:latin typeface="Arial" panose="020B0604020202020204" pitchFamily="34" charset="0"/>
                <a:cs typeface="Arial" panose="020B0604020202020204" pitchFamily="34" charset="0"/>
              </a:rPr>
              <a:t>Pretend AIC/p-values will pick the scientifically correct model.</a:t>
            </a:r>
          </a:p>
        </p:txBody>
      </p:sp>
      <p:pic>
        <p:nvPicPr>
          <p:cNvPr id="9" name="Picture 8">
            <a:extLst>
              <a:ext uri="{FF2B5EF4-FFF2-40B4-BE49-F238E27FC236}">
                <a16:creationId xmlns:a16="http://schemas.microsoft.com/office/drawing/2014/main" id="{18C14AD4-356D-C0BE-5904-1106D75D1F3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12039" y="3799984"/>
            <a:ext cx="3344455" cy="2043370"/>
          </a:xfrm>
          <a:prstGeom prst="rect">
            <a:avLst/>
          </a:prstGeom>
        </p:spPr>
      </p:pic>
      <p:pic>
        <p:nvPicPr>
          <p:cNvPr id="3" name="Picture 2">
            <a:extLst>
              <a:ext uri="{FF2B5EF4-FFF2-40B4-BE49-F238E27FC236}">
                <a16:creationId xmlns:a16="http://schemas.microsoft.com/office/drawing/2014/main" id="{FB3895A8-B65F-13E4-4AA4-C55C05BC85E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28828" y="1121328"/>
            <a:ext cx="4234780" cy="2382064"/>
          </a:xfrm>
          <a:prstGeom prst="rect">
            <a:avLst/>
          </a:prstGeom>
        </p:spPr>
      </p:pic>
    </p:spTree>
    <p:extLst>
      <p:ext uri="{BB962C8B-B14F-4D97-AF65-F5344CB8AC3E}">
        <p14:creationId xmlns:p14="http://schemas.microsoft.com/office/powerpoint/2010/main" val="134445380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991E346-1344-7B6F-38AE-8433D4AC99EB}"/>
              </a:ext>
            </a:extLst>
          </p:cNvPr>
          <p:cNvSpPr txBox="1"/>
          <p:nvPr/>
        </p:nvSpPr>
        <p:spPr>
          <a:xfrm>
            <a:off x="475126" y="1855657"/>
            <a:ext cx="7799295" cy="2949462"/>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SG" dirty="0">
                <a:latin typeface="Arial" panose="020B0604020202020204" pitchFamily="34" charset="0"/>
                <a:cs typeface="Arial" panose="020B0604020202020204" pitchFamily="34" charset="0"/>
              </a:rPr>
              <a:t>500 students apply for PhD scholarships in two funding schemes (</a:t>
            </a:r>
            <a:r>
              <a:rPr lang="en-SG" b="1" dirty="0">
                <a:latin typeface="Arial" panose="020B0604020202020204" pitchFamily="34" charset="0"/>
                <a:cs typeface="Arial" panose="020B0604020202020204" pitchFamily="34" charset="0"/>
              </a:rPr>
              <a:t>E</a:t>
            </a:r>
            <a:r>
              <a:rPr lang="en-SG" dirty="0">
                <a:latin typeface="Arial" panose="020B0604020202020204" pitchFamily="34" charset="0"/>
                <a:cs typeface="Arial" panose="020B0604020202020204" pitchFamily="34" charset="0"/>
              </a:rPr>
              <a:t>).</a:t>
            </a:r>
          </a:p>
          <a:p>
            <a:pPr marL="285750" indent="-285750">
              <a:lnSpc>
                <a:spcPct val="150000"/>
              </a:lnSpc>
              <a:buFont typeface="Arial" panose="020B0604020202020204" pitchFamily="34" charset="0"/>
              <a:buChar char="•"/>
            </a:pPr>
            <a:r>
              <a:rPr lang="en-SG" b="1" dirty="0">
                <a:latin typeface="Arial" panose="020B0604020202020204" pitchFamily="34" charset="0"/>
                <a:cs typeface="Arial" panose="020B0604020202020204" pitchFamily="34" charset="0"/>
              </a:rPr>
              <a:t>E: Scholarship type </a:t>
            </a:r>
            <a:r>
              <a:rPr lang="en-SG" dirty="0">
                <a:latin typeface="Arial" panose="020B0604020202020204" pitchFamily="34" charset="0"/>
                <a:cs typeface="Arial" panose="020B0604020202020204" pitchFamily="34" charset="0"/>
              </a:rPr>
              <a:t>(i.e., highly competitive international scholarships vs targeted development scholarships).</a:t>
            </a:r>
          </a:p>
          <a:p>
            <a:pPr marL="285750" indent="-285750">
              <a:lnSpc>
                <a:spcPct val="150000"/>
              </a:lnSpc>
              <a:buFont typeface="Arial" panose="020B0604020202020204" pitchFamily="34" charset="0"/>
              <a:buChar char="•"/>
            </a:pPr>
            <a:r>
              <a:rPr lang="en-SG" b="1" dirty="0">
                <a:latin typeface="Arial" panose="020B0604020202020204" pitchFamily="34" charset="0"/>
                <a:cs typeface="Arial" panose="020B0604020202020204" pitchFamily="34" charset="0"/>
              </a:rPr>
              <a:t>X: </a:t>
            </a:r>
            <a:r>
              <a:rPr lang="en-SG" dirty="0">
                <a:latin typeface="Arial" panose="020B0604020202020204" pitchFamily="34" charset="0"/>
                <a:cs typeface="Arial" panose="020B0604020202020204" pitchFamily="34" charset="0"/>
              </a:rPr>
              <a:t>Applicant's country category (</a:t>
            </a:r>
            <a:r>
              <a:rPr lang="en-SG" dirty="0" err="1">
                <a:latin typeface="Arial" panose="020B0604020202020204" pitchFamily="34" charset="0"/>
                <a:cs typeface="Arial" panose="020B0604020202020204" pitchFamily="34" charset="0"/>
              </a:rPr>
              <a:t>i.e</a:t>
            </a:r>
            <a:r>
              <a:rPr lang="en-SG" dirty="0">
                <a:latin typeface="Arial" panose="020B0604020202020204" pitchFamily="34" charset="0"/>
                <a:cs typeface="Arial" panose="020B0604020202020204" pitchFamily="34" charset="0"/>
              </a:rPr>
              <a:t>, developing or developed country)</a:t>
            </a:r>
          </a:p>
          <a:p>
            <a:pPr marL="285750" indent="-285750">
              <a:lnSpc>
                <a:spcPct val="150000"/>
              </a:lnSpc>
              <a:buFont typeface="Arial" panose="020B0604020202020204" pitchFamily="34" charset="0"/>
              <a:buChar char="•"/>
            </a:pPr>
            <a:r>
              <a:rPr lang="en-SG" b="1" dirty="0">
                <a:latin typeface="Arial" panose="020B0604020202020204" pitchFamily="34" charset="0"/>
                <a:cs typeface="Arial" panose="020B0604020202020204" pitchFamily="34" charset="0"/>
              </a:rPr>
              <a:t>Y: Scholarship outcome </a:t>
            </a:r>
            <a:r>
              <a:rPr lang="en-SG" dirty="0">
                <a:latin typeface="Arial" panose="020B0604020202020204" pitchFamily="34" charset="0"/>
                <a:cs typeface="Arial" panose="020B0604020202020204" pitchFamily="34" charset="0"/>
              </a:rPr>
              <a:t>(i.e., awarded or rejected).</a:t>
            </a:r>
          </a:p>
          <a:p>
            <a:pPr marL="285750" indent="-285750">
              <a:lnSpc>
                <a:spcPct val="150000"/>
              </a:lnSpc>
              <a:buFont typeface="Arial" panose="020B0604020202020204" pitchFamily="34" charset="0"/>
              <a:buChar char="•"/>
            </a:pPr>
            <a:r>
              <a:rPr lang="en-SG" b="1" dirty="0">
                <a:latin typeface="Arial" panose="020B0604020202020204" pitchFamily="34" charset="0"/>
                <a:cs typeface="Arial" panose="020B0604020202020204" pitchFamily="34" charset="0"/>
              </a:rPr>
              <a:t>Simulation: </a:t>
            </a:r>
            <a:r>
              <a:rPr lang="en-SG" dirty="0">
                <a:latin typeface="Arial" panose="020B0604020202020204" pitchFamily="34" charset="0"/>
                <a:cs typeface="Arial" panose="020B0604020202020204" pitchFamily="34" charset="0"/>
              </a:rPr>
              <a:t>Within each scholarship scheme, there is </a:t>
            </a:r>
            <a:r>
              <a:rPr lang="en-SG" b="1" dirty="0">
                <a:solidFill>
                  <a:srgbClr val="FF0000"/>
                </a:solidFill>
                <a:latin typeface="Arial" panose="020B0604020202020204" pitchFamily="34" charset="0"/>
                <a:cs typeface="Arial" panose="020B0604020202020204" pitchFamily="34" charset="0"/>
              </a:rPr>
              <a:t>NO</a:t>
            </a:r>
            <a:r>
              <a:rPr lang="en-SG" dirty="0">
                <a:latin typeface="Arial" panose="020B0604020202020204" pitchFamily="34" charset="0"/>
                <a:cs typeface="Arial" panose="020B0604020202020204" pitchFamily="34" charset="0"/>
              </a:rPr>
              <a:t> discrimination based on country category.</a:t>
            </a:r>
            <a:endParaRPr lang="en-SG" sz="2400" dirty="0">
              <a:solidFill>
                <a:srgbClr val="000000"/>
              </a:solidFill>
              <a:effectLst/>
              <a:latin typeface="Arial" panose="020B0604020202020204" pitchFamily="34" charset="0"/>
              <a:cs typeface="Arial" panose="020B0604020202020204" pitchFamily="34" charset="0"/>
            </a:endParaRPr>
          </a:p>
        </p:txBody>
      </p:sp>
      <p:sp>
        <p:nvSpPr>
          <p:cNvPr id="10" name="TextBox 9">
            <a:extLst>
              <a:ext uri="{FF2B5EF4-FFF2-40B4-BE49-F238E27FC236}">
                <a16:creationId xmlns:a16="http://schemas.microsoft.com/office/drawing/2014/main" id="{959D3281-872F-9D65-923D-3435DAC2BFDB}"/>
              </a:ext>
            </a:extLst>
          </p:cNvPr>
          <p:cNvSpPr txBox="1"/>
          <p:nvPr/>
        </p:nvSpPr>
        <p:spPr>
          <a:xfrm>
            <a:off x="475126" y="497542"/>
            <a:ext cx="7924803" cy="1200329"/>
          </a:xfrm>
          <a:prstGeom prst="rect">
            <a:avLst/>
          </a:prstGeom>
          <a:noFill/>
        </p:spPr>
        <p:txBody>
          <a:bodyPr wrap="square">
            <a:spAutoFit/>
          </a:bodyPr>
          <a:lstStyle/>
          <a:p>
            <a:r>
              <a:rPr lang="en-SG" sz="2400" b="1" dirty="0">
                <a:latin typeface="Arial" panose="020B0604020202020204" pitchFamily="34" charset="0"/>
                <a:cs typeface="Arial" panose="020B0604020202020204" pitchFamily="34" charset="0"/>
              </a:rPr>
              <a:t>Simulation example: Do students from developing countries face discrimination in PhD scholarship selection?</a:t>
            </a:r>
          </a:p>
        </p:txBody>
      </p:sp>
    </p:spTree>
    <p:extLst>
      <p:ext uri="{BB962C8B-B14F-4D97-AF65-F5344CB8AC3E}">
        <p14:creationId xmlns:p14="http://schemas.microsoft.com/office/powerpoint/2010/main" val="389552706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5EEBC06-7BAA-A8DC-F75A-9039ECD4AFB3}"/>
              </a:ext>
            </a:extLst>
          </p:cNvPr>
          <p:cNvSpPr txBox="1"/>
          <p:nvPr/>
        </p:nvSpPr>
        <p:spPr>
          <a:xfrm>
            <a:off x="466162" y="535248"/>
            <a:ext cx="4572000" cy="1477328"/>
          </a:xfrm>
          <a:prstGeom prst="rect">
            <a:avLst/>
          </a:prstGeom>
          <a:noFill/>
        </p:spPr>
        <p:txBody>
          <a:bodyPr wrap="square">
            <a:spAutoFit/>
          </a:bodyPr>
          <a:lstStyle/>
          <a:p>
            <a:pPr marL="285750" marR="0" indent="-285750">
              <a:buFont typeface="Arial" panose="020B0604020202020204" pitchFamily="34" charset="0"/>
              <a:buChar char="•"/>
            </a:pPr>
            <a:r>
              <a:rPr lang="en-SG" sz="1800" dirty="0">
                <a:solidFill>
                  <a:schemeClr val="tx1"/>
                </a:solidFill>
                <a:effectLst/>
                <a:latin typeface="Arial" panose="020B0604020202020204" pitchFamily="34" charset="0"/>
                <a:cs typeface="Arial" panose="020B0604020202020204" pitchFamily="34" charset="0"/>
              </a:rPr>
              <a:t>Consider two regressions (Logistic):</a:t>
            </a:r>
          </a:p>
          <a:p>
            <a:pPr marL="0" marR="0">
              <a:buNone/>
            </a:pPr>
            <a:endParaRPr lang="en-SG" sz="1800" dirty="0">
              <a:solidFill>
                <a:schemeClr val="tx1"/>
              </a:solidFill>
              <a:effectLst/>
              <a:latin typeface="Arial" panose="020B0604020202020204" pitchFamily="34" charset="0"/>
              <a:cs typeface="Arial" panose="020B0604020202020204" pitchFamily="34" charset="0"/>
            </a:endParaRPr>
          </a:p>
          <a:p>
            <a:pPr marL="0" marR="0">
              <a:buNone/>
            </a:pPr>
            <a:r>
              <a:rPr lang="en-SG" sz="1800" dirty="0">
                <a:solidFill>
                  <a:schemeClr val="tx1"/>
                </a:solidFill>
                <a:effectLst/>
                <a:latin typeface="Arial" panose="020B0604020202020204" pitchFamily="34" charset="0"/>
                <a:cs typeface="Arial" panose="020B0604020202020204" pitchFamily="34" charset="0"/>
              </a:rPr>
              <a:t>Y ~ X</a:t>
            </a:r>
          </a:p>
          <a:p>
            <a:pPr marL="0" marR="0">
              <a:buNone/>
            </a:pPr>
            <a:endParaRPr lang="en-SG" sz="1800" dirty="0">
              <a:solidFill>
                <a:schemeClr val="tx1"/>
              </a:solidFill>
              <a:effectLst/>
              <a:latin typeface="Arial" panose="020B0604020202020204" pitchFamily="34" charset="0"/>
              <a:cs typeface="Arial" panose="020B0604020202020204" pitchFamily="34" charset="0"/>
            </a:endParaRPr>
          </a:p>
          <a:p>
            <a:pPr marL="0" marR="0">
              <a:buNone/>
            </a:pPr>
            <a:r>
              <a:rPr lang="en-SG" sz="1800" dirty="0">
                <a:solidFill>
                  <a:schemeClr val="tx1"/>
                </a:solidFill>
                <a:effectLst/>
                <a:latin typeface="Arial" panose="020B0604020202020204" pitchFamily="34" charset="0"/>
                <a:cs typeface="Arial" panose="020B0604020202020204" pitchFamily="34" charset="0"/>
              </a:rPr>
              <a:t>Y ~ X + E</a:t>
            </a:r>
            <a:endParaRPr lang="en-SG" sz="2400" dirty="0">
              <a:solidFill>
                <a:srgbClr val="000000"/>
              </a:solidFill>
              <a:effectLst/>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2184DCD1-925C-5948-5F7D-95A3623C3193}"/>
              </a:ext>
            </a:extLst>
          </p:cNvPr>
          <p:cNvSpPr txBox="1"/>
          <p:nvPr/>
        </p:nvSpPr>
        <p:spPr>
          <a:xfrm>
            <a:off x="466162" y="4996711"/>
            <a:ext cx="7888944" cy="369332"/>
          </a:xfrm>
          <a:prstGeom prst="rect">
            <a:avLst/>
          </a:prstGeom>
          <a:noFill/>
        </p:spPr>
        <p:txBody>
          <a:bodyPr wrap="square">
            <a:spAutoFit/>
          </a:bodyPr>
          <a:lstStyle/>
          <a:p>
            <a:pPr marL="285750" indent="-285750">
              <a:buFont typeface="Arial" panose="020B0604020202020204" pitchFamily="34" charset="0"/>
              <a:buChar char="•"/>
            </a:pPr>
            <a:r>
              <a:rPr lang="en-US" dirty="0">
                <a:latin typeface="Arial" panose="020B0604020202020204" pitchFamily="34" charset="0"/>
                <a:cs typeface="Arial" panose="020B0604020202020204" pitchFamily="34" charset="0"/>
              </a:rPr>
              <a:t>Why does E make false evidence of discrimination vanish?</a:t>
            </a:r>
          </a:p>
        </p:txBody>
      </p:sp>
      <p:pic>
        <p:nvPicPr>
          <p:cNvPr id="7" name="Picture 6">
            <a:extLst>
              <a:ext uri="{FF2B5EF4-FFF2-40B4-BE49-F238E27FC236}">
                <a16:creationId xmlns:a16="http://schemas.microsoft.com/office/drawing/2014/main" id="{EA0FD18E-E9A8-9847-96AF-DA9C33CCDC6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64939" y="1788459"/>
            <a:ext cx="5214121" cy="2827630"/>
          </a:xfrm>
          <a:prstGeom prst="rect">
            <a:avLst/>
          </a:prstGeom>
        </p:spPr>
      </p:pic>
      <p:sp>
        <p:nvSpPr>
          <p:cNvPr id="4" name="TextBox 3">
            <a:extLst>
              <a:ext uri="{FF2B5EF4-FFF2-40B4-BE49-F238E27FC236}">
                <a16:creationId xmlns:a16="http://schemas.microsoft.com/office/drawing/2014/main" id="{B36AAC47-CB65-0EBC-E9DC-4D969ED2705A}"/>
              </a:ext>
            </a:extLst>
          </p:cNvPr>
          <p:cNvSpPr txBox="1"/>
          <p:nvPr/>
        </p:nvSpPr>
        <p:spPr>
          <a:xfrm>
            <a:off x="2607060" y="1089246"/>
            <a:ext cx="4572000" cy="369332"/>
          </a:xfrm>
          <a:prstGeom prst="rect">
            <a:avLst/>
          </a:prstGeom>
          <a:noFill/>
        </p:spPr>
        <p:txBody>
          <a:bodyPr wrap="square">
            <a:spAutoFit/>
          </a:bodyPr>
          <a:lstStyle/>
          <a:p>
            <a:r>
              <a:rPr lang="en-SG" sz="1800" dirty="0">
                <a:latin typeface="Arial" panose="020B0604020202020204" pitchFamily="34" charset="0"/>
                <a:cs typeface="Arial" panose="020B0604020202020204" pitchFamily="34" charset="0"/>
              </a:rPr>
              <a:t>X: Applicant's country </a:t>
            </a:r>
            <a:endParaRPr lang="en-US" dirty="0"/>
          </a:p>
        </p:txBody>
      </p:sp>
      <p:sp>
        <p:nvSpPr>
          <p:cNvPr id="8" name="TextBox 7">
            <a:extLst>
              <a:ext uri="{FF2B5EF4-FFF2-40B4-BE49-F238E27FC236}">
                <a16:creationId xmlns:a16="http://schemas.microsoft.com/office/drawing/2014/main" id="{60A1ACB9-FEF0-25B4-4F6A-1A983E5C7B8F}"/>
              </a:ext>
            </a:extLst>
          </p:cNvPr>
          <p:cNvSpPr txBox="1"/>
          <p:nvPr/>
        </p:nvSpPr>
        <p:spPr>
          <a:xfrm>
            <a:off x="2607060" y="1603793"/>
            <a:ext cx="4572000" cy="369332"/>
          </a:xfrm>
          <a:prstGeom prst="rect">
            <a:avLst/>
          </a:prstGeom>
          <a:noFill/>
        </p:spPr>
        <p:txBody>
          <a:bodyPr wrap="square">
            <a:spAutoFit/>
          </a:bodyPr>
          <a:lstStyle/>
          <a:p>
            <a:r>
              <a:rPr lang="en-SG" sz="1800" dirty="0">
                <a:latin typeface="Arial" panose="020B0604020202020204" pitchFamily="34" charset="0"/>
                <a:cs typeface="Arial" panose="020B0604020202020204" pitchFamily="34" charset="0"/>
              </a:rPr>
              <a:t>E: Scholarship type </a:t>
            </a:r>
            <a:endParaRPr lang="en-US" dirty="0"/>
          </a:p>
        </p:txBody>
      </p:sp>
    </p:spTree>
    <p:extLst>
      <p:ext uri="{BB962C8B-B14F-4D97-AF65-F5344CB8AC3E}">
        <p14:creationId xmlns:p14="http://schemas.microsoft.com/office/powerpoint/2010/main" val="17165224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2E15AB-9222-7626-DE7B-64FAE82ECCAE}"/>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D3B10A77-A3F8-B449-A345-D95E4E312220}"/>
              </a:ext>
            </a:extLst>
          </p:cNvPr>
          <p:cNvSpPr txBox="1"/>
          <p:nvPr/>
        </p:nvSpPr>
        <p:spPr>
          <a:xfrm>
            <a:off x="475126" y="1855657"/>
            <a:ext cx="7799295" cy="2949462"/>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SG" dirty="0">
                <a:latin typeface="Arial" panose="020B0604020202020204" pitchFamily="34" charset="0"/>
                <a:cs typeface="Arial" panose="020B0604020202020204" pitchFamily="34" charset="0"/>
              </a:rPr>
              <a:t>500 students apply for PhD scholarships in two funding schemes (</a:t>
            </a:r>
            <a:r>
              <a:rPr lang="en-SG" b="1" dirty="0">
                <a:latin typeface="Arial" panose="020B0604020202020204" pitchFamily="34" charset="0"/>
                <a:cs typeface="Arial" panose="020B0604020202020204" pitchFamily="34" charset="0"/>
              </a:rPr>
              <a:t>E</a:t>
            </a:r>
            <a:r>
              <a:rPr lang="en-SG" dirty="0">
                <a:latin typeface="Arial" panose="020B0604020202020204" pitchFamily="34" charset="0"/>
                <a:cs typeface="Arial" panose="020B0604020202020204" pitchFamily="34" charset="0"/>
              </a:rPr>
              <a:t>).</a:t>
            </a:r>
          </a:p>
          <a:p>
            <a:pPr marL="285750" indent="-285750">
              <a:lnSpc>
                <a:spcPct val="150000"/>
              </a:lnSpc>
              <a:buFont typeface="Arial" panose="020B0604020202020204" pitchFamily="34" charset="0"/>
              <a:buChar char="•"/>
            </a:pPr>
            <a:r>
              <a:rPr lang="en-SG" b="1" dirty="0">
                <a:latin typeface="Arial" panose="020B0604020202020204" pitchFamily="34" charset="0"/>
                <a:cs typeface="Arial" panose="020B0604020202020204" pitchFamily="34" charset="0"/>
              </a:rPr>
              <a:t>E: Scholarship type </a:t>
            </a:r>
            <a:r>
              <a:rPr lang="en-SG" dirty="0">
                <a:latin typeface="Arial" panose="020B0604020202020204" pitchFamily="34" charset="0"/>
                <a:cs typeface="Arial" panose="020B0604020202020204" pitchFamily="34" charset="0"/>
              </a:rPr>
              <a:t>(i.e., highly competitive international scholarships vs targeted development scholarships).</a:t>
            </a:r>
          </a:p>
          <a:p>
            <a:pPr marL="285750" indent="-285750">
              <a:lnSpc>
                <a:spcPct val="150000"/>
              </a:lnSpc>
              <a:buFont typeface="Arial" panose="020B0604020202020204" pitchFamily="34" charset="0"/>
              <a:buChar char="•"/>
            </a:pPr>
            <a:r>
              <a:rPr lang="en-SG" b="1" dirty="0">
                <a:latin typeface="Arial" panose="020B0604020202020204" pitchFamily="34" charset="0"/>
                <a:cs typeface="Arial" panose="020B0604020202020204" pitchFamily="34" charset="0"/>
              </a:rPr>
              <a:t>X: </a:t>
            </a:r>
            <a:r>
              <a:rPr lang="en-SG" dirty="0">
                <a:latin typeface="Arial" panose="020B0604020202020204" pitchFamily="34" charset="0"/>
                <a:cs typeface="Arial" panose="020B0604020202020204" pitchFamily="34" charset="0"/>
              </a:rPr>
              <a:t>Applicant's country category (</a:t>
            </a:r>
            <a:r>
              <a:rPr lang="en-SG" dirty="0" err="1">
                <a:latin typeface="Arial" panose="020B0604020202020204" pitchFamily="34" charset="0"/>
                <a:cs typeface="Arial" panose="020B0604020202020204" pitchFamily="34" charset="0"/>
              </a:rPr>
              <a:t>i.e</a:t>
            </a:r>
            <a:r>
              <a:rPr lang="en-SG" dirty="0">
                <a:latin typeface="Arial" panose="020B0604020202020204" pitchFamily="34" charset="0"/>
                <a:cs typeface="Arial" panose="020B0604020202020204" pitchFamily="34" charset="0"/>
              </a:rPr>
              <a:t>, developing or developed country)</a:t>
            </a:r>
          </a:p>
          <a:p>
            <a:pPr marL="285750" indent="-285750">
              <a:lnSpc>
                <a:spcPct val="150000"/>
              </a:lnSpc>
              <a:buFont typeface="Arial" panose="020B0604020202020204" pitchFamily="34" charset="0"/>
              <a:buChar char="•"/>
            </a:pPr>
            <a:r>
              <a:rPr lang="en-SG" b="1" dirty="0">
                <a:latin typeface="Arial" panose="020B0604020202020204" pitchFamily="34" charset="0"/>
                <a:cs typeface="Arial" panose="020B0604020202020204" pitchFamily="34" charset="0"/>
              </a:rPr>
              <a:t>Y: Scholarship outcome </a:t>
            </a:r>
            <a:r>
              <a:rPr lang="en-SG" dirty="0">
                <a:latin typeface="Arial" panose="020B0604020202020204" pitchFamily="34" charset="0"/>
                <a:cs typeface="Arial" panose="020B0604020202020204" pitchFamily="34" charset="0"/>
              </a:rPr>
              <a:t>(i.e., awarded or rejected).</a:t>
            </a:r>
          </a:p>
          <a:p>
            <a:pPr marL="285750" indent="-285750">
              <a:lnSpc>
                <a:spcPct val="150000"/>
              </a:lnSpc>
              <a:buFont typeface="Arial" panose="020B0604020202020204" pitchFamily="34" charset="0"/>
              <a:buChar char="•"/>
            </a:pPr>
            <a:r>
              <a:rPr lang="en-SG" b="1" dirty="0">
                <a:latin typeface="Arial" panose="020B0604020202020204" pitchFamily="34" charset="0"/>
                <a:cs typeface="Arial" panose="020B0604020202020204" pitchFamily="34" charset="0"/>
              </a:rPr>
              <a:t>Simulation: </a:t>
            </a:r>
            <a:r>
              <a:rPr lang="en-SG" dirty="0">
                <a:latin typeface="Arial" panose="020B0604020202020204" pitchFamily="34" charset="0"/>
                <a:cs typeface="Arial" panose="020B0604020202020204" pitchFamily="34" charset="0"/>
              </a:rPr>
              <a:t>Within each scholarship scheme, there </a:t>
            </a:r>
            <a:r>
              <a:rPr lang="en-SG" b="1" dirty="0">
                <a:solidFill>
                  <a:srgbClr val="FF0000"/>
                </a:solidFill>
                <a:latin typeface="Arial" panose="020B0604020202020204" pitchFamily="34" charset="0"/>
                <a:cs typeface="Arial" panose="020B0604020202020204" pitchFamily="34" charset="0"/>
              </a:rPr>
              <a:t>IS</a:t>
            </a:r>
            <a:r>
              <a:rPr lang="en-SG" dirty="0">
                <a:latin typeface="Arial" panose="020B0604020202020204" pitchFamily="34" charset="0"/>
                <a:cs typeface="Arial" panose="020B0604020202020204" pitchFamily="34" charset="0"/>
              </a:rPr>
              <a:t> discrimination based on country category.</a:t>
            </a:r>
            <a:endParaRPr lang="en-SG" sz="2400" dirty="0">
              <a:solidFill>
                <a:srgbClr val="000000"/>
              </a:solidFill>
              <a:effectLst/>
              <a:latin typeface="Arial" panose="020B0604020202020204" pitchFamily="34" charset="0"/>
              <a:cs typeface="Arial" panose="020B0604020202020204" pitchFamily="34" charset="0"/>
            </a:endParaRPr>
          </a:p>
        </p:txBody>
      </p:sp>
      <p:sp>
        <p:nvSpPr>
          <p:cNvPr id="10" name="TextBox 9">
            <a:extLst>
              <a:ext uri="{FF2B5EF4-FFF2-40B4-BE49-F238E27FC236}">
                <a16:creationId xmlns:a16="http://schemas.microsoft.com/office/drawing/2014/main" id="{7DC1C745-62D8-DCEF-6B3C-04A6FBC8AAB5}"/>
              </a:ext>
            </a:extLst>
          </p:cNvPr>
          <p:cNvSpPr txBox="1"/>
          <p:nvPr/>
        </p:nvSpPr>
        <p:spPr>
          <a:xfrm>
            <a:off x="475126" y="497542"/>
            <a:ext cx="7924803" cy="1200329"/>
          </a:xfrm>
          <a:prstGeom prst="rect">
            <a:avLst/>
          </a:prstGeom>
          <a:noFill/>
        </p:spPr>
        <p:txBody>
          <a:bodyPr wrap="square">
            <a:spAutoFit/>
          </a:bodyPr>
          <a:lstStyle/>
          <a:p>
            <a:r>
              <a:rPr lang="en-SG" sz="2400" b="1" dirty="0">
                <a:latin typeface="Arial" panose="020B0604020202020204" pitchFamily="34" charset="0"/>
                <a:cs typeface="Arial" panose="020B0604020202020204" pitchFamily="34" charset="0"/>
              </a:rPr>
              <a:t>Simulation example: Do students from developing countries face discrimination in PhD scholarship selection?</a:t>
            </a:r>
          </a:p>
        </p:txBody>
      </p:sp>
    </p:spTree>
    <p:extLst>
      <p:ext uri="{BB962C8B-B14F-4D97-AF65-F5344CB8AC3E}">
        <p14:creationId xmlns:p14="http://schemas.microsoft.com/office/powerpoint/2010/main" val="152682221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7353B8-3123-14F8-2266-8DCC6FEE000F}"/>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E593373F-CC1B-DB48-8E7B-2CFBEE7ADBDE}"/>
              </a:ext>
            </a:extLst>
          </p:cNvPr>
          <p:cNvSpPr txBox="1"/>
          <p:nvPr/>
        </p:nvSpPr>
        <p:spPr>
          <a:xfrm>
            <a:off x="466162" y="535248"/>
            <a:ext cx="4572000" cy="1477328"/>
          </a:xfrm>
          <a:prstGeom prst="rect">
            <a:avLst/>
          </a:prstGeom>
          <a:noFill/>
        </p:spPr>
        <p:txBody>
          <a:bodyPr wrap="square">
            <a:spAutoFit/>
          </a:bodyPr>
          <a:lstStyle/>
          <a:p>
            <a:pPr marL="285750" marR="0" indent="-285750">
              <a:buFont typeface="Arial" panose="020B0604020202020204" pitchFamily="34" charset="0"/>
              <a:buChar char="•"/>
            </a:pPr>
            <a:r>
              <a:rPr lang="en-SG" sz="1800" dirty="0">
                <a:solidFill>
                  <a:schemeClr val="tx1"/>
                </a:solidFill>
                <a:effectLst/>
                <a:latin typeface="Arial" panose="020B0604020202020204" pitchFamily="34" charset="0"/>
                <a:cs typeface="Arial" panose="020B0604020202020204" pitchFamily="34" charset="0"/>
              </a:rPr>
              <a:t>Consider two regressions (Logistic):</a:t>
            </a:r>
          </a:p>
          <a:p>
            <a:pPr marL="0" marR="0">
              <a:buNone/>
            </a:pPr>
            <a:endParaRPr lang="en-SG" sz="1800" dirty="0">
              <a:solidFill>
                <a:schemeClr val="tx1"/>
              </a:solidFill>
              <a:effectLst/>
              <a:latin typeface="Arial" panose="020B0604020202020204" pitchFamily="34" charset="0"/>
              <a:cs typeface="Arial" panose="020B0604020202020204" pitchFamily="34" charset="0"/>
            </a:endParaRPr>
          </a:p>
          <a:p>
            <a:pPr marL="0" marR="0">
              <a:buNone/>
            </a:pPr>
            <a:r>
              <a:rPr lang="en-SG" sz="1800" dirty="0">
                <a:solidFill>
                  <a:schemeClr val="tx1"/>
                </a:solidFill>
                <a:effectLst/>
                <a:latin typeface="Arial" panose="020B0604020202020204" pitchFamily="34" charset="0"/>
                <a:cs typeface="Arial" panose="020B0604020202020204" pitchFamily="34" charset="0"/>
              </a:rPr>
              <a:t>Y ~ X</a:t>
            </a:r>
          </a:p>
          <a:p>
            <a:pPr marL="0" marR="0">
              <a:buNone/>
            </a:pPr>
            <a:endParaRPr lang="en-SG" sz="1800" dirty="0">
              <a:solidFill>
                <a:schemeClr val="tx1"/>
              </a:solidFill>
              <a:effectLst/>
              <a:latin typeface="Arial" panose="020B0604020202020204" pitchFamily="34" charset="0"/>
              <a:cs typeface="Arial" panose="020B0604020202020204" pitchFamily="34" charset="0"/>
            </a:endParaRPr>
          </a:p>
          <a:p>
            <a:pPr marL="0" marR="0">
              <a:buNone/>
            </a:pPr>
            <a:r>
              <a:rPr lang="en-SG" sz="1800" dirty="0">
                <a:solidFill>
                  <a:schemeClr val="tx1"/>
                </a:solidFill>
                <a:effectLst/>
                <a:latin typeface="Arial" panose="020B0604020202020204" pitchFamily="34" charset="0"/>
                <a:cs typeface="Arial" panose="020B0604020202020204" pitchFamily="34" charset="0"/>
              </a:rPr>
              <a:t>Y ~ X + E</a:t>
            </a:r>
            <a:endParaRPr lang="en-SG" sz="2400" dirty="0">
              <a:solidFill>
                <a:srgbClr val="000000"/>
              </a:solidFill>
              <a:effectLst/>
              <a:latin typeface="Arial" panose="020B0604020202020204" pitchFamily="34" charset="0"/>
              <a:cs typeface="Arial" panose="020B0604020202020204" pitchFamily="34" charset="0"/>
            </a:endParaRPr>
          </a:p>
        </p:txBody>
      </p:sp>
      <p:pic>
        <p:nvPicPr>
          <p:cNvPr id="7" name="Picture 6">
            <a:extLst>
              <a:ext uri="{FF2B5EF4-FFF2-40B4-BE49-F238E27FC236}">
                <a16:creationId xmlns:a16="http://schemas.microsoft.com/office/drawing/2014/main" id="{5F7DDDDC-8CFA-EB84-8D01-E81A829B7E4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71114" y="1978278"/>
            <a:ext cx="5201771" cy="2858630"/>
          </a:xfrm>
          <a:prstGeom prst="rect">
            <a:avLst/>
          </a:prstGeom>
        </p:spPr>
      </p:pic>
      <p:sp>
        <p:nvSpPr>
          <p:cNvPr id="10" name="TextBox 9">
            <a:extLst>
              <a:ext uri="{FF2B5EF4-FFF2-40B4-BE49-F238E27FC236}">
                <a16:creationId xmlns:a16="http://schemas.microsoft.com/office/drawing/2014/main" id="{87C7188B-17F1-04D9-67DF-7A397B3999A0}"/>
              </a:ext>
            </a:extLst>
          </p:cNvPr>
          <p:cNvSpPr txBox="1"/>
          <p:nvPr/>
        </p:nvSpPr>
        <p:spPr>
          <a:xfrm>
            <a:off x="466162" y="4979895"/>
            <a:ext cx="7745509" cy="871970"/>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US" dirty="0">
                <a:latin typeface="Arial" panose="020B0604020202020204" pitchFamily="34" charset="0"/>
                <a:cs typeface="Arial" panose="020B0604020202020204" pitchFamily="34" charset="0"/>
              </a:rPr>
              <a:t>Why does E make discrimination vanish, even though there is discrimination in the simulation?</a:t>
            </a:r>
          </a:p>
        </p:txBody>
      </p:sp>
      <p:sp>
        <p:nvSpPr>
          <p:cNvPr id="3" name="TextBox 2">
            <a:extLst>
              <a:ext uri="{FF2B5EF4-FFF2-40B4-BE49-F238E27FC236}">
                <a16:creationId xmlns:a16="http://schemas.microsoft.com/office/drawing/2014/main" id="{1AFA1F62-1CC7-7BC5-DBC9-AC17D2B4E0A1}"/>
              </a:ext>
            </a:extLst>
          </p:cNvPr>
          <p:cNvSpPr txBox="1"/>
          <p:nvPr/>
        </p:nvSpPr>
        <p:spPr>
          <a:xfrm>
            <a:off x="2607060" y="1054956"/>
            <a:ext cx="4572000" cy="369332"/>
          </a:xfrm>
          <a:prstGeom prst="rect">
            <a:avLst/>
          </a:prstGeom>
          <a:noFill/>
        </p:spPr>
        <p:txBody>
          <a:bodyPr wrap="square">
            <a:spAutoFit/>
          </a:bodyPr>
          <a:lstStyle/>
          <a:p>
            <a:r>
              <a:rPr lang="en-SG" sz="1800" dirty="0">
                <a:latin typeface="Arial" panose="020B0604020202020204" pitchFamily="34" charset="0"/>
                <a:cs typeface="Arial" panose="020B0604020202020204" pitchFamily="34" charset="0"/>
              </a:rPr>
              <a:t>X: Applicant's country </a:t>
            </a:r>
            <a:endParaRPr lang="en-US" dirty="0"/>
          </a:p>
        </p:txBody>
      </p:sp>
      <p:sp>
        <p:nvSpPr>
          <p:cNvPr id="4" name="TextBox 3">
            <a:extLst>
              <a:ext uri="{FF2B5EF4-FFF2-40B4-BE49-F238E27FC236}">
                <a16:creationId xmlns:a16="http://schemas.microsoft.com/office/drawing/2014/main" id="{DEDE0E26-767A-7A0E-2E06-120A1099B893}"/>
              </a:ext>
            </a:extLst>
          </p:cNvPr>
          <p:cNvSpPr txBox="1"/>
          <p:nvPr/>
        </p:nvSpPr>
        <p:spPr>
          <a:xfrm>
            <a:off x="2607060" y="1569503"/>
            <a:ext cx="4572000" cy="369332"/>
          </a:xfrm>
          <a:prstGeom prst="rect">
            <a:avLst/>
          </a:prstGeom>
          <a:noFill/>
        </p:spPr>
        <p:txBody>
          <a:bodyPr wrap="square">
            <a:spAutoFit/>
          </a:bodyPr>
          <a:lstStyle/>
          <a:p>
            <a:r>
              <a:rPr lang="en-SG" sz="1800" dirty="0">
                <a:latin typeface="Arial" panose="020B0604020202020204" pitchFamily="34" charset="0"/>
                <a:cs typeface="Arial" panose="020B0604020202020204" pitchFamily="34" charset="0"/>
              </a:rPr>
              <a:t>E: Scholarship type </a:t>
            </a:r>
            <a:endParaRPr lang="en-US" dirty="0"/>
          </a:p>
        </p:txBody>
      </p:sp>
    </p:spTree>
    <p:extLst>
      <p:ext uri="{BB962C8B-B14F-4D97-AF65-F5344CB8AC3E}">
        <p14:creationId xmlns:p14="http://schemas.microsoft.com/office/powerpoint/2010/main" val="52448244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44E7AA1B-7864-CCD9-7427-2EA5C87FEF81}"/>
              </a:ext>
            </a:extLst>
          </p:cNvPr>
          <p:cNvSpPr txBox="1"/>
          <p:nvPr/>
        </p:nvSpPr>
        <p:spPr>
          <a:xfrm>
            <a:off x="555812" y="1170319"/>
            <a:ext cx="6667948" cy="871970"/>
          </a:xfrm>
          <a:prstGeom prst="rect">
            <a:avLst/>
          </a:prstGeom>
          <a:noFill/>
        </p:spPr>
        <p:txBody>
          <a:bodyPr wrap="square">
            <a:spAutoFit/>
          </a:bodyPr>
          <a:lstStyle/>
          <a:p>
            <a:pPr marL="285750" marR="0" indent="-285750">
              <a:lnSpc>
                <a:spcPct val="150000"/>
              </a:lnSpc>
              <a:buFont typeface="Arial" panose="020B0604020202020204" pitchFamily="34" charset="0"/>
              <a:buChar char="•"/>
            </a:pPr>
            <a:r>
              <a:rPr lang="en-SG" sz="1800" dirty="0">
                <a:solidFill>
                  <a:schemeClr val="tx1"/>
                </a:solidFill>
                <a:effectLst/>
                <a:latin typeface="Arial" panose="020B0604020202020204" pitchFamily="34" charset="0"/>
                <a:cs typeface="Arial" panose="020B0604020202020204" pitchFamily="34" charset="0"/>
              </a:rPr>
              <a:t> In real data, we do not know the truth</a:t>
            </a:r>
          </a:p>
          <a:p>
            <a:pPr marL="285750" marR="0" indent="-285750">
              <a:lnSpc>
                <a:spcPct val="150000"/>
              </a:lnSpc>
              <a:buFont typeface="Arial" panose="020B0604020202020204" pitchFamily="34" charset="0"/>
              <a:buChar char="•"/>
            </a:pPr>
            <a:r>
              <a:rPr lang="en-SG" sz="1800" dirty="0">
                <a:solidFill>
                  <a:schemeClr val="tx1"/>
                </a:solidFill>
                <a:effectLst/>
                <a:latin typeface="Arial" panose="020B0604020202020204" pitchFamily="34" charset="0"/>
                <a:cs typeface="Arial" panose="020B0604020202020204" pitchFamily="34" charset="0"/>
              </a:rPr>
              <a:t>Change of coefficient could be revelation or deception</a:t>
            </a:r>
            <a:endParaRPr lang="en-SG" sz="2138" dirty="0">
              <a:solidFill>
                <a:srgbClr val="000000"/>
              </a:solidFill>
              <a:effectLst/>
              <a:latin typeface="Arial" panose="020B0604020202020204" pitchFamily="34" charset="0"/>
              <a:cs typeface="Arial" panose="020B0604020202020204" pitchFamily="34" charset="0"/>
            </a:endParaRPr>
          </a:p>
        </p:txBody>
      </p:sp>
      <p:sp>
        <p:nvSpPr>
          <p:cNvPr id="9" name="TextBox 8">
            <a:extLst>
              <a:ext uri="{FF2B5EF4-FFF2-40B4-BE49-F238E27FC236}">
                <a16:creationId xmlns:a16="http://schemas.microsoft.com/office/drawing/2014/main" id="{7B0EE59C-8A90-3D92-299B-26249D77BA69}"/>
              </a:ext>
            </a:extLst>
          </p:cNvPr>
          <p:cNvSpPr txBox="1"/>
          <p:nvPr/>
        </p:nvSpPr>
        <p:spPr>
          <a:xfrm>
            <a:off x="555812" y="532912"/>
            <a:ext cx="4572000" cy="461665"/>
          </a:xfrm>
          <a:prstGeom prst="rect">
            <a:avLst/>
          </a:prstGeom>
          <a:noFill/>
        </p:spPr>
        <p:txBody>
          <a:bodyPr wrap="square">
            <a:spAutoFit/>
          </a:bodyPr>
          <a:lstStyle/>
          <a:p>
            <a:pPr marL="0" marR="0">
              <a:buNone/>
            </a:pPr>
            <a:r>
              <a:rPr lang="en-SG" sz="2400" b="1" dirty="0">
                <a:solidFill>
                  <a:schemeClr val="tx1"/>
                </a:solidFill>
                <a:effectLst/>
                <a:latin typeface="Arial" panose="020B0604020202020204" pitchFamily="34" charset="0"/>
                <a:cs typeface="Arial" panose="020B0604020202020204" pitchFamily="34" charset="0"/>
              </a:rPr>
              <a:t>What we can learn from this ?</a:t>
            </a:r>
          </a:p>
        </p:txBody>
      </p:sp>
      <p:pic>
        <p:nvPicPr>
          <p:cNvPr id="4" name="Picture 3">
            <a:extLst>
              <a:ext uri="{FF2B5EF4-FFF2-40B4-BE49-F238E27FC236}">
                <a16:creationId xmlns:a16="http://schemas.microsoft.com/office/drawing/2014/main" id="{D5E3C1B8-D145-BE57-2CA1-8284922DFD7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25094" y="2434589"/>
            <a:ext cx="4335676" cy="3678099"/>
          </a:xfrm>
          <a:prstGeom prst="rect">
            <a:avLst/>
          </a:prstGeom>
        </p:spPr>
      </p:pic>
    </p:spTree>
    <p:extLst>
      <p:ext uri="{BB962C8B-B14F-4D97-AF65-F5344CB8AC3E}">
        <p14:creationId xmlns:p14="http://schemas.microsoft.com/office/powerpoint/2010/main" val="259632186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0FB571-154D-27EE-0DA7-090E0E2A081D}"/>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67DB78F1-A5B8-9016-54BD-185F86CEA2A3}"/>
              </a:ext>
            </a:extLst>
          </p:cNvPr>
          <p:cNvSpPr txBox="1"/>
          <p:nvPr/>
        </p:nvSpPr>
        <p:spPr>
          <a:xfrm>
            <a:off x="424148" y="585725"/>
            <a:ext cx="8003756" cy="461665"/>
          </a:xfrm>
          <a:prstGeom prst="rect">
            <a:avLst/>
          </a:prstGeom>
          <a:noFill/>
        </p:spPr>
        <p:txBody>
          <a:bodyPr wrap="square">
            <a:spAutoFit/>
          </a:bodyPr>
          <a:lstStyle/>
          <a:p>
            <a:pPr>
              <a:buNone/>
            </a:pPr>
            <a:r>
              <a:rPr lang="en-SG" sz="2400" b="1" dirty="0">
                <a:effectLst/>
                <a:latin typeface="Arial" panose="020B0604020202020204" pitchFamily="34" charset="0"/>
                <a:cs typeface="Arial" panose="020B0604020202020204" pitchFamily="34" charset="0"/>
              </a:rPr>
              <a:t>Why </a:t>
            </a:r>
            <a:r>
              <a:rPr lang="en-SG" sz="2400" b="1" dirty="0">
                <a:latin typeface="Arial" panose="020B0604020202020204" pitchFamily="34" charset="0"/>
                <a:cs typeface="Arial" panose="020B0604020202020204" pitchFamily="34" charset="0"/>
              </a:rPr>
              <a:t>u</a:t>
            </a:r>
            <a:r>
              <a:rPr lang="en-SG" sz="2400" b="1" dirty="0">
                <a:effectLst/>
                <a:latin typeface="Arial" panose="020B0604020202020204" pitchFamily="34" charset="0"/>
                <a:cs typeface="Arial" panose="020B0604020202020204" pitchFamily="34" charset="0"/>
              </a:rPr>
              <a:t>se </a:t>
            </a:r>
            <a:r>
              <a:rPr lang="en-SG" sz="2400" b="1" dirty="0">
                <a:latin typeface="Arial" panose="020B0604020202020204" pitchFamily="34" charset="0"/>
                <a:cs typeface="Arial" panose="020B0604020202020204" pitchFamily="34" charset="0"/>
              </a:rPr>
              <a:t>m</a:t>
            </a:r>
            <a:r>
              <a:rPr lang="en-SG" sz="2400" b="1" dirty="0">
                <a:effectLst/>
                <a:latin typeface="Arial" panose="020B0604020202020204" pitchFamily="34" charset="0"/>
                <a:cs typeface="Arial" panose="020B0604020202020204" pitchFamily="34" charset="0"/>
              </a:rPr>
              <a:t>ultiple </a:t>
            </a:r>
            <a:r>
              <a:rPr lang="en-SG" sz="2400" b="1" dirty="0">
                <a:latin typeface="Arial" panose="020B0604020202020204" pitchFamily="34" charset="0"/>
                <a:cs typeface="Arial" panose="020B0604020202020204" pitchFamily="34" charset="0"/>
              </a:rPr>
              <a:t>p</a:t>
            </a:r>
            <a:r>
              <a:rPr lang="en-SG" sz="2400" b="1" dirty="0">
                <a:effectLst/>
                <a:latin typeface="Arial" panose="020B0604020202020204" pitchFamily="34" charset="0"/>
                <a:cs typeface="Arial" panose="020B0604020202020204" pitchFamily="34" charset="0"/>
              </a:rPr>
              <a:t>redictors: Simpson’s paradox</a:t>
            </a:r>
          </a:p>
        </p:txBody>
      </p:sp>
      <p:sp>
        <p:nvSpPr>
          <p:cNvPr id="5" name="TextBox 4">
            <a:extLst>
              <a:ext uri="{FF2B5EF4-FFF2-40B4-BE49-F238E27FC236}">
                <a16:creationId xmlns:a16="http://schemas.microsoft.com/office/drawing/2014/main" id="{43DCBD28-FCAE-3274-7F45-52BBBB066177}"/>
              </a:ext>
            </a:extLst>
          </p:cNvPr>
          <p:cNvSpPr txBox="1"/>
          <p:nvPr/>
        </p:nvSpPr>
        <p:spPr>
          <a:xfrm>
            <a:off x="424148" y="1323813"/>
            <a:ext cx="7530030" cy="707886"/>
          </a:xfrm>
          <a:prstGeom prst="rect">
            <a:avLst/>
          </a:prstGeom>
          <a:noFill/>
        </p:spPr>
        <p:txBody>
          <a:bodyPr wrap="square">
            <a:spAutoFit/>
          </a:bodyPr>
          <a:lstStyle/>
          <a:p>
            <a:pPr marL="342900" indent="-342900">
              <a:buFont typeface="Arial" panose="020B0604020202020204" pitchFamily="34" charset="0"/>
              <a:buChar char="•"/>
            </a:pPr>
            <a:r>
              <a:rPr lang="en-US" sz="2000" dirty="0"/>
              <a:t>Classic Problem: Does having more native species hinder invasive species success?</a:t>
            </a:r>
          </a:p>
        </p:txBody>
      </p:sp>
      <p:grpSp>
        <p:nvGrpSpPr>
          <p:cNvPr id="73" name="Group 72">
            <a:extLst>
              <a:ext uri="{FF2B5EF4-FFF2-40B4-BE49-F238E27FC236}">
                <a16:creationId xmlns:a16="http://schemas.microsoft.com/office/drawing/2014/main" id="{3E4D4778-2E25-A289-F132-315CB3E8965F}"/>
              </a:ext>
            </a:extLst>
          </p:cNvPr>
          <p:cNvGrpSpPr/>
          <p:nvPr/>
        </p:nvGrpSpPr>
        <p:grpSpPr>
          <a:xfrm>
            <a:off x="563806" y="2452388"/>
            <a:ext cx="3004146" cy="2822149"/>
            <a:chOff x="1736412" y="2004153"/>
            <a:chExt cx="4554225" cy="4607516"/>
          </a:xfrm>
        </p:grpSpPr>
        <p:grpSp>
          <p:nvGrpSpPr>
            <p:cNvPr id="66" name="Group 65">
              <a:extLst>
                <a:ext uri="{FF2B5EF4-FFF2-40B4-BE49-F238E27FC236}">
                  <a16:creationId xmlns:a16="http://schemas.microsoft.com/office/drawing/2014/main" id="{BE922845-D4D6-0A7E-8F77-8A36CB074F44}"/>
                </a:ext>
              </a:extLst>
            </p:cNvPr>
            <p:cNvGrpSpPr/>
            <p:nvPr/>
          </p:nvGrpSpPr>
          <p:grpSpPr>
            <a:xfrm>
              <a:off x="2247447" y="2313542"/>
              <a:ext cx="4043190" cy="3843050"/>
              <a:chOff x="1156771" y="2346593"/>
              <a:chExt cx="4043190" cy="3843050"/>
            </a:xfrm>
          </p:grpSpPr>
          <p:cxnSp>
            <p:nvCxnSpPr>
              <p:cNvPr id="57" name="Straight Arrow Connector 56">
                <a:extLst>
                  <a:ext uri="{FF2B5EF4-FFF2-40B4-BE49-F238E27FC236}">
                    <a16:creationId xmlns:a16="http://schemas.microsoft.com/office/drawing/2014/main" id="{2B6B08FE-41BB-E4ED-0A64-5F89F95C4C94}"/>
                  </a:ext>
                </a:extLst>
              </p:cNvPr>
              <p:cNvCxnSpPr>
                <a:cxnSpLocks/>
              </p:cNvCxnSpPr>
              <p:nvPr/>
            </p:nvCxnSpPr>
            <p:spPr>
              <a:xfrm flipV="1">
                <a:off x="1156771" y="2346593"/>
                <a:ext cx="0" cy="384305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65" name="Group 64">
                <a:extLst>
                  <a:ext uri="{FF2B5EF4-FFF2-40B4-BE49-F238E27FC236}">
                    <a16:creationId xmlns:a16="http://schemas.microsoft.com/office/drawing/2014/main" id="{0542E07C-1313-4B30-C195-B3992231E601}"/>
                  </a:ext>
                </a:extLst>
              </p:cNvPr>
              <p:cNvGrpSpPr/>
              <p:nvPr/>
            </p:nvGrpSpPr>
            <p:grpSpPr>
              <a:xfrm>
                <a:off x="1156771" y="2793718"/>
                <a:ext cx="4043190" cy="3395925"/>
                <a:chOff x="1156771" y="2793718"/>
                <a:chExt cx="4043190" cy="3395925"/>
              </a:xfrm>
            </p:grpSpPr>
            <p:sp>
              <p:nvSpPr>
                <p:cNvPr id="9" name="Oval 8">
                  <a:extLst>
                    <a:ext uri="{FF2B5EF4-FFF2-40B4-BE49-F238E27FC236}">
                      <a16:creationId xmlns:a16="http://schemas.microsoft.com/office/drawing/2014/main" id="{70E81885-418A-8C28-14D2-B1EC9D02D4AD}"/>
                    </a:ext>
                  </a:extLst>
                </p:cNvPr>
                <p:cNvSpPr/>
                <p:nvPr/>
              </p:nvSpPr>
              <p:spPr>
                <a:xfrm>
                  <a:off x="2952520" y="3945875"/>
                  <a:ext cx="88134" cy="96398"/>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657178A5-8DC8-15DE-155A-AFB8D67D57CA}"/>
                    </a:ext>
                  </a:extLst>
                </p:cNvPr>
                <p:cNvSpPr/>
                <p:nvPr/>
              </p:nvSpPr>
              <p:spPr>
                <a:xfrm>
                  <a:off x="2864386" y="4483406"/>
                  <a:ext cx="88134" cy="96398"/>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ED02AEAD-7543-B706-5C37-59D723E78FA3}"/>
                    </a:ext>
                  </a:extLst>
                </p:cNvPr>
                <p:cNvSpPr/>
                <p:nvPr/>
              </p:nvSpPr>
              <p:spPr>
                <a:xfrm>
                  <a:off x="2807464" y="4772600"/>
                  <a:ext cx="88134" cy="96398"/>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E39DD8DE-8ADB-BDDF-7EC9-1A8757C1A35F}"/>
                    </a:ext>
                  </a:extLst>
                </p:cNvPr>
                <p:cNvSpPr/>
                <p:nvPr/>
              </p:nvSpPr>
              <p:spPr>
                <a:xfrm>
                  <a:off x="2166652" y="4134998"/>
                  <a:ext cx="88134" cy="96398"/>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CD720C34-72A5-BF87-FF83-AAB1FC28E919}"/>
                    </a:ext>
                  </a:extLst>
                </p:cNvPr>
                <p:cNvSpPr/>
                <p:nvPr/>
              </p:nvSpPr>
              <p:spPr>
                <a:xfrm>
                  <a:off x="2439319" y="4042273"/>
                  <a:ext cx="88134" cy="96398"/>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B4975388-333F-A06E-F5B3-DBE8093B4AF4}"/>
                    </a:ext>
                  </a:extLst>
                </p:cNvPr>
                <p:cNvSpPr/>
                <p:nvPr/>
              </p:nvSpPr>
              <p:spPr>
                <a:xfrm>
                  <a:off x="2711986" y="4191000"/>
                  <a:ext cx="88134" cy="96398"/>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B7635413-10A5-C01B-DDD6-662679ED7BD4}"/>
                    </a:ext>
                  </a:extLst>
                </p:cNvPr>
                <p:cNvSpPr/>
                <p:nvPr/>
              </p:nvSpPr>
              <p:spPr>
                <a:xfrm>
                  <a:off x="2102386" y="4579804"/>
                  <a:ext cx="88134" cy="96398"/>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7155319F-26E0-58F6-D890-A3BA5E9FD602}"/>
                    </a:ext>
                  </a:extLst>
                </p:cNvPr>
                <p:cNvSpPr/>
                <p:nvPr/>
              </p:nvSpPr>
              <p:spPr>
                <a:xfrm>
                  <a:off x="2483386" y="4510489"/>
                  <a:ext cx="88134" cy="96398"/>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2F91574A-E5D5-BADE-6ABF-927FF116CF3F}"/>
                    </a:ext>
                  </a:extLst>
                </p:cNvPr>
                <p:cNvSpPr/>
                <p:nvPr/>
              </p:nvSpPr>
              <p:spPr>
                <a:xfrm>
                  <a:off x="1770044" y="4287398"/>
                  <a:ext cx="88134" cy="96398"/>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267D10F0-6D1F-EE8E-E07D-66142BBFF6CC}"/>
                    </a:ext>
                  </a:extLst>
                </p:cNvPr>
                <p:cNvSpPr/>
                <p:nvPr/>
              </p:nvSpPr>
              <p:spPr>
                <a:xfrm>
                  <a:off x="1665385" y="4953000"/>
                  <a:ext cx="88134" cy="96398"/>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AEE1D4C5-5D43-8406-A7A0-84F057DE5C83}"/>
                    </a:ext>
                  </a:extLst>
                </p:cNvPr>
                <p:cNvSpPr/>
                <p:nvPr/>
              </p:nvSpPr>
              <p:spPr>
                <a:xfrm>
                  <a:off x="2431975" y="4870831"/>
                  <a:ext cx="88134" cy="96398"/>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63C0FCEE-26D0-6D69-E0EF-E33BD4EB66C1}"/>
                    </a:ext>
                  </a:extLst>
                </p:cNvPr>
                <p:cNvSpPr/>
                <p:nvPr/>
              </p:nvSpPr>
              <p:spPr>
                <a:xfrm>
                  <a:off x="2166652" y="5192568"/>
                  <a:ext cx="88134" cy="96398"/>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BC9DD8ED-DD85-1D9C-01C0-A82746CCD9E6}"/>
                    </a:ext>
                  </a:extLst>
                </p:cNvPr>
                <p:cNvSpPr/>
                <p:nvPr/>
              </p:nvSpPr>
              <p:spPr>
                <a:xfrm>
                  <a:off x="1809520" y="4676202"/>
                  <a:ext cx="88134" cy="96398"/>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BF4EDC09-9360-221F-E633-E2AC29458A91}"/>
                    </a:ext>
                  </a:extLst>
                </p:cNvPr>
                <p:cNvSpPr/>
                <p:nvPr/>
              </p:nvSpPr>
              <p:spPr>
                <a:xfrm>
                  <a:off x="2765234" y="5267850"/>
                  <a:ext cx="88134" cy="96398"/>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38C8A693-0BB1-E59C-8CE9-64181EE2AC83}"/>
                    </a:ext>
                  </a:extLst>
                </p:cNvPr>
                <p:cNvSpPr/>
                <p:nvPr/>
              </p:nvSpPr>
              <p:spPr>
                <a:xfrm>
                  <a:off x="1709452" y="5458399"/>
                  <a:ext cx="88134" cy="96398"/>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A5C0AA46-A706-B9D8-F7B6-3AD1B261A568}"/>
                    </a:ext>
                  </a:extLst>
                </p:cNvPr>
                <p:cNvSpPr/>
                <p:nvPr/>
              </p:nvSpPr>
              <p:spPr>
                <a:xfrm>
                  <a:off x="2122585" y="5497368"/>
                  <a:ext cx="88134" cy="96398"/>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5EC146C5-6FAB-35AE-BB60-A10CE2198E96}"/>
                    </a:ext>
                  </a:extLst>
                </p:cNvPr>
                <p:cNvSpPr/>
                <p:nvPr/>
              </p:nvSpPr>
              <p:spPr>
                <a:xfrm>
                  <a:off x="3244466" y="3709472"/>
                  <a:ext cx="88134" cy="96398"/>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0C5E1D2D-A7DD-22E9-9F5F-887D67FA0038}"/>
                    </a:ext>
                  </a:extLst>
                </p:cNvPr>
                <p:cNvSpPr/>
                <p:nvPr/>
              </p:nvSpPr>
              <p:spPr>
                <a:xfrm>
                  <a:off x="3257320" y="4250675"/>
                  <a:ext cx="88134" cy="96398"/>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4F823679-431D-7FA1-8181-1BC9F37BE1AE}"/>
                    </a:ext>
                  </a:extLst>
                </p:cNvPr>
                <p:cNvSpPr/>
                <p:nvPr/>
              </p:nvSpPr>
              <p:spPr>
                <a:xfrm>
                  <a:off x="3409720" y="4403075"/>
                  <a:ext cx="88134" cy="96398"/>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5E9398E8-3D6C-57E9-152C-69AC0E2AD76C}"/>
                    </a:ext>
                  </a:extLst>
                </p:cNvPr>
                <p:cNvSpPr/>
                <p:nvPr/>
              </p:nvSpPr>
              <p:spPr>
                <a:xfrm>
                  <a:off x="3301387" y="4776272"/>
                  <a:ext cx="88134" cy="96398"/>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4E288D2D-5BB2-D7E2-EC11-6A1A6B6D55AA}"/>
                    </a:ext>
                  </a:extLst>
                </p:cNvPr>
                <p:cNvSpPr/>
                <p:nvPr/>
              </p:nvSpPr>
              <p:spPr>
                <a:xfrm>
                  <a:off x="3606187" y="4079455"/>
                  <a:ext cx="88134" cy="96398"/>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Oval 29">
                  <a:extLst>
                    <a:ext uri="{FF2B5EF4-FFF2-40B4-BE49-F238E27FC236}">
                      <a16:creationId xmlns:a16="http://schemas.microsoft.com/office/drawing/2014/main" id="{CFAA6F75-EC09-EE3B-F158-84F7591E6844}"/>
                    </a:ext>
                  </a:extLst>
                </p:cNvPr>
                <p:cNvSpPr/>
                <p:nvPr/>
              </p:nvSpPr>
              <p:spPr>
                <a:xfrm>
                  <a:off x="3672287" y="3657600"/>
                  <a:ext cx="88134" cy="96398"/>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Oval 30">
                  <a:extLst>
                    <a:ext uri="{FF2B5EF4-FFF2-40B4-BE49-F238E27FC236}">
                      <a16:creationId xmlns:a16="http://schemas.microsoft.com/office/drawing/2014/main" id="{9318C712-747D-A030-C9FA-4C5D2661BAE0}"/>
                    </a:ext>
                  </a:extLst>
                </p:cNvPr>
                <p:cNvSpPr/>
                <p:nvPr/>
              </p:nvSpPr>
              <p:spPr>
                <a:xfrm>
                  <a:off x="2633032" y="3595654"/>
                  <a:ext cx="88134" cy="96398"/>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Oval 31">
                  <a:extLst>
                    <a:ext uri="{FF2B5EF4-FFF2-40B4-BE49-F238E27FC236}">
                      <a16:creationId xmlns:a16="http://schemas.microsoft.com/office/drawing/2014/main" id="{490A30DF-8CFB-C7CB-DC1B-49DAEC4E7CBB}"/>
                    </a:ext>
                  </a:extLst>
                </p:cNvPr>
                <p:cNvSpPr/>
                <p:nvPr/>
              </p:nvSpPr>
              <p:spPr>
                <a:xfrm>
                  <a:off x="3229776" y="5092908"/>
                  <a:ext cx="88134" cy="96398"/>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Oval 32">
                  <a:extLst>
                    <a:ext uri="{FF2B5EF4-FFF2-40B4-BE49-F238E27FC236}">
                      <a16:creationId xmlns:a16="http://schemas.microsoft.com/office/drawing/2014/main" id="{1520CFEC-C8F0-8601-8D4C-BD944D6E67A1}"/>
                    </a:ext>
                  </a:extLst>
                </p:cNvPr>
                <p:cNvSpPr/>
                <p:nvPr/>
              </p:nvSpPr>
              <p:spPr>
                <a:xfrm>
                  <a:off x="3910987" y="4387008"/>
                  <a:ext cx="88134" cy="96398"/>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Oval 33">
                  <a:extLst>
                    <a:ext uri="{FF2B5EF4-FFF2-40B4-BE49-F238E27FC236}">
                      <a16:creationId xmlns:a16="http://schemas.microsoft.com/office/drawing/2014/main" id="{CA4CF883-41F4-DCFF-CD70-2B5228327F53}"/>
                    </a:ext>
                  </a:extLst>
                </p:cNvPr>
                <p:cNvSpPr/>
                <p:nvPr/>
              </p:nvSpPr>
              <p:spPr>
                <a:xfrm>
                  <a:off x="3707176" y="4716139"/>
                  <a:ext cx="88134" cy="96398"/>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Oval 35">
                  <a:extLst>
                    <a:ext uri="{FF2B5EF4-FFF2-40B4-BE49-F238E27FC236}">
                      <a16:creationId xmlns:a16="http://schemas.microsoft.com/office/drawing/2014/main" id="{B7A1BFC8-ACF9-F464-987C-65D57724DB76}"/>
                    </a:ext>
                  </a:extLst>
                </p:cNvPr>
                <p:cNvSpPr/>
                <p:nvPr/>
              </p:nvSpPr>
              <p:spPr>
                <a:xfrm>
                  <a:off x="3104920" y="4098275"/>
                  <a:ext cx="88134" cy="96398"/>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Oval 36">
                  <a:extLst>
                    <a:ext uri="{FF2B5EF4-FFF2-40B4-BE49-F238E27FC236}">
                      <a16:creationId xmlns:a16="http://schemas.microsoft.com/office/drawing/2014/main" id="{6AAFF4FD-BA7A-5FF9-4582-7C2904955A7C}"/>
                    </a:ext>
                  </a:extLst>
                </p:cNvPr>
                <p:cNvSpPr/>
                <p:nvPr/>
              </p:nvSpPr>
              <p:spPr>
                <a:xfrm>
                  <a:off x="3824687" y="3810000"/>
                  <a:ext cx="88134" cy="96398"/>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Oval 37">
                  <a:extLst>
                    <a:ext uri="{FF2B5EF4-FFF2-40B4-BE49-F238E27FC236}">
                      <a16:creationId xmlns:a16="http://schemas.microsoft.com/office/drawing/2014/main" id="{AEFAC6F7-ACA5-C8C1-F981-2F25F5A14977}"/>
                    </a:ext>
                  </a:extLst>
                </p:cNvPr>
                <p:cNvSpPr/>
                <p:nvPr/>
              </p:nvSpPr>
              <p:spPr>
                <a:xfrm>
                  <a:off x="3999118" y="3862330"/>
                  <a:ext cx="88134" cy="96398"/>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Oval 38">
                  <a:extLst>
                    <a:ext uri="{FF2B5EF4-FFF2-40B4-BE49-F238E27FC236}">
                      <a16:creationId xmlns:a16="http://schemas.microsoft.com/office/drawing/2014/main" id="{9D740756-E93D-A19B-2256-495C4BCB0232}"/>
                    </a:ext>
                  </a:extLst>
                </p:cNvPr>
                <p:cNvSpPr/>
                <p:nvPr/>
              </p:nvSpPr>
              <p:spPr>
                <a:xfrm>
                  <a:off x="3832030" y="3299117"/>
                  <a:ext cx="88134" cy="96398"/>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Oval 39">
                  <a:extLst>
                    <a:ext uri="{FF2B5EF4-FFF2-40B4-BE49-F238E27FC236}">
                      <a16:creationId xmlns:a16="http://schemas.microsoft.com/office/drawing/2014/main" id="{A347C94A-8BD9-60C4-73AA-D3CAEAB1BB5E}"/>
                    </a:ext>
                  </a:extLst>
                </p:cNvPr>
                <p:cNvSpPr/>
                <p:nvPr/>
              </p:nvSpPr>
              <p:spPr>
                <a:xfrm>
                  <a:off x="2996587" y="3370727"/>
                  <a:ext cx="88134" cy="96398"/>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Oval 40">
                  <a:extLst>
                    <a:ext uri="{FF2B5EF4-FFF2-40B4-BE49-F238E27FC236}">
                      <a16:creationId xmlns:a16="http://schemas.microsoft.com/office/drawing/2014/main" id="{BB774B5F-C565-08C0-5BFF-6024214FCAF7}"/>
                    </a:ext>
                  </a:extLst>
                </p:cNvPr>
                <p:cNvSpPr/>
                <p:nvPr/>
              </p:nvSpPr>
              <p:spPr>
                <a:xfrm>
                  <a:off x="4281887" y="4287398"/>
                  <a:ext cx="88134" cy="96398"/>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Oval 41">
                  <a:extLst>
                    <a:ext uri="{FF2B5EF4-FFF2-40B4-BE49-F238E27FC236}">
                      <a16:creationId xmlns:a16="http://schemas.microsoft.com/office/drawing/2014/main" id="{463EEB5B-DF1A-914F-B0C2-1E90CDE15254}"/>
                    </a:ext>
                  </a:extLst>
                </p:cNvPr>
                <p:cNvSpPr/>
                <p:nvPr/>
              </p:nvSpPr>
              <p:spPr>
                <a:xfrm>
                  <a:off x="3479490" y="3401252"/>
                  <a:ext cx="88134" cy="96398"/>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Oval 42">
                  <a:extLst>
                    <a:ext uri="{FF2B5EF4-FFF2-40B4-BE49-F238E27FC236}">
                      <a16:creationId xmlns:a16="http://schemas.microsoft.com/office/drawing/2014/main" id="{3709950E-F1EA-2F06-94D4-5063EE370EC6}"/>
                    </a:ext>
                  </a:extLst>
                </p:cNvPr>
                <p:cNvSpPr/>
                <p:nvPr/>
              </p:nvSpPr>
              <p:spPr>
                <a:xfrm>
                  <a:off x="4189163" y="3003040"/>
                  <a:ext cx="88134" cy="96398"/>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Oval 43">
                  <a:extLst>
                    <a:ext uri="{FF2B5EF4-FFF2-40B4-BE49-F238E27FC236}">
                      <a16:creationId xmlns:a16="http://schemas.microsoft.com/office/drawing/2014/main" id="{A51F2CEA-65D9-14E4-B39A-9481FFEF69BD}"/>
                    </a:ext>
                  </a:extLst>
                </p:cNvPr>
                <p:cNvSpPr/>
                <p:nvPr/>
              </p:nvSpPr>
              <p:spPr>
                <a:xfrm>
                  <a:off x="4456318" y="3962400"/>
                  <a:ext cx="88134" cy="96398"/>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Oval 44">
                  <a:extLst>
                    <a:ext uri="{FF2B5EF4-FFF2-40B4-BE49-F238E27FC236}">
                      <a16:creationId xmlns:a16="http://schemas.microsoft.com/office/drawing/2014/main" id="{3239520E-056A-9B92-4FA5-400643CD514D}"/>
                    </a:ext>
                  </a:extLst>
                </p:cNvPr>
                <p:cNvSpPr/>
                <p:nvPr/>
              </p:nvSpPr>
              <p:spPr>
                <a:xfrm>
                  <a:off x="4193753" y="3418926"/>
                  <a:ext cx="88134" cy="96398"/>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Oval 45">
                  <a:extLst>
                    <a:ext uri="{FF2B5EF4-FFF2-40B4-BE49-F238E27FC236}">
                      <a16:creationId xmlns:a16="http://schemas.microsoft.com/office/drawing/2014/main" id="{6B491EED-EF81-D62B-92DE-411D6045C525}"/>
                    </a:ext>
                  </a:extLst>
                </p:cNvPr>
                <p:cNvSpPr/>
                <p:nvPr/>
              </p:nvSpPr>
              <p:spPr>
                <a:xfrm>
                  <a:off x="3453787" y="3098518"/>
                  <a:ext cx="88134" cy="96398"/>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Oval 46">
                  <a:extLst>
                    <a:ext uri="{FF2B5EF4-FFF2-40B4-BE49-F238E27FC236}">
                      <a16:creationId xmlns:a16="http://schemas.microsoft.com/office/drawing/2014/main" id="{6E612351-8392-AA92-C513-91C8C7DB1CB2}"/>
                    </a:ext>
                  </a:extLst>
                </p:cNvPr>
                <p:cNvSpPr/>
                <p:nvPr/>
              </p:nvSpPr>
              <p:spPr>
                <a:xfrm>
                  <a:off x="3899967" y="4050076"/>
                  <a:ext cx="88134" cy="96398"/>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Oval 47">
                  <a:extLst>
                    <a:ext uri="{FF2B5EF4-FFF2-40B4-BE49-F238E27FC236}">
                      <a16:creationId xmlns:a16="http://schemas.microsoft.com/office/drawing/2014/main" id="{23F7423F-E865-DE60-3C60-B35AA3D6407C}"/>
                    </a:ext>
                  </a:extLst>
                </p:cNvPr>
                <p:cNvSpPr/>
                <p:nvPr/>
              </p:nvSpPr>
              <p:spPr>
                <a:xfrm>
                  <a:off x="4129487" y="4114800"/>
                  <a:ext cx="88134" cy="96398"/>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Oval 48">
                  <a:extLst>
                    <a:ext uri="{FF2B5EF4-FFF2-40B4-BE49-F238E27FC236}">
                      <a16:creationId xmlns:a16="http://schemas.microsoft.com/office/drawing/2014/main" id="{20D348B1-B2EE-A82F-AF8A-CC66CAD53378}"/>
                    </a:ext>
                  </a:extLst>
                </p:cNvPr>
                <p:cNvSpPr/>
                <p:nvPr/>
              </p:nvSpPr>
              <p:spPr>
                <a:xfrm>
                  <a:off x="4281887" y="3871512"/>
                  <a:ext cx="88134" cy="96398"/>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Oval 49">
                  <a:extLst>
                    <a:ext uri="{FF2B5EF4-FFF2-40B4-BE49-F238E27FC236}">
                      <a16:creationId xmlns:a16="http://schemas.microsoft.com/office/drawing/2014/main" id="{1861764D-F836-5A5B-64D1-35A294B99C7A}"/>
                    </a:ext>
                  </a:extLst>
                </p:cNvPr>
                <p:cNvSpPr/>
                <p:nvPr/>
              </p:nvSpPr>
              <p:spPr>
                <a:xfrm>
                  <a:off x="3855900" y="3032417"/>
                  <a:ext cx="88134" cy="96398"/>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Oval 50">
                  <a:extLst>
                    <a:ext uri="{FF2B5EF4-FFF2-40B4-BE49-F238E27FC236}">
                      <a16:creationId xmlns:a16="http://schemas.microsoft.com/office/drawing/2014/main" id="{5F4D63B2-C1B1-B119-51AD-C724D42FBB60}"/>
                    </a:ext>
                  </a:extLst>
                </p:cNvPr>
                <p:cNvSpPr/>
                <p:nvPr/>
              </p:nvSpPr>
              <p:spPr>
                <a:xfrm>
                  <a:off x="4630754" y="2930052"/>
                  <a:ext cx="88134" cy="96398"/>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Oval 51">
                  <a:extLst>
                    <a:ext uri="{FF2B5EF4-FFF2-40B4-BE49-F238E27FC236}">
                      <a16:creationId xmlns:a16="http://schemas.microsoft.com/office/drawing/2014/main" id="{1804466E-BC02-197B-16F9-CB03113627A0}"/>
                    </a:ext>
                  </a:extLst>
                </p:cNvPr>
                <p:cNvSpPr/>
                <p:nvPr/>
              </p:nvSpPr>
              <p:spPr>
                <a:xfrm>
                  <a:off x="4711542" y="3703989"/>
                  <a:ext cx="88134" cy="96398"/>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Oval 52">
                  <a:extLst>
                    <a:ext uri="{FF2B5EF4-FFF2-40B4-BE49-F238E27FC236}">
                      <a16:creationId xmlns:a16="http://schemas.microsoft.com/office/drawing/2014/main" id="{2465B076-2D23-E713-A6A4-730C8EEEF276}"/>
                    </a:ext>
                  </a:extLst>
                </p:cNvPr>
                <p:cNvSpPr/>
                <p:nvPr/>
              </p:nvSpPr>
              <p:spPr>
                <a:xfrm>
                  <a:off x="3931178" y="2793718"/>
                  <a:ext cx="88134" cy="96398"/>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Oval 53">
                  <a:extLst>
                    <a:ext uri="{FF2B5EF4-FFF2-40B4-BE49-F238E27FC236}">
                      <a16:creationId xmlns:a16="http://schemas.microsoft.com/office/drawing/2014/main" id="{767EDFFF-D1A0-21F8-97B5-78EA3E09E7CA}"/>
                    </a:ext>
                  </a:extLst>
                </p:cNvPr>
                <p:cNvSpPr/>
                <p:nvPr/>
              </p:nvSpPr>
              <p:spPr>
                <a:xfrm>
                  <a:off x="4542620" y="3394138"/>
                  <a:ext cx="88134" cy="96398"/>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Oval 54">
                  <a:extLst>
                    <a:ext uri="{FF2B5EF4-FFF2-40B4-BE49-F238E27FC236}">
                      <a16:creationId xmlns:a16="http://schemas.microsoft.com/office/drawing/2014/main" id="{89015FED-7E6C-A0F8-A754-5213BDECEDBC}"/>
                    </a:ext>
                  </a:extLst>
                </p:cNvPr>
                <p:cNvSpPr/>
                <p:nvPr/>
              </p:nvSpPr>
              <p:spPr>
                <a:xfrm>
                  <a:off x="4898829" y="3332602"/>
                  <a:ext cx="88134" cy="96398"/>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0" name="Straight Arrow Connector 59">
                  <a:extLst>
                    <a:ext uri="{FF2B5EF4-FFF2-40B4-BE49-F238E27FC236}">
                      <a16:creationId xmlns:a16="http://schemas.microsoft.com/office/drawing/2014/main" id="{459B0C60-C51B-4B0C-00EF-270B50E02708}"/>
                    </a:ext>
                  </a:extLst>
                </p:cNvPr>
                <p:cNvCxnSpPr>
                  <a:cxnSpLocks/>
                </p:cNvCxnSpPr>
                <p:nvPr/>
              </p:nvCxnSpPr>
              <p:spPr>
                <a:xfrm>
                  <a:off x="1156771" y="6189643"/>
                  <a:ext cx="4043190"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sp>
          <p:nvSpPr>
            <p:cNvPr id="68" name="TextBox 67">
              <a:extLst>
                <a:ext uri="{FF2B5EF4-FFF2-40B4-BE49-F238E27FC236}">
                  <a16:creationId xmlns:a16="http://schemas.microsoft.com/office/drawing/2014/main" id="{816AADAD-381E-E4DA-4021-F4CCEBE1C605}"/>
                </a:ext>
              </a:extLst>
            </p:cNvPr>
            <p:cNvSpPr txBox="1"/>
            <p:nvPr/>
          </p:nvSpPr>
          <p:spPr>
            <a:xfrm rot="16200000">
              <a:off x="17363" y="3723202"/>
              <a:ext cx="3843051" cy="404954"/>
            </a:xfrm>
            <a:prstGeom prst="rect">
              <a:avLst/>
            </a:prstGeom>
            <a:noFill/>
          </p:spPr>
          <p:txBody>
            <a:bodyPr wrap="square">
              <a:spAutoFit/>
            </a:bodyPr>
            <a:lstStyle/>
            <a:p>
              <a:r>
                <a:rPr lang="en-US" sz="1400" dirty="0">
                  <a:latin typeface="Arial" panose="020B0604020202020204" pitchFamily="34" charset="0"/>
                  <a:cs typeface="Arial" panose="020B0604020202020204" pitchFamily="34" charset="0"/>
                </a:rPr>
                <a:t>Invasive species richness</a:t>
              </a:r>
            </a:p>
          </p:txBody>
        </p:sp>
        <p:sp>
          <p:nvSpPr>
            <p:cNvPr id="70" name="TextBox 69">
              <a:extLst>
                <a:ext uri="{FF2B5EF4-FFF2-40B4-BE49-F238E27FC236}">
                  <a16:creationId xmlns:a16="http://schemas.microsoft.com/office/drawing/2014/main" id="{AF1F06CB-1227-8A9A-8DAF-C06A6924AD63}"/>
                </a:ext>
              </a:extLst>
            </p:cNvPr>
            <p:cNvSpPr txBox="1"/>
            <p:nvPr/>
          </p:nvSpPr>
          <p:spPr>
            <a:xfrm>
              <a:off x="2647729" y="6237064"/>
              <a:ext cx="3642908" cy="374605"/>
            </a:xfrm>
            <a:prstGeom prst="rect">
              <a:avLst/>
            </a:prstGeom>
            <a:noFill/>
          </p:spPr>
          <p:txBody>
            <a:bodyPr wrap="square">
              <a:spAutoFit/>
            </a:bodyPr>
            <a:lstStyle/>
            <a:p>
              <a:r>
                <a:rPr lang="en-US" sz="1400" dirty="0">
                  <a:latin typeface="Arial" panose="020B0604020202020204" pitchFamily="34" charset="0"/>
                  <a:cs typeface="Arial" panose="020B0604020202020204" pitchFamily="34" charset="0"/>
                </a:rPr>
                <a:t>Native species richness</a:t>
              </a:r>
            </a:p>
          </p:txBody>
        </p:sp>
      </p:grpSp>
      <p:cxnSp>
        <p:nvCxnSpPr>
          <p:cNvPr id="72" name="Straight Connector 71">
            <a:extLst>
              <a:ext uri="{FF2B5EF4-FFF2-40B4-BE49-F238E27FC236}">
                <a16:creationId xmlns:a16="http://schemas.microsoft.com/office/drawing/2014/main" id="{504CD17D-7B5A-8240-38DA-A7E2F1121102}"/>
              </a:ext>
            </a:extLst>
          </p:cNvPr>
          <p:cNvCxnSpPr/>
          <p:nvPr/>
        </p:nvCxnSpPr>
        <p:spPr>
          <a:xfrm flipV="1">
            <a:off x="1192808" y="2959792"/>
            <a:ext cx="2067502" cy="1602029"/>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sp>
        <p:nvSpPr>
          <p:cNvPr id="74" name="CuadroTexto 6">
            <a:extLst>
              <a:ext uri="{FF2B5EF4-FFF2-40B4-BE49-F238E27FC236}">
                <a16:creationId xmlns:a16="http://schemas.microsoft.com/office/drawing/2014/main" id="{91652236-2DFE-5F4F-1D40-7CD339BC03F1}"/>
              </a:ext>
            </a:extLst>
          </p:cNvPr>
          <p:cNvSpPr txBox="1"/>
          <p:nvPr/>
        </p:nvSpPr>
        <p:spPr>
          <a:xfrm>
            <a:off x="4717280" y="2467089"/>
            <a:ext cx="2131770" cy="307777"/>
          </a:xfrm>
          <a:prstGeom prst="rect">
            <a:avLst/>
          </a:prstGeom>
          <a:noFill/>
          <a:ln w="25400">
            <a:solidFill>
              <a:schemeClr val="tx1"/>
            </a:solidFill>
          </a:ln>
        </p:spPr>
        <p:txBody>
          <a:bodyPr wrap="square" rtlCol="0">
            <a:spAutoFit/>
          </a:bodyPr>
          <a:lstStyle/>
          <a:p>
            <a:r>
              <a:rPr lang="en-US" sz="1400" dirty="0">
                <a:latin typeface="Arial" panose="020B0604020202020204" pitchFamily="34" charset="0"/>
                <a:cs typeface="Arial" panose="020B0604020202020204" pitchFamily="34" charset="0"/>
              </a:rPr>
              <a:t>Native species richness</a:t>
            </a:r>
          </a:p>
        </p:txBody>
      </p:sp>
      <p:sp>
        <p:nvSpPr>
          <p:cNvPr id="75" name="CuadroTexto 6">
            <a:extLst>
              <a:ext uri="{FF2B5EF4-FFF2-40B4-BE49-F238E27FC236}">
                <a16:creationId xmlns:a16="http://schemas.microsoft.com/office/drawing/2014/main" id="{AD80B056-0F8F-F3F2-B7DC-8701053986AE}"/>
              </a:ext>
            </a:extLst>
          </p:cNvPr>
          <p:cNvSpPr txBox="1"/>
          <p:nvPr/>
        </p:nvSpPr>
        <p:spPr>
          <a:xfrm>
            <a:off x="4627064" y="4075305"/>
            <a:ext cx="2312201" cy="307777"/>
          </a:xfrm>
          <a:prstGeom prst="rect">
            <a:avLst/>
          </a:prstGeom>
          <a:noFill/>
          <a:ln w="25400">
            <a:solidFill>
              <a:schemeClr val="tx1"/>
            </a:solidFill>
          </a:ln>
        </p:spPr>
        <p:txBody>
          <a:bodyPr wrap="square" rtlCol="0">
            <a:spAutoFit/>
          </a:bodyPr>
          <a:lstStyle/>
          <a:p>
            <a:r>
              <a:rPr lang="en-US" sz="1400" dirty="0">
                <a:latin typeface="Arial" panose="020B0604020202020204" pitchFamily="34" charset="0"/>
                <a:cs typeface="Arial" panose="020B0604020202020204" pitchFamily="34" charset="0"/>
              </a:rPr>
              <a:t>Invasive species richness</a:t>
            </a:r>
          </a:p>
        </p:txBody>
      </p:sp>
      <p:cxnSp>
        <p:nvCxnSpPr>
          <p:cNvPr id="76" name="Conector recto de flecha 4">
            <a:extLst>
              <a:ext uri="{FF2B5EF4-FFF2-40B4-BE49-F238E27FC236}">
                <a16:creationId xmlns:a16="http://schemas.microsoft.com/office/drawing/2014/main" id="{02C81795-AAAF-2130-8B26-F8B0368DC498}"/>
              </a:ext>
            </a:extLst>
          </p:cNvPr>
          <p:cNvCxnSpPr>
            <a:cxnSpLocks/>
          </p:cNvCxnSpPr>
          <p:nvPr/>
        </p:nvCxnSpPr>
        <p:spPr>
          <a:xfrm>
            <a:off x="5783165" y="2820314"/>
            <a:ext cx="0" cy="1210166"/>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35" name="CuadroTexto 6">
            <a:extLst>
              <a:ext uri="{FF2B5EF4-FFF2-40B4-BE49-F238E27FC236}">
                <a16:creationId xmlns:a16="http://schemas.microsoft.com/office/drawing/2014/main" id="{6A29AE96-139D-E1D3-8826-D34212725785}"/>
              </a:ext>
            </a:extLst>
          </p:cNvPr>
          <p:cNvSpPr txBox="1"/>
          <p:nvPr/>
        </p:nvSpPr>
        <p:spPr>
          <a:xfrm>
            <a:off x="7347010" y="3230616"/>
            <a:ext cx="715179" cy="307777"/>
          </a:xfrm>
          <a:prstGeom prst="rect">
            <a:avLst/>
          </a:prstGeom>
          <a:noFill/>
          <a:ln w="25400">
            <a:solidFill>
              <a:schemeClr val="tx1"/>
            </a:solidFill>
          </a:ln>
        </p:spPr>
        <p:txBody>
          <a:bodyPr wrap="square" rtlCol="0">
            <a:spAutoFit/>
          </a:bodyPr>
          <a:lstStyle/>
          <a:p>
            <a:pPr algn="ctr"/>
            <a:r>
              <a:rPr lang="en-US" sz="1400" dirty="0">
                <a:latin typeface="Arial" panose="020B0604020202020204" pitchFamily="34" charset="0"/>
                <a:cs typeface="Arial" panose="020B0604020202020204" pitchFamily="34" charset="0"/>
              </a:rPr>
              <a:t>Site</a:t>
            </a:r>
          </a:p>
        </p:txBody>
      </p:sp>
      <p:cxnSp>
        <p:nvCxnSpPr>
          <p:cNvPr id="56" name="Conector recto de flecha 4">
            <a:extLst>
              <a:ext uri="{FF2B5EF4-FFF2-40B4-BE49-F238E27FC236}">
                <a16:creationId xmlns:a16="http://schemas.microsoft.com/office/drawing/2014/main" id="{FE1926C2-C700-00C2-EC1C-F05EB907E0A5}"/>
              </a:ext>
            </a:extLst>
          </p:cNvPr>
          <p:cNvCxnSpPr>
            <a:cxnSpLocks/>
          </p:cNvCxnSpPr>
          <p:nvPr/>
        </p:nvCxnSpPr>
        <p:spPr>
          <a:xfrm flipH="1" flipV="1">
            <a:off x="6894103" y="2598304"/>
            <a:ext cx="810496" cy="533671"/>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58" name="Conector recto de flecha 4">
            <a:extLst>
              <a:ext uri="{FF2B5EF4-FFF2-40B4-BE49-F238E27FC236}">
                <a16:creationId xmlns:a16="http://schemas.microsoft.com/office/drawing/2014/main" id="{8ED87415-2AD9-1260-3E0B-874C875FC2C5}"/>
              </a:ext>
            </a:extLst>
          </p:cNvPr>
          <p:cNvCxnSpPr>
            <a:cxnSpLocks/>
          </p:cNvCxnSpPr>
          <p:nvPr/>
        </p:nvCxnSpPr>
        <p:spPr>
          <a:xfrm flipH="1">
            <a:off x="7019956" y="3637034"/>
            <a:ext cx="684643" cy="568794"/>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pic>
        <p:nvPicPr>
          <p:cNvPr id="79" name="Picture 78" descr="Cartoon characters on a graph&#10;&#10;AI-generated content may be incorrect.">
            <a:extLst>
              <a:ext uri="{FF2B5EF4-FFF2-40B4-BE49-F238E27FC236}">
                <a16:creationId xmlns:a16="http://schemas.microsoft.com/office/drawing/2014/main" id="{C3EE7628-E9A9-F13F-B44B-F9FE71F35BA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75155" y="4681511"/>
            <a:ext cx="2016018" cy="1590764"/>
          </a:xfrm>
          <a:prstGeom prst="rect">
            <a:avLst/>
          </a:prstGeom>
        </p:spPr>
      </p:pic>
      <p:grpSp>
        <p:nvGrpSpPr>
          <p:cNvPr id="85" name="Group 84">
            <a:extLst>
              <a:ext uri="{FF2B5EF4-FFF2-40B4-BE49-F238E27FC236}">
                <a16:creationId xmlns:a16="http://schemas.microsoft.com/office/drawing/2014/main" id="{892EF39C-7474-5DE0-260F-2DB5E68A8C60}"/>
              </a:ext>
            </a:extLst>
          </p:cNvPr>
          <p:cNvGrpSpPr/>
          <p:nvPr/>
        </p:nvGrpSpPr>
        <p:grpSpPr>
          <a:xfrm>
            <a:off x="1232211" y="2686951"/>
            <a:ext cx="2231108" cy="1948319"/>
            <a:chOff x="1084106" y="2246336"/>
            <a:chExt cx="3435909" cy="3042932"/>
          </a:xfrm>
        </p:grpSpPr>
        <p:cxnSp>
          <p:nvCxnSpPr>
            <p:cNvPr id="80" name="Straight Connector 79">
              <a:extLst>
                <a:ext uri="{FF2B5EF4-FFF2-40B4-BE49-F238E27FC236}">
                  <a16:creationId xmlns:a16="http://schemas.microsoft.com/office/drawing/2014/main" id="{EE8D705F-54D4-D412-767C-421AA4D4F08D}"/>
                </a:ext>
              </a:extLst>
            </p:cNvPr>
            <p:cNvCxnSpPr>
              <a:cxnSpLocks/>
            </p:cNvCxnSpPr>
            <p:nvPr/>
          </p:nvCxnSpPr>
          <p:spPr>
            <a:xfrm>
              <a:off x="1084106" y="4175696"/>
              <a:ext cx="925415" cy="1113572"/>
            </a:xfrm>
            <a:prstGeom prst="line">
              <a:avLst/>
            </a:prstGeom>
            <a:ln w="2540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81" name="Straight Connector 80">
              <a:extLst>
                <a:ext uri="{FF2B5EF4-FFF2-40B4-BE49-F238E27FC236}">
                  <a16:creationId xmlns:a16="http://schemas.microsoft.com/office/drawing/2014/main" id="{5792580D-CA9C-8646-8711-2D41FC5CEE4A}"/>
                </a:ext>
              </a:extLst>
            </p:cNvPr>
            <p:cNvCxnSpPr>
              <a:cxnSpLocks/>
            </p:cNvCxnSpPr>
            <p:nvPr/>
          </p:nvCxnSpPr>
          <p:spPr>
            <a:xfrm>
              <a:off x="1686993" y="3654762"/>
              <a:ext cx="925415" cy="1113572"/>
            </a:xfrm>
            <a:prstGeom prst="line">
              <a:avLst/>
            </a:prstGeom>
            <a:ln w="25400">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82" name="Straight Connector 81">
              <a:extLst>
                <a:ext uri="{FF2B5EF4-FFF2-40B4-BE49-F238E27FC236}">
                  <a16:creationId xmlns:a16="http://schemas.microsoft.com/office/drawing/2014/main" id="{9F357C27-29DE-746E-9444-7D17244CE686}"/>
                </a:ext>
              </a:extLst>
            </p:cNvPr>
            <p:cNvCxnSpPr>
              <a:cxnSpLocks/>
            </p:cNvCxnSpPr>
            <p:nvPr/>
          </p:nvCxnSpPr>
          <p:spPr>
            <a:xfrm>
              <a:off x="2315385" y="3147819"/>
              <a:ext cx="925415" cy="1113572"/>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5905AA8A-FE93-7477-A01E-36475F09E52C}"/>
                </a:ext>
              </a:extLst>
            </p:cNvPr>
            <p:cNvCxnSpPr>
              <a:cxnSpLocks/>
            </p:cNvCxnSpPr>
            <p:nvPr/>
          </p:nvCxnSpPr>
          <p:spPr>
            <a:xfrm>
              <a:off x="2954796" y="2687227"/>
              <a:ext cx="925415" cy="1113572"/>
            </a:xfrm>
            <a:prstGeom prst="line">
              <a:avLst/>
            </a:prstGeom>
            <a:ln w="2540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8945E4E8-B554-1B7E-076E-7DAF3D3CEB50}"/>
                </a:ext>
              </a:extLst>
            </p:cNvPr>
            <p:cNvCxnSpPr>
              <a:cxnSpLocks/>
            </p:cNvCxnSpPr>
            <p:nvPr/>
          </p:nvCxnSpPr>
          <p:spPr>
            <a:xfrm>
              <a:off x="3594600" y="2246336"/>
              <a:ext cx="925415" cy="1113572"/>
            </a:xfrm>
            <a:prstGeom prst="line">
              <a:avLst/>
            </a:prstGeom>
            <a:ln w="25400">
              <a:solidFill>
                <a:srgbClr val="00B050"/>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1790467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5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5"/>
                                        </p:tgtEl>
                                        <p:attrNameLst>
                                          <p:attrName>style.visibility</p:attrName>
                                        </p:attrNameLst>
                                      </p:cBhvr>
                                      <p:to>
                                        <p:strVal val="visible"/>
                                      </p:to>
                                    </p:set>
                                  </p:childTnLst>
                                </p:cTn>
                              </p:par>
                              <p:par>
                                <p:cTn id="15" presetID="1" presetClass="exit" presetSubtype="0" fill="hold" nodeType="withEffect">
                                  <p:stCondLst>
                                    <p:cond delay="0"/>
                                  </p:stCondLst>
                                  <p:childTnLst>
                                    <p:set>
                                      <p:cBhvr>
                                        <p:cTn id="16" dur="1" fill="hold">
                                          <p:stCondLst>
                                            <p:cond delay="0"/>
                                          </p:stCondLst>
                                        </p:cTn>
                                        <p:tgtEl>
                                          <p:spTgt spid="72"/>
                                        </p:tgtEl>
                                        <p:attrNameLst>
                                          <p:attrName>style.visibility</p:attrName>
                                        </p:attrNameLst>
                                      </p:cBhvr>
                                      <p:to>
                                        <p:strVal val="hidden"/>
                                      </p:to>
                                    </p:set>
                                  </p:childTnLst>
                                </p:cTn>
                              </p:par>
                              <p:par>
                                <p:cTn id="17" presetID="1" presetClass="entr" presetSubtype="0" fill="hold" nodeType="withEffect">
                                  <p:stCondLst>
                                    <p:cond delay="0"/>
                                  </p:stCondLst>
                                  <p:childTnLst>
                                    <p:set>
                                      <p:cBhvr>
                                        <p:cTn id="18" dur="1" fill="hold">
                                          <p:stCondLst>
                                            <p:cond delay="0"/>
                                          </p:stCondLst>
                                        </p:cTn>
                                        <p:tgtEl>
                                          <p:spTgt spid="5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5"/>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7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4AC8EEBD-FF5A-7C5B-1CB6-EB071DBAFDC0}"/>
              </a:ext>
            </a:extLst>
          </p:cNvPr>
          <p:cNvSpPr txBox="1"/>
          <p:nvPr/>
        </p:nvSpPr>
        <p:spPr>
          <a:xfrm>
            <a:off x="490249" y="696418"/>
            <a:ext cx="7970705" cy="461665"/>
          </a:xfrm>
          <a:prstGeom prst="rect">
            <a:avLst/>
          </a:prstGeom>
          <a:noFill/>
        </p:spPr>
        <p:txBody>
          <a:bodyPr wrap="square">
            <a:spAutoFit/>
          </a:bodyPr>
          <a:lstStyle/>
          <a:p>
            <a:r>
              <a:rPr lang="en-US" sz="2400" b="1" dirty="0">
                <a:latin typeface="Arial" panose="020B0604020202020204" pitchFamily="34" charset="0"/>
                <a:cs typeface="Arial" panose="020B0604020202020204" pitchFamily="34" charset="0"/>
              </a:rPr>
              <a:t>But Which Predictors? All? Some? Which?!?!?!?!</a:t>
            </a:r>
          </a:p>
        </p:txBody>
      </p:sp>
      <p:sp>
        <p:nvSpPr>
          <p:cNvPr id="2" name="CuadroTexto 5">
            <a:extLst>
              <a:ext uri="{FF2B5EF4-FFF2-40B4-BE49-F238E27FC236}">
                <a16:creationId xmlns:a16="http://schemas.microsoft.com/office/drawing/2014/main" id="{1BA67739-B104-EBED-1C29-E18BFA5760EC}"/>
              </a:ext>
            </a:extLst>
          </p:cNvPr>
          <p:cNvSpPr txBox="1"/>
          <p:nvPr/>
        </p:nvSpPr>
        <p:spPr>
          <a:xfrm>
            <a:off x="3018951" y="3434986"/>
            <a:ext cx="516423" cy="523220"/>
          </a:xfrm>
          <a:prstGeom prst="rect">
            <a:avLst/>
          </a:prstGeom>
          <a:noFill/>
          <a:ln w="25400">
            <a:solidFill>
              <a:schemeClr val="tx1"/>
            </a:solidFill>
          </a:ln>
        </p:spPr>
        <p:txBody>
          <a:bodyPr wrap="none" rtlCol="0">
            <a:spAutoFit/>
          </a:bodyPr>
          <a:lstStyle/>
          <a:p>
            <a:pPr algn="ctr"/>
            <a:r>
              <a:rPr lang="es-ES" sz="2800" dirty="0">
                <a:latin typeface="Arial" panose="020B0604020202020204" pitchFamily="34" charset="0"/>
                <a:cs typeface="Arial" panose="020B0604020202020204" pitchFamily="34" charset="0"/>
              </a:rPr>
              <a:t>Y </a:t>
            </a:r>
            <a:endParaRPr lang="es-ES" sz="2800" baseline="-25000" dirty="0">
              <a:latin typeface="Arial" panose="020B0604020202020204" pitchFamily="34" charset="0"/>
              <a:cs typeface="Arial" panose="020B0604020202020204" pitchFamily="34" charset="0"/>
            </a:endParaRPr>
          </a:p>
        </p:txBody>
      </p:sp>
      <p:sp>
        <p:nvSpPr>
          <p:cNvPr id="3" name="CuadroTexto 3">
            <a:extLst>
              <a:ext uri="{FF2B5EF4-FFF2-40B4-BE49-F238E27FC236}">
                <a16:creationId xmlns:a16="http://schemas.microsoft.com/office/drawing/2014/main" id="{5401A726-F030-732B-441A-93D1A1CCF8ED}"/>
              </a:ext>
            </a:extLst>
          </p:cNvPr>
          <p:cNvSpPr txBox="1"/>
          <p:nvPr/>
        </p:nvSpPr>
        <p:spPr>
          <a:xfrm>
            <a:off x="1653351" y="3593502"/>
            <a:ext cx="497252" cy="523220"/>
          </a:xfrm>
          <a:prstGeom prst="rect">
            <a:avLst/>
          </a:prstGeom>
          <a:noFill/>
          <a:ln w="25400">
            <a:solidFill>
              <a:schemeClr val="tx1"/>
            </a:solidFill>
          </a:ln>
        </p:spPr>
        <p:txBody>
          <a:bodyPr wrap="none" rtlCol="0">
            <a:spAutoFit/>
          </a:bodyPr>
          <a:lstStyle/>
          <a:p>
            <a:r>
              <a:rPr lang="es-ES" sz="2800" dirty="0">
                <a:latin typeface="Arial" panose="020B0604020202020204" pitchFamily="34" charset="0"/>
                <a:cs typeface="Arial" panose="020B0604020202020204" pitchFamily="34" charset="0"/>
              </a:rPr>
              <a:t>x</a:t>
            </a:r>
            <a:r>
              <a:rPr lang="es-ES" sz="2800" baseline="-25000" dirty="0">
                <a:latin typeface="Arial" panose="020B0604020202020204" pitchFamily="34" charset="0"/>
                <a:cs typeface="Arial" panose="020B0604020202020204" pitchFamily="34" charset="0"/>
              </a:rPr>
              <a:t>7</a:t>
            </a:r>
          </a:p>
        </p:txBody>
      </p:sp>
      <p:sp>
        <p:nvSpPr>
          <p:cNvPr id="4" name="CuadroTexto 3">
            <a:extLst>
              <a:ext uri="{FF2B5EF4-FFF2-40B4-BE49-F238E27FC236}">
                <a16:creationId xmlns:a16="http://schemas.microsoft.com/office/drawing/2014/main" id="{3F58D428-C143-8E28-F1A6-AF2417805DAB}"/>
              </a:ext>
            </a:extLst>
          </p:cNvPr>
          <p:cNvSpPr txBox="1"/>
          <p:nvPr/>
        </p:nvSpPr>
        <p:spPr>
          <a:xfrm>
            <a:off x="4704027" y="3236298"/>
            <a:ext cx="497252" cy="523220"/>
          </a:xfrm>
          <a:prstGeom prst="rect">
            <a:avLst/>
          </a:prstGeom>
          <a:noFill/>
          <a:ln w="25400">
            <a:solidFill>
              <a:schemeClr val="tx1"/>
            </a:solidFill>
          </a:ln>
        </p:spPr>
        <p:txBody>
          <a:bodyPr wrap="none" rtlCol="0">
            <a:spAutoFit/>
          </a:bodyPr>
          <a:lstStyle/>
          <a:p>
            <a:r>
              <a:rPr lang="es-ES" sz="2800" dirty="0">
                <a:latin typeface="Arial" panose="020B0604020202020204" pitchFamily="34" charset="0"/>
                <a:cs typeface="Arial" panose="020B0604020202020204" pitchFamily="34" charset="0"/>
              </a:rPr>
              <a:t>x</a:t>
            </a:r>
            <a:r>
              <a:rPr lang="es-ES" sz="2800" baseline="-25000" dirty="0">
                <a:latin typeface="Arial" panose="020B0604020202020204" pitchFamily="34" charset="0"/>
                <a:cs typeface="Arial" panose="020B0604020202020204" pitchFamily="34" charset="0"/>
              </a:rPr>
              <a:t>2</a:t>
            </a:r>
          </a:p>
        </p:txBody>
      </p:sp>
      <p:sp>
        <p:nvSpPr>
          <p:cNvPr id="6" name="CuadroTexto 3">
            <a:extLst>
              <a:ext uri="{FF2B5EF4-FFF2-40B4-BE49-F238E27FC236}">
                <a16:creationId xmlns:a16="http://schemas.microsoft.com/office/drawing/2014/main" id="{EC284AC8-407D-8E68-13C0-03CC7EB5CAE6}"/>
              </a:ext>
            </a:extLst>
          </p:cNvPr>
          <p:cNvSpPr txBox="1"/>
          <p:nvPr/>
        </p:nvSpPr>
        <p:spPr>
          <a:xfrm>
            <a:off x="3694096" y="4771405"/>
            <a:ext cx="497252" cy="523220"/>
          </a:xfrm>
          <a:prstGeom prst="rect">
            <a:avLst/>
          </a:prstGeom>
          <a:noFill/>
          <a:ln w="25400">
            <a:solidFill>
              <a:schemeClr val="tx1"/>
            </a:solidFill>
          </a:ln>
        </p:spPr>
        <p:txBody>
          <a:bodyPr wrap="none" rtlCol="0">
            <a:spAutoFit/>
          </a:bodyPr>
          <a:lstStyle/>
          <a:p>
            <a:r>
              <a:rPr lang="es-ES" sz="2800" dirty="0">
                <a:latin typeface="Arial" panose="020B0604020202020204" pitchFamily="34" charset="0"/>
                <a:cs typeface="Arial" panose="020B0604020202020204" pitchFamily="34" charset="0"/>
              </a:rPr>
              <a:t>x</a:t>
            </a:r>
            <a:r>
              <a:rPr lang="es-ES" sz="2800" baseline="-25000" dirty="0">
                <a:latin typeface="Arial" panose="020B0604020202020204" pitchFamily="34" charset="0"/>
                <a:cs typeface="Arial" panose="020B0604020202020204" pitchFamily="34" charset="0"/>
              </a:rPr>
              <a:t>6</a:t>
            </a:r>
          </a:p>
        </p:txBody>
      </p:sp>
      <p:sp>
        <p:nvSpPr>
          <p:cNvPr id="8" name="CuadroTexto 3">
            <a:extLst>
              <a:ext uri="{FF2B5EF4-FFF2-40B4-BE49-F238E27FC236}">
                <a16:creationId xmlns:a16="http://schemas.microsoft.com/office/drawing/2014/main" id="{ADC0E803-5399-A316-7496-65ABD60BD7CA}"/>
              </a:ext>
            </a:extLst>
          </p:cNvPr>
          <p:cNvSpPr txBox="1"/>
          <p:nvPr/>
        </p:nvSpPr>
        <p:spPr>
          <a:xfrm>
            <a:off x="4952653" y="4367638"/>
            <a:ext cx="497252" cy="523220"/>
          </a:xfrm>
          <a:prstGeom prst="rect">
            <a:avLst/>
          </a:prstGeom>
          <a:noFill/>
          <a:ln w="25400">
            <a:solidFill>
              <a:schemeClr val="tx1"/>
            </a:solidFill>
          </a:ln>
        </p:spPr>
        <p:txBody>
          <a:bodyPr wrap="none" rtlCol="0">
            <a:spAutoFit/>
          </a:bodyPr>
          <a:lstStyle/>
          <a:p>
            <a:r>
              <a:rPr lang="es-ES" sz="2800" dirty="0">
                <a:latin typeface="Arial" panose="020B0604020202020204" pitchFamily="34" charset="0"/>
                <a:cs typeface="Arial" panose="020B0604020202020204" pitchFamily="34" charset="0"/>
              </a:rPr>
              <a:t>x</a:t>
            </a:r>
            <a:r>
              <a:rPr lang="es-ES" sz="2800" baseline="-25000" dirty="0">
                <a:latin typeface="Arial" panose="020B0604020202020204" pitchFamily="34" charset="0"/>
                <a:cs typeface="Arial" panose="020B0604020202020204" pitchFamily="34" charset="0"/>
              </a:rPr>
              <a:t>4</a:t>
            </a:r>
          </a:p>
        </p:txBody>
      </p:sp>
      <p:sp>
        <p:nvSpPr>
          <p:cNvPr id="9" name="CuadroTexto 3">
            <a:extLst>
              <a:ext uri="{FF2B5EF4-FFF2-40B4-BE49-F238E27FC236}">
                <a16:creationId xmlns:a16="http://schemas.microsoft.com/office/drawing/2014/main" id="{E5100615-8EAF-E401-2855-379B0727D166}"/>
              </a:ext>
            </a:extLst>
          </p:cNvPr>
          <p:cNvSpPr txBox="1"/>
          <p:nvPr/>
        </p:nvSpPr>
        <p:spPr>
          <a:xfrm>
            <a:off x="4475601" y="2114182"/>
            <a:ext cx="497252" cy="523220"/>
          </a:xfrm>
          <a:prstGeom prst="rect">
            <a:avLst/>
          </a:prstGeom>
          <a:noFill/>
          <a:ln w="25400">
            <a:solidFill>
              <a:schemeClr val="tx1"/>
            </a:solidFill>
          </a:ln>
        </p:spPr>
        <p:txBody>
          <a:bodyPr wrap="none" rtlCol="0">
            <a:spAutoFit/>
          </a:bodyPr>
          <a:lstStyle/>
          <a:p>
            <a:r>
              <a:rPr lang="es-ES" sz="2800" dirty="0">
                <a:latin typeface="Arial" panose="020B0604020202020204" pitchFamily="34" charset="0"/>
                <a:cs typeface="Arial" panose="020B0604020202020204" pitchFamily="34" charset="0"/>
              </a:rPr>
              <a:t>x</a:t>
            </a:r>
            <a:r>
              <a:rPr lang="es-ES" sz="2800" baseline="-25000" dirty="0">
                <a:latin typeface="Arial" panose="020B0604020202020204" pitchFamily="34" charset="0"/>
                <a:cs typeface="Arial" panose="020B0604020202020204" pitchFamily="34" charset="0"/>
              </a:rPr>
              <a:t>3</a:t>
            </a:r>
          </a:p>
        </p:txBody>
      </p:sp>
      <p:sp>
        <p:nvSpPr>
          <p:cNvPr id="10" name="CuadroTexto 3">
            <a:extLst>
              <a:ext uri="{FF2B5EF4-FFF2-40B4-BE49-F238E27FC236}">
                <a16:creationId xmlns:a16="http://schemas.microsoft.com/office/drawing/2014/main" id="{83A35A98-048D-9808-199D-9F25F842FE6A}"/>
              </a:ext>
            </a:extLst>
          </p:cNvPr>
          <p:cNvSpPr txBox="1"/>
          <p:nvPr/>
        </p:nvSpPr>
        <p:spPr>
          <a:xfrm>
            <a:off x="1703120" y="2404109"/>
            <a:ext cx="497252" cy="523220"/>
          </a:xfrm>
          <a:prstGeom prst="rect">
            <a:avLst/>
          </a:prstGeom>
          <a:noFill/>
          <a:ln w="25400">
            <a:solidFill>
              <a:schemeClr val="tx1"/>
            </a:solidFill>
          </a:ln>
        </p:spPr>
        <p:txBody>
          <a:bodyPr wrap="none" rtlCol="0">
            <a:spAutoFit/>
          </a:bodyPr>
          <a:lstStyle/>
          <a:p>
            <a:r>
              <a:rPr lang="es-ES" sz="2800" dirty="0">
                <a:latin typeface="Arial" panose="020B0604020202020204" pitchFamily="34" charset="0"/>
                <a:cs typeface="Arial" panose="020B0604020202020204" pitchFamily="34" charset="0"/>
              </a:rPr>
              <a:t>x</a:t>
            </a:r>
            <a:r>
              <a:rPr lang="es-ES" sz="2800" baseline="-25000" dirty="0">
                <a:latin typeface="Arial" panose="020B0604020202020204" pitchFamily="34" charset="0"/>
                <a:cs typeface="Arial" panose="020B0604020202020204" pitchFamily="34" charset="0"/>
              </a:rPr>
              <a:t>1</a:t>
            </a:r>
          </a:p>
        </p:txBody>
      </p:sp>
      <p:sp>
        <p:nvSpPr>
          <p:cNvPr id="11" name="CuadroTexto 3">
            <a:extLst>
              <a:ext uri="{FF2B5EF4-FFF2-40B4-BE49-F238E27FC236}">
                <a16:creationId xmlns:a16="http://schemas.microsoft.com/office/drawing/2014/main" id="{B823B7F4-E2A1-7D07-6BCD-B9F2BC517F0A}"/>
              </a:ext>
            </a:extLst>
          </p:cNvPr>
          <p:cNvSpPr txBox="1"/>
          <p:nvPr/>
        </p:nvSpPr>
        <p:spPr>
          <a:xfrm>
            <a:off x="2277266" y="4771405"/>
            <a:ext cx="497252" cy="523220"/>
          </a:xfrm>
          <a:prstGeom prst="rect">
            <a:avLst/>
          </a:prstGeom>
          <a:noFill/>
          <a:ln w="25400">
            <a:solidFill>
              <a:schemeClr val="tx1"/>
            </a:solidFill>
          </a:ln>
        </p:spPr>
        <p:txBody>
          <a:bodyPr wrap="none" rtlCol="0">
            <a:spAutoFit/>
          </a:bodyPr>
          <a:lstStyle/>
          <a:p>
            <a:r>
              <a:rPr lang="es-ES" sz="2800" dirty="0">
                <a:latin typeface="Arial" panose="020B0604020202020204" pitchFamily="34" charset="0"/>
                <a:cs typeface="Arial" panose="020B0604020202020204" pitchFamily="34" charset="0"/>
              </a:rPr>
              <a:t>x</a:t>
            </a:r>
            <a:r>
              <a:rPr lang="es-ES" sz="2800" baseline="-25000" dirty="0">
                <a:latin typeface="Arial" panose="020B0604020202020204" pitchFamily="34" charset="0"/>
                <a:cs typeface="Arial" panose="020B0604020202020204" pitchFamily="34" charset="0"/>
              </a:rPr>
              <a:t>5</a:t>
            </a:r>
          </a:p>
        </p:txBody>
      </p:sp>
      <p:sp>
        <p:nvSpPr>
          <p:cNvPr id="12" name="CuadroTexto 3">
            <a:extLst>
              <a:ext uri="{FF2B5EF4-FFF2-40B4-BE49-F238E27FC236}">
                <a16:creationId xmlns:a16="http://schemas.microsoft.com/office/drawing/2014/main" id="{463F8FE2-2CE0-3FD0-A5AF-35C6214D9FDE}"/>
              </a:ext>
            </a:extLst>
          </p:cNvPr>
          <p:cNvSpPr txBox="1"/>
          <p:nvPr/>
        </p:nvSpPr>
        <p:spPr>
          <a:xfrm>
            <a:off x="3061562" y="2121657"/>
            <a:ext cx="497252" cy="523220"/>
          </a:xfrm>
          <a:prstGeom prst="rect">
            <a:avLst/>
          </a:prstGeom>
          <a:noFill/>
          <a:ln w="25400">
            <a:solidFill>
              <a:schemeClr val="tx1"/>
            </a:solidFill>
          </a:ln>
        </p:spPr>
        <p:txBody>
          <a:bodyPr wrap="none" rtlCol="0">
            <a:spAutoFit/>
          </a:bodyPr>
          <a:lstStyle/>
          <a:p>
            <a:r>
              <a:rPr lang="es-ES" sz="2800" dirty="0">
                <a:latin typeface="Arial" panose="020B0604020202020204" pitchFamily="34" charset="0"/>
                <a:cs typeface="Arial" panose="020B0604020202020204" pitchFamily="34" charset="0"/>
              </a:rPr>
              <a:t>x</a:t>
            </a:r>
            <a:r>
              <a:rPr lang="es-ES" sz="2800" baseline="-25000" dirty="0">
                <a:latin typeface="Arial" panose="020B0604020202020204" pitchFamily="34" charset="0"/>
                <a:cs typeface="Arial" panose="020B0604020202020204" pitchFamily="34" charset="0"/>
              </a:rPr>
              <a:t>8</a:t>
            </a:r>
          </a:p>
        </p:txBody>
      </p:sp>
    </p:spTree>
    <p:extLst>
      <p:ext uri="{BB962C8B-B14F-4D97-AF65-F5344CB8AC3E}">
        <p14:creationId xmlns:p14="http://schemas.microsoft.com/office/powerpoint/2010/main" val="345644687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57F19E-3AAD-C9A5-3357-DD732D10CD90}"/>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2F796E87-E80F-0E74-153D-A65268505506}"/>
              </a:ext>
            </a:extLst>
          </p:cNvPr>
          <p:cNvSpPr txBox="1"/>
          <p:nvPr/>
        </p:nvSpPr>
        <p:spPr>
          <a:xfrm>
            <a:off x="402254" y="854774"/>
            <a:ext cx="4572000" cy="461665"/>
          </a:xfrm>
          <a:prstGeom prst="rect">
            <a:avLst/>
          </a:prstGeom>
          <a:noFill/>
        </p:spPr>
        <p:txBody>
          <a:bodyPr wrap="square">
            <a:spAutoFit/>
          </a:bodyPr>
          <a:lstStyle/>
          <a:p>
            <a:r>
              <a:rPr lang="en-US" sz="2400" b="1" dirty="0">
                <a:latin typeface="Arial" panose="020B0604020202020204" pitchFamily="34" charset="0"/>
                <a:cs typeface="Arial" panose="020B0604020202020204" pitchFamily="34" charset="0"/>
              </a:rPr>
              <a:t>Why not to use all predictors</a:t>
            </a:r>
          </a:p>
        </p:txBody>
      </p:sp>
      <p:sp>
        <p:nvSpPr>
          <p:cNvPr id="5" name="TextBox 4">
            <a:extLst>
              <a:ext uri="{FF2B5EF4-FFF2-40B4-BE49-F238E27FC236}">
                <a16:creationId xmlns:a16="http://schemas.microsoft.com/office/drawing/2014/main" id="{CEED656C-92BF-688C-C906-32921E629FC0}"/>
              </a:ext>
            </a:extLst>
          </p:cNvPr>
          <p:cNvSpPr txBox="1"/>
          <p:nvPr/>
        </p:nvSpPr>
        <p:spPr>
          <a:xfrm>
            <a:off x="402254" y="1456147"/>
            <a:ext cx="7633036" cy="2189702"/>
          </a:xfrm>
          <a:prstGeom prst="rect">
            <a:avLst/>
          </a:prstGeom>
          <a:noFill/>
        </p:spPr>
        <p:txBody>
          <a:bodyPr wrap="square">
            <a:spAutoFit/>
          </a:bodyPr>
          <a:lstStyle/>
          <a:p>
            <a:pPr>
              <a:lnSpc>
                <a:spcPct val="200000"/>
              </a:lnSpc>
              <a:buNone/>
            </a:pPr>
            <a:r>
              <a:rPr lang="en-SG" sz="2000" dirty="0">
                <a:solidFill>
                  <a:srgbClr val="000000"/>
                </a:solidFill>
                <a:effectLst/>
                <a:latin typeface="Arial" panose="020B0604020202020204" pitchFamily="34" charset="0"/>
                <a:cs typeface="Arial" panose="020B0604020202020204" pitchFamily="34" charset="0"/>
              </a:rPr>
              <a:t>1. Increased SE on all coefficients.</a:t>
            </a:r>
          </a:p>
          <a:p>
            <a:pPr>
              <a:lnSpc>
                <a:spcPct val="200000"/>
              </a:lnSpc>
              <a:buNone/>
            </a:pPr>
            <a:r>
              <a:rPr lang="en-SG" sz="2000" dirty="0">
                <a:solidFill>
                  <a:srgbClr val="000000"/>
                </a:solidFill>
                <a:effectLst/>
                <a:latin typeface="Arial" panose="020B0604020202020204" pitchFamily="34" charset="0"/>
                <a:cs typeface="Arial" panose="020B0604020202020204" pitchFamily="34" charset="0"/>
              </a:rPr>
              <a:t>2. Spurious correlations might give false signals.</a:t>
            </a:r>
          </a:p>
          <a:p>
            <a:pPr>
              <a:lnSpc>
                <a:spcPct val="150000"/>
              </a:lnSpc>
              <a:buNone/>
            </a:pPr>
            <a:r>
              <a:rPr lang="en-SG" sz="2000" dirty="0">
                <a:solidFill>
                  <a:srgbClr val="000000"/>
                </a:solidFill>
                <a:effectLst/>
                <a:latin typeface="Arial" panose="020B0604020202020204" pitchFamily="34" charset="0"/>
                <a:cs typeface="Arial" panose="020B0604020202020204" pitchFamily="34" charset="0"/>
              </a:rPr>
              <a:t>3. Including variables that can obfuscate the signal of causation due to causal graph structure.</a:t>
            </a:r>
          </a:p>
        </p:txBody>
      </p:sp>
    </p:spTree>
    <p:extLst>
      <p:ext uri="{BB962C8B-B14F-4D97-AF65-F5344CB8AC3E}">
        <p14:creationId xmlns:p14="http://schemas.microsoft.com/office/powerpoint/2010/main" val="83943381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TextBox 28">
            <a:extLst>
              <a:ext uri="{FF2B5EF4-FFF2-40B4-BE49-F238E27FC236}">
                <a16:creationId xmlns:a16="http://schemas.microsoft.com/office/drawing/2014/main" id="{84E2AC79-AA8C-3750-F826-38FAAA6BDF6F}"/>
              </a:ext>
            </a:extLst>
          </p:cNvPr>
          <p:cNvSpPr txBox="1"/>
          <p:nvPr/>
        </p:nvSpPr>
        <p:spPr>
          <a:xfrm>
            <a:off x="-1" y="412514"/>
            <a:ext cx="9143999" cy="461665"/>
          </a:xfrm>
          <a:prstGeom prst="rect">
            <a:avLst/>
          </a:prstGeom>
          <a:noFill/>
        </p:spPr>
        <p:txBody>
          <a:bodyPr wrap="square">
            <a:spAutoFit/>
          </a:bodyPr>
          <a:lstStyle/>
          <a:p>
            <a:pPr algn="ctr"/>
            <a:r>
              <a:rPr lang="en-US" sz="2400" b="1" dirty="0">
                <a:latin typeface="Arial" panose="020B0604020202020204" pitchFamily="34" charset="0"/>
                <a:cs typeface="Arial" panose="020B0604020202020204" pitchFamily="34" charset="0"/>
              </a:rPr>
              <a:t>Causal Design</a:t>
            </a:r>
          </a:p>
        </p:txBody>
      </p:sp>
      <p:pic>
        <p:nvPicPr>
          <p:cNvPr id="31" name="Picture 30">
            <a:extLst>
              <a:ext uri="{FF2B5EF4-FFF2-40B4-BE49-F238E27FC236}">
                <a16:creationId xmlns:a16="http://schemas.microsoft.com/office/drawing/2014/main" id="{77840B2C-7E4F-2B27-5E34-B35EAAF7891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172151"/>
            <a:ext cx="9150673" cy="5143984"/>
          </a:xfrm>
          <a:prstGeom prst="rect">
            <a:avLst/>
          </a:prstGeom>
        </p:spPr>
      </p:pic>
    </p:spTree>
    <p:extLst>
      <p:ext uri="{BB962C8B-B14F-4D97-AF65-F5344CB8AC3E}">
        <p14:creationId xmlns:p14="http://schemas.microsoft.com/office/powerpoint/2010/main" val="207605128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3ECDC52B-DF23-0CDD-64F8-7AA21EA10F4C}"/>
              </a:ext>
            </a:extLst>
          </p:cNvPr>
          <p:cNvSpPr txBox="1"/>
          <p:nvPr/>
        </p:nvSpPr>
        <p:spPr>
          <a:xfrm>
            <a:off x="430306" y="186397"/>
            <a:ext cx="7288306" cy="577850"/>
          </a:xfrm>
          <a:prstGeom prst="rect">
            <a:avLst/>
          </a:prstGeom>
          <a:noFill/>
        </p:spPr>
        <p:txBody>
          <a:bodyPr wrap="square">
            <a:spAutoFit/>
          </a:bodyPr>
          <a:lstStyle/>
          <a:p>
            <a:pPr>
              <a:lnSpc>
                <a:spcPct val="150000"/>
              </a:lnSpc>
            </a:pPr>
            <a:r>
              <a:rPr lang="en-US" sz="2400" b="1" dirty="0">
                <a:latin typeface="Arial" panose="020B0604020202020204" pitchFamily="34" charset="0"/>
                <a:cs typeface="Arial" panose="020B0604020202020204" pitchFamily="34" charset="0"/>
              </a:rPr>
              <a:t>Causal Design</a:t>
            </a:r>
          </a:p>
        </p:txBody>
      </p:sp>
      <p:sp>
        <p:nvSpPr>
          <p:cNvPr id="7" name="TextBox 6">
            <a:extLst>
              <a:ext uri="{FF2B5EF4-FFF2-40B4-BE49-F238E27FC236}">
                <a16:creationId xmlns:a16="http://schemas.microsoft.com/office/drawing/2014/main" id="{357C6423-2822-8A2A-8A31-7B99E165676C}"/>
              </a:ext>
            </a:extLst>
          </p:cNvPr>
          <p:cNvSpPr txBox="1"/>
          <p:nvPr/>
        </p:nvSpPr>
        <p:spPr>
          <a:xfrm>
            <a:off x="430306" y="1331270"/>
            <a:ext cx="7942730" cy="2533963"/>
          </a:xfrm>
          <a:prstGeom prst="rect">
            <a:avLst/>
          </a:prstGeom>
          <a:noFill/>
        </p:spPr>
        <p:txBody>
          <a:bodyPr wrap="square">
            <a:spAutoFit/>
          </a:bodyPr>
          <a:lstStyle/>
          <a:p>
            <a:pPr>
              <a:lnSpc>
                <a:spcPct val="150000"/>
              </a:lnSpc>
            </a:pPr>
            <a:r>
              <a:rPr lang="en-US" sz="1800" b="1" dirty="0">
                <a:latin typeface="Arial" panose="020B0604020202020204" pitchFamily="34" charset="0"/>
                <a:cs typeface="Arial" panose="020B0604020202020204" pitchFamily="34" charset="0"/>
              </a:rPr>
              <a:t>Step 1: </a:t>
            </a:r>
            <a:r>
              <a:rPr lang="en-US" sz="1800" dirty="0">
                <a:latin typeface="Arial" panose="020B0604020202020204" pitchFamily="34" charset="0"/>
                <a:cs typeface="Arial" panose="020B0604020202020204" pitchFamily="34" charset="0"/>
              </a:rPr>
              <a:t>Make a causal model</a:t>
            </a:r>
          </a:p>
          <a:p>
            <a:pPr marL="285750" indent="-285750">
              <a:buFont typeface="Arial" panose="020B0604020202020204" pitchFamily="34" charset="0"/>
              <a:buChar char="•"/>
            </a:pPr>
            <a:r>
              <a:rPr lang="en-US" dirty="0"/>
              <a:t>In simplest case, can represent these functions with arrows that connect variables (</a:t>
            </a:r>
            <a:r>
              <a:rPr lang="en-US" b="1" dirty="0"/>
              <a:t>DAG</a:t>
            </a:r>
            <a:r>
              <a:rPr lang="en-US" dirty="0"/>
              <a:t>: Directed Acyclic Graphs).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There is no method for making causal models other than science. There is no method to science other than honest anarchy.</a:t>
            </a:r>
          </a:p>
          <a:p>
            <a:pPr marL="285750" indent="-285750">
              <a:buFont typeface="Arial" panose="020B0604020202020204" pitchFamily="34" charset="0"/>
              <a:buChar char="•"/>
            </a:pPr>
            <a:endParaRPr lang="en-US" sz="1800" dirty="0">
              <a:latin typeface="Arial" panose="020B0604020202020204" pitchFamily="34" charset="0"/>
              <a:cs typeface="Arial" panose="020B0604020202020204" pitchFamily="34" charset="0"/>
            </a:endParaRPr>
          </a:p>
          <a:p>
            <a:pPr>
              <a:lnSpc>
                <a:spcPct val="150000"/>
              </a:lnSpc>
            </a:pPr>
            <a:r>
              <a:rPr lang="en-US" sz="1800" b="1" dirty="0">
                <a:latin typeface="Arial" panose="020B0604020202020204" pitchFamily="34" charset="0"/>
                <a:cs typeface="Arial" panose="020B0604020202020204" pitchFamily="34" charset="0"/>
              </a:rPr>
              <a:t>Step 2: </a:t>
            </a:r>
            <a:r>
              <a:rPr lang="en-US" sz="1800" dirty="0">
                <a:latin typeface="Arial" panose="020B0604020202020204" pitchFamily="34" charset="0"/>
                <a:cs typeface="Arial" panose="020B0604020202020204" pitchFamily="34" charset="0"/>
              </a:rPr>
              <a:t>Use the model to design data collection and statistical procedures.</a:t>
            </a:r>
          </a:p>
        </p:txBody>
      </p:sp>
      <p:sp>
        <p:nvSpPr>
          <p:cNvPr id="18" name="TextBox 17">
            <a:extLst>
              <a:ext uri="{FF2B5EF4-FFF2-40B4-BE49-F238E27FC236}">
                <a16:creationId xmlns:a16="http://schemas.microsoft.com/office/drawing/2014/main" id="{E527DDAD-D92F-B8D9-D8FD-DE142D669BD3}"/>
              </a:ext>
            </a:extLst>
          </p:cNvPr>
          <p:cNvSpPr txBox="1"/>
          <p:nvPr/>
        </p:nvSpPr>
        <p:spPr>
          <a:xfrm>
            <a:off x="430306" y="753420"/>
            <a:ext cx="7879976" cy="456472"/>
          </a:xfrm>
          <a:prstGeom prst="rect">
            <a:avLst/>
          </a:prstGeom>
          <a:noFill/>
        </p:spPr>
        <p:txBody>
          <a:bodyPr wrap="square">
            <a:spAutoFit/>
          </a:bodyPr>
          <a:lstStyle/>
          <a:p>
            <a:pPr>
              <a:lnSpc>
                <a:spcPct val="150000"/>
              </a:lnSpc>
            </a:pPr>
            <a:r>
              <a:rPr lang="en-US" sz="1800" dirty="0">
                <a:latin typeface="Arial" panose="020B0604020202020204" pitchFamily="34" charset="0"/>
                <a:cs typeface="Arial" panose="020B0604020202020204" pitchFamily="34" charset="0"/>
              </a:rPr>
              <a:t>• Causal inference requires a model outside of the statistical model.</a:t>
            </a:r>
          </a:p>
        </p:txBody>
      </p:sp>
      <p:pic>
        <p:nvPicPr>
          <p:cNvPr id="20" name="Picture 19">
            <a:extLst>
              <a:ext uri="{FF2B5EF4-FFF2-40B4-BE49-F238E27FC236}">
                <a16:creationId xmlns:a16="http://schemas.microsoft.com/office/drawing/2014/main" id="{300AB18F-142F-0799-E2AA-0FE477FDBA8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37765" y="3986611"/>
            <a:ext cx="3130609" cy="2347957"/>
          </a:xfrm>
          <a:prstGeom prst="rect">
            <a:avLst/>
          </a:prstGeom>
        </p:spPr>
      </p:pic>
      <p:sp>
        <p:nvSpPr>
          <p:cNvPr id="22" name="TextBox 21">
            <a:extLst>
              <a:ext uri="{FF2B5EF4-FFF2-40B4-BE49-F238E27FC236}">
                <a16:creationId xmlns:a16="http://schemas.microsoft.com/office/drawing/2014/main" id="{785BBD5D-AF5C-92CE-DF4B-8B66124D8875}"/>
              </a:ext>
            </a:extLst>
          </p:cNvPr>
          <p:cNvSpPr txBox="1"/>
          <p:nvPr/>
        </p:nvSpPr>
        <p:spPr>
          <a:xfrm>
            <a:off x="5271248" y="4575813"/>
            <a:ext cx="2850776" cy="1169551"/>
          </a:xfrm>
          <a:prstGeom prst="rect">
            <a:avLst/>
          </a:prstGeom>
          <a:noFill/>
        </p:spPr>
        <p:txBody>
          <a:bodyPr wrap="square">
            <a:spAutoFit/>
          </a:bodyPr>
          <a:lstStyle/>
          <a:p>
            <a:r>
              <a:rPr lang="en-US" sz="1400" b="1" dirty="0">
                <a:latin typeface="Arial" panose="020B0604020202020204" pitchFamily="34" charset="0"/>
                <a:cs typeface="Arial" panose="020B0604020202020204" pitchFamily="34" charset="0"/>
              </a:rPr>
              <a:t>Modern NHST</a:t>
            </a:r>
            <a:r>
              <a:rPr lang="en-US" sz="1400" dirty="0">
                <a:latin typeface="Arial" panose="020B0604020202020204" pitchFamily="34" charset="0"/>
                <a:cs typeface="Arial" panose="020B0604020202020204" pitchFamily="34" charset="0"/>
              </a:rPr>
              <a:t>: Fisher's p-values, Neyman–Pearson's decision rules, and a lot of confusion about what statistical significance actually means.</a:t>
            </a:r>
          </a:p>
        </p:txBody>
      </p:sp>
    </p:spTree>
    <p:extLst>
      <p:ext uri="{BB962C8B-B14F-4D97-AF65-F5344CB8AC3E}">
        <p14:creationId xmlns:p14="http://schemas.microsoft.com/office/powerpoint/2010/main" val="3244271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90321B9-890A-642A-EEB5-C799E01B8A03}"/>
              </a:ext>
            </a:extLst>
          </p:cNvPr>
          <p:cNvSpPr txBox="1"/>
          <p:nvPr/>
        </p:nvSpPr>
        <p:spPr>
          <a:xfrm>
            <a:off x="368770" y="315549"/>
            <a:ext cx="8656697" cy="461665"/>
          </a:xfrm>
          <a:prstGeom prst="rect">
            <a:avLst/>
          </a:prstGeom>
          <a:noFill/>
        </p:spPr>
        <p:txBody>
          <a:bodyPr wrap="square">
            <a:spAutoFit/>
          </a:bodyPr>
          <a:lstStyle/>
          <a:p>
            <a:r>
              <a:rPr lang="en-US" sz="2400" b="1" dirty="0">
                <a:latin typeface="Arial" panose="020B0604020202020204" pitchFamily="34" charset="0"/>
                <a:cs typeface="Arial" panose="020B0604020202020204" pitchFamily="34" charset="0"/>
              </a:rPr>
              <a:t>Elemental paths in causal graphs (and Why to use SEM)</a:t>
            </a:r>
          </a:p>
        </p:txBody>
      </p:sp>
      <p:grpSp>
        <p:nvGrpSpPr>
          <p:cNvPr id="9" name="Group 8">
            <a:extLst>
              <a:ext uri="{FF2B5EF4-FFF2-40B4-BE49-F238E27FC236}">
                <a16:creationId xmlns:a16="http://schemas.microsoft.com/office/drawing/2014/main" id="{E1856B47-E413-AB72-010D-D525C396B19C}"/>
              </a:ext>
            </a:extLst>
          </p:cNvPr>
          <p:cNvGrpSpPr/>
          <p:nvPr/>
        </p:nvGrpSpPr>
        <p:grpSpPr>
          <a:xfrm>
            <a:off x="971491" y="1049865"/>
            <a:ext cx="6919443" cy="4924993"/>
            <a:chOff x="455024" y="937854"/>
            <a:chExt cx="7733628" cy="5231739"/>
          </a:xfrm>
        </p:grpSpPr>
        <p:sp>
          <p:nvSpPr>
            <p:cNvPr id="3" name="TextBox 2">
              <a:extLst>
                <a:ext uri="{FF2B5EF4-FFF2-40B4-BE49-F238E27FC236}">
                  <a16:creationId xmlns:a16="http://schemas.microsoft.com/office/drawing/2014/main" id="{9997A918-55D5-C54B-591F-A04603B32511}"/>
                </a:ext>
              </a:extLst>
            </p:cNvPr>
            <p:cNvSpPr txBox="1"/>
            <p:nvPr/>
          </p:nvSpPr>
          <p:spPr>
            <a:xfrm>
              <a:off x="1028808" y="1369943"/>
              <a:ext cx="2345125" cy="392335"/>
            </a:xfrm>
            <a:prstGeom prst="rect">
              <a:avLst/>
            </a:prstGeom>
            <a:noFill/>
          </p:spPr>
          <p:txBody>
            <a:bodyPr wrap="square">
              <a:spAutoFit/>
            </a:bodyPr>
            <a:lstStyle/>
            <a:p>
              <a:r>
                <a:rPr lang="en-SG" b="1" dirty="0">
                  <a:solidFill>
                    <a:srgbClr val="000000"/>
                  </a:solidFill>
                  <a:effectLst/>
                  <a:latin typeface="Arial" panose="020B0604020202020204" pitchFamily="34" charset="0"/>
                  <a:cs typeface="Arial" panose="020B0604020202020204" pitchFamily="34" charset="0"/>
                </a:rPr>
                <a:t>1. The </a:t>
              </a:r>
              <a:r>
                <a:rPr lang="en-SG" b="1" dirty="0">
                  <a:solidFill>
                    <a:srgbClr val="000000"/>
                  </a:solidFill>
                  <a:latin typeface="Arial" panose="020B0604020202020204" pitchFamily="34" charset="0"/>
                  <a:cs typeface="Arial" panose="020B0604020202020204" pitchFamily="34" charset="0"/>
                </a:rPr>
                <a:t>Chain/Pipe </a:t>
              </a:r>
              <a:endParaRPr lang="en-SG" b="1" dirty="0">
                <a:solidFill>
                  <a:srgbClr val="000000"/>
                </a:solidFill>
                <a:effectLst/>
                <a:latin typeface="Arial" panose="020B0604020202020204" pitchFamily="34" charset="0"/>
                <a:cs typeface="Arial" panose="020B0604020202020204" pitchFamily="34" charset="0"/>
              </a:endParaRPr>
            </a:p>
          </p:txBody>
        </p:sp>
        <p:sp>
          <p:nvSpPr>
            <p:cNvPr id="4" name="CuadroTexto 3">
              <a:extLst>
                <a:ext uri="{FF2B5EF4-FFF2-40B4-BE49-F238E27FC236}">
                  <a16:creationId xmlns:a16="http://schemas.microsoft.com/office/drawing/2014/main" id="{61F434E8-8EBA-8644-C2FE-3E22A9CC5274}"/>
                </a:ext>
              </a:extLst>
            </p:cNvPr>
            <p:cNvSpPr txBox="1"/>
            <p:nvPr/>
          </p:nvSpPr>
          <p:spPr>
            <a:xfrm>
              <a:off x="560410" y="2121657"/>
              <a:ext cx="497252" cy="523220"/>
            </a:xfrm>
            <a:prstGeom prst="rect">
              <a:avLst/>
            </a:prstGeom>
            <a:noFill/>
            <a:ln w="25400">
              <a:solidFill>
                <a:schemeClr val="tx1"/>
              </a:solidFill>
            </a:ln>
          </p:spPr>
          <p:txBody>
            <a:bodyPr wrap="none" rtlCol="0">
              <a:spAutoFit/>
            </a:bodyPr>
            <a:lstStyle/>
            <a:p>
              <a:r>
                <a:rPr lang="es-ES" sz="2800" dirty="0">
                  <a:latin typeface="Arial" panose="020B0604020202020204" pitchFamily="34" charset="0"/>
                  <a:cs typeface="Arial" panose="020B0604020202020204" pitchFamily="34" charset="0"/>
                </a:rPr>
                <a:t>x</a:t>
              </a:r>
              <a:r>
                <a:rPr lang="es-ES" sz="2800" baseline="-25000" dirty="0">
                  <a:latin typeface="Arial" panose="020B0604020202020204" pitchFamily="34" charset="0"/>
                  <a:cs typeface="Arial" panose="020B0604020202020204" pitchFamily="34" charset="0"/>
                </a:rPr>
                <a:t>1</a:t>
              </a:r>
            </a:p>
          </p:txBody>
        </p:sp>
        <p:cxnSp>
          <p:nvCxnSpPr>
            <p:cNvPr id="6" name="Conector recto de flecha 4">
              <a:extLst>
                <a:ext uri="{FF2B5EF4-FFF2-40B4-BE49-F238E27FC236}">
                  <a16:creationId xmlns:a16="http://schemas.microsoft.com/office/drawing/2014/main" id="{C56B43BE-71DA-443E-C21D-9D55763EF46E}"/>
                </a:ext>
              </a:extLst>
            </p:cNvPr>
            <p:cNvCxnSpPr>
              <a:cxnSpLocks/>
              <a:stCxn id="4" idx="3"/>
            </p:cNvCxnSpPr>
            <p:nvPr/>
          </p:nvCxnSpPr>
          <p:spPr>
            <a:xfrm>
              <a:off x="1057662" y="2383268"/>
              <a:ext cx="657711" cy="11876"/>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7" name="CuadroTexto 5">
              <a:extLst>
                <a:ext uri="{FF2B5EF4-FFF2-40B4-BE49-F238E27FC236}">
                  <a16:creationId xmlns:a16="http://schemas.microsoft.com/office/drawing/2014/main" id="{B63CC289-3D2B-D24F-6126-25FA7321AA37}"/>
                </a:ext>
              </a:extLst>
            </p:cNvPr>
            <p:cNvSpPr txBox="1"/>
            <p:nvPr/>
          </p:nvSpPr>
          <p:spPr>
            <a:xfrm>
              <a:off x="2857510" y="2121657"/>
              <a:ext cx="516423" cy="523220"/>
            </a:xfrm>
            <a:prstGeom prst="rect">
              <a:avLst/>
            </a:prstGeom>
            <a:noFill/>
            <a:ln w="25400">
              <a:solidFill>
                <a:schemeClr val="tx1"/>
              </a:solidFill>
            </a:ln>
          </p:spPr>
          <p:txBody>
            <a:bodyPr wrap="none" rtlCol="0">
              <a:spAutoFit/>
            </a:bodyPr>
            <a:lstStyle/>
            <a:p>
              <a:r>
                <a:rPr lang="es-ES" sz="2800" dirty="0">
                  <a:latin typeface="Arial" panose="020B0604020202020204" pitchFamily="34" charset="0"/>
                  <a:cs typeface="Arial" panose="020B0604020202020204" pitchFamily="34" charset="0"/>
                </a:rPr>
                <a:t>Y </a:t>
              </a:r>
              <a:endParaRPr lang="es-ES" sz="2800" baseline="-25000" dirty="0">
                <a:latin typeface="Arial" panose="020B0604020202020204" pitchFamily="34" charset="0"/>
                <a:cs typeface="Arial" panose="020B0604020202020204" pitchFamily="34" charset="0"/>
              </a:endParaRPr>
            </a:p>
          </p:txBody>
        </p:sp>
        <p:sp>
          <p:nvSpPr>
            <p:cNvPr id="8" name="CuadroTexto 6">
              <a:extLst>
                <a:ext uri="{FF2B5EF4-FFF2-40B4-BE49-F238E27FC236}">
                  <a16:creationId xmlns:a16="http://schemas.microsoft.com/office/drawing/2014/main" id="{918D99A3-2FEF-2DEC-0789-99FA30592F53}"/>
                </a:ext>
              </a:extLst>
            </p:cNvPr>
            <p:cNvSpPr txBox="1"/>
            <p:nvPr/>
          </p:nvSpPr>
          <p:spPr>
            <a:xfrm>
              <a:off x="1715372" y="2121657"/>
              <a:ext cx="497252" cy="523220"/>
            </a:xfrm>
            <a:prstGeom prst="rect">
              <a:avLst/>
            </a:prstGeom>
            <a:noFill/>
            <a:ln w="25400">
              <a:solidFill>
                <a:schemeClr val="tx1"/>
              </a:solidFill>
            </a:ln>
          </p:spPr>
          <p:txBody>
            <a:bodyPr wrap="none" rtlCol="0">
              <a:spAutoFit/>
            </a:bodyPr>
            <a:lstStyle/>
            <a:p>
              <a:r>
                <a:rPr lang="es-ES" sz="2800" dirty="0">
                  <a:latin typeface="Arial" panose="020B0604020202020204" pitchFamily="34" charset="0"/>
                  <a:cs typeface="Arial" panose="020B0604020202020204" pitchFamily="34" charset="0"/>
                </a:rPr>
                <a:t>x</a:t>
              </a:r>
              <a:r>
                <a:rPr lang="es-ES" sz="2800" baseline="-25000" dirty="0">
                  <a:latin typeface="Arial" panose="020B0604020202020204" pitchFamily="34" charset="0"/>
                  <a:cs typeface="Arial" panose="020B0604020202020204" pitchFamily="34" charset="0"/>
                </a:rPr>
                <a:t>2</a:t>
              </a:r>
            </a:p>
          </p:txBody>
        </p:sp>
        <p:cxnSp>
          <p:nvCxnSpPr>
            <p:cNvPr id="11" name="Conector recto de flecha 4">
              <a:extLst>
                <a:ext uri="{FF2B5EF4-FFF2-40B4-BE49-F238E27FC236}">
                  <a16:creationId xmlns:a16="http://schemas.microsoft.com/office/drawing/2014/main" id="{CC725360-C4A5-0E41-E0E1-9690B5A92609}"/>
                </a:ext>
              </a:extLst>
            </p:cNvPr>
            <p:cNvCxnSpPr>
              <a:cxnSpLocks/>
              <a:stCxn id="8" idx="3"/>
            </p:cNvCxnSpPr>
            <p:nvPr/>
          </p:nvCxnSpPr>
          <p:spPr>
            <a:xfrm>
              <a:off x="2212624" y="2383267"/>
              <a:ext cx="651298" cy="0"/>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B8149AF7-2821-1979-F566-2B4CCEC0A5C9}"/>
                </a:ext>
              </a:extLst>
            </p:cNvPr>
            <p:cNvSpPr txBox="1"/>
            <p:nvPr/>
          </p:nvSpPr>
          <p:spPr>
            <a:xfrm>
              <a:off x="5992077" y="937854"/>
              <a:ext cx="2101946" cy="392335"/>
            </a:xfrm>
            <a:prstGeom prst="rect">
              <a:avLst/>
            </a:prstGeom>
            <a:noFill/>
          </p:spPr>
          <p:txBody>
            <a:bodyPr wrap="square">
              <a:spAutoFit/>
            </a:bodyPr>
            <a:lstStyle/>
            <a:p>
              <a:r>
                <a:rPr lang="en-SG" b="1" dirty="0">
                  <a:solidFill>
                    <a:srgbClr val="000000"/>
                  </a:solidFill>
                  <a:latin typeface="Arial" panose="020B0604020202020204" pitchFamily="34" charset="0"/>
                  <a:cs typeface="Arial" panose="020B0604020202020204" pitchFamily="34" charset="0"/>
                </a:rPr>
                <a:t>3</a:t>
              </a:r>
              <a:r>
                <a:rPr lang="en-SG" b="1" dirty="0">
                  <a:solidFill>
                    <a:srgbClr val="000000"/>
                  </a:solidFill>
                  <a:effectLst/>
                  <a:latin typeface="Arial" panose="020B0604020202020204" pitchFamily="34" charset="0"/>
                  <a:cs typeface="Arial" panose="020B0604020202020204" pitchFamily="34" charset="0"/>
                </a:rPr>
                <a:t>. The Collider</a:t>
              </a:r>
            </a:p>
          </p:txBody>
        </p:sp>
        <p:sp>
          <p:nvSpPr>
            <p:cNvPr id="13" name="TextBox 12">
              <a:extLst>
                <a:ext uri="{FF2B5EF4-FFF2-40B4-BE49-F238E27FC236}">
                  <a16:creationId xmlns:a16="http://schemas.microsoft.com/office/drawing/2014/main" id="{DB4B8DB8-589A-9C27-D268-4C8BEBDCF22C}"/>
                </a:ext>
              </a:extLst>
            </p:cNvPr>
            <p:cNvSpPr txBox="1"/>
            <p:nvPr/>
          </p:nvSpPr>
          <p:spPr>
            <a:xfrm>
              <a:off x="5743472" y="3461657"/>
              <a:ext cx="2246457" cy="392335"/>
            </a:xfrm>
            <a:prstGeom prst="rect">
              <a:avLst/>
            </a:prstGeom>
            <a:noFill/>
          </p:spPr>
          <p:txBody>
            <a:bodyPr wrap="square">
              <a:spAutoFit/>
            </a:bodyPr>
            <a:lstStyle/>
            <a:p>
              <a:r>
                <a:rPr lang="en-SG" b="1" dirty="0">
                  <a:solidFill>
                    <a:srgbClr val="000000"/>
                  </a:solidFill>
                  <a:effectLst/>
                  <a:latin typeface="Arial" panose="020B0604020202020204" pitchFamily="34" charset="0"/>
                  <a:cs typeface="Arial" panose="020B0604020202020204" pitchFamily="34" charset="0"/>
                </a:rPr>
                <a:t>4. The Fork</a:t>
              </a:r>
            </a:p>
          </p:txBody>
        </p:sp>
        <p:sp>
          <p:nvSpPr>
            <p:cNvPr id="14" name="TextBox 13">
              <a:extLst>
                <a:ext uri="{FF2B5EF4-FFF2-40B4-BE49-F238E27FC236}">
                  <a16:creationId xmlns:a16="http://schemas.microsoft.com/office/drawing/2014/main" id="{F8B7F03A-5876-2994-DADF-8A71E029F659}"/>
                </a:ext>
              </a:extLst>
            </p:cNvPr>
            <p:cNvSpPr txBox="1"/>
            <p:nvPr/>
          </p:nvSpPr>
          <p:spPr>
            <a:xfrm>
              <a:off x="808569" y="3830335"/>
              <a:ext cx="2800036" cy="392335"/>
            </a:xfrm>
            <a:prstGeom prst="rect">
              <a:avLst/>
            </a:prstGeom>
            <a:noFill/>
          </p:spPr>
          <p:txBody>
            <a:bodyPr wrap="square">
              <a:spAutoFit/>
            </a:bodyPr>
            <a:lstStyle/>
            <a:p>
              <a:r>
                <a:rPr lang="en-SG" b="1" dirty="0">
                  <a:solidFill>
                    <a:srgbClr val="000000"/>
                  </a:solidFill>
                  <a:effectLst/>
                  <a:latin typeface="Arial" panose="020B0604020202020204" pitchFamily="34" charset="0"/>
                  <a:cs typeface="Arial" panose="020B0604020202020204" pitchFamily="34" charset="0"/>
                </a:rPr>
                <a:t>2. The Descendant</a:t>
              </a:r>
            </a:p>
          </p:txBody>
        </p:sp>
        <p:sp>
          <p:nvSpPr>
            <p:cNvPr id="15" name="CuadroTexto 3">
              <a:extLst>
                <a:ext uri="{FF2B5EF4-FFF2-40B4-BE49-F238E27FC236}">
                  <a16:creationId xmlns:a16="http://schemas.microsoft.com/office/drawing/2014/main" id="{B006AC4C-7FA6-7A85-5CD4-060BDAAC0183}"/>
                </a:ext>
              </a:extLst>
            </p:cNvPr>
            <p:cNvSpPr txBox="1"/>
            <p:nvPr/>
          </p:nvSpPr>
          <p:spPr>
            <a:xfrm>
              <a:off x="5431971" y="1511100"/>
              <a:ext cx="560106" cy="523220"/>
            </a:xfrm>
            <a:prstGeom prst="rect">
              <a:avLst/>
            </a:prstGeom>
            <a:noFill/>
            <a:ln w="25400">
              <a:solidFill>
                <a:schemeClr val="tx1"/>
              </a:solidFill>
            </a:ln>
          </p:spPr>
          <p:txBody>
            <a:bodyPr wrap="square" rtlCol="0">
              <a:spAutoFit/>
            </a:bodyPr>
            <a:lstStyle/>
            <a:p>
              <a:r>
                <a:rPr lang="es-ES" sz="2800" dirty="0">
                  <a:latin typeface="Arial" panose="020B0604020202020204" pitchFamily="34" charset="0"/>
                  <a:cs typeface="Arial" panose="020B0604020202020204" pitchFamily="34" charset="0"/>
                </a:rPr>
                <a:t>x</a:t>
              </a:r>
              <a:r>
                <a:rPr lang="es-ES" sz="2800" baseline="-25000" dirty="0">
                  <a:latin typeface="Arial" panose="020B0604020202020204" pitchFamily="34" charset="0"/>
                  <a:cs typeface="Arial" panose="020B0604020202020204" pitchFamily="34" charset="0"/>
                </a:rPr>
                <a:t>1</a:t>
              </a:r>
            </a:p>
          </p:txBody>
        </p:sp>
        <p:cxnSp>
          <p:nvCxnSpPr>
            <p:cNvPr id="16" name="Conector recto de flecha 4">
              <a:extLst>
                <a:ext uri="{FF2B5EF4-FFF2-40B4-BE49-F238E27FC236}">
                  <a16:creationId xmlns:a16="http://schemas.microsoft.com/office/drawing/2014/main" id="{2EBF2E12-E308-FD9C-B067-390218912B91}"/>
                </a:ext>
              </a:extLst>
            </p:cNvPr>
            <p:cNvCxnSpPr>
              <a:cxnSpLocks/>
            </p:cNvCxnSpPr>
            <p:nvPr/>
          </p:nvCxnSpPr>
          <p:spPr>
            <a:xfrm>
              <a:off x="5996018" y="2032918"/>
              <a:ext cx="455723" cy="490562"/>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17" name="CuadroTexto 5">
              <a:extLst>
                <a:ext uri="{FF2B5EF4-FFF2-40B4-BE49-F238E27FC236}">
                  <a16:creationId xmlns:a16="http://schemas.microsoft.com/office/drawing/2014/main" id="{546677F0-6C56-DD87-BE25-023E50E97CEE}"/>
                </a:ext>
              </a:extLst>
            </p:cNvPr>
            <p:cNvSpPr txBox="1"/>
            <p:nvPr/>
          </p:nvSpPr>
          <p:spPr>
            <a:xfrm>
              <a:off x="6464416" y="2516640"/>
              <a:ext cx="441146" cy="523220"/>
            </a:xfrm>
            <a:prstGeom prst="rect">
              <a:avLst/>
            </a:prstGeom>
            <a:noFill/>
            <a:ln w="25400">
              <a:solidFill>
                <a:schemeClr val="tx1"/>
              </a:solidFill>
            </a:ln>
          </p:spPr>
          <p:txBody>
            <a:bodyPr wrap="square" rtlCol="0">
              <a:spAutoFit/>
            </a:bodyPr>
            <a:lstStyle/>
            <a:p>
              <a:r>
                <a:rPr lang="es-ES" sz="2800" dirty="0">
                  <a:latin typeface="Arial" panose="020B0604020202020204" pitchFamily="34" charset="0"/>
                  <a:cs typeface="Arial" panose="020B0604020202020204" pitchFamily="34" charset="0"/>
                </a:rPr>
                <a:t>Y </a:t>
              </a:r>
              <a:endParaRPr lang="es-ES" sz="2800" baseline="-25000" dirty="0">
                <a:latin typeface="Arial" panose="020B0604020202020204" pitchFamily="34" charset="0"/>
                <a:cs typeface="Arial" panose="020B0604020202020204" pitchFamily="34" charset="0"/>
              </a:endParaRPr>
            </a:p>
          </p:txBody>
        </p:sp>
        <p:sp>
          <p:nvSpPr>
            <p:cNvPr id="18" name="CuadroTexto 6">
              <a:extLst>
                <a:ext uri="{FF2B5EF4-FFF2-40B4-BE49-F238E27FC236}">
                  <a16:creationId xmlns:a16="http://schemas.microsoft.com/office/drawing/2014/main" id="{F72816FE-EF79-0AC2-0364-BE39533A9344}"/>
                </a:ext>
              </a:extLst>
            </p:cNvPr>
            <p:cNvSpPr txBox="1"/>
            <p:nvPr/>
          </p:nvSpPr>
          <p:spPr>
            <a:xfrm>
              <a:off x="7537848" y="1513253"/>
              <a:ext cx="650804" cy="523220"/>
            </a:xfrm>
            <a:prstGeom prst="rect">
              <a:avLst/>
            </a:prstGeom>
            <a:noFill/>
            <a:ln w="25400">
              <a:solidFill>
                <a:schemeClr val="tx1"/>
              </a:solidFill>
            </a:ln>
          </p:spPr>
          <p:txBody>
            <a:bodyPr wrap="square" rtlCol="0">
              <a:spAutoFit/>
            </a:bodyPr>
            <a:lstStyle/>
            <a:p>
              <a:r>
                <a:rPr lang="es-ES" sz="2800" dirty="0">
                  <a:latin typeface="Arial" panose="020B0604020202020204" pitchFamily="34" charset="0"/>
                  <a:cs typeface="Arial" panose="020B0604020202020204" pitchFamily="34" charset="0"/>
                </a:rPr>
                <a:t>x</a:t>
              </a:r>
              <a:r>
                <a:rPr lang="es-ES" sz="2800" baseline="-25000" dirty="0">
                  <a:latin typeface="Arial" panose="020B0604020202020204" pitchFamily="34" charset="0"/>
                  <a:cs typeface="Arial" panose="020B0604020202020204" pitchFamily="34" charset="0"/>
                </a:rPr>
                <a:t>2</a:t>
              </a:r>
            </a:p>
          </p:txBody>
        </p:sp>
        <p:cxnSp>
          <p:nvCxnSpPr>
            <p:cNvPr id="19" name="Conector recto de flecha 4">
              <a:extLst>
                <a:ext uri="{FF2B5EF4-FFF2-40B4-BE49-F238E27FC236}">
                  <a16:creationId xmlns:a16="http://schemas.microsoft.com/office/drawing/2014/main" id="{9477CB69-834B-C298-D41C-BB95E09633E0}"/>
                </a:ext>
              </a:extLst>
            </p:cNvPr>
            <p:cNvCxnSpPr>
              <a:cxnSpLocks/>
            </p:cNvCxnSpPr>
            <p:nvPr/>
          </p:nvCxnSpPr>
          <p:spPr>
            <a:xfrm flipH="1">
              <a:off x="6887044" y="2051421"/>
              <a:ext cx="650804" cy="483284"/>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28" name="CuadroTexto 3">
              <a:extLst>
                <a:ext uri="{FF2B5EF4-FFF2-40B4-BE49-F238E27FC236}">
                  <a16:creationId xmlns:a16="http://schemas.microsoft.com/office/drawing/2014/main" id="{DEB07168-D33F-4950-4E4E-1EE41E190F02}"/>
                </a:ext>
              </a:extLst>
            </p:cNvPr>
            <p:cNvSpPr txBox="1"/>
            <p:nvPr/>
          </p:nvSpPr>
          <p:spPr>
            <a:xfrm>
              <a:off x="455024" y="4532778"/>
              <a:ext cx="497252" cy="523220"/>
            </a:xfrm>
            <a:prstGeom prst="rect">
              <a:avLst/>
            </a:prstGeom>
            <a:noFill/>
            <a:ln w="25400">
              <a:solidFill>
                <a:schemeClr val="tx1"/>
              </a:solidFill>
            </a:ln>
          </p:spPr>
          <p:txBody>
            <a:bodyPr wrap="none" rtlCol="0">
              <a:spAutoFit/>
            </a:bodyPr>
            <a:lstStyle/>
            <a:p>
              <a:r>
                <a:rPr lang="es-ES" sz="2800" dirty="0">
                  <a:latin typeface="Arial" panose="020B0604020202020204" pitchFamily="34" charset="0"/>
                  <a:cs typeface="Arial" panose="020B0604020202020204" pitchFamily="34" charset="0"/>
                </a:rPr>
                <a:t>x</a:t>
              </a:r>
              <a:r>
                <a:rPr lang="es-ES" sz="2800" baseline="-25000" dirty="0">
                  <a:latin typeface="Arial" panose="020B0604020202020204" pitchFamily="34" charset="0"/>
                  <a:cs typeface="Arial" panose="020B0604020202020204" pitchFamily="34" charset="0"/>
                </a:rPr>
                <a:t>1</a:t>
              </a:r>
            </a:p>
          </p:txBody>
        </p:sp>
        <p:cxnSp>
          <p:nvCxnSpPr>
            <p:cNvPr id="29" name="Conector recto de flecha 4">
              <a:extLst>
                <a:ext uri="{FF2B5EF4-FFF2-40B4-BE49-F238E27FC236}">
                  <a16:creationId xmlns:a16="http://schemas.microsoft.com/office/drawing/2014/main" id="{BB6A4CEE-8273-4206-42CA-BF7E72163531}"/>
                </a:ext>
              </a:extLst>
            </p:cNvPr>
            <p:cNvCxnSpPr>
              <a:cxnSpLocks/>
              <a:stCxn id="28" idx="3"/>
            </p:cNvCxnSpPr>
            <p:nvPr/>
          </p:nvCxnSpPr>
          <p:spPr>
            <a:xfrm>
              <a:off x="952276" y="4794388"/>
              <a:ext cx="657710" cy="11877"/>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30" name="CuadroTexto 5">
              <a:extLst>
                <a:ext uri="{FF2B5EF4-FFF2-40B4-BE49-F238E27FC236}">
                  <a16:creationId xmlns:a16="http://schemas.microsoft.com/office/drawing/2014/main" id="{E27D0AA7-825E-5AC5-DDD9-056E8C23AB31}"/>
                </a:ext>
              </a:extLst>
            </p:cNvPr>
            <p:cNvSpPr txBox="1"/>
            <p:nvPr/>
          </p:nvSpPr>
          <p:spPr>
            <a:xfrm>
              <a:off x="2752124" y="4532778"/>
              <a:ext cx="516423" cy="523220"/>
            </a:xfrm>
            <a:prstGeom prst="rect">
              <a:avLst/>
            </a:prstGeom>
            <a:noFill/>
            <a:ln w="25400">
              <a:solidFill>
                <a:schemeClr val="tx1"/>
              </a:solidFill>
            </a:ln>
          </p:spPr>
          <p:txBody>
            <a:bodyPr wrap="none" rtlCol="0">
              <a:spAutoFit/>
            </a:bodyPr>
            <a:lstStyle/>
            <a:p>
              <a:r>
                <a:rPr lang="es-ES" sz="2800" dirty="0">
                  <a:latin typeface="Arial" panose="020B0604020202020204" pitchFamily="34" charset="0"/>
                  <a:cs typeface="Arial" panose="020B0604020202020204" pitchFamily="34" charset="0"/>
                </a:rPr>
                <a:t>Y </a:t>
              </a:r>
              <a:endParaRPr lang="es-ES" sz="2800" baseline="-25000" dirty="0">
                <a:latin typeface="Arial" panose="020B0604020202020204" pitchFamily="34" charset="0"/>
                <a:cs typeface="Arial" panose="020B0604020202020204" pitchFamily="34" charset="0"/>
              </a:endParaRPr>
            </a:p>
          </p:txBody>
        </p:sp>
        <p:sp>
          <p:nvSpPr>
            <p:cNvPr id="31" name="CuadroTexto 6">
              <a:extLst>
                <a:ext uri="{FF2B5EF4-FFF2-40B4-BE49-F238E27FC236}">
                  <a16:creationId xmlns:a16="http://schemas.microsoft.com/office/drawing/2014/main" id="{4B6BCFD0-F8F9-3E89-421F-6D4A37FA504F}"/>
                </a:ext>
              </a:extLst>
            </p:cNvPr>
            <p:cNvSpPr txBox="1"/>
            <p:nvPr/>
          </p:nvSpPr>
          <p:spPr>
            <a:xfrm>
              <a:off x="1609986" y="4532778"/>
              <a:ext cx="497252" cy="523220"/>
            </a:xfrm>
            <a:prstGeom prst="rect">
              <a:avLst/>
            </a:prstGeom>
            <a:noFill/>
            <a:ln w="25400">
              <a:solidFill>
                <a:schemeClr val="tx1"/>
              </a:solidFill>
            </a:ln>
          </p:spPr>
          <p:txBody>
            <a:bodyPr wrap="none" rtlCol="0">
              <a:spAutoFit/>
            </a:bodyPr>
            <a:lstStyle/>
            <a:p>
              <a:r>
                <a:rPr lang="es-ES" sz="2800" dirty="0">
                  <a:latin typeface="Arial" panose="020B0604020202020204" pitchFamily="34" charset="0"/>
                  <a:cs typeface="Arial" panose="020B0604020202020204" pitchFamily="34" charset="0"/>
                </a:rPr>
                <a:t>x</a:t>
              </a:r>
              <a:r>
                <a:rPr lang="es-ES" sz="2800" baseline="-25000" dirty="0">
                  <a:latin typeface="Arial" panose="020B0604020202020204" pitchFamily="34" charset="0"/>
                  <a:cs typeface="Arial" panose="020B0604020202020204" pitchFamily="34" charset="0"/>
                </a:rPr>
                <a:t>2</a:t>
              </a:r>
            </a:p>
          </p:txBody>
        </p:sp>
        <p:cxnSp>
          <p:nvCxnSpPr>
            <p:cNvPr id="32" name="Conector recto de flecha 4">
              <a:extLst>
                <a:ext uri="{FF2B5EF4-FFF2-40B4-BE49-F238E27FC236}">
                  <a16:creationId xmlns:a16="http://schemas.microsoft.com/office/drawing/2014/main" id="{18F4C5AB-EA01-D189-58E2-C49EECB9BF32}"/>
                </a:ext>
              </a:extLst>
            </p:cNvPr>
            <p:cNvCxnSpPr>
              <a:cxnSpLocks/>
              <a:stCxn id="31" idx="3"/>
            </p:cNvCxnSpPr>
            <p:nvPr/>
          </p:nvCxnSpPr>
          <p:spPr>
            <a:xfrm>
              <a:off x="2107238" y="4794388"/>
              <a:ext cx="651298" cy="0"/>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33" name="Conector recto de flecha 4">
              <a:extLst>
                <a:ext uri="{FF2B5EF4-FFF2-40B4-BE49-F238E27FC236}">
                  <a16:creationId xmlns:a16="http://schemas.microsoft.com/office/drawing/2014/main" id="{A2152854-51A7-AC16-2598-650AB3112F4E}"/>
                </a:ext>
              </a:extLst>
            </p:cNvPr>
            <p:cNvCxnSpPr>
              <a:cxnSpLocks/>
            </p:cNvCxnSpPr>
            <p:nvPr/>
          </p:nvCxnSpPr>
          <p:spPr>
            <a:xfrm>
              <a:off x="1866029" y="5055998"/>
              <a:ext cx="0" cy="588533"/>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35" name="CuadroTexto 6">
              <a:extLst>
                <a:ext uri="{FF2B5EF4-FFF2-40B4-BE49-F238E27FC236}">
                  <a16:creationId xmlns:a16="http://schemas.microsoft.com/office/drawing/2014/main" id="{22065797-8F1C-E837-C204-CDB06FA416F9}"/>
                </a:ext>
              </a:extLst>
            </p:cNvPr>
            <p:cNvSpPr txBox="1"/>
            <p:nvPr/>
          </p:nvSpPr>
          <p:spPr>
            <a:xfrm>
              <a:off x="1609986" y="5646373"/>
              <a:ext cx="497252" cy="523220"/>
            </a:xfrm>
            <a:prstGeom prst="rect">
              <a:avLst/>
            </a:prstGeom>
            <a:noFill/>
            <a:ln w="25400">
              <a:solidFill>
                <a:schemeClr val="tx1"/>
              </a:solidFill>
            </a:ln>
          </p:spPr>
          <p:txBody>
            <a:bodyPr wrap="none" rtlCol="0">
              <a:spAutoFit/>
            </a:bodyPr>
            <a:lstStyle/>
            <a:p>
              <a:r>
                <a:rPr lang="es-ES" sz="2800" dirty="0">
                  <a:latin typeface="Arial" panose="020B0604020202020204" pitchFamily="34" charset="0"/>
                  <a:cs typeface="Arial" panose="020B0604020202020204" pitchFamily="34" charset="0"/>
                </a:rPr>
                <a:t>x</a:t>
              </a:r>
              <a:r>
                <a:rPr lang="es-ES" sz="2800" baseline="-25000" dirty="0">
                  <a:latin typeface="Arial" panose="020B0604020202020204" pitchFamily="34" charset="0"/>
                  <a:cs typeface="Arial" panose="020B0604020202020204" pitchFamily="34" charset="0"/>
                </a:rPr>
                <a:t>3</a:t>
              </a:r>
            </a:p>
          </p:txBody>
        </p:sp>
        <p:sp>
          <p:nvSpPr>
            <p:cNvPr id="45" name="CuadroTexto 3">
              <a:extLst>
                <a:ext uri="{FF2B5EF4-FFF2-40B4-BE49-F238E27FC236}">
                  <a16:creationId xmlns:a16="http://schemas.microsoft.com/office/drawing/2014/main" id="{DCB8F63F-2533-128B-3869-96F6C71A4D87}"/>
                </a:ext>
              </a:extLst>
            </p:cNvPr>
            <p:cNvSpPr txBox="1"/>
            <p:nvPr/>
          </p:nvSpPr>
          <p:spPr>
            <a:xfrm>
              <a:off x="5029202" y="5477528"/>
              <a:ext cx="603646" cy="523220"/>
            </a:xfrm>
            <a:prstGeom prst="rect">
              <a:avLst/>
            </a:prstGeom>
            <a:noFill/>
            <a:ln w="25400">
              <a:solidFill>
                <a:schemeClr val="tx1"/>
              </a:solidFill>
            </a:ln>
          </p:spPr>
          <p:txBody>
            <a:bodyPr wrap="square" rtlCol="0">
              <a:spAutoFit/>
            </a:bodyPr>
            <a:lstStyle/>
            <a:p>
              <a:r>
                <a:rPr lang="es-ES" sz="2800" dirty="0">
                  <a:latin typeface="Arial" panose="020B0604020202020204" pitchFamily="34" charset="0"/>
                  <a:cs typeface="Arial" panose="020B0604020202020204" pitchFamily="34" charset="0"/>
                </a:rPr>
                <a:t>x</a:t>
              </a:r>
              <a:r>
                <a:rPr lang="es-ES" sz="2800" baseline="-25000" dirty="0">
                  <a:latin typeface="Arial" panose="020B0604020202020204" pitchFamily="34" charset="0"/>
                  <a:cs typeface="Arial" panose="020B0604020202020204" pitchFamily="34" charset="0"/>
                </a:rPr>
                <a:t>1</a:t>
              </a:r>
            </a:p>
          </p:txBody>
        </p:sp>
        <p:cxnSp>
          <p:nvCxnSpPr>
            <p:cNvPr id="46" name="Conector recto de flecha 4">
              <a:extLst>
                <a:ext uri="{FF2B5EF4-FFF2-40B4-BE49-F238E27FC236}">
                  <a16:creationId xmlns:a16="http://schemas.microsoft.com/office/drawing/2014/main" id="{50952D61-97C7-FA75-1A35-C8930A09BB0C}"/>
                </a:ext>
              </a:extLst>
            </p:cNvPr>
            <p:cNvCxnSpPr>
              <a:cxnSpLocks/>
              <a:endCxn id="45" idx="0"/>
            </p:cNvCxnSpPr>
            <p:nvPr/>
          </p:nvCxnSpPr>
          <p:spPr>
            <a:xfrm flipH="1">
              <a:off x="5331025" y="4555253"/>
              <a:ext cx="724546" cy="922275"/>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47" name="CuadroTexto 5">
              <a:extLst>
                <a:ext uri="{FF2B5EF4-FFF2-40B4-BE49-F238E27FC236}">
                  <a16:creationId xmlns:a16="http://schemas.microsoft.com/office/drawing/2014/main" id="{862F054E-7D6C-84A2-5152-2E10BCC60CE3}"/>
                </a:ext>
              </a:extLst>
            </p:cNvPr>
            <p:cNvSpPr txBox="1"/>
            <p:nvPr/>
          </p:nvSpPr>
          <p:spPr>
            <a:xfrm>
              <a:off x="7309482" y="5445806"/>
              <a:ext cx="441146" cy="523220"/>
            </a:xfrm>
            <a:prstGeom prst="rect">
              <a:avLst/>
            </a:prstGeom>
            <a:noFill/>
            <a:ln w="25400">
              <a:solidFill>
                <a:schemeClr val="tx1"/>
              </a:solidFill>
            </a:ln>
          </p:spPr>
          <p:txBody>
            <a:bodyPr wrap="square" rtlCol="0">
              <a:spAutoFit/>
            </a:bodyPr>
            <a:lstStyle/>
            <a:p>
              <a:r>
                <a:rPr lang="es-ES" sz="2800" dirty="0">
                  <a:latin typeface="Arial" panose="020B0604020202020204" pitchFamily="34" charset="0"/>
                  <a:cs typeface="Arial" panose="020B0604020202020204" pitchFamily="34" charset="0"/>
                </a:rPr>
                <a:t>Y </a:t>
              </a:r>
              <a:endParaRPr lang="es-ES" sz="2800" baseline="-25000" dirty="0">
                <a:latin typeface="Arial" panose="020B0604020202020204" pitchFamily="34" charset="0"/>
                <a:cs typeface="Arial" panose="020B0604020202020204" pitchFamily="34" charset="0"/>
              </a:endParaRPr>
            </a:p>
          </p:txBody>
        </p:sp>
        <p:sp>
          <p:nvSpPr>
            <p:cNvPr id="48" name="CuadroTexto 6">
              <a:extLst>
                <a:ext uri="{FF2B5EF4-FFF2-40B4-BE49-F238E27FC236}">
                  <a16:creationId xmlns:a16="http://schemas.microsoft.com/office/drawing/2014/main" id="{BD8899E2-44B3-56E3-EBFA-AFBDFE1D132D}"/>
                </a:ext>
              </a:extLst>
            </p:cNvPr>
            <p:cNvSpPr txBox="1"/>
            <p:nvPr/>
          </p:nvSpPr>
          <p:spPr>
            <a:xfrm>
              <a:off x="6055573" y="4032033"/>
              <a:ext cx="677972" cy="555808"/>
            </a:xfrm>
            <a:prstGeom prst="rect">
              <a:avLst/>
            </a:prstGeom>
            <a:noFill/>
            <a:ln w="25400">
              <a:solidFill>
                <a:schemeClr val="tx1"/>
              </a:solidFill>
            </a:ln>
          </p:spPr>
          <p:txBody>
            <a:bodyPr wrap="square" rtlCol="0">
              <a:spAutoFit/>
            </a:bodyPr>
            <a:lstStyle/>
            <a:p>
              <a:r>
                <a:rPr lang="es-ES" sz="2800" dirty="0">
                  <a:latin typeface="Arial" panose="020B0604020202020204" pitchFamily="34" charset="0"/>
                  <a:cs typeface="Arial" panose="020B0604020202020204" pitchFamily="34" charset="0"/>
                </a:rPr>
                <a:t>x</a:t>
              </a:r>
              <a:r>
                <a:rPr lang="es-ES" sz="2800" baseline="-25000" dirty="0">
                  <a:latin typeface="Arial" panose="020B0604020202020204" pitchFamily="34" charset="0"/>
                  <a:cs typeface="Arial" panose="020B0604020202020204" pitchFamily="34" charset="0"/>
                </a:rPr>
                <a:t>2</a:t>
              </a:r>
            </a:p>
          </p:txBody>
        </p:sp>
        <p:cxnSp>
          <p:nvCxnSpPr>
            <p:cNvPr id="49" name="Conector recto de flecha 4">
              <a:extLst>
                <a:ext uri="{FF2B5EF4-FFF2-40B4-BE49-F238E27FC236}">
                  <a16:creationId xmlns:a16="http://schemas.microsoft.com/office/drawing/2014/main" id="{54105D29-2D0F-A7E5-5234-A651C42BC4C3}"/>
                </a:ext>
              </a:extLst>
            </p:cNvPr>
            <p:cNvCxnSpPr>
              <a:cxnSpLocks/>
              <a:endCxn id="47" idx="1"/>
            </p:cNvCxnSpPr>
            <p:nvPr/>
          </p:nvCxnSpPr>
          <p:spPr>
            <a:xfrm flipV="1">
              <a:off x="5643322" y="5707416"/>
              <a:ext cx="1666160" cy="36496"/>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56" name="Conector recto de flecha 4">
              <a:extLst>
                <a:ext uri="{FF2B5EF4-FFF2-40B4-BE49-F238E27FC236}">
                  <a16:creationId xmlns:a16="http://schemas.microsoft.com/office/drawing/2014/main" id="{B617913E-9FAE-C98B-1F4E-FC34E2F45279}"/>
                </a:ext>
              </a:extLst>
            </p:cNvPr>
            <p:cNvCxnSpPr>
              <a:cxnSpLocks/>
            </p:cNvCxnSpPr>
            <p:nvPr/>
          </p:nvCxnSpPr>
          <p:spPr>
            <a:xfrm>
              <a:off x="6733543" y="4587841"/>
              <a:ext cx="575938" cy="889687"/>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8473065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DABB15-E9B3-B5AD-EE84-6DE69B1B958B}"/>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D524ADB6-4FD7-D7EE-B036-FEA3C53485AF}"/>
              </a:ext>
            </a:extLst>
          </p:cNvPr>
          <p:cNvSpPr txBox="1"/>
          <p:nvPr/>
        </p:nvSpPr>
        <p:spPr>
          <a:xfrm>
            <a:off x="446183" y="1344302"/>
            <a:ext cx="8367311" cy="2308324"/>
          </a:xfrm>
          <a:prstGeom prst="rect">
            <a:avLst/>
          </a:prstGeom>
          <a:noFill/>
        </p:spPr>
        <p:txBody>
          <a:bodyPr wrap="square">
            <a:spAutoFit/>
          </a:bodyPr>
          <a:lstStyle/>
          <a:p>
            <a:r>
              <a:rPr lang="en-US" b="1" dirty="0">
                <a:latin typeface="Arial" panose="020B0604020202020204" pitchFamily="34" charset="0"/>
                <a:cs typeface="Arial" panose="020B0604020202020204" pitchFamily="34" charset="0"/>
              </a:rPr>
              <a:t>Consider the following:</a:t>
            </a:r>
          </a:p>
          <a:p>
            <a:endParaRPr lang="en-US"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dirty="0">
                <a:latin typeface="Arial" panose="020B0604020202020204" pitchFamily="34" charset="0"/>
                <a:cs typeface="Arial" panose="020B0604020202020204" pitchFamily="34" charset="0"/>
              </a:rPr>
              <a:t>You are following a cohort of patients with tumors to see if tumor size influences buildup of blood toxins. You measure differences in tumor sizes at t0, and then again at t1, when you take blood samples. </a:t>
            </a:r>
          </a:p>
          <a:p>
            <a:endParaRPr lang="en-US"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dirty="0">
                <a:latin typeface="Arial" panose="020B0604020202020204" pitchFamily="34" charset="0"/>
                <a:cs typeface="Arial" panose="020B0604020202020204" pitchFamily="34" charset="0"/>
              </a:rPr>
              <a:t>Which tumor size(s) do you use as predictors of blood toxin concentrations? Initial, final, or both?</a:t>
            </a:r>
          </a:p>
        </p:txBody>
      </p:sp>
      <p:sp>
        <p:nvSpPr>
          <p:cNvPr id="5" name="TextBox 4">
            <a:extLst>
              <a:ext uri="{FF2B5EF4-FFF2-40B4-BE49-F238E27FC236}">
                <a16:creationId xmlns:a16="http://schemas.microsoft.com/office/drawing/2014/main" id="{8751CD1A-0042-D21D-BF74-E1794B6ED7F7}"/>
              </a:ext>
            </a:extLst>
          </p:cNvPr>
          <p:cNvSpPr txBox="1"/>
          <p:nvPr/>
        </p:nvSpPr>
        <p:spPr>
          <a:xfrm>
            <a:off x="446183" y="614057"/>
            <a:ext cx="5429684" cy="461665"/>
          </a:xfrm>
          <a:prstGeom prst="rect">
            <a:avLst/>
          </a:prstGeom>
          <a:noFill/>
        </p:spPr>
        <p:txBody>
          <a:bodyPr wrap="square">
            <a:spAutoFit/>
          </a:bodyPr>
          <a:lstStyle/>
          <a:p>
            <a:r>
              <a:rPr lang="en-US" sz="2400" b="1" dirty="0">
                <a:latin typeface="Arial" panose="020B0604020202020204" pitchFamily="34" charset="0"/>
                <a:cs typeface="Arial" panose="020B0604020202020204" pitchFamily="34" charset="0"/>
              </a:rPr>
              <a:t>Chain/Pipe of foolish inference</a:t>
            </a:r>
          </a:p>
        </p:txBody>
      </p:sp>
      <p:sp>
        <p:nvSpPr>
          <p:cNvPr id="6" name="TextBox 5">
            <a:extLst>
              <a:ext uri="{FF2B5EF4-FFF2-40B4-BE49-F238E27FC236}">
                <a16:creationId xmlns:a16="http://schemas.microsoft.com/office/drawing/2014/main" id="{377AE433-CFFB-74E0-50EB-B06859CAEC36}"/>
              </a:ext>
            </a:extLst>
          </p:cNvPr>
          <p:cNvSpPr txBox="1"/>
          <p:nvPr/>
        </p:nvSpPr>
        <p:spPr>
          <a:xfrm>
            <a:off x="570140" y="4150270"/>
            <a:ext cx="1438904" cy="369332"/>
          </a:xfrm>
          <a:prstGeom prst="rect">
            <a:avLst/>
          </a:prstGeom>
          <a:noFill/>
          <a:ln>
            <a:solidFill>
              <a:schemeClr val="tx1"/>
            </a:solidFill>
          </a:ln>
        </p:spPr>
        <p:txBody>
          <a:bodyPr wrap="square">
            <a:spAutoFit/>
          </a:bodyPr>
          <a:lstStyle/>
          <a:p>
            <a:r>
              <a:rPr lang="en-SG" dirty="0">
                <a:solidFill>
                  <a:srgbClr val="000000"/>
                </a:solidFill>
                <a:effectLst/>
                <a:latin typeface="Arial" panose="020B0604020202020204" pitchFamily="34" charset="0"/>
                <a:cs typeface="Arial" panose="020B0604020202020204" pitchFamily="34" charset="0"/>
              </a:rPr>
              <a:t>Initial </a:t>
            </a:r>
            <a:r>
              <a:rPr lang="en-SG" dirty="0" err="1">
                <a:solidFill>
                  <a:srgbClr val="000000"/>
                </a:solidFill>
                <a:effectLst/>
                <a:latin typeface="Arial" panose="020B0604020202020204" pitchFamily="34" charset="0"/>
                <a:cs typeface="Arial" panose="020B0604020202020204" pitchFamily="34" charset="0"/>
              </a:rPr>
              <a:t>Tumor</a:t>
            </a:r>
            <a:endParaRPr lang="en-SG" dirty="0">
              <a:solidFill>
                <a:srgbClr val="000000"/>
              </a:solidFill>
              <a:effectLst/>
              <a:latin typeface="Arial" panose="020B0604020202020204" pitchFamily="34" charset="0"/>
              <a:cs typeface="Arial" panose="020B0604020202020204" pitchFamily="34" charset="0"/>
            </a:endParaRPr>
          </a:p>
        </p:txBody>
      </p:sp>
      <p:sp>
        <p:nvSpPr>
          <p:cNvPr id="7" name="TextBox 6">
            <a:extLst>
              <a:ext uri="{FF2B5EF4-FFF2-40B4-BE49-F238E27FC236}">
                <a16:creationId xmlns:a16="http://schemas.microsoft.com/office/drawing/2014/main" id="{156B5183-D955-ECE7-CF9E-9829A499FBBF}"/>
              </a:ext>
            </a:extLst>
          </p:cNvPr>
          <p:cNvSpPr txBox="1"/>
          <p:nvPr/>
        </p:nvSpPr>
        <p:spPr>
          <a:xfrm>
            <a:off x="2978362" y="4143779"/>
            <a:ext cx="1782253" cy="369332"/>
          </a:xfrm>
          <a:prstGeom prst="rect">
            <a:avLst/>
          </a:prstGeom>
          <a:noFill/>
          <a:ln>
            <a:solidFill>
              <a:schemeClr val="tx1"/>
            </a:solidFill>
          </a:ln>
        </p:spPr>
        <p:txBody>
          <a:bodyPr wrap="square">
            <a:spAutoFit/>
          </a:bodyPr>
          <a:lstStyle/>
          <a:p>
            <a:r>
              <a:rPr lang="en-SG" dirty="0">
                <a:solidFill>
                  <a:srgbClr val="000000"/>
                </a:solidFill>
                <a:effectLst/>
                <a:latin typeface="Arial" panose="020B0604020202020204" pitchFamily="34" charset="0"/>
                <a:cs typeface="Arial" panose="020B0604020202020204" pitchFamily="34" charset="0"/>
              </a:rPr>
              <a:t>Final </a:t>
            </a:r>
            <a:r>
              <a:rPr lang="en-SG" dirty="0" err="1">
                <a:solidFill>
                  <a:srgbClr val="000000"/>
                </a:solidFill>
                <a:effectLst/>
                <a:latin typeface="Arial" panose="020B0604020202020204" pitchFamily="34" charset="0"/>
                <a:cs typeface="Arial" panose="020B0604020202020204" pitchFamily="34" charset="0"/>
              </a:rPr>
              <a:t>Tumor</a:t>
            </a:r>
            <a:endParaRPr lang="en-SG" dirty="0">
              <a:solidFill>
                <a:srgbClr val="000000"/>
              </a:solidFill>
              <a:effectLst/>
              <a:latin typeface="Arial" panose="020B0604020202020204" pitchFamily="34" charset="0"/>
              <a:cs typeface="Arial" panose="020B0604020202020204" pitchFamily="34" charset="0"/>
            </a:endParaRPr>
          </a:p>
        </p:txBody>
      </p:sp>
      <p:sp>
        <p:nvSpPr>
          <p:cNvPr id="8" name="TextBox 7">
            <a:extLst>
              <a:ext uri="{FF2B5EF4-FFF2-40B4-BE49-F238E27FC236}">
                <a16:creationId xmlns:a16="http://schemas.microsoft.com/office/drawing/2014/main" id="{7BD9C5A4-5B29-31C1-D818-179FE3421983}"/>
              </a:ext>
            </a:extLst>
          </p:cNvPr>
          <p:cNvSpPr txBox="1"/>
          <p:nvPr/>
        </p:nvSpPr>
        <p:spPr>
          <a:xfrm>
            <a:off x="5568390" y="4168708"/>
            <a:ext cx="2485854" cy="369332"/>
          </a:xfrm>
          <a:prstGeom prst="rect">
            <a:avLst/>
          </a:prstGeom>
          <a:noFill/>
          <a:ln>
            <a:solidFill>
              <a:schemeClr val="tx1"/>
            </a:solidFill>
          </a:ln>
        </p:spPr>
        <p:txBody>
          <a:bodyPr wrap="square">
            <a:spAutoFit/>
          </a:bodyPr>
          <a:lstStyle/>
          <a:p>
            <a:r>
              <a:rPr lang="en-SG" dirty="0">
                <a:solidFill>
                  <a:srgbClr val="000000"/>
                </a:solidFill>
                <a:effectLst/>
                <a:latin typeface="Arial" panose="020B0604020202020204" pitchFamily="34" charset="0"/>
                <a:cs typeface="Arial" panose="020B0604020202020204" pitchFamily="34" charset="0"/>
              </a:rPr>
              <a:t>Toxin Concentration</a:t>
            </a:r>
            <a:endParaRPr lang="en-US" dirty="0">
              <a:latin typeface="Arial" panose="020B0604020202020204" pitchFamily="34" charset="0"/>
              <a:cs typeface="Arial" panose="020B0604020202020204" pitchFamily="34" charset="0"/>
            </a:endParaRPr>
          </a:p>
        </p:txBody>
      </p:sp>
      <p:cxnSp>
        <p:nvCxnSpPr>
          <p:cNvPr id="9" name="Conector recto de flecha 4">
            <a:extLst>
              <a:ext uri="{FF2B5EF4-FFF2-40B4-BE49-F238E27FC236}">
                <a16:creationId xmlns:a16="http://schemas.microsoft.com/office/drawing/2014/main" id="{40DE1094-9080-CB55-FB46-C9E984F4178A}"/>
              </a:ext>
            </a:extLst>
          </p:cNvPr>
          <p:cNvCxnSpPr>
            <a:cxnSpLocks/>
          </p:cNvCxnSpPr>
          <p:nvPr/>
        </p:nvCxnSpPr>
        <p:spPr>
          <a:xfrm>
            <a:off x="2064742" y="4307773"/>
            <a:ext cx="857922" cy="1"/>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0" name="Conector recto de flecha 4">
            <a:extLst>
              <a:ext uri="{FF2B5EF4-FFF2-40B4-BE49-F238E27FC236}">
                <a16:creationId xmlns:a16="http://schemas.microsoft.com/office/drawing/2014/main" id="{054B1B9F-D09F-A5C0-3605-1AF188795496}"/>
              </a:ext>
            </a:extLst>
          </p:cNvPr>
          <p:cNvCxnSpPr>
            <a:cxnSpLocks/>
            <a:endCxn id="8" idx="1"/>
          </p:cNvCxnSpPr>
          <p:nvPr/>
        </p:nvCxnSpPr>
        <p:spPr>
          <a:xfrm flipV="1">
            <a:off x="4760615" y="4353374"/>
            <a:ext cx="807775" cy="7360"/>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DEC8462C-7736-B668-6BAE-1E5DD891E309}"/>
              </a:ext>
            </a:extLst>
          </p:cNvPr>
          <p:cNvSpPr txBox="1"/>
          <p:nvPr/>
        </p:nvSpPr>
        <p:spPr>
          <a:xfrm>
            <a:off x="652363" y="5360415"/>
            <a:ext cx="903514" cy="369332"/>
          </a:xfrm>
          <a:prstGeom prst="rect">
            <a:avLst/>
          </a:prstGeom>
          <a:noFill/>
          <a:ln>
            <a:solidFill>
              <a:schemeClr val="tx1"/>
            </a:solidFill>
          </a:ln>
        </p:spPr>
        <p:txBody>
          <a:bodyPr wrap="square">
            <a:spAutoFit/>
          </a:bodyPr>
          <a:lstStyle/>
          <a:p>
            <a:r>
              <a:rPr lang="en-SG" dirty="0">
                <a:solidFill>
                  <a:srgbClr val="000000"/>
                </a:solidFill>
                <a:effectLst/>
                <a:latin typeface="Arial" panose="020B0604020202020204" pitchFamily="34" charset="0"/>
                <a:cs typeface="Arial" panose="020B0604020202020204" pitchFamily="34" charset="0"/>
              </a:rPr>
              <a:t>Cause</a:t>
            </a:r>
          </a:p>
        </p:txBody>
      </p:sp>
      <p:sp>
        <p:nvSpPr>
          <p:cNvPr id="4" name="TextBox 3">
            <a:extLst>
              <a:ext uri="{FF2B5EF4-FFF2-40B4-BE49-F238E27FC236}">
                <a16:creationId xmlns:a16="http://schemas.microsoft.com/office/drawing/2014/main" id="{018BB00F-2300-6FFF-7429-BC84ABDD3304}"/>
              </a:ext>
            </a:extLst>
          </p:cNvPr>
          <p:cNvSpPr txBox="1"/>
          <p:nvPr/>
        </p:nvSpPr>
        <p:spPr>
          <a:xfrm>
            <a:off x="3243258" y="5360415"/>
            <a:ext cx="1203573" cy="369332"/>
          </a:xfrm>
          <a:prstGeom prst="rect">
            <a:avLst/>
          </a:prstGeom>
          <a:noFill/>
          <a:ln>
            <a:solidFill>
              <a:schemeClr val="tx1"/>
            </a:solidFill>
          </a:ln>
        </p:spPr>
        <p:txBody>
          <a:bodyPr wrap="square">
            <a:spAutoFit/>
          </a:bodyPr>
          <a:lstStyle/>
          <a:p>
            <a:r>
              <a:rPr lang="en-SG" dirty="0">
                <a:solidFill>
                  <a:srgbClr val="000000"/>
                </a:solidFill>
                <a:effectLst/>
                <a:latin typeface="Arial" panose="020B0604020202020204" pitchFamily="34" charset="0"/>
                <a:cs typeface="Arial" panose="020B0604020202020204" pitchFamily="34" charset="0"/>
              </a:rPr>
              <a:t>Mediator</a:t>
            </a:r>
          </a:p>
        </p:txBody>
      </p:sp>
      <p:sp>
        <p:nvSpPr>
          <p:cNvPr id="11" name="TextBox 10">
            <a:extLst>
              <a:ext uri="{FF2B5EF4-FFF2-40B4-BE49-F238E27FC236}">
                <a16:creationId xmlns:a16="http://schemas.microsoft.com/office/drawing/2014/main" id="{985BD8EB-FFE2-A127-B758-AC6354E67B72}"/>
              </a:ext>
            </a:extLst>
          </p:cNvPr>
          <p:cNvSpPr txBox="1"/>
          <p:nvPr/>
        </p:nvSpPr>
        <p:spPr>
          <a:xfrm>
            <a:off x="6266681" y="5360415"/>
            <a:ext cx="870857" cy="369332"/>
          </a:xfrm>
          <a:prstGeom prst="rect">
            <a:avLst/>
          </a:prstGeom>
          <a:noFill/>
          <a:ln>
            <a:solidFill>
              <a:schemeClr val="tx1"/>
            </a:solidFill>
          </a:ln>
        </p:spPr>
        <p:txBody>
          <a:bodyPr wrap="square">
            <a:spAutoFit/>
          </a:bodyPr>
          <a:lstStyle/>
          <a:p>
            <a:r>
              <a:rPr lang="en-SG" dirty="0">
                <a:solidFill>
                  <a:srgbClr val="000000"/>
                </a:solidFill>
                <a:effectLst/>
                <a:latin typeface="Arial" panose="020B0604020202020204" pitchFamily="34" charset="0"/>
                <a:cs typeface="Arial" panose="020B0604020202020204" pitchFamily="34" charset="0"/>
              </a:rPr>
              <a:t>Effect</a:t>
            </a:r>
            <a:endParaRPr lang="en-US" dirty="0">
              <a:latin typeface="Arial" panose="020B0604020202020204" pitchFamily="34" charset="0"/>
              <a:cs typeface="Arial" panose="020B0604020202020204" pitchFamily="34" charset="0"/>
            </a:endParaRPr>
          </a:p>
        </p:txBody>
      </p:sp>
      <p:cxnSp>
        <p:nvCxnSpPr>
          <p:cNvPr id="12" name="Conector recto de flecha 4">
            <a:extLst>
              <a:ext uri="{FF2B5EF4-FFF2-40B4-BE49-F238E27FC236}">
                <a16:creationId xmlns:a16="http://schemas.microsoft.com/office/drawing/2014/main" id="{95987B17-F615-30E9-E65A-328DB4DB778A}"/>
              </a:ext>
            </a:extLst>
          </p:cNvPr>
          <p:cNvCxnSpPr>
            <a:cxnSpLocks/>
          </p:cNvCxnSpPr>
          <p:nvPr/>
        </p:nvCxnSpPr>
        <p:spPr>
          <a:xfrm>
            <a:off x="1656653" y="5545081"/>
            <a:ext cx="1586605" cy="0"/>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3" name="Conector recto de flecha 4">
            <a:extLst>
              <a:ext uri="{FF2B5EF4-FFF2-40B4-BE49-F238E27FC236}">
                <a16:creationId xmlns:a16="http://schemas.microsoft.com/office/drawing/2014/main" id="{070509B4-CCA9-8589-CB11-AA5E49D0659A}"/>
              </a:ext>
            </a:extLst>
          </p:cNvPr>
          <p:cNvCxnSpPr>
            <a:cxnSpLocks/>
          </p:cNvCxnSpPr>
          <p:nvPr/>
        </p:nvCxnSpPr>
        <p:spPr>
          <a:xfrm>
            <a:off x="4480699" y="5545081"/>
            <a:ext cx="1687381" cy="0"/>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15FC4014-F786-4B7F-605F-76C19BE29D1B}"/>
              </a:ext>
            </a:extLst>
          </p:cNvPr>
          <p:cNvSpPr txBox="1"/>
          <p:nvPr/>
        </p:nvSpPr>
        <p:spPr>
          <a:xfrm>
            <a:off x="446183" y="4851018"/>
            <a:ext cx="4789714" cy="369332"/>
          </a:xfrm>
          <a:prstGeom prst="rect">
            <a:avLst/>
          </a:prstGeom>
          <a:noFill/>
        </p:spPr>
        <p:txBody>
          <a:bodyPr wrap="square">
            <a:spAutoFit/>
          </a:bodyPr>
          <a:lstStyle/>
          <a:p>
            <a:r>
              <a:rPr lang="en-US" dirty="0">
                <a:solidFill>
                  <a:srgbClr val="FF0000"/>
                </a:solidFill>
                <a:latin typeface="Arial" panose="020B0604020202020204" pitchFamily="34" charset="0"/>
                <a:cs typeface="Arial" panose="020B0604020202020204" pitchFamily="34" charset="0"/>
              </a:rPr>
              <a:t>Causal model</a:t>
            </a:r>
          </a:p>
        </p:txBody>
      </p:sp>
      <p:sp>
        <p:nvSpPr>
          <p:cNvPr id="18" name="TextBox 17">
            <a:extLst>
              <a:ext uri="{FF2B5EF4-FFF2-40B4-BE49-F238E27FC236}">
                <a16:creationId xmlns:a16="http://schemas.microsoft.com/office/drawing/2014/main" id="{771F1EEC-2873-6B0A-EA4B-AFD614EE3912}"/>
              </a:ext>
            </a:extLst>
          </p:cNvPr>
          <p:cNvSpPr txBox="1"/>
          <p:nvPr/>
        </p:nvSpPr>
        <p:spPr>
          <a:xfrm>
            <a:off x="446183" y="3755624"/>
            <a:ext cx="1203573" cy="369332"/>
          </a:xfrm>
          <a:prstGeom prst="rect">
            <a:avLst/>
          </a:prstGeom>
          <a:noFill/>
        </p:spPr>
        <p:txBody>
          <a:bodyPr wrap="square">
            <a:spAutoFit/>
          </a:bodyPr>
          <a:lstStyle/>
          <a:p>
            <a:r>
              <a:rPr lang="en-SG" dirty="0">
                <a:solidFill>
                  <a:srgbClr val="FB0007"/>
                </a:solidFill>
                <a:effectLst/>
                <a:latin typeface="Arial" panose="020B0604020202020204" pitchFamily="34" charset="0"/>
                <a:cs typeface="Arial" panose="020B0604020202020204" pitchFamily="34" charset="0"/>
              </a:rPr>
              <a:t>Truth</a:t>
            </a:r>
          </a:p>
        </p:txBody>
      </p:sp>
    </p:spTree>
    <p:extLst>
      <p:ext uri="{BB962C8B-B14F-4D97-AF65-F5344CB8AC3E}">
        <p14:creationId xmlns:p14="http://schemas.microsoft.com/office/powerpoint/2010/main" val="313670870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CDBE89C-3634-6125-304E-05D32570B0B2}"/>
              </a:ext>
            </a:extLst>
          </p:cNvPr>
          <p:cNvSpPr txBox="1"/>
          <p:nvPr/>
        </p:nvSpPr>
        <p:spPr>
          <a:xfrm>
            <a:off x="308473" y="304659"/>
            <a:ext cx="5321860" cy="461665"/>
          </a:xfrm>
          <a:prstGeom prst="rect">
            <a:avLst/>
          </a:prstGeom>
          <a:noFill/>
        </p:spPr>
        <p:txBody>
          <a:bodyPr wrap="square">
            <a:spAutoFit/>
          </a:bodyPr>
          <a:lstStyle/>
          <a:p>
            <a:r>
              <a:rPr lang="en-US" sz="2400" b="1" dirty="0">
                <a:latin typeface="Arial" panose="020B0604020202020204" pitchFamily="34" charset="0"/>
                <a:cs typeface="Arial" panose="020B0604020202020204" pitchFamily="34" charset="0"/>
              </a:rPr>
              <a:t>Consider the consequences</a:t>
            </a:r>
          </a:p>
        </p:txBody>
      </p:sp>
      <p:sp>
        <p:nvSpPr>
          <p:cNvPr id="12" name="TextBox 11">
            <a:extLst>
              <a:ext uri="{FF2B5EF4-FFF2-40B4-BE49-F238E27FC236}">
                <a16:creationId xmlns:a16="http://schemas.microsoft.com/office/drawing/2014/main" id="{3EF1DE4C-17E9-EFDA-F600-2BBE20269995}"/>
              </a:ext>
            </a:extLst>
          </p:cNvPr>
          <p:cNvSpPr txBox="1"/>
          <p:nvPr/>
        </p:nvSpPr>
        <p:spPr>
          <a:xfrm>
            <a:off x="432430" y="2119841"/>
            <a:ext cx="1794306" cy="369332"/>
          </a:xfrm>
          <a:prstGeom prst="rect">
            <a:avLst/>
          </a:prstGeom>
          <a:noFill/>
        </p:spPr>
        <p:txBody>
          <a:bodyPr wrap="square">
            <a:spAutoFit/>
          </a:bodyPr>
          <a:lstStyle/>
          <a:p>
            <a:r>
              <a:rPr lang="en-SG" dirty="0">
                <a:solidFill>
                  <a:srgbClr val="FB0007"/>
                </a:solidFill>
                <a:effectLst/>
                <a:latin typeface="Arial" panose="020B0604020202020204" pitchFamily="34" charset="0"/>
                <a:cs typeface="Arial" panose="020B0604020202020204" pitchFamily="34" charset="0"/>
              </a:rPr>
              <a:t>Regression 1</a:t>
            </a:r>
          </a:p>
        </p:txBody>
      </p:sp>
      <p:sp>
        <p:nvSpPr>
          <p:cNvPr id="13" name="TextBox 12">
            <a:extLst>
              <a:ext uri="{FF2B5EF4-FFF2-40B4-BE49-F238E27FC236}">
                <a16:creationId xmlns:a16="http://schemas.microsoft.com/office/drawing/2014/main" id="{A0CCC4A3-9D25-EF9B-F4FE-AA89AA107377}"/>
              </a:ext>
            </a:extLst>
          </p:cNvPr>
          <p:cNvSpPr txBox="1"/>
          <p:nvPr/>
        </p:nvSpPr>
        <p:spPr>
          <a:xfrm>
            <a:off x="432430" y="2510206"/>
            <a:ext cx="1438904" cy="369332"/>
          </a:xfrm>
          <a:prstGeom prst="rect">
            <a:avLst/>
          </a:prstGeom>
          <a:noFill/>
          <a:ln>
            <a:solidFill>
              <a:schemeClr val="tx1"/>
            </a:solidFill>
          </a:ln>
        </p:spPr>
        <p:txBody>
          <a:bodyPr wrap="square">
            <a:spAutoFit/>
          </a:bodyPr>
          <a:lstStyle/>
          <a:p>
            <a:r>
              <a:rPr lang="en-SG" dirty="0">
                <a:solidFill>
                  <a:srgbClr val="000000"/>
                </a:solidFill>
                <a:effectLst/>
                <a:latin typeface="Arial" panose="020B0604020202020204" pitchFamily="34" charset="0"/>
                <a:cs typeface="Arial" panose="020B0604020202020204" pitchFamily="34" charset="0"/>
              </a:rPr>
              <a:t>Initial </a:t>
            </a:r>
            <a:r>
              <a:rPr lang="en-SG" dirty="0" err="1">
                <a:solidFill>
                  <a:srgbClr val="000000"/>
                </a:solidFill>
                <a:effectLst/>
                <a:latin typeface="Arial" panose="020B0604020202020204" pitchFamily="34" charset="0"/>
                <a:cs typeface="Arial" panose="020B0604020202020204" pitchFamily="34" charset="0"/>
              </a:rPr>
              <a:t>Tumor</a:t>
            </a:r>
            <a:endParaRPr lang="en-SG" dirty="0">
              <a:solidFill>
                <a:srgbClr val="000000"/>
              </a:solidFill>
              <a:effectLst/>
              <a:latin typeface="Arial" panose="020B0604020202020204" pitchFamily="34" charset="0"/>
              <a:cs typeface="Arial" panose="020B0604020202020204" pitchFamily="34" charset="0"/>
            </a:endParaRPr>
          </a:p>
        </p:txBody>
      </p:sp>
      <p:sp>
        <p:nvSpPr>
          <p:cNvPr id="14" name="TextBox 13">
            <a:extLst>
              <a:ext uri="{FF2B5EF4-FFF2-40B4-BE49-F238E27FC236}">
                <a16:creationId xmlns:a16="http://schemas.microsoft.com/office/drawing/2014/main" id="{04CBEC06-57C3-3DE8-E34A-0A872E5B132E}"/>
              </a:ext>
            </a:extLst>
          </p:cNvPr>
          <p:cNvSpPr txBox="1"/>
          <p:nvPr/>
        </p:nvSpPr>
        <p:spPr>
          <a:xfrm>
            <a:off x="3421634" y="2510206"/>
            <a:ext cx="2386797" cy="369332"/>
          </a:xfrm>
          <a:prstGeom prst="rect">
            <a:avLst/>
          </a:prstGeom>
          <a:noFill/>
          <a:ln>
            <a:solidFill>
              <a:schemeClr val="tx1"/>
            </a:solidFill>
          </a:ln>
        </p:spPr>
        <p:txBody>
          <a:bodyPr wrap="square">
            <a:spAutoFit/>
          </a:bodyPr>
          <a:lstStyle/>
          <a:p>
            <a:r>
              <a:rPr lang="en-SG" dirty="0">
                <a:solidFill>
                  <a:srgbClr val="000000"/>
                </a:solidFill>
                <a:effectLst/>
                <a:latin typeface="Arial" panose="020B0604020202020204" pitchFamily="34" charset="0"/>
                <a:cs typeface="Arial" panose="020B0604020202020204" pitchFamily="34" charset="0"/>
              </a:rPr>
              <a:t>Toxin Concentration</a:t>
            </a:r>
            <a:endParaRPr lang="en-US" dirty="0">
              <a:latin typeface="Arial" panose="020B0604020202020204" pitchFamily="34" charset="0"/>
              <a:cs typeface="Arial" panose="020B0604020202020204" pitchFamily="34" charset="0"/>
            </a:endParaRPr>
          </a:p>
        </p:txBody>
      </p:sp>
      <p:cxnSp>
        <p:nvCxnSpPr>
          <p:cNvPr id="15" name="Conector recto de flecha 4">
            <a:extLst>
              <a:ext uri="{FF2B5EF4-FFF2-40B4-BE49-F238E27FC236}">
                <a16:creationId xmlns:a16="http://schemas.microsoft.com/office/drawing/2014/main" id="{35A95D81-C779-6785-594D-C4D9309ABD28}"/>
              </a:ext>
            </a:extLst>
          </p:cNvPr>
          <p:cNvCxnSpPr>
            <a:cxnSpLocks/>
          </p:cNvCxnSpPr>
          <p:nvPr/>
        </p:nvCxnSpPr>
        <p:spPr>
          <a:xfrm flipV="1">
            <a:off x="1927032" y="2690544"/>
            <a:ext cx="1438904" cy="7360"/>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5C727EAA-0AD3-02FB-6B71-3B69FE411426}"/>
              </a:ext>
            </a:extLst>
          </p:cNvPr>
          <p:cNvSpPr txBox="1"/>
          <p:nvPr/>
        </p:nvSpPr>
        <p:spPr>
          <a:xfrm>
            <a:off x="2009476" y="2114442"/>
            <a:ext cx="3330364" cy="369332"/>
          </a:xfrm>
          <a:prstGeom prst="rect">
            <a:avLst/>
          </a:prstGeom>
          <a:noFill/>
        </p:spPr>
        <p:txBody>
          <a:bodyPr wrap="square">
            <a:spAutoFit/>
          </a:bodyPr>
          <a:lstStyle/>
          <a:p>
            <a:r>
              <a:rPr lang="en-US" b="1" dirty="0">
                <a:latin typeface="Arial" panose="020B0604020202020204" pitchFamily="34" charset="0"/>
                <a:cs typeface="Arial" panose="020B0604020202020204" pitchFamily="34" charset="0"/>
              </a:rPr>
              <a:t>Net effect, ignoring mediator</a:t>
            </a:r>
          </a:p>
        </p:txBody>
      </p:sp>
      <p:sp>
        <p:nvSpPr>
          <p:cNvPr id="18" name="TextBox 17">
            <a:extLst>
              <a:ext uri="{FF2B5EF4-FFF2-40B4-BE49-F238E27FC236}">
                <a16:creationId xmlns:a16="http://schemas.microsoft.com/office/drawing/2014/main" id="{7B1BECCC-4829-5D96-6177-12C414A99D57}"/>
              </a:ext>
            </a:extLst>
          </p:cNvPr>
          <p:cNvSpPr txBox="1"/>
          <p:nvPr/>
        </p:nvSpPr>
        <p:spPr>
          <a:xfrm>
            <a:off x="449661" y="3269263"/>
            <a:ext cx="1545771" cy="369332"/>
          </a:xfrm>
          <a:prstGeom prst="rect">
            <a:avLst/>
          </a:prstGeom>
          <a:noFill/>
        </p:spPr>
        <p:txBody>
          <a:bodyPr wrap="square">
            <a:spAutoFit/>
          </a:bodyPr>
          <a:lstStyle/>
          <a:p>
            <a:r>
              <a:rPr lang="en-SG" dirty="0">
                <a:solidFill>
                  <a:srgbClr val="FB0007"/>
                </a:solidFill>
                <a:effectLst/>
                <a:latin typeface="Arial" panose="020B0604020202020204" pitchFamily="34" charset="0"/>
                <a:cs typeface="Arial" panose="020B0604020202020204" pitchFamily="34" charset="0"/>
              </a:rPr>
              <a:t>Regression 2</a:t>
            </a:r>
          </a:p>
        </p:txBody>
      </p:sp>
      <p:sp>
        <p:nvSpPr>
          <p:cNvPr id="19" name="TextBox 18">
            <a:extLst>
              <a:ext uri="{FF2B5EF4-FFF2-40B4-BE49-F238E27FC236}">
                <a16:creationId xmlns:a16="http://schemas.microsoft.com/office/drawing/2014/main" id="{DC5095C4-FDB1-AE69-BB7F-671C42A6E5BA}"/>
              </a:ext>
            </a:extLst>
          </p:cNvPr>
          <p:cNvSpPr txBox="1"/>
          <p:nvPr/>
        </p:nvSpPr>
        <p:spPr>
          <a:xfrm>
            <a:off x="2314728" y="3771465"/>
            <a:ext cx="1511218" cy="369332"/>
          </a:xfrm>
          <a:prstGeom prst="rect">
            <a:avLst/>
          </a:prstGeom>
          <a:noFill/>
          <a:ln>
            <a:solidFill>
              <a:schemeClr val="tx1"/>
            </a:solidFill>
          </a:ln>
        </p:spPr>
        <p:txBody>
          <a:bodyPr wrap="square">
            <a:spAutoFit/>
          </a:bodyPr>
          <a:lstStyle/>
          <a:p>
            <a:r>
              <a:rPr lang="en-SG" dirty="0">
                <a:solidFill>
                  <a:srgbClr val="000000"/>
                </a:solidFill>
                <a:effectLst/>
                <a:latin typeface="Arial" panose="020B0604020202020204" pitchFamily="34" charset="0"/>
                <a:cs typeface="Arial" panose="020B0604020202020204" pitchFamily="34" charset="0"/>
              </a:rPr>
              <a:t>Initial </a:t>
            </a:r>
            <a:r>
              <a:rPr lang="en-SG" dirty="0" err="1">
                <a:solidFill>
                  <a:srgbClr val="000000"/>
                </a:solidFill>
                <a:effectLst/>
                <a:latin typeface="Arial" panose="020B0604020202020204" pitchFamily="34" charset="0"/>
                <a:cs typeface="Arial" panose="020B0604020202020204" pitchFamily="34" charset="0"/>
              </a:rPr>
              <a:t>Tumor</a:t>
            </a:r>
            <a:endParaRPr lang="en-SG" dirty="0">
              <a:solidFill>
                <a:srgbClr val="000000"/>
              </a:solidFill>
              <a:effectLst/>
              <a:latin typeface="Arial" panose="020B0604020202020204" pitchFamily="34" charset="0"/>
              <a:cs typeface="Arial" panose="020B0604020202020204" pitchFamily="34" charset="0"/>
            </a:endParaRPr>
          </a:p>
        </p:txBody>
      </p:sp>
      <p:sp>
        <p:nvSpPr>
          <p:cNvPr id="20" name="TextBox 19">
            <a:extLst>
              <a:ext uri="{FF2B5EF4-FFF2-40B4-BE49-F238E27FC236}">
                <a16:creationId xmlns:a16="http://schemas.microsoft.com/office/drawing/2014/main" id="{8D1A7082-BC7D-5E0F-7394-DB445F1DAC7F}"/>
              </a:ext>
            </a:extLst>
          </p:cNvPr>
          <p:cNvSpPr txBox="1"/>
          <p:nvPr/>
        </p:nvSpPr>
        <p:spPr>
          <a:xfrm>
            <a:off x="2309180" y="4838046"/>
            <a:ext cx="1511215" cy="369332"/>
          </a:xfrm>
          <a:prstGeom prst="rect">
            <a:avLst/>
          </a:prstGeom>
          <a:noFill/>
          <a:ln>
            <a:solidFill>
              <a:schemeClr val="tx1"/>
            </a:solidFill>
          </a:ln>
        </p:spPr>
        <p:txBody>
          <a:bodyPr wrap="square">
            <a:spAutoFit/>
          </a:bodyPr>
          <a:lstStyle/>
          <a:p>
            <a:r>
              <a:rPr lang="en-SG" dirty="0">
                <a:solidFill>
                  <a:srgbClr val="000000"/>
                </a:solidFill>
                <a:effectLst/>
                <a:latin typeface="Arial" panose="020B0604020202020204" pitchFamily="34" charset="0"/>
                <a:cs typeface="Arial" panose="020B0604020202020204" pitchFamily="34" charset="0"/>
              </a:rPr>
              <a:t>Final </a:t>
            </a:r>
            <a:r>
              <a:rPr lang="en-SG" dirty="0" err="1">
                <a:solidFill>
                  <a:srgbClr val="000000"/>
                </a:solidFill>
                <a:effectLst/>
                <a:latin typeface="Arial" panose="020B0604020202020204" pitchFamily="34" charset="0"/>
                <a:cs typeface="Arial" panose="020B0604020202020204" pitchFamily="34" charset="0"/>
              </a:rPr>
              <a:t>Tumor</a:t>
            </a:r>
            <a:endParaRPr lang="en-SG" dirty="0">
              <a:solidFill>
                <a:srgbClr val="000000"/>
              </a:solidFill>
              <a:effectLst/>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7019407C-0ACF-CE79-A63E-494D46971EFC}"/>
              </a:ext>
            </a:extLst>
          </p:cNvPr>
          <p:cNvSpPr txBox="1"/>
          <p:nvPr/>
        </p:nvSpPr>
        <p:spPr>
          <a:xfrm>
            <a:off x="5513124" y="4195800"/>
            <a:ext cx="2231653" cy="369332"/>
          </a:xfrm>
          <a:prstGeom prst="rect">
            <a:avLst/>
          </a:prstGeom>
          <a:noFill/>
          <a:ln>
            <a:solidFill>
              <a:schemeClr val="tx1"/>
            </a:solidFill>
          </a:ln>
        </p:spPr>
        <p:txBody>
          <a:bodyPr wrap="square">
            <a:spAutoFit/>
          </a:bodyPr>
          <a:lstStyle/>
          <a:p>
            <a:r>
              <a:rPr lang="en-SG" dirty="0">
                <a:solidFill>
                  <a:srgbClr val="000000"/>
                </a:solidFill>
                <a:effectLst/>
                <a:latin typeface="Arial" panose="020B0604020202020204" pitchFamily="34" charset="0"/>
                <a:cs typeface="Arial" panose="020B0604020202020204" pitchFamily="34" charset="0"/>
              </a:rPr>
              <a:t>Toxin Concentration</a:t>
            </a:r>
          </a:p>
        </p:txBody>
      </p:sp>
      <p:cxnSp>
        <p:nvCxnSpPr>
          <p:cNvPr id="22" name="Curved Connector 21">
            <a:extLst>
              <a:ext uri="{FF2B5EF4-FFF2-40B4-BE49-F238E27FC236}">
                <a16:creationId xmlns:a16="http://schemas.microsoft.com/office/drawing/2014/main" id="{8FC15F65-C3A5-1CFC-9F06-E13897A47999}"/>
              </a:ext>
            </a:extLst>
          </p:cNvPr>
          <p:cNvCxnSpPr>
            <a:cxnSpLocks/>
          </p:cNvCxnSpPr>
          <p:nvPr/>
        </p:nvCxnSpPr>
        <p:spPr>
          <a:xfrm rot="10800000" flipV="1">
            <a:off x="2282707" y="3900268"/>
            <a:ext cx="5550" cy="1066581"/>
          </a:xfrm>
          <a:prstGeom prst="curvedConnector3">
            <a:avLst>
              <a:gd name="adj1" fmla="val 4218919"/>
            </a:avLst>
          </a:prstGeom>
          <a:ln w="2540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3" name="Conector recto de flecha 4">
            <a:extLst>
              <a:ext uri="{FF2B5EF4-FFF2-40B4-BE49-F238E27FC236}">
                <a16:creationId xmlns:a16="http://schemas.microsoft.com/office/drawing/2014/main" id="{782952A0-3B38-4363-234B-55CF4F74AEC7}"/>
              </a:ext>
            </a:extLst>
          </p:cNvPr>
          <p:cNvCxnSpPr>
            <a:cxnSpLocks/>
          </p:cNvCxnSpPr>
          <p:nvPr/>
        </p:nvCxnSpPr>
        <p:spPr>
          <a:xfrm>
            <a:off x="3944392" y="3931560"/>
            <a:ext cx="1434064" cy="369703"/>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24" name="Conector recto de flecha 4">
            <a:extLst>
              <a:ext uri="{FF2B5EF4-FFF2-40B4-BE49-F238E27FC236}">
                <a16:creationId xmlns:a16="http://schemas.microsoft.com/office/drawing/2014/main" id="{8E188905-0FD2-0612-2C00-D3DE2E84D215}"/>
              </a:ext>
            </a:extLst>
          </p:cNvPr>
          <p:cNvCxnSpPr>
            <a:cxnSpLocks/>
          </p:cNvCxnSpPr>
          <p:nvPr/>
        </p:nvCxnSpPr>
        <p:spPr>
          <a:xfrm flipV="1">
            <a:off x="3955063" y="4565132"/>
            <a:ext cx="1434064" cy="499064"/>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22000DAF-D559-02DB-983C-899214E39B8D}"/>
              </a:ext>
            </a:extLst>
          </p:cNvPr>
          <p:cNvSpPr txBox="1"/>
          <p:nvPr/>
        </p:nvSpPr>
        <p:spPr>
          <a:xfrm>
            <a:off x="432430" y="3779056"/>
            <a:ext cx="1577046" cy="1477328"/>
          </a:xfrm>
          <a:prstGeom prst="rect">
            <a:avLst/>
          </a:prstGeom>
          <a:noFill/>
        </p:spPr>
        <p:txBody>
          <a:bodyPr wrap="square">
            <a:spAutoFit/>
          </a:bodyPr>
          <a:lstStyle/>
          <a:p>
            <a:r>
              <a:rPr lang="en-SG" dirty="0">
                <a:latin typeface="Arial" panose="020B0604020202020204" pitchFamily="34" charset="0"/>
                <a:cs typeface="Arial" panose="020B0604020202020204" pitchFamily="34" charset="0"/>
              </a:rPr>
              <a:t>Adjust effects</a:t>
            </a:r>
          </a:p>
          <a:p>
            <a:r>
              <a:rPr lang="en-SG" dirty="0">
                <a:latin typeface="Arial" panose="020B0604020202020204" pitchFamily="34" charset="0"/>
                <a:cs typeface="Arial" panose="020B0604020202020204" pitchFamily="34" charset="0"/>
              </a:rPr>
              <a:t>holding mediator</a:t>
            </a:r>
          </a:p>
          <a:p>
            <a:r>
              <a:rPr lang="en-SG" dirty="0">
                <a:latin typeface="Arial" panose="020B0604020202020204" pitchFamily="34" charset="0"/>
                <a:cs typeface="Arial" panose="020B0604020202020204" pitchFamily="34" charset="0"/>
              </a:rPr>
              <a:t>or initial constant</a:t>
            </a:r>
            <a:endParaRPr lang="en-SG" dirty="0">
              <a:effectLst/>
              <a:latin typeface="Arial" panose="020B0604020202020204" pitchFamily="34" charset="0"/>
              <a:cs typeface="Arial" panose="020B0604020202020204" pitchFamily="34" charset="0"/>
            </a:endParaRPr>
          </a:p>
        </p:txBody>
      </p:sp>
      <p:sp>
        <p:nvSpPr>
          <p:cNvPr id="28" name="TextBox 27">
            <a:extLst>
              <a:ext uri="{FF2B5EF4-FFF2-40B4-BE49-F238E27FC236}">
                <a16:creationId xmlns:a16="http://schemas.microsoft.com/office/drawing/2014/main" id="{52672BD2-E72D-1B00-1195-3F7C0ECFFC6E}"/>
              </a:ext>
            </a:extLst>
          </p:cNvPr>
          <p:cNvSpPr txBox="1"/>
          <p:nvPr/>
        </p:nvSpPr>
        <p:spPr>
          <a:xfrm>
            <a:off x="3955063" y="3521542"/>
            <a:ext cx="4572000" cy="369332"/>
          </a:xfrm>
          <a:prstGeom prst="rect">
            <a:avLst/>
          </a:prstGeom>
          <a:noFill/>
        </p:spPr>
        <p:txBody>
          <a:bodyPr wrap="square">
            <a:spAutoFit/>
          </a:bodyPr>
          <a:lstStyle/>
          <a:p>
            <a:r>
              <a:rPr lang="en-US" b="1" dirty="0">
                <a:latin typeface="Arial" panose="020B0604020202020204" pitchFamily="34" charset="0"/>
                <a:cs typeface="Arial" panose="020B0604020202020204" pitchFamily="34" charset="0"/>
              </a:rPr>
              <a:t>What does this mean?</a:t>
            </a:r>
          </a:p>
        </p:txBody>
      </p:sp>
      <p:sp>
        <p:nvSpPr>
          <p:cNvPr id="29" name="TextBox 28">
            <a:extLst>
              <a:ext uri="{FF2B5EF4-FFF2-40B4-BE49-F238E27FC236}">
                <a16:creationId xmlns:a16="http://schemas.microsoft.com/office/drawing/2014/main" id="{8C474C5C-60CF-E4DA-607D-559ADA20CD55}"/>
              </a:ext>
            </a:extLst>
          </p:cNvPr>
          <p:cNvSpPr txBox="1"/>
          <p:nvPr/>
        </p:nvSpPr>
        <p:spPr>
          <a:xfrm>
            <a:off x="3955063" y="5212812"/>
            <a:ext cx="4572000" cy="369332"/>
          </a:xfrm>
          <a:prstGeom prst="rect">
            <a:avLst/>
          </a:prstGeom>
          <a:noFill/>
        </p:spPr>
        <p:txBody>
          <a:bodyPr wrap="square">
            <a:spAutoFit/>
          </a:bodyPr>
          <a:lstStyle/>
          <a:p>
            <a:r>
              <a:rPr lang="en-US" b="1" dirty="0">
                <a:latin typeface="Arial" panose="020B0604020202020204" pitchFamily="34" charset="0"/>
                <a:cs typeface="Arial" panose="020B0604020202020204" pitchFamily="34" charset="0"/>
              </a:rPr>
              <a:t>What does this mean?</a:t>
            </a:r>
          </a:p>
        </p:txBody>
      </p:sp>
      <p:sp>
        <p:nvSpPr>
          <p:cNvPr id="2" name="TextBox 1">
            <a:extLst>
              <a:ext uri="{FF2B5EF4-FFF2-40B4-BE49-F238E27FC236}">
                <a16:creationId xmlns:a16="http://schemas.microsoft.com/office/drawing/2014/main" id="{5F85886A-BFE8-3DB5-4138-ACFF1D24E06F}"/>
              </a:ext>
            </a:extLst>
          </p:cNvPr>
          <p:cNvSpPr txBox="1"/>
          <p:nvPr/>
        </p:nvSpPr>
        <p:spPr>
          <a:xfrm>
            <a:off x="432430" y="1282347"/>
            <a:ext cx="1438904" cy="369332"/>
          </a:xfrm>
          <a:prstGeom prst="rect">
            <a:avLst/>
          </a:prstGeom>
          <a:noFill/>
          <a:ln>
            <a:solidFill>
              <a:schemeClr val="tx1"/>
            </a:solidFill>
          </a:ln>
        </p:spPr>
        <p:txBody>
          <a:bodyPr wrap="square">
            <a:spAutoFit/>
          </a:bodyPr>
          <a:lstStyle/>
          <a:p>
            <a:r>
              <a:rPr lang="en-SG" dirty="0">
                <a:solidFill>
                  <a:srgbClr val="000000"/>
                </a:solidFill>
                <a:effectLst/>
                <a:latin typeface="Arial" panose="020B0604020202020204" pitchFamily="34" charset="0"/>
                <a:cs typeface="Arial" panose="020B0604020202020204" pitchFamily="34" charset="0"/>
              </a:rPr>
              <a:t>Initial </a:t>
            </a:r>
            <a:r>
              <a:rPr lang="en-SG" dirty="0" err="1">
                <a:solidFill>
                  <a:srgbClr val="000000"/>
                </a:solidFill>
                <a:effectLst/>
                <a:latin typeface="Arial" panose="020B0604020202020204" pitchFamily="34" charset="0"/>
                <a:cs typeface="Arial" panose="020B0604020202020204" pitchFamily="34" charset="0"/>
              </a:rPr>
              <a:t>Tumor</a:t>
            </a:r>
            <a:endParaRPr lang="en-SG" dirty="0">
              <a:solidFill>
                <a:srgbClr val="000000"/>
              </a:solidFill>
              <a:effectLst/>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59E45DED-C299-B441-CC03-DF18622E97DA}"/>
              </a:ext>
            </a:extLst>
          </p:cNvPr>
          <p:cNvSpPr txBox="1"/>
          <p:nvPr/>
        </p:nvSpPr>
        <p:spPr>
          <a:xfrm>
            <a:off x="2840653" y="1275856"/>
            <a:ext cx="1438904" cy="369332"/>
          </a:xfrm>
          <a:prstGeom prst="rect">
            <a:avLst/>
          </a:prstGeom>
          <a:noFill/>
          <a:ln>
            <a:solidFill>
              <a:schemeClr val="tx1"/>
            </a:solidFill>
          </a:ln>
        </p:spPr>
        <p:txBody>
          <a:bodyPr wrap="square">
            <a:spAutoFit/>
          </a:bodyPr>
          <a:lstStyle/>
          <a:p>
            <a:r>
              <a:rPr lang="en-SG" dirty="0">
                <a:solidFill>
                  <a:srgbClr val="000000"/>
                </a:solidFill>
                <a:effectLst/>
                <a:latin typeface="Arial" panose="020B0604020202020204" pitchFamily="34" charset="0"/>
                <a:cs typeface="Arial" panose="020B0604020202020204" pitchFamily="34" charset="0"/>
              </a:rPr>
              <a:t>Final </a:t>
            </a:r>
            <a:r>
              <a:rPr lang="en-SG" dirty="0" err="1">
                <a:solidFill>
                  <a:srgbClr val="000000"/>
                </a:solidFill>
                <a:effectLst/>
                <a:latin typeface="Arial" panose="020B0604020202020204" pitchFamily="34" charset="0"/>
                <a:cs typeface="Arial" panose="020B0604020202020204" pitchFamily="34" charset="0"/>
              </a:rPr>
              <a:t>Tumor</a:t>
            </a:r>
            <a:endParaRPr lang="en-SG" dirty="0">
              <a:solidFill>
                <a:srgbClr val="000000"/>
              </a:solidFill>
              <a:effectLst/>
              <a:latin typeface="Arial" panose="020B0604020202020204" pitchFamily="34" charset="0"/>
              <a:cs typeface="Arial" panose="020B0604020202020204" pitchFamily="34" charset="0"/>
            </a:endParaRPr>
          </a:p>
        </p:txBody>
      </p:sp>
      <p:sp>
        <p:nvSpPr>
          <p:cNvPr id="4" name="TextBox 3">
            <a:extLst>
              <a:ext uri="{FF2B5EF4-FFF2-40B4-BE49-F238E27FC236}">
                <a16:creationId xmlns:a16="http://schemas.microsoft.com/office/drawing/2014/main" id="{E0848428-F4FA-A78A-78B2-E15815DE035E}"/>
              </a:ext>
            </a:extLst>
          </p:cNvPr>
          <p:cNvSpPr txBox="1"/>
          <p:nvPr/>
        </p:nvSpPr>
        <p:spPr>
          <a:xfrm>
            <a:off x="5198730" y="1267037"/>
            <a:ext cx="2285803" cy="369332"/>
          </a:xfrm>
          <a:prstGeom prst="rect">
            <a:avLst/>
          </a:prstGeom>
          <a:noFill/>
          <a:ln>
            <a:solidFill>
              <a:schemeClr val="tx1"/>
            </a:solidFill>
          </a:ln>
        </p:spPr>
        <p:txBody>
          <a:bodyPr wrap="square">
            <a:spAutoFit/>
          </a:bodyPr>
          <a:lstStyle/>
          <a:p>
            <a:r>
              <a:rPr lang="en-SG" dirty="0">
                <a:solidFill>
                  <a:srgbClr val="000000"/>
                </a:solidFill>
                <a:effectLst/>
                <a:latin typeface="Arial" panose="020B0604020202020204" pitchFamily="34" charset="0"/>
                <a:cs typeface="Arial" panose="020B0604020202020204" pitchFamily="34" charset="0"/>
              </a:rPr>
              <a:t>Toxin Concentration</a:t>
            </a:r>
            <a:endParaRPr lang="en-US" dirty="0">
              <a:latin typeface="Arial" panose="020B0604020202020204" pitchFamily="34" charset="0"/>
              <a:cs typeface="Arial" panose="020B0604020202020204" pitchFamily="34" charset="0"/>
            </a:endParaRPr>
          </a:p>
        </p:txBody>
      </p:sp>
      <p:cxnSp>
        <p:nvCxnSpPr>
          <p:cNvPr id="17" name="Conector recto de flecha 4">
            <a:extLst>
              <a:ext uri="{FF2B5EF4-FFF2-40B4-BE49-F238E27FC236}">
                <a16:creationId xmlns:a16="http://schemas.microsoft.com/office/drawing/2014/main" id="{4D72E5A8-568B-5D3D-1DFC-F1593BC6AA46}"/>
              </a:ext>
            </a:extLst>
          </p:cNvPr>
          <p:cNvCxnSpPr>
            <a:cxnSpLocks/>
          </p:cNvCxnSpPr>
          <p:nvPr/>
        </p:nvCxnSpPr>
        <p:spPr>
          <a:xfrm>
            <a:off x="1927032" y="1439850"/>
            <a:ext cx="857922" cy="1"/>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26" name="Conector recto de flecha 4">
            <a:extLst>
              <a:ext uri="{FF2B5EF4-FFF2-40B4-BE49-F238E27FC236}">
                <a16:creationId xmlns:a16="http://schemas.microsoft.com/office/drawing/2014/main" id="{7C3B9CBD-5D18-E635-FE0C-4F3AF0B66495}"/>
              </a:ext>
            </a:extLst>
          </p:cNvPr>
          <p:cNvCxnSpPr>
            <a:cxnSpLocks/>
          </p:cNvCxnSpPr>
          <p:nvPr/>
        </p:nvCxnSpPr>
        <p:spPr>
          <a:xfrm flipV="1">
            <a:off x="4335256" y="1451703"/>
            <a:ext cx="807775" cy="7360"/>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7ED7C3E9-389D-6D16-97C5-E0840D452F28}"/>
              </a:ext>
            </a:extLst>
          </p:cNvPr>
          <p:cNvSpPr txBox="1"/>
          <p:nvPr/>
        </p:nvSpPr>
        <p:spPr>
          <a:xfrm>
            <a:off x="432430" y="887701"/>
            <a:ext cx="1421814" cy="369332"/>
          </a:xfrm>
          <a:prstGeom prst="rect">
            <a:avLst/>
          </a:prstGeom>
          <a:noFill/>
        </p:spPr>
        <p:txBody>
          <a:bodyPr wrap="square">
            <a:spAutoFit/>
          </a:bodyPr>
          <a:lstStyle/>
          <a:p>
            <a:r>
              <a:rPr lang="en-SG" dirty="0">
                <a:solidFill>
                  <a:srgbClr val="FB0007"/>
                </a:solidFill>
                <a:effectLst/>
                <a:latin typeface="Arial" panose="020B0604020202020204" pitchFamily="34" charset="0"/>
                <a:cs typeface="Arial" panose="020B0604020202020204" pitchFamily="34" charset="0"/>
              </a:rPr>
              <a:t>Truth</a:t>
            </a:r>
          </a:p>
        </p:txBody>
      </p:sp>
    </p:spTree>
    <p:extLst>
      <p:ext uri="{BB962C8B-B14F-4D97-AF65-F5344CB8AC3E}">
        <p14:creationId xmlns:p14="http://schemas.microsoft.com/office/powerpoint/2010/main" val="12990797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p:bldP spid="29"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9AD2E3E9-6B53-11AB-44F9-91F68A7BEEE9}"/>
              </a:ext>
            </a:extLst>
          </p:cNvPr>
          <p:cNvSpPr txBox="1"/>
          <p:nvPr/>
        </p:nvSpPr>
        <p:spPr>
          <a:xfrm>
            <a:off x="316571" y="284953"/>
            <a:ext cx="3415180" cy="461665"/>
          </a:xfrm>
          <a:prstGeom prst="rect">
            <a:avLst/>
          </a:prstGeom>
          <a:noFill/>
        </p:spPr>
        <p:txBody>
          <a:bodyPr wrap="square">
            <a:spAutoFit/>
          </a:bodyPr>
          <a:lstStyle/>
          <a:p>
            <a:r>
              <a:rPr lang="en-SG" sz="2400" b="1" dirty="0">
                <a:solidFill>
                  <a:srgbClr val="000000"/>
                </a:solidFill>
                <a:effectLst/>
                <a:latin typeface="Arial" panose="020B0604020202020204" pitchFamily="34" charset="0"/>
                <a:cs typeface="Arial" panose="020B0604020202020204" pitchFamily="34" charset="0"/>
              </a:rPr>
              <a:t>1. The </a:t>
            </a:r>
            <a:r>
              <a:rPr lang="en-SG" sz="2400" b="1" dirty="0">
                <a:solidFill>
                  <a:srgbClr val="000000"/>
                </a:solidFill>
                <a:latin typeface="Arial" panose="020B0604020202020204" pitchFamily="34" charset="0"/>
                <a:cs typeface="Arial" panose="020B0604020202020204" pitchFamily="34" charset="0"/>
              </a:rPr>
              <a:t>C</a:t>
            </a:r>
            <a:r>
              <a:rPr lang="en-SG" sz="2400" b="1" dirty="0">
                <a:solidFill>
                  <a:srgbClr val="000000"/>
                </a:solidFill>
                <a:effectLst/>
                <a:latin typeface="Arial" panose="020B0604020202020204" pitchFamily="34" charset="0"/>
                <a:cs typeface="Arial" panose="020B0604020202020204" pitchFamily="34" charset="0"/>
              </a:rPr>
              <a:t>hain/Pipe</a:t>
            </a:r>
          </a:p>
        </p:txBody>
      </p:sp>
      <p:sp>
        <p:nvSpPr>
          <p:cNvPr id="6" name="TextBox 5">
            <a:extLst>
              <a:ext uri="{FF2B5EF4-FFF2-40B4-BE49-F238E27FC236}">
                <a16:creationId xmlns:a16="http://schemas.microsoft.com/office/drawing/2014/main" id="{4A5D5F5D-0633-4783-0CF2-835B059239CF}"/>
              </a:ext>
            </a:extLst>
          </p:cNvPr>
          <p:cNvSpPr txBox="1"/>
          <p:nvPr/>
        </p:nvSpPr>
        <p:spPr>
          <a:xfrm>
            <a:off x="392100" y="1455922"/>
            <a:ext cx="903514" cy="369332"/>
          </a:xfrm>
          <a:prstGeom prst="rect">
            <a:avLst/>
          </a:prstGeom>
          <a:noFill/>
          <a:ln>
            <a:solidFill>
              <a:schemeClr val="tx1"/>
            </a:solidFill>
          </a:ln>
        </p:spPr>
        <p:txBody>
          <a:bodyPr wrap="square">
            <a:spAutoFit/>
          </a:bodyPr>
          <a:lstStyle/>
          <a:p>
            <a:r>
              <a:rPr lang="en-SG" dirty="0">
                <a:solidFill>
                  <a:srgbClr val="000000"/>
                </a:solidFill>
                <a:effectLst/>
                <a:latin typeface="Arial" panose="020B0604020202020204" pitchFamily="34" charset="0"/>
                <a:cs typeface="Arial" panose="020B0604020202020204" pitchFamily="34" charset="0"/>
              </a:rPr>
              <a:t>Cause</a:t>
            </a:r>
          </a:p>
        </p:txBody>
      </p:sp>
      <p:sp>
        <p:nvSpPr>
          <p:cNvPr id="8" name="TextBox 7">
            <a:extLst>
              <a:ext uri="{FF2B5EF4-FFF2-40B4-BE49-F238E27FC236}">
                <a16:creationId xmlns:a16="http://schemas.microsoft.com/office/drawing/2014/main" id="{EBC36678-BC08-86F1-4CEA-1E8B59D95236}"/>
              </a:ext>
            </a:extLst>
          </p:cNvPr>
          <p:cNvSpPr txBox="1"/>
          <p:nvPr/>
        </p:nvSpPr>
        <p:spPr>
          <a:xfrm>
            <a:off x="2982995" y="1455922"/>
            <a:ext cx="1203573" cy="369332"/>
          </a:xfrm>
          <a:prstGeom prst="rect">
            <a:avLst/>
          </a:prstGeom>
          <a:noFill/>
          <a:ln>
            <a:solidFill>
              <a:schemeClr val="tx1"/>
            </a:solidFill>
          </a:ln>
        </p:spPr>
        <p:txBody>
          <a:bodyPr wrap="square">
            <a:spAutoFit/>
          </a:bodyPr>
          <a:lstStyle/>
          <a:p>
            <a:r>
              <a:rPr lang="en-SG" dirty="0">
                <a:solidFill>
                  <a:srgbClr val="000000"/>
                </a:solidFill>
                <a:effectLst/>
                <a:latin typeface="Arial" panose="020B0604020202020204" pitchFamily="34" charset="0"/>
                <a:cs typeface="Arial" panose="020B0604020202020204" pitchFamily="34" charset="0"/>
              </a:rPr>
              <a:t>Mediator</a:t>
            </a:r>
          </a:p>
        </p:txBody>
      </p:sp>
      <p:sp>
        <p:nvSpPr>
          <p:cNvPr id="10" name="TextBox 9">
            <a:extLst>
              <a:ext uri="{FF2B5EF4-FFF2-40B4-BE49-F238E27FC236}">
                <a16:creationId xmlns:a16="http://schemas.microsoft.com/office/drawing/2014/main" id="{E01DE2CE-8501-95F1-B30C-E9E8C8F17C0E}"/>
              </a:ext>
            </a:extLst>
          </p:cNvPr>
          <p:cNvSpPr txBox="1"/>
          <p:nvPr/>
        </p:nvSpPr>
        <p:spPr>
          <a:xfrm>
            <a:off x="6006418" y="1455922"/>
            <a:ext cx="870857" cy="369332"/>
          </a:xfrm>
          <a:prstGeom prst="rect">
            <a:avLst/>
          </a:prstGeom>
          <a:noFill/>
          <a:ln>
            <a:solidFill>
              <a:schemeClr val="tx1"/>
            </a:solidFill>
          </a:ln>
        </p:spPr>
        <p:txBody>
          <a:bodyPr wrap="square">
            <a:spAutoFit/>
          </a:bodyPr>
          <a:lstStyle/>
          <a:p>
            <a:r>
              <a:rPr lang="en-SG" dirty="0">
                <a:solidFill>
                  <a:srgbClr val="000000"/>
                </a:solidFill>
                <a:effectLst/>
                <a:latin typeface="Arial" panose="020B0604020202020204" pitchFamily="34" charset="0"/>
                <a:cs typeface="Arial" panose="020B0604020202020204" pitchFamily="34" charset="0"/>
              </a:rPr>
              <a:t>Effect</a:t>
            </a:r>
            <a:endParaRPr lang="en-US" dirty="0">
              <a:latin typeface="Arial" panose="020B0604020202020204" pitchFamily="34" charset="0"/>
              <a:cs typeface="Arial" panose="020B0604020202020204" pitchFamily="34" charset="0"/>
            </a:endParaRPr>
          </a:p>
        </p:txBody>
      </p:sp>
      <p:cxnSp>
        <p:nvCxnSpPr>
          <p:cNvPr id="11" name="Conector recto de flecha 4">
            <a:extLst>
              <a:ext uri="{FF2B5EF4-FFF2-40B4-BE49-F238E27FC236}">
                <a16:creationId xmlns:a16="http://schemas.microsoft.com/office/drawing/2014/main" id="{53BD870E-43B7-B0C2-9FC0-165D97AF49C9}"/>
              </a:ext>
            </a:extLst>
          </p:cNvPr>
          <p:cNvCxnSpPr>
            <a:cxnSpLocks/>
          </p:cNvCxnSpPr>
          <p:nvPr/>
        </p:nvCxnSpPr>
        <p:spPr>
          <a:xfrm>
            <a:off x="1396390" y="1640588"/>
            <a:ext cx="1586605" cy="0"/>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3DAF8C31-3D3E-C14A-0ECA-8CE48B6DC1BF}"/>
              </a:ext>
            </a:extLst>
          </p:cNvPr>
          <p:cNvSpPr txBox="1"/>
          <p:nvPr/>
        </p:nvSpPr>
        <p:spPr>
          <a:xfrm>
            <a:off x="623723" y="3959541"/>
            <a:ext cx="903514" cy="369332"/>
          </a:xfrm>
          <a:prstGeom prst="rect">
            <a:avLst/>
          </a:prstGeom>
          <a:noFill/>
          <a:ln>
            <a:solidFill>
              <a:schemeClr val="tx1"/>
            </a:solidFill>
          </a:ln>
        </p:spPr>
        <p:txBody>
          <a:bodyPr wrap="square">
            <a:spAutoFit/>
          </a:bodyPr>
          <a:lstStyle/>
          <a:p>
            <a:r>
              <a:rPr lang="en-SG" dirty="0">
                <a:solidFill>
                  <a:srgbClr val="000000"/>
                </a:solidFill>
                <a:effectLst/>
                <a:latin typeface="Arial" panose="020B0604020202020204" pitchFamily="34" charset="0"/>
                <a:cs typeface="Arial" panose="020B0604020202020204" pitchFamily="34" charset="0"/>
              </a:rPr>
              <a:t>Cause</a:t>
            </a:r>
          </a:p>
        </p:txBody>
      </p:sp>
      <p:sp>
        <p:nvSpPr>
          <p:cNvPr id="20" name="TextBox 19">
            <a:extLst>
              <a:ext uri="{FF2B5EF4-FFF2-40B4-BE49-F238E27FC236}">
                <a16:creationId xmlns:a16="http://schemas.microsoft.com/office/drawing/2014/main" id="{6DC5DB76-86FA-91CC-9F7C-05C995CDCF34}"/>
              </a:ext>
            </a:extLst>
          </p:cNvPr>
          <p:cNvSpPr txBox="1"/>
          <p:nvPr/>
        </p:nvSpPr>
        <p:spPr>
          <a:xfrm>
            <a:off x="618173" y="4935232"/>
            <a:ext cx="1143001" cy="369332"/>
          </a:xfrm>
          <a:prstGeom prst="rect">
            <a:avLst/>
          </a:prstGeom>
          <a:noFill/>
          <a:ln>
            <a:solidFill>
              <a:schemeClr val="tx1"/>
            </a:solidFill>
          </a:ln>
        </p:spPr>
        <p:txBody>
          <a:bodyPr wrap="square">
            <a:spAutoFit/>
          </a:bodyPr>
          <a:lstStyle/>
          <a:p>
            <a:r>
              <a:rPr lang="en-SG" dirty="0">
                <a:solidFill>
                  <a:srgbClr val="000000"/>
                </a:solidFill>
                <a:effectLst/>
                <a:latin typeface="Arial" panose="020B0604020202020204" pitchFamily="34" charset="0"/>
                <a:cs typeface="Arial" panose="020B0604020202020204" pitchFamily="34" charset="0"/>
              </a:rPr>
              <a:t>Mediator</a:t>
            </a:r>
          </a:p>
        </p:txBody>
      </p:sp>
      <p:sp>
        <p:nvSpPr>
          <p:cNvPr id="21" name="TextBox 20">
            <a:extLst>
              <a:ext uri="{FF2B5EF4-FFF2-40B4-BE49-F238E27FC236}">
                <a16:creationId xmlns:a16="http://schemas.microsoft.com/office/drawing/2014/main" id="{9085CD37-424F-7E04-20D3-B6A3B38298AD}"/>
              </a:ext>
            </a:extLst>
          </p:cNvPr>
          <p:cNvSpPr txBox="1"/>
          <p:nvPr/>
        </p:nvSpPr>
        <p:spPr>
          <a:xfrm>
            <a:off x="3214415" y="4383876"/>
            <a:ext cx="870857" cy="369332"/>
          </a:xfrm>
          <a:prstGeom prst="rect">
            <a:avLst/>
          </a:prstGeom>
          <a:noFill/>
          <a:ln>
            <a:solidFill>
              <a:schemeClr val="tx1"/>
            </a:solidFill>
          </a:ln>
        </p:spPr>
        <p:txBody>
          <a:bodyPr wrap="square">
            <a:spAutoFit/>
          </a:bodyPr>
          <a:lstStyle/>
          <a:p>
            <a:r>
              <a:rPr lang="en-SG" dirty="0">
                <a:solidFill>
                  <a:srgbClr val="000000"/>
                </a:solidFill>
                <a:effectLst/>
                <a:latin typeface="Arial" panose="020B0604020202020204" pitchFamily="34" charset="0"/>
                <a:cs typeface="Arial" panose="020B0604020202020204" pitchFamily="34" charset="0"/>
              </a:rPr>
              <a:t>Effect</a:t>
            </a:r>
            <a:endParaRPr lang="en-US" dirty="0">
              <a:latin typeface="Arial" panose="020B0604020202020204" pitchFamily="34" charset="0"/>
              <a:cs typeface="Arial" panose="020B0604020202020204" pitchFamily="34" charset="0"/>
            </a:endParaRPr>
          </a:p>
        </p:txBody>
      </p:sp>
      <p:cxnSp>
        <p:nvCxnSpPr>
          <p:cNvPr id="22" name="Conector recto de flecha 4">
            <a:extLst>
              <a:ext uri="{FF2B5EF4-FFF2-40B4-BE49-F238E27FC236}">
                <a16:creationId xmlns:a16="http://schemas.microsoft.com/office/drawing/2014/main" id="{D366A5C7-5764-0DB4-13F1-1BAFFB568FED}"/>
              </a:ext>
            </a:extLst>
          </p:cNvPr>
          <p:cNvCxnSpPr>
            <a:cxnSpLocks/>
          </p:cNvCxnSpPr>
          <p:nvPr/>
        </p:nvCxnSpPr>
        <p:spPr>
          <a:xfrm>
            <a:off x="1679638" y="4144207"/>
            <a:ext cx="1371385" cy="330150"/>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24" name="Conector recto de flecha 4">
            <a:extLst>
              <a:ext uri="{FF2B5EF4-FFF2-40B4-BE49-F238E27FC236}">
                <a16:creationId xmlns:a16="http://schemas.microsoft.com/office/drawing/2014/main" id="{26500A12-03C1-4E7F-A324-BF06B83974F7}"/>
              </a:ext>
            </a:extLst>
          </p:cNvPr>
          <p:cNvCxnSpPr>
            <a:cxnSpLocks/>
          </p:cNvCxnSpPr>
          <p:nvPr/>
        </p:nvCxnSpPr>
        <p:spPr>
          <a:xfrm flipV="1">
            <a:off x="1843030" y="4681785"/>
            <a:ext cx="1207993" cy="529003"/>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27" name="Curved Connector 26">
            <a:extLst>
              <a:ext uri="{FF2B5EF4-FFF2-40B4-BE49-F238E27FC236}">
                <a16:creationId xmlns:a16="http://schemas.microsoft.com/office/drawing/2014/main" id="{8A601937-8229-682C-9340-AA5F36E58575}"/>
              </a:ext>
            </a:extLst>
          </p:cNvPr>
          <p:cNvCxnSpPr>
            <a:cxnSpLocks/>
            <a:stCxn id="19" idx="1"/>
          </p:cNvCxnSpPr>
          <p:nvPr/>
        </p:nvCxnSpPr>
        <p:spPr>
          <a:xfrm rot="10800000" flipV="1">
            <a:off x="618173" y="4144206"/>
            <a:ext cx="5550" cy="1066581"/>
          </a:xfrm>
          <a:prstGeom prst="curvedConnector3">
            <a:avLst>
              <a:gd name="adj1" fmla="val 4218919"/>
            </a:avLst>
          </a:prstGeom>
          <a:ln w="2540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1" name="Conector recto de flecha 4">
            <a:extLst>
              <a:ext uri="{FF2B5EF4-FFF2-40B4-BE49-F238E27FC236}">
                <a16:creationId xmlns:a16="http://schemas.microsoft.com/office/drawing/2014/main" id="{ED47D2E7-44B4-C49C-A172-64044E4625A7}"/>
              </a:ext>
            </a:extLst>
          </p:cNvPr>
          <p:cNvCxnSpPr>
            <a:cxnSpLocks/>
          </p:cNvCxnSpPr>
          <p:nvPr/>
        </p:nvCxnSpPr>
        <p:spPr>
          <a:xfrm>
            <a:off x="4220436" y="1640588"/>
            <a:ext cx="1687381" cy="0"/>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68" name="TextBox 67">
            <a:extLst>
              <a:ext uri="{FF2B5EF4-FFF2-40B4-BE49-F238E27FC236}">
                <a16:creationId xmlns:a16="http://schemas.microsoft.com/office/drawing/2014/main" id="{40151345-23FA-EC98-7C52-BEFBEAF07E52}"/>
              </a:ext>
            </a:extLst>
          </p:cNvPr>
          <p:cNvSpPr txBox="1"/>
          <p:nvPr/>
        </p:nvSpPr>
        <p:spPr>
          <a:xfrm>
            <a:off x="392100" y="939937"/>
            <a:ext cx="4789714" cy="369332"/>
          </a:xfrm>
          <a:prstGeom prst="rect">
            <a:avLst/>
          </a:prstGeom>
          <a:noFill/>
        </p:spPr>
        <p:txBody>
          <a:bodyPr wrap="square">
            <a:spAutoFit/>
          </a:bodyPr>
          <a:lstStyle/>
          <a:p>
            <a:r>
              <a:rPr lang="en-US" dirty="0">
                <a:solidFill>
                  <a:srgbClr val="FF0000"/>
                </a:solidFill>
                <a:latin typeface="Arial" panose="020B0604020202020204" pitchFamily="34" charset="0"/>
                <a:cs typeface="Arial" panose="020B0604020202020204" pitchFamily="34" charset="0"/>
              </a:rPr>
              <a:t>Causal model</a:t>
            </a:r>
          </a:p>
        </p:txBody>
      </p:sp>
      <p:sp>
        <p:nvSpPr>
          <p:cNvPr id="3" name="TextBox 2">
            <a:extLst>
              <a:ext uri="{FF2B5EF4-FFF2-40B4-BE49-F238E27FC236}">
                <a16:creationId xmlns:a16="http://schemas.microsoft.com/office/drawing/2014/main" id="{3CA9D1D2-37EA-0C08-BB21-0B8BA3D583C5}"/>
              </a:ext>
            </a:extLst>
          </p:cNvPr>
          <p:cNvSpPr txBox="1"/>
          <p:nvPr/>
        </p:nvSpPr>
        <p:spPr>
          <a:xfrm>
            <a:off x="392100" y="2631179"/>
            <a:ext cx="903514" cy="369332"/>
          </a:xfrm>
          <a:prstGeom prst="rect">
            <a:avLst/>
          </a:prstGeom>
          <a:noFill/>
          <a:ln>
            <a:solidFill>
              <a:schemeClr val="tx1"/>
            </a:solidFill>
          </a:ln>
        </p:spPr>
        <p:txBody>
          <a:bodyPr wrap="square">
            <a:spAutoFit/>
          </a:bodyPr>
          <a:lstStyle/>
          <a:p>
            <a:r>
              <a:rPr lang="en-SG" dirty="0">
                <a:solidFill>
                  <a:srgbClr val="000000"/>
                </a:solidFill>
                <a:effectLst/>
                <a:latin typeface="Arial" panose="020B0604020202020204" pitchFamily="34" charset="0"/>
                <a:cs typeface="Arial" panose="020B0604020202020204" pitchFamily="34" charset="0"/>
              </a:rPr>
              <a:t>Cause</a:t>
            </a:r>
          </a:p>
        </p:txBody>
      </p:sp>
      <p:sp>
        <p:nvSpPr>
          <p:cNvPr id="5" name="TextBox 4">
            <a:extLst>
              <a:ext uri="{FF2B5EF4-FFF2-40B4-BE49-F238E27FC236}">
                <a16:creationId xmlns:a16="http://schemas.microsoft.com/office/drawing/2014/main" id="{8CC1E19E-C2E3-ECCF-1E4D-C340D7EBC3A4}"/>
              </a:ext>
            </a:extLst>
          </p:cNvPr>
          <p:cNvSpPr txBox="1"/>
          <p:nvPr/>
        </p:nvSpPr>
        <p:spPr>
          <a:xfrm>
            <a:off x="2979249" y="2627810"/>
            <a:ext cx="870857" cy="369332"/>
          </a:xfrm>
          <a:prstGeom prst="rect">
            <a:avLst/>
          </a:prstGeom>
          <a:noFill/>
          <a:ln>
            <a:solidFill>
              <a:schemeClr val="tx1"/>
            </a:solidFill>
          </a:ln>
        </p:spPr>
        <p:txBody>
          <a:bodyPr wrap="square">
            <a:spAutoFit/>
          </a:bodyPr>
          <a:lstStyle/>
          <a:p>
            <a:r>
              <a:rPr lang="en-SG" dirty="0">
                <a:solidFill>
                  <a:srgbClr val="000000"/>
                </a:solidFill>
                <a:effectLst/>
                <a:latin typeface="Arial" panose="020B0604020202020204" pitchFamily="34" charset="0"/>
                <a:cs typeface="Arial" panose="020B0604020202020204" pitchFamily="34" charset="0"/>
              </a:rPr>
              <a:t>Effect</a:t>
            </a:r>
            <a:endParaRPr lang="en-US" dirty="0">
              <a:latin typeface="Arial" panose="020B0604020202020204" pitchFamily="34" charset="0"/>
              <a:cs typeface="Arial" panose="020B0604020202020204" pitchFamily="34" charset="0"/>
            </a:endParaRPr>
          </a:p>
        </p:txBody>
      </p:sp>
      <p:cxnSp>
        <p:nvCxnSpPr>
          <p:cNvPr id="7" name="Conector recto de flecha 4">
            <a:extLst>
              <a:ext uri="{FF2B5EF4-FFF2-40B4-BE49-F238E27FC236}">
                <a16:creationId xmlns:a16="http://schemas.microsoft.com/office/drawing/2014/main" id="{CC6219B2-C77E-8CE7-D66D-C59C63BCF820}"/>
              </a:ext>
            </a:extLst>
          </p:cNvPr>
          <p:cNvCxnSpPr>
            <a:cxnSpLocks/>
          </p:cNvCxnSpPr>
          <p:nvPr/>
        </p:nvCxnSpPr>
        <p:spPr>
          <a:xfrm>
            <a:off x="1352460" y="2812475"/>
            <a:ext cx="1516833" cy="0"/>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251C4E9D-467A-456A-F189-BC0FBDC571F4}"/>
              </a:ext>
            </a:extLst>
          </p:cNvPr>
          <p:cNvSpPr txBox="1"/>
          <p:nvPr/>
        </p:nvSpPr>
        <p:spPr>
          <a:xfrm>
            <a:off x="4186568" y="2489310"/>
            <a:ext cx="4133793" cy="646331"/>
          </a:xfrm>
          <a:prstGeom prst="rect">
            <a:avLst/>
          </a:prstGeom>
          <a:noFill/>
        </p:spPr>
        <p:txBody>
          <a:bodyPr wrap="square">
            <a:spAutoFit/>
          </a:bodyPr>
          <a:lstStyle/>
          <a:p>
            <a:r>
              <a:rPr lang="en-US" sz="1800" dirty="0">
                <a:latin typeface="Arial" panose="020B0604020202020204" pitchFamily="34" charset="0"/>
                <a:cs typeface="Arial" panose="020B0604020202020204" pitchFamily="34" charset="0"/>
              </a:rPr>
              <a:t>• </a:t>
            </a:r>
            <a:r>
              <a:rPr lang="en-US" sz="1800" b="1" dirty="0">
                <a:latin typeface="Arial" panose="020B0604020202020204" pitchFamily="34" charset="0"/>
                <a:cs typeface="Arial" panose="020B0604020202020204" pitchFamily="34" charset="0"/>
              </a:rPr>
              <a:t>Ignoring Mediator, </a:t>
            </a:r>
          </a:p>
          <a:p>
            <a:r>
              <a:rPr lang="en-US" sz="1800" b="1" dirty="0">
                <a:latin typeface="Arial" panose="020B0604020202020204" pitchFamily="34" charset="0"/>
                <a:cs typeface="Arial" panose="020B0604020202020204" pitchFamily="34" charset="0"/>
              </a:rPr>
              <a:t>Cause and Effect associated </a:t>
            </a:r>
          </a:p>
        </p:txBody>
      </p:sp>
      <p:sp>
        <p:nvSpPr>
          <p:cNvPr id="16" name="TextBox 15">
            <a:extLst>
              <a:ext uri="{FF2B5EF4-FFF2-40B4-BE49-F238E27FC236}">
                <a16:creationId xmlns:a16="http://schemas.microsoft.com/office/drawing/2014/main" id="{58171651-EE4F-B21E-4331-4A3AB74FF8F0}"/>
              </a:ext>
            </a:extLst>
          </p:cNvPr>
          <p:cNvSpPr txBox="1"/>
          <p:nvPr/>
        </p:nvSpPr>
        <p:spPr>
          <a:xfrm>
            <a:off x="316571" y="2156572"/>
            <a:ext cx="1794306" cy="369332"/>
          </a:xfrm>
          <a:prstGeom prst="rect">
            <a:avLst/>
          </a:prstGeom>
          <a:noFill/>
        </p:spPr>
        <p:txBody>
          <a:bodyPr wrap="square">
            <a:spAutoFit/>
          </a:bodyPr>
          <a:lstStyle/>
          <a:p>
            <a:r>
              <a:rPr lang="en-SG" dirty="0">
                <a:solidFill>
                  <a:srgbClr val="FB0007"/>
                </a:solidFill>
                <a:effectLst/>
                <a:latin typeface="Arial" panose="020B0604020202020204" pitchFamily="34" charset="0"/>
                <a:cs typeface="Arial" panose="020B0604020202020204" pitchFamily="34" charset="0"/>
              </a:rPr>
              <a:t>Regression 1</a:t>
            </a:r>
          </a:p>
        </p:txBody>
      </p:sp>
      <p:sp>
        <p:nvSpPr>
          <p:cNvPr id="18" name="TextBox 17">
            <a:extLst>
              <a:ext uri="{FF2B5EF4-FFF2-40B4-BE49-F238E27FC236}">
                <a16:creationId xmlns:a16="http://schemas.microsoft.com/office/drawing/2014/main" id="{DF0FDDBB-8AE1-73C3-C06D-82958743FB3B}"/>
              </a:ext>
            </a:extLst>
          </p:cNvPr>
          <p:cNvSpPr txBox="1"/>
          <p:nvPr/>
        </p:nvSpPr>
        <p:spPr>
          <a:xfrm>
            <a:off x="4222700" y="975750"/>
            <a:ext cx="4572000" cy="369332"/>
          </a:xfrm>
          <a:prstGeom prst="rect">
            <a:avLst/>
          </a:prstGeom>
          <a:noFill/>
        </p:spPr>
        <p:txBody>
          <a:bodyPr wrap="square">
            <a:spAutoFit/>
          </a:bodyPr>
          <a:lstStyle/>
          <a:p>
            <a:r>
              <a:rPr lang="en-US" sz="1800" dirty="0">
                <a:latin typeface="Arial" panose="020B0604020202020204" pitchFamily="34" charset="0"/>
                <a:cs typeface="Arial" panose="020B0604020202020204" pitchFamily="34" charset="0"/>
              </a:rPr>
              <a:t>• </a:t>
            </a:r>
            <a:r>
              <a:rPr lang="en-US" sz="1800" b="1" dirty="0">
                <a:latin typeface="Arial" panose="020B0604020202020204" pitchFamily="34" charset="0"/>
                <a:cs typeface="Arial" panose="020B0604020202020204" pitchFamily="34" charset="0"/>
              </a:rPr>
              <a:t>Mediator blocks cause</a:t>
            </a:r>
          </a:p>
        </p:txBody>
      </p:sp>
      <p:sp>
        <p:nvSpPr>
          <p:cNvPr id="23" name="TextBox 22">
            <a:extLst>
              <a:ext uri="{FF2B5EF4-FFF2-40B4-BE49-F238E27FC236}">
                <a16:creationId xmlns:a16="http://schemas.microsoft.com/office/drawing/2014/main" id="{24AF81B0-026D-8D98-2837-235DAE26FA8A}"/>
              </a:ext>
            </a:extLst>
          </p:cNvPr>
          <p:cNvSpPr txBox="1"/>
          <p:nvPr/>
        </p:nvSpPr>
        <p:spPr>
          <a:xfrm>
            <a:off x="316571" y="3454099"/>
            <a:ext cx="1545771" cy="369332"/>
          </a:xfrm>
          <a:prstGeom prst="rect">
            <a:avLst/>
          </a:prstGeom>
          <a:noFill/>
        </p:spPr>
        <p:txBody>
          <a:bodyPr wrap="square">
            <a:spAutoFit/>
          </a:bodyPr>
          <a:lstStyle/>
          <a:p>
            <a:r>
              <a:rPr lang="en-SG" dirty="0">
                <a:solidFill>
                  <a:srgbClr val="FB0007"/>
                </a:solidFill>
                <a:effectLst/>
                <a:latin typeface="Arial" panose="020B0604020202020204" pitchFamily="34" charset="0"/>
                <a:cs typeface="Arial" panose="020B0604020202020204" pitchFamily="34" charset="0"/>
              </a:rPr>
              <a:t>Regression 2</a:t>
            </a:r>
          </a:p>
        </p:txBody>
      </p:sp>
      <p:sp>
        <p:nvSpPr>
          <p:cNvPr id="25" name="TextBox 24">
            <a:extLst>
              <a:ext uri="{FF2B5EF4-FFF2-40B4-BE49-F238E27FC236}">
                <a16:creationId xmlns:a16="http://schemas.microsoft.com/office/drawing/2014/main" id="{806C5F4D-84A7-74C7-2A74-698B65A3BF96}"/>
              </a:ext>
            </a:extLst>
          </p:cNvPr>
          <p:cNvSpPr txBox="1"/>
          <p:nvPr/>
        </p:nvSpPr>
        <p:spPr>
          <a:xfrm>
            <a:off x="4220436" y="3917883"/>
            <a:ext cx="4133793" cy="646331"/>
          </a:xfrm>
          <a:prstGeom prst="rect">
            <a:avLst/>
          </a:prstGeom>
          <a:noFill/>
        </p:spPr>
        <p:txBody>
          <a:bodyPr wrap="square">
            <a:spAutoFit/>
          </a:bodyPr>
          <a:lstStyle/>
          <a:p>
            <a:r>
              <a:rPr lang="en-US" sz="1800" dirty="0">
                <a:latin typeface="Arial" panose="020B0604020202020204" pitchFamily="34" charset="0"/>
                <a:cs typeface="Arial" panose="020B0604020202020204" pitchFamily="34" charset="0"/>
              </a:rPr>
              <a:t>• </a:t>
            </a:r>
            <a:r>
              <a:rPr lang="en-US" sz="1800" b="1" dirty="0">
                <a:latin typeface="Arial" panose="020B0604020202020204" pitchFamily="34" charset="0"/>
                <a:cs typeface="Arial" panose="020B0604020202020204" pitchFamily="34" charset="0"/>
              </a:rPr>
              <a:t>Conditioned</a:t>
            </a:r>
            <a:r>
              <a:rPr lang="en-US" b="1" dirty="0">
                <a:latin typeface="Arial" panose="020B0604020202020204" pitchFamily="34" charset="0"/>
                <a:cs typeface="Arial" panose="020B0604020202020204" pitchFamily="34" charset="0"/>
              </a:rPr>
              <a:t> by </a:t>
            </a:r>
            <a:r>
              <a:rPr lang="en-US" sz="1800" b="1" dirty="0">
                <a:latin typeface="Arial" panose="020B0604020202020204" pitchFamily="34" charset="0"/>
                <a:cs typeface="Arial" panose="020B0604020202020204" pitchFamily="34" charset="0"/>
              </a:rPr>
              <a:t>Mediator, </a:t>
            </a:r>
          </a:p>
          <a:p>
            <a:r>
              <a:rPr lang="en-US" sz="1800" b="1" dirty="0">
                <a:latin typeface="Arial" panose="020B0604020202020204" pitchFamily="34" charset="0"/>
                <a:cs typeface="Arial" panose="020B0604020202020204" pitchFamily="34" charset="0"/>
              </a:rPr>
              <a:t>Cause and Effect </a:t>
            </a:r>
            <a:r>
              <a:rPr lang="en-US" b="1" dirty="0">
                <a:latin typeface="Arial" panose="020B0604020202020204" pitchFamily="34" charset="0"/>
                <a:cs typeface="Arial" panose="020B0604020202020204" pitchFamily="34" charset="0"/>
              </a:rPr>
              <a:t>NOT </a:t>
            </a:r>
            <a:r>
              <a:rPr lang="en-US" sz="1800" b="1" dirty="0">
                <a:latin typeface="Arial" panose="020B0604020202020204" pitchFamily="34" charset="0"/>
                <a:cs typeface="Arial" panose="020B0604020202020204" pitchFamily="34" charset="0"/>
              </a:rPr>
              <a:t>associated </a:t>
            </a:r>
          </a:p>
        </p:txBody>
      </p:sp>
    </p:spTree>
    <p:extLst>
      <p:ext uri="{BB962C8B-B14F-4D97-AF65-F5344CB8AC3E}">
        <p14:creationId xmlns:p14="http://schemas.microsoft.com/office/powerpoint/2010/main" val="145855586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633A63-A6D2-E290-8B9E-4ACE9E3AC485}"/>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9AE9C3F0-E30D-7AB6-8EEF-82F8AD9574A3}"/>
              </a:ext>
            </a:extLst>
          </p:cNvPr>
          <p:cNvSpPr txBox="1"/>
          <p:nvPr/>
        </p:nvSpPr>
        <p:spPr>
          <a:xfrm>
            <a:off x="368770" y="315549"/>
            <a:ext cx="8656697" cy="461665"/>
          </a:xfrm>
          <a:prstGeom prst="rect">
            <a:avLst/>
          </a:prstGeom>
          <a:noFill/>
        </p:spPr>
        <p:txBody>
          <a:bodyPr wrap="square">
            <a:spAutoFit/>
          </a:bodyPr>
          <a:lstStyle/>
          <a:p>
            <a:r>
              <a:rPr lang="en-US" sz="2400" b="1" dirty="0">
                <a:latin typeface="Arial" panose="020B0604020202020204" pitchFamily="34" charset="0"/>
                <a:cs typeface="Arial" panose="020B0604020202020204" pitchFamily="34" charset="0"/>
              </a:rPr>
              <a:t>Elemental paths in causal graphs (and Why to use SEM)</a:t>
            </a:r>
          </a:p>
        </p:txBody>
      </p:sp>
      <p:grpSp>
        <p:nvGrpSpPr>
          <p:cNvPr id="9" name="Group 8">
            <a:extLst>
              <a:ext uri="{FF2B5EF4-FFF2-40B4-BE49-F238E27FC236}">
                <a16:creationId xmlns:a16="http://schemas.microsoft.com/office/drawing/2014/main" id="{68C7E3BC-B27F-E9BE-8686-C33271251FF5}"/>
              </a:ext>
            </a:extLst>
          </p:cNvPr>
          <p:cNvGrpSpPr/>
          <p:nvPr/>
        </p:nvGrpSpPr>
        <p:grpSpPr>
          <a:xfrm>
            <a:off x="971491" y="1049865"/>
            <a:ext cx="6919443" cy="4924993"/>
            <a:chOff x="455024" y="937854"/>
            <a:chExt cx="7733628" cy="5231739"/>
          </a:xfrm>
        </p:grpSpPr>
        <p:sp>
          <p:nvSpPr>
            <p:cNvPr id="3" name="TextBox 2">
              <a:extLst>
                <a:ext uri="{FF2B5EF4-FFF2-40B4-BE49-F238E27FC236}">
                  <a16:creationId xmlns:a16="http://schemas.microsoft.com/office/drawing/2014/main" id="{DF086887-4861-603A-FAD1-F43E31E84086}"/>
                </a:ext>
              </a:extLst>
            </p:cNvPr>
            <p:cNvSpPr txBox="1"/>
            <p:nvPr/>
          </p:nvSpPr>
          <p:spPr>
            <a:xfrm>
              <a:off x="1028808" y="1369943"/>
              <a:ext cx="2345125" cy="392335"/>
            </a:xfrm>
            <a:prstGeom prst="rect">
              <a:avLst/>
            </a:prstGeom>
            <a:noFill/>
          </p:spPr>
          <p:txBody>
            <a:bodyPr wrap="square">
              <a:spAutoFit/>
            </a:bodyPr>
            <a:lstStyle/>
            <a:p>
              <a:r>
                <a:rPr lang="en-SG" b="1" dirty="0">
                  <a:solidFill>
                    <a:schemeClr val="bg2"/>
                  </a:solidFill>
                  <a:effectLst/>
                  <a:latin typeface="Arial" panose="020B0604020202020204" pitchFamily="34" charset="0"/>
                  <a:cs typeface="Arial" panose="020B0604020202020204" pitchFamily="34" charset="0"/>
                </a:rPr>
                <a:t>1. The </a:t>
              </a:r>
              <a:r>
                <a:rPr lang="en-SG" b="1" dirty="0">
                  <a:solidFill>
                    <a:schemeClr val="bg2"/>
                  </a:solidFill>
                  <a:latin typeface="Arial" panose="020B0604020202020204" pitchFamily="34" charset="0"/>
                  <a:cs typeface="Arial" panose="020B0604020202020204" pitchFamily="34" charset="0"/>
                </a:rPr>
                <a:t>Chain/Pipe </a:t>
              </a:r>
              <a:endParaRPr lang="en-SG" b="1" dirty="0">
                <a:solidFill>
                  <a:schemeClr val="bg2"/>
                </a:solidFill>
                <a:effectLst/>
                <a:latin typeface="Arial" panose="020B0604020202020204" pitchFamily="34" charset="0"/>
                <a:cs typeface="Arial" panose="020B0604020202020204" pitchFamily="34" charset="0"/>
              </a:endParaRPr>
            </a:p>
          </p:txBody>
        </p:sp>
        <p:sp>
          <p:nvSpPr>
            <p:cNvPr id="4" name="CuadroTexto 3">
              <a:extLst>
                <a:ext uri="{FF2B5EF4-FFF2-40B4-BE49-F238E27FC236}">
                  <a16:creationId xmlns:a16="http://schemas.microsoft.com/office/drawing/2014/main" id="{BF1A2AA8-7801-B823-7704-CA7FEA0F8228}"/>
                </a:ext>
              </a:extLst>
            </p:cNvPr>
            <p:cNvSpPr txBox="1"/>
            <p:nvPr/>
          </p:nvSpPr>
          <p:spPr>
            <a:xfrm>
              <a:off x="560410" y="2121657"/>
              <a:ext cx="555762" cy="555808"/>
            </a:xfrm>
            <a:prstGeom prst="rect">
              <a:avLst/>
            </a:prstGeom>
            <a:noFill/>
            <a:ln w="25400">
              <a:solidFill>
                <a:schemeClr val="bg2"/>
              </a:solidFill>
            </a:ln>
          </p:spPr>
          <p:txBody>
            <a:bodyPr wrap="none" rtlCol="0">
              <a:spAutoFit/>
            </a:bodyPr>
            <a:lstStyle/>
            <a:p>
              <a:r>
                <a:rPr lang="es-ES" sz="2800" dirty="0">
                  <a:solidFill>
                    <a:schemeClr val="bg2"/>
                  </a:solidFill>
                  <a:latin typeface="Arial" panose="020B0604020202020204" pitchFamily="34" charset="0"/>
                  <a:cs typeface="Arial" panose="020B0604020202020204" pitchFamily="34" charset="0"/>
                </a:rPr>
                <a:t>x</a:t>
              </a:r>
              <a:r>
                <a:rPr lang="es-ES" sz="2800" baseline="-25000" dirty="0">
                  <a:solidFill>
                    <a:schemeClr val="bg2"/>
                  </a:solidFill>
                  <a:latin typeface="Arial" panose="020B0604020202020204" pitchFamily="34" charset="0"/>
                  <a:cs typeface="Arial" panose="020B0604020202020204" pitchFamily="34" charset="0"/>
                </a:rPr>
                <a:t>1</a:t>
              </a:r>
            </a:p>
          </p:txBody>
        </p:sp>
        <p:cxnSp>
          <p:nvCxnSpPr>
            <p:cNvPr id="6" name="Conector recto de flecha 4">
              <a:extLst>
                <a:ext uri="{FF2B5EF4-FFF2-40B4-BE49-F238E27FC236}">
                  <a16:creationId xmlns:a16="http://schemas.microsoft.com/office/drawing/2014/main" id="{BDCF233C-2B8C-55A3-764F-6E3582F3DD83}"/>
                </a:ext>
              </a:extLst>
            </p:cNvPr>
            <p:cNvCxnSpPr>
              <a:cxnSpLocks/>
              <a:stCxn id="4" idx="3"/>
            </p:cNvCxnSpPr>
            <p:nvPr/>
          </p:nvCxnSpPr>
          <p:spPr>
            <a:xfrm flipV="1">
              <a:off x="1116172" y="2395144"/>
              <a:ext cx="599201" cy="4417"/>
            </a:xfrm>
            <a:prstGeom prst="straightConnector1">
              <a:avLst/>
            </a:prstGeom>
            <a:ln w="25400">
              <a:solidFill>
                <a:schemeClr val="bg2"/>
              </a:solidFill>
              <a:tailEnd type="triangle" w="lg" len="lg"/>
            </a:ln>
          </p:spPr>
          <p:style>
            <a:lnRef idx="1">
              <a:schemeClr val="accent1"/>
            </a:lnRef>
            <a:fillRef idx="0">
              <a:schemeClr val="accent1"/>
            </a:fillRef>
            <a:effectRef idx="0">
              <a:schemeClr val="accent1"/>
            </a:effectRef>
            <a:fontRef idx="minor">
              <a:schemeClr val="tx1"/>
            </a:fontRef>
          </p:style>
        </p:cxnSp>
        <p:sp>
          <p:nvSpPr>
            <p:cNvPr id="7" name="CuadroTexto 5">
              <a:extLst>
                <a:ext uri="{FF2B5EF4-FFF2-40B4-BE49-F238E27FC236}">
                  <a16:creationId xmlns:a16="http://schemas.microsoft.com/office/drawing/2014/main" id="{A43AF96C-8BC6-91FB-E557-1C5CFDD34744}"/>
                </a:ext>
              </a:extLst>
            </p:cNvPr>
            <p:cNvSpPr txBox="1"/>
            <p:nvPr/>
          </p:nvSpPr>
          <p:spPr>
            <a:xfrm>
              <a:off x="2857510" y="2121657"/>
              <a:ext cx="577189" cy="555808"/>
            </a:xfrm>
            <a:prstGeom prst="rect">
              <a:avLst/>
            </a:prstGeom>
            <a:noFill/>
            <a:ln w="25400">
              <a:solidFill>
                <a:schemeClr val="bg2"/>
              </a:solidFill>
            </a:ln>
          </p:spPr>
          <p:txBody>
            <a:bodyPr wrap="none" rtlCol="0">
              <a:spAutoFit/>
            </a:bodyPr>
            <a:lstStyle/>
            <a:p>
              <a:r>
                <a:rPr lang="es-ES" sz="2800" dirty="0">
                  <a:solidFill>
                    <a:schemeClr val="bg2"/>
                  </a:solidFill>
                  <a:latin typeface="Arial" panose="020B0604020202020204" pitchFamily="34" charset="0"/>
                  <a:cs typeface="Arial" panose="020B0604020202020204" pitchFamily="34" charset="0"/>
                </a:rPr>
                <a:t>Y </a:t>
              </a:r>
              <a:endParaRPr lang="es-ES" sz="2800" baseline="-25000" dirty="0">
                <a:solidFill>
                  <a:schemeClr val="bg2"/>
                </a:solidFill>
                <a:latin typeface="Arial" panose="020B0604020202020204" pitchFamily="34" charset="0"/>
                <a:cs typeface="Arial" panose="020B0604020202020204" pitchFamily="34" charset="0"/>
              </a:endParaRPr>
            </a:p>
          </p:txBody>
        </p:sp>
        <p:sp>
          <p:nvSpPr>
            <p:cNvPr id="8" name="CuadroTexto 6">
              <a:extLst>
                <a:ext uri="{FF2B5EF4-FFF2-40B4-BE49-F238E27FC236}">
                  <a16:creationId xmlns:a16="http://schemas.microsoft.com/office/drawing/2014/main" id="{A742CD6D-E615-F4FA-819B-95B492615C7B}"/>
                </a:ext>
              </a:extLst>
            </p:cNvPr>
            <p:cNvSpPr txBox="1"/>
            <p:nvPr/>
          </p:nvSpPr>
          <p:spPr>
            <a:xfrm>
              <a:off x="1715372" y="2121657"/>
              <a:ext cx="555762" cy="555808"/>
            </a:xfrm>
            <a:prstGeom prst="rect">
              <a:avLst/>
            </a:prstGeom>
            <a:noFill/>
            <a:ln w="25400">
              <a:solidFill>
                <a:schemeClr val="bg2"/>
              </a:solidFill>
            </a:ln>
          </p:spPr>
          <p:txBody>
            <a:bodyPr wrap="none" rtlCol="0">
              <a:spAutoFit/>
            </a:bodyPr>
            <a:lstStyle/>
            <a:p>
              <a:r>
                <a:rPr lang="es-ES" sz="2800" dirty="0">
                  <a:solidFill>
                    <a:schemeClr val="bg2"/>
                  </a:solidFill>
                  <a:latin typeface="Arial" panose="020B0604020202020204" pitchFamily="34" charset="0"/>
                  <a:cs typeface="Arial" panose="020B0604020202020204" pitchFamily="34" charset="0"/>
                </a:rPr>
                <a:t>x</a:t>
              </a:r>
              <a:r>
                <a:rPr lang="es-ES" sz="2800" baseline="-25000" dirty="0">
                  <a:solidFill>
                    <a:schemeClr val="bg2"/>
                  </a:solidFill>
                  <a:latin typeface="Arial" panose="020B0604020202020204" pitchFamily="34" charset="0"/>
                  <a:cs typeface="Arial" panose="020B0604020202020204" pitchFamily="34" charset="0"/>
                </a:rPr>
                <a:t>2</a:t>
              </a:r>
            </a:p>
          </p:txBody>
        </p:sp>
        <p:cxnSp>
          <p:nvCxnSpPr>
            <p:cNvPr id="11" name="Conector recto de flecha 4">
              <a:extLst>
                <a:ext uri="{FF2B5EF4-FFF2-40B4-BE49-F238E27FC236}">
                  <a16:creationId xmlns:a16="http://schemas.microsoft.com/office/drawing/2014/main" id="{112EBC8B-AEB5-8E64-0365-9BA0AC1A467A}"/>
                </a:ext>
              </a:extLst>
            </p:cNvPr>
            <p:cNvCxnSpPr>
              <a:cxnSpLocks/>
              <a:stCxn id="8" idx="3"/>
            </p:cNvCxnSpPr>
            <p:nvPr/>
          </p:nvCxnSpPr>
          <p:spPr>
            <a:xfrm flipV="1">
              <a:off x="2271133" y="2383267"/>
              <a:ext cx="592788" cy="16294"/>
            </a:xfrm>
            <a:prstGeom prst="straightConnector1">
              <a:avLst/>
            </a:prstGeom>
            <a:ln w="25400">
              <a:solidFill>
                <a:schemeClr val="bg2"/>
              </a:solidFill>
              <a:tailEnd type="triangle" w="lg" len="lg"/>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6A54BB9D-1630-47D2-AAB5-741E20D43ADB}"/>
                </a:ext>
              </a:extLst>
            </p:cNvPr>
            <p:cNvSpPr txBox="1"/>
            <p:nvPr/>
          </p:nvSpPr>
          <p:spPr>
            <a:xfrm>
              <a:off x="5992077" y="937854"/>
              <a:ext cx="2101946" cy="392335"/>
            </a:xfrm>
            <a:prstGeom prst="rect">
              <a:avLst/>
            </a:prstGeom>
            <a:noFill/>
          </p:spPr>
          <p:txBody>
            <a:bodyPr wrap="square">
              <a:spAutoFit/>
            </a:bodyPr>
            <a:lstStyle/>
            <a:p>
              <a:r>
                <a:rPr lang="en-SG" b="1" dirty="0">
                  <a:solidFill>
                    <a:srgbClr val="000000"/>
                  </a:solidFill>
                  <a:latin typeface="Arial" panose="020B0604020202020204" pitchFamily="34" charset="0"/>
                  <a:cs typeface="Arial" panose="020B0604020202020204" pitchFamily="34" charset="0"/>
                </a:rPr>
                <a:t>3</a:t>
              </a:r>
              <a:r>
                <a:rPr lang="en-SG" b="1" dirty="0">
                  <a:solidFill>
                    <a:srgbClr val="000000"/>
                  </a:solidFill>
                  <a:effectLst/>
                  <a:latin typeface="Arial" panose="020B0604020202020204" pitchFamily="34" charset="0"/>
                  <a:cs typeface="Arial" panose="020B0604020202020204" pitchFamily="34" charset="0"/>
                </a:rPr>
                <a:t>. The Collider</a:t>
              </a:r>
            </a:p>
          </p:txBody>
        </p:sp>
        <p:sp>
          <p:nvSpPr>
            <p:cNvPr id="13" name="TextBox 12">
              <a:extLst>
                <a:ext uri="{FF2B5EF4-FFF2-40B4-BE49-F238E27FC236}">
                  <a16:creationId xmlns:a16="http://schemas.microsoft.com/office/drawing/2014/main" id="{5E152B9A-CA86-C865-8F5A-F2DDF7CF83A0}"/>
                </a:ext>
              </a:extLst>
            </p:cNvPr>
            <p:cNvSpPr txBox="1"/>
            <p:nvPr/>
          </p:nvSpPr>
          <p:spPr>
            <a:xfrm>
              <a:off x="5743472" y="3461657"/>
              <a:ext cx="2246457" cy="392335"/>
            </a:xfrm>
            <a:prstGeom prst="rect">
              <a:avLst/>
            </a:prstGeom>
            <a:noFill/>
          </p:spPr>
          <p:txBody>
            <a:bodyPr wrap="square">
              <a:spAutoFit/>
            </a:bodyPr>
            <a:lstStyle/>
            <a:p>
              <a:r>
                <a:rPr lang="en-SG" b="1" dirty="0">
                  <a:solidFill>
                    <a:srgbClr val="000000"/>
                  </a:solidFill>
                  <a:effectLst/>
                  <a:latin typeface="Arial" panose="020B0604020202020204" pitchFamily="34" charset="0"/>
                  <a:cs typeface="Arial" panose="020B0604020202020204" pitchFamily="34" charset="0"/>
                </a:rPr>
                <a:t>4. The Fork</a:t>
              </a:r>
            </a:p>
          </p:txBody>
        </p:sp>
        <p:sp>
          <p:nvSpPr>
            <p:cNvPr id="14" name="TextBox 13">
              <a:extLst>
                <a:ext uri="{FF2B5EF4-FFF2-40B4-BE49-F238E27FC236}">
                  <a16:creationId xmlns:a16="http://schemas.microsoft.com/office/drawing/2014/main" id="{06ACE92A-C080-EE7A-FBEA-607B94A3F55E}"/>
                </a:ext>
              </a:extLst>
            </p:cNvPr>
            <p:cNvSpPr txBox="1"/>
            <p:nvPr/>
          </p:nvSpPr>
          <p:spPr>
            <a:xfrm>
              <a:off x="808569" y="3830335"/>
              <a:ext cx="2800036" cy="392335"/>
            </a:xfrm>
            <a:prstGeom prst="rect">
              <a:avLst/>
            </a:prstGeom>
            <a:noFill/>
          </p:spPr>
          <p:txBody>
            <a:bodyPr wrap="square">
              <a:spAutoFit/>
            </a:bodyPr>
            <a:lstStyle/>
            <a:p>
              <a:r>
                <a:rPr lang="en-SG" b="1" dirty="0">
                  <a:solidFill>
                    <a:srgbClr val="000000"/>
                  </a:solidFill>
                  <a:effectLst/>
                  <a:latin typeface="Arial" panose="020B0604020202020204" pitchFamily="34" charset="0"/>
                  <a:cs typeface="Arial" panose="020B0604020202020204" pitchFamily="34" charset="0"/>
                </a:rPr>
                <a:t>2. The Descendant</a:t>
              </a:r>
            </a:p>
          </p:txBody>
        </p:sp>
        <p:sp>
          <p:nvSpPr>
            <p:cNvPr id="15" name="CuadroTexto 3">
              <a:extLst>
                <a:ext uri="{FF2B5EF4-FFF2-40B4-BE49-F238E27FC236}">
                  <a16:creationId xmlns:a16="http://schemas.microsoft.com/office/drawing/2014/main" id="{60AE9702-12BB-09F2-CD9E-3E9B26B79186}"/>
                </a:ext>
              </a:extLst>
            </p:cNvPr>
            <p:cNvSpPr txBox="1"/>
            <p:nvPr/>
          </p:nvSpPr>
          <p:spPr>
            <a:xfrm>
              <a:off x="5431971" y="1511100"/>
              <a:ext cx="560106" cy="523220"/>
            </a:xfrm>
            <a:prstGeom prst="rect">
              <a:avLst/>
            </a:prstGeom>
            <a:noFill/>
            <a:ln w="25400">
              <a:solidFill>
                <a:schemeClr val="tx1"/>
              </a:solidFill>
            </a:ln>
          </p:spPr>
          <p:txBody>
            <a:bodyPr wrap="square" rtlCol="0">
              <a:spAutoFit/>
            </a:bodyPr>
            <a:lstStyle/>
            <a:p>
              <a:r>
                <a:rPr lang="es-ES" sz="2800" dirty="0">
                  <a:latin typeface="Arial" panose="020B0604020202020204" pitchFamily="34" charset="0"/>
                  <a:cs typeface="Arial" panose="020B0604020202020204" pitchFamily="34" charset="0"/>
                </a:rPr>
                <a:t>x</a:t>
              </a:r>
              <a:r>
                <a:rPr lang="es-ES" sz="2800" baseline="-25000" dirty="0">
                  <a:latin typeface="Arial" panose="020B0604020202020204" pitchFamily="34" charset="0"/>
                  <a:cs typeface="Arial" panose="020B0604020202020204" pitchFamily="34" charset="0"/>
                </a:rPr>
                <a:t>1</a:t>
              </a:r>
            </a:p>
          </p:txBody>
        </p:sp>
        <p:cxnSp>
          <p:nvCxnSpPr>
            <p:cNvPr id="16" name="Conector recto de flecha 4">
              <a:extLst>
                <a:ext uri="{FF2B5EF4-FFF2-40B4-BE49-F238E27FC236}">
                  <a16:creationId xmlns:a16="http://schemas.microsoft.com/office/drawing/2014/main" id="{23AB2C54-EF02-31C3-352E-662CD04F07EE}"/>
                </a:ext>
              </a:extLst>
            </p:cNvPr>
            <p:cNvCxnSpPr>
              <a:cxnSpLocks/>
            </p:cNvCxnSpPr>
            <p:nvPr/>
          </p:nvCxnSpPr>
          <p:spPr>
            <a:xfrm>
              <a:off x="5996018" y="2032918"/>
              <a:ext cx="455723" cy="490562"/>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17" name="CuadroTexto 5">
              <a:extLst>
                <a:ext uri="{FF2B5EF4-FFF2-40B4-BE49-F238E27FC236}">
                  <a16:creationId xmlns:a16="http://schemas.microsoft.com/office/drawing/2014/main" id="{9ADDCD03-A1CB-ABA1-873F-7CD029BF014E}"/>
                </a:ext>
              </a:extLst>
            </p:cNvPr>
            <p:cNvSpPr txBox="1"/>
            <p:nvPr/>
          </p:nvSpPr>
          <p:spPr>
            <a:xfrm>
              <a:off x="6464416" y="2516640"/>
              <a:ext cx="441146" cy="523220"/>
            </a:xfrm>
            <a:prstGeom prst="rect">
              <a:avLst/>
            </a:prstGeom>
            <a:noFill/>
            <a:ln w="25400">
              <a:solidFill>
                <a:schemeClr val="tx1"/>
              </a:solidFill>
            </a:ln>
          </p:spPr>
          <p:txBody>
            <a:bodyPr wrap="square" rtlCol="0">
              <a:spAutoFit/>
            </a:bodyPr>
            <a:lstStyle/>
            <a:p>
              <a:r>
                <a:rPr lang="es-ES" sz="2800" dirty="0">
                  <a:latin typeface="Arial" panose="020B0604020202020204" pitchFamily="34" charset="0"/>
                  <a:cs typeface="Arial" panose="020B0604020202020204" pitchFamily="34" charset="0"/>
                </a:rPr>
                <a:t>Y </a:t>
              </a:r>
              <a:endParaRPr lang="es-ES" sz="2800" baseline="-25000" dirty="0">
                <a:latin typeface="Arial" panose="020B0604020202020204" pitchFamily="34" charset="0"/>
                <a:cs typeface="Arial" panose="020B0604020202020204" pitchFamily="34" charset="0"/>
              </a:endParaRPr>
            </a:p>
          </p:txBody>
        </p:sp>
        <p:sp>
          <p:nvSpPr>
            <p:cNvPr id="18" name="CuadroTexto 6">
              <a:extLst>
                <a:ext uri="{FF2B5EF4-FFF2-40B4-BE49-F238E27FC236}">
                  <a16:creationId xmlns:a16="http://schemas.microsoft.com/office/drawing/2014/main" id="{5FE0E466-D4BD-7A9A-BB3C-72E654D87CDB}"/>
                </a:ext>
              </a:extLst>
            </p:cNvPr>
            <p:cNvSpPr txBox="1"/>
            <p:nvPr/>
          </p:nvSpPr>
          <p:spPr>
            <a:xfrm>
              <a:off x="7537848" y="1513253"/>
              <a:ext cx="650804" cy="523220"/>
            </a:xfrm>
            <a:prstGeom prst="rect">
              <a:avLst/>
            </a:prstGeom>
            <a:noFill/>
            <a:ln w="25400">
              <a:solidFill>
                <a:schemeClr val="tx1"/>
              </a:solidFill>
            </a:ln>
          </p:spPr>
          <p:txBody>
            <a:bodyPr wrap="square" rtlCol="0">
              <a:spAutoFit/>
            </a:bodyPr>
            <a:lstStyle/>
            <a:p>
              <a:r>
                <a:rPr lang="es-ES" sz="2800" dirty="0">
                  <a:latin typeface="Arial" panose="020B0604020202020204" pitchFamily="34" charset="0"/>
                  <a:cs typeface="Arial" panose="020B0604020202020204" pitchFamily="34" charset="0"/>
                </a:rPr>
                <a:t>x</a:t>
              </a:r>
              <a:r>
                <a:rPr lang="es-ES" sz="2800" baseline="-25000" dirty="0">
                  <a:latin typeface="Arial" panose="020B0604020202020204" pitchFamily="34" charset="0"/>
                  <a:cs typeface="Arial" panose="020B0604020202020204" pitchFamily="34" charset="0"/>
                </a:rPr>
                <a:t>2</a:t>
              </a:r>
            </a:p>
          </p:txBody>
        </p:sp>
        <p:cxnSp>
          <p:nvCxnSpPr>
            <p:cNvPr id="19" name="Conector recto de flecha 4">
              <a:extLst>
                <a:ext uri="{FF2B5EF4-FFF2-40B4-BE49-F238E27FC236}">
                  <a16:creationId xmlns:a16="http://schemas.microsoft.com/office/drawing/2014/main" id="{1661D428-A767-77EB-9B7F-E17256B3E6F9}"/>
                </a:ext>
              </a:extLst>
            </p:cNvPr>
            <p:cNvCxnSpPr>
              <a:cxnSpLocks/>
            </p:cNvCxnSpPr>
            <p:nvPr/>
          </p:nvCxnSpPr>
          <p:spPr>
            <a:xfrm flipH="1">
              <a:off x="6887044" y="2051421"/>
              <a:ext cx="650804" cy="483284"/>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28" name="CuadroTexto 3">
              <a:extLst>
                <a:ext uri="{FF2B5EF4-FFF2-40B4-BE49-F238E27FC236}">
                  <a16:creationId xmlns:a16="http://schemas.microsoft.com/office/drawing/2014/main" id="{CAAC67D7-6176-87DC-475D-717E50FF0F11}"/>
                </a:ext>
              </a:extLst>
            </p:cNvPr>
            <p:cNvSpPr txBox="1"/>
            <p:nvPr/>
          </p:nvSpPr>
          <p:spPr>
            <a:xfrm>
              <a:off x="455024" y="4532778"/>
              <a:ext cx="497252" cy="523220"/>
            </a:xfrm>
            <a:prstGeom prst="rect">
              <a:avLst/>
            </a:prstGeom>
            <a:noFill/>
            <a:ln w="25400">
              <a:solidFill>
                <a:schemeClr val="tx1"/>
              </a:solidFill>
            </a:ln>
          </p:spPr>
          <p:txBody>
            <a:bodyPr wrap="none" rtlCol="0">
              <a:spAutoFit/>
            </a:bodyPr>
            <a:lstStyle/>
            <a:p>
              <a:r>
                <a:rPr lang="es-ES" sz="2800" dirty="0">
                  <a:latin typeface="Arial" panose="020B0604020202020204" pitchFamily="34" charset="0"/>
                  <a:cs typeface="Arial" panose="020B0604020202020204" pitchFamily="34" charset="0"/>
                </a:rPr>
                <a:t>x</a:t>
              </a:r>
              <a:r>
                <a:rPr lang="es-ES" sz="2800" baseline="-25000" dirty="0">
                  <a:latin typeface="Arial" panose="020B0604020202020204" pitchFamily="34" charset="0"/>
                  <a:cs typeface="Arial" panose="020B0604020202020204" pitchFamily="34" charset="0"/>
                </a:rPr>
                <a:t>1</a:t>
              </a:r>
            </a:p>
          </p:txBody>
        </p:sp>
        <p:cxnSp>
          <p:nvCxnSpPr>
            <p:cNvPr id="29" name="Conector recto de flecha 4">
              <a:extLst>
                <a:ext uri="{FF2B5EF4-FFF2-40B4-BE49-F238E27FC236}">
                  <a16:creationId xmlns:a16="http://schemas.microsoft.com/office/drawing/2014/main" id="{5CF27422-E9DF-326A-DB50-63CABC1A2596}"/>
                </a:ext>
              </a:extLst>
            </p:cNvPr>
            <p:cNvCxnSpPr>
              <a:cxnSpLocks/>
              <a:stCxn id="28" idx="3"/>
            </p:cNvCxnSpPr>
            <p:nvPr/>
          </p:nvCxnSpPr>
          <p:spPr>
            <a:xfrm>
              <a:off x="952276" y="4794388"/>
              <a:ext cx="657710" cy="11877"/>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30" name="CuadroTexto 5">
              <a:extLst>
                <a:ext uri="{FF2B5EF4-FFF2-40B4-BE49-F238E27FC236}">
                  <a16:creationId xmlns:a16="http://schemas.microsoft.com/office/drawing/2014/main" id="{640F97A8-B652-1495-8A32-8822D291FFBD}"/>
                </a:ext>
              </a:extLst>
            </p:cNvPr>
            <p:cNvSpPr txBox="1"/>
            <p:nvPr/>
          </p:nvSpPr>
          <p:spPr>
            <a:xfrm>
              <a:off x="2752124" y="4532778"/>
              <a:ext cx="516423" cy="523220"/>
            </a:xfrm>
            <a:prstGeom prst="rect">
              <a:avLst/>
            </a:prstGeom>
            <a:noFill/>
            <a:ln w="25400">
              <a:solidFill>
                <a:schemeClr val="tx1"/>
              </a:solidFill>
            </a:ln>
          </p:spPr>
          <p:txBody>
            <a:bodyPr wrap="none" rtlCol="0">
              <a:spAutoFit/>
            </a:bodyPr>
            <a:lstStyle/>
            <a:p>
              <a:r>
                <a:rPr lang="es-ES" sz="2800" dirty="0">
                  <a:latin typeface="Arial" panose="020B0604020202020204" pitchFamily="34" charset="0"/>
                  <a:cs typeface="Arial" panose="020B0604020202020204" pitchFamily="34" charset="0"/>
                </a:rPr>
                <a:t>Y </a:t>
              </a:r>
              <a:endParaRPr lang="es-ES" sz="2800" baseline="-25000" dirty="0">
                <a:latin typeface="Arial" panose="020B0604020202020204" pitchFamily="34" charset="0"/>
                <a:cs typeface="Arial" panose="020B0604020202020204" pitchFamily="34" charset="0"/>
              </a:endParaRPr>
            </a:p>
          </p:txBody>
        </p:sp>
        <p:sp>
          <p:nvSpPr>
            <p:cNvPr id="31" name="CuadroTexto 6">
              <a:extLst>
                <a:ext uri="{FF2B5EF4-FFF2-40B4-BE49-F238E27FC236}">
                  <a16:creationId xmlns:a16="http://schemas.microsoft.com/office/drawing/2014/main" id="{221E09FE-F7DB-2189-F398-2EE65C87DA0B}"/>
                </a:ext>
              </a:extLst>
            </p:cNvPr>
            <p:cNvSpPr txBox="1"/>
            <p:nvPr/>
          </p:nvSpPr>
          <p:spPr>
            <a:xfrm>
              <a:off x="1609986" y="4532778"/>
              <a:ext cx="497252" cy="523220"/>
            </a:xfrm>
            <a:prstGeom prst="rect">
              <a:avLst/>
            </a:prstGeom>
            <a:noFill/>
            <a:ln w="25400">
              <a:solidFill>
                <a:schemeClr val="tx1"/>
              </a:solidFill>
            </a:ln>
          </p:spPr>
          <p:txBody>
            <a:bodyPr wrap="none" rtlCol="0">
              <a:spAutoFit/>
            </a:bodyPr>
            <a:lstStyle/>
            <a:p>
              <a:r>
                <a:rPr lang="es-ES" sz="2800" dirty="0">
                  <a:latin typeface="Arial" panose="020B0604020202020204" pitchFamily="34" charset="0"/>
                  <a:cs typeface="Arial" panose="020B0604020202020204" pitchFamily="34" charset="0"/>
                </a:rPr>
                <a:t>x</a:t>
              </a:r>
              <a:r>
                <a:rPr lang="es-ES" sz="2800" baseline="-25000" dirty="0">
                  <a:latin typeface="Arial" panose="020B0604020202020204" pitchFamily="34" charset="0"/>
                  <a:cs typeface="Arial" panose="020B0604020202020204" pitchFamily="34" charset="0"/>
                </a:rPr>
                <a:t>2</a:t>
              </a:r>
            </a:p>
          </p:txBody>
        </p:sp>
        <p:cxnSp>
          <p:nvCxnSpPr>
            <p:cNvPr id="32" name="Conector recto de flecha 4">
              <a:extLst>
                <a:ext uri="{FF2B5EF4-FFF2-40B4-BE49-F238E27FC236}">
                  <a16:creationId xmlns:a16="http://schemas.microsoft.com/office/drawing/2014/main" id="{FF101DF0-0C09-CD5A-E5F1-9769B918A980}"/>
                </a:ext>
              </a:extLst>
            </p:cNvPr>
            <p:cNvCxnSpPr>
              <a:cxnSpLocks/>
              <a:stCxn id="31" idx="3"/>
            </p:cNvCxnSpPr>
            <p:nvPr/>
          </p:nvCxnSpPr>
          <p:spPr>
            <a:xfrm>
              <a:off x="2107238" y="4794388"/>
              <a:ext cx="651298" cy="0"/>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33" name="Conector recto de flecha 4">
              <a:extLst>
                <a:ext uri="{FF2B5EF4-FFF2-40B4-BE49-F238E27FC236}">
                  <a16:creationId xmlns:a16="http://schemas.microsoft.com/office/drawing/2014/main" id="{90D2C722-04CD-ABFC-7F71-5E34E1CA66DC}"/>
                </a:ext>
              </a:extLst>
            </p:cNvPr>
            <p:cNvCxnSpPr>
              <a:cxnSpLocks/>
            </p:cNvCxnSpPr>
            <p:nvPr/>
          </p:nvCxnSpPr>
          <p:spPr>
            <a:xfrm>
              <a:off x="1866029" y="5055998"/>
              <a:ext cx="0" cy="588533"/>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35" name="CuadroTexto 6">
              <a:extLst>
                <a:ext uri="{FF2B5EF4-FFF2-40B4-BE49-F238E27FC236}">
                  <a16:creationId xmlns:a16="http://schemas.microsoft.com/office/drawing/2014/main" id="{C8781530-3939-A32A-0730-00E520D0936F}"/>
                </a:ext>
              </a:extLst>
            </p:cNvPr>
            <p:cNvSpPr txBox="1"/>
            <p:nvPr/>
          </p:nvSpPr>
          <p:spPr>
            <a:xfrm>
              <a:off x="1609986" y="5646373"/>
              <a:ext cx="497252" cy="523220"/>
            </a:xfrm>
            <a:prstGeom prst="rect">
              <a:avLst/>
            </a:prstGeom>
            <a:noFill/>
            <a:ln w="25400">
              <a:solidFill>
                <a:schemeClr val="tx1"/>
              </a:solidFill>
            </a:ln>
          </p:spPr>
          <p:txBody>
            <a:bodyPr wrap="none" rtlCol="0">
              <a:spAutoFit/>
            </a:bodyPr>
            <a:lstStyle/>
            <a:p>
              <a:r>
                <a:rPr lang="es-ES" sz="2800" dirty="0">
                  <a:latin typeface="Arial" panose="020B0604020202020204" pitchFamily="34" charset="0"/>
                  <a:cs typeface="Arial" panose="020B0604020202020204" pitchFamily="34" charset="0"/>
                </a:rPr>
                <a:t>x</a:t>
              </a:r>
              <a:r>
                <a:rPr lang="es-ES" sz="2800" baseline="-25000" dirty="0">
                  <a:latin typeface="Arial" panose="020B0604020202020204" pitchFamily="34" charset="0"/>
                  <a:cs typeface="Arial" panose="020B0604020202020204" pitchFamily="34" charset="0"/>
                </a:rPr>
                <a:t>3</a:t>
              </a:r>
            </a:p>
          </p:txBody>
        </p:sp>
        <p:sp>
          <p:nvSpPr>
            <p:cNvPr id="45" name="CuadroTexto 3">
              <a:extLst>
                <a:ext uri="{FF2B5EF4-FFF2-40B4-BE49-F238E27FC236}">
                  <a16:creationId xmlns:a16="http://schemas.microsoft.com/office/drawing/2014/main" id="{518EA89B-CC21-5347-D3FE-08AFE379370B}"/>
                </a:ext>
              </a:extLst>
            </p:cNvPr>
            <p:cNvSpPr txBox="1"/>
            <p:nvPr/>
          </p:nvSpPr>
          <p:spPr>
            <a:xfrm>
              <a:off x="5029202" y="5477528"/>
              <a:ext cx="603646" cy="523220"/>
            </a:xfrm>
            <a:prstGeom prst="rect">
              <a:avLst/>
            </a:prstGeom>
            <a:noFill/>
            <a:ln w="25400">
              <a:solidFill>
                <a:schemeClr val="tx1"/>
              </a:solidFill>
            </a:ln>
          </p:spPr>
          <p:txBody>
            <a:bodyPr wrap="square" rtlCol="0">
              <a:spAutoFit/>
            </a:bodyPr>
            <a:lstStyle/>
            <a:p>
              <a:r>
                <a:rPr lang="es-ES" sz="2800" dirty="0">
                  <a:latin typeface="Arial" panose="020B0604020202020204" pitchFamily="34" charset="0"/>
                  <a:cs typeface="Arial" panose="020B0604020202020204" pitchFamily="34" charset="0"/>
                </a:rPr>
                <a:t>x</a:t>
              </a:r>
              <a:r>
                <a:rPr lang="es-ES" sz="2800" baseline="-25000" dirty="0">
                  <a:latin typeface="Arial" panose="020B0604020202020204" pitchFamily="34" charset="0"/>
                  <a:cs typeface="Arial" panose="020B0604020202020204" pitchFamily="34" charset="0"/>
                </a:rPr>
                <a:t>1</a:t>
              </a:r>
            </a:p>
          </p:txBody>
        </p:sp>
        <p:cxnSp>
          <p:nvCxnSpPr>
            <p:cNvPr id="46" name="Conector recto de flecha 4">
              <a:extLst>
                <a:ext uri="{FF2B5EF4-FFF2-40B4-BE49-F238E27FC236}">
                  <a16:creationId xmlns:a16="http://schemas.microsoft.com/office/drawing/2014/main" id="{7FD0F8C8-F617-EC98-5C89-956373EF77C5}"/>
                </a:ext>
              </a:extLst>
            </p:cNvPr>
            <p:cNvCxnSpPr>
              <a:cxnSpLocks/>
              <a:endCxn id="45" idx="0"/>
            </p:cNvCxnSpPr>
            <p:nvPr/>
          </p:nvCxnSpPr>
          <p:spPr>
            <a:xfrm flipH="1">
              <a:off x="5331025" y="4555253"/>
              <a:ext cx="724546" cy="922275"/>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47" name="CuadroTexto 5">
              <a:extLst>
                <a:ext uri="{FF2B5EF4-FFF2-40B4-BE49-F238E27FC236}">
                  <a16:creationId xmlns:a16="http://schemas.microsoft.com/office/drawing/2014/main" id="{ED7BAF9E-2520-4DC4-456A-5B0727F675F2}"/>
                </a:ext>
              </a:extLst>
            </p:cNvPr>
            <p:cNvSpPr txBox="1"/>
            <p:nvPr/>
          </p:nvSpPr>
          <p:spPr>
            <a:xfrm>
              <a:off x="7309482" y="5445806"/>
              <a:ext cx="441146" cy="523220"/>
            </a:xfrm>
            <a:prstGeom prst="rect">
              <a:avLst/>
            </a:prstGeom>
            <a:noFill/>
            <a:ln w="25400">
              <a:solidFill>
                <a:schemeClr val="tx1"/>
              </a:solidFill>
            </a:ln>
          </p:spPr>
          <p:txBody>
            <a:bodyPr wrap="square" rtlCol="0">
              <a:spAutoFit/>
            </a:bodyPr>
            <a:lstStyle/>
            <a:p>
              <a:r>
                <a:rPr lang="es-ES" sz="2800" dirty="0">
                  <a:latin typeface="Arial" panose="020B0604020202020204" pitchFamily="34" charset="0"/>
                  <a:cs typeface="Arial" panose="020B0604020202020204" pitchFamily="34" charset="0"/>
                </a:rPr>
                <a:t>Y </a:t>
              </a:r>
              <a:endParaRPr lang="es-ES" sz="2800" baseline="-25000" dirty="0">
                <a:latin typeface="Arial" panose="020B0604020202020204" pitchFamily="34" charset="0"/>
                <a:cs typeface="Arial" panose="020B0604020202020204" pitchFamily="34" charset="0"/>
              </a:endParaRPr>
            </a:p>
          </p:txBody>
        </p:sp>
        <p:sp>
          <p:nvSpPr>
            <p:cNvPr id="48" name="CuadroTexto 6">
              <a:extLst>
                <a:ext uri="{FF2B5EF4-FFF2-40B4-BE49-F238E27FC236}">
                  <a16:creationId xmlns:a16="http://schemas.microsoft.com/office/drawing/2014/main" id="{E3A7D47D-1831-ADFC-3E2A-EEBDB3F27A64}"/>
                </a:ext>
              </a:extLst>
            </p:cNvPr>
            <p:cNvSpPr txBox="1"/>
            <p:nvPr/>
          </p:nvSpPr>
          <p:spPr>
            <a:xfrm>
              <a:off x="6055573" y="4032033"/>
              <a:ext cx="677972" cy="555808"/>
            </a:xfrm>
            <a:prstGeom prst="rect">
              <a:avLst/>
            </a:prstGeom>
            <a:noFill/>
            <a:ln w="25400">
              <a:solidFill>
                <a:schemeClr val="tx1"/>
              </a:solidFill>
            </a:ln>
          </p:spPr>
          <p:txBody>
            <a:bodyPr wrap="square" rtlCol="0">
              <a:spAutoFit/>
            </a:bodyPr>
            <a:lstStyle/>
            <a:p>
              <a:r>
                <a:rPr lang="es-ES" sz="2800" dirty="0">
                  <a:latin typeface="Arial" panose="020B0604020202020204" pitchFamily="34" charset="0"/>
                  <a:cs typeface="Arial" panose="020B0604020202020204" pitchFamily="34" charset="0"/>
                </a:rPr>
                <a:t>x</a:t>
              </a:r>
              <a:r>
                <a:rPr lang="es-ES" sz="2800" baseline="-25000" dirty="0">
                  <a:latin typeface="Arial" panose="020B0604020202020204" pitchFamily="34" charset="0"/>
                  <a:cs typeface="Arial" panose="020B0604020202020204" pitchFamily="34" charset="0"/>
                </a:rPr>
                <a:t>2</a:t>
              </a:r>
            </a:p>
          </p:txBody>
        </p:sp>
        <p:cxnSp>
          <p:nvCxnSpPr>
            <p:cNvPr id="49" name="Conector recto de flecha 4">
              <a:extLst>
                <a:ext uri="{FF2B5EF4-FFF2-40B4-BE49-F238E27FC236}">
                  <a16:creationId xmlns:a16="http://schemas.microsoft.com/office/drawing/2014/main" id="{A2CD15F7-1FB5-E97A-2C6B-AC30FFFBB227}"/>
                </a:ext>
              </a:extLst>
            </p:cNvPr>
            <p:cNvCxnSpPr>
              <a:cxnSpLocks/>
              <a:endCxn id="47" idx="1"/>
            </p:cNvCxnSpPr>
            <p:nvPr/>
          </p:nvCxnSpPr>
          <p:spPr>
            <a:xfrm flipV="1">
              <a:off x="5643322" y="5707416"/>
              <a:ext cx="1666160" cy="36496"/>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56" name="Conector recto de flecha 4">
              <a:extLst>
                <a:ext uri="{FF2B5EF4-FFF2-40B4-BE49-F238E27FC236}">
                  <a16:creationId xmlns:a16="http://schemas.microsoft.com/office/drawing/2014/main" id="{F9A52F30-7B7B-D659-3B3A-FB215EEE161C}"/>
                </a:ext>
              </a:extLst>
            </p:cNvPr>
            <p:cNvCxnSpPr>
              <a:cxnSpLocks/>
            </p:cNvCxnSpPr>
            <p:nvPr/>
          </p:nvCxnSpPr>
          <p:spPr>
            <a:xfrm>
              <a:off x="6733543" y="4587841"/>
              <a:ext cx="575938" cy="889687"/>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59792487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C6E81F-6709-5864-2B6E-0163810B6341}"/>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264B8425-0317-E92B-C0A4-1A7CDFE97D06}"/>
              </a:ext>
            </a:extLst>
          </p:cNvPr>
          <p:cNvSpPr txBox="1"/>
          <p:nvPr/>
        </p:nvSpPr>
        <p:spPr>
          <a:xfrm>
            <a:off x="347032" y="437787"/>
            <a:ext cx="4572000" cy="461665"/>
          </a:xfrm>
          <a:prstGeom prst="rect">
            <a:avLst/>
          </a:prstGeom>
          <a:noFill/>
        </p:spPr>
        <p:txBody>
          <a:bodyPr wrap="square">
            <a:spAutoFit/>
          </a:bodyPr>
          <a:lstStyle/>
          <a:p>
            <a:r>
              <a:rPr lang="en-US" sz="2400" b="1" dirty="0">
                <a:latin typeface="Arial" panose="020B0604020202020204" pitchFamily="34" charset="0"/>
                <a:cs typeface="Arial" panose="020B0604020202020204" pitchFamily="34" charset="0"/>
              </a:rPr>
              <a:t>Will a child set us free?</a:t>
            </a:r>
          </a:p>
        </p:txBody>
      </p:sp>
      <p:sp>
        <p:nvSpPr>
          <p:cNvPr id="5" name="TextBox 4">
            <a:extLst>
              <a:ext uri="{FF2B5EF4-FFF2-40B4-BE49-F238E27FC236}">
                <a16:creationId xmlns:a16="http://schemas.microsoft.com/office/drawing/2014/main" id="{CCCF28DD-C026-AE6A-09C2-196D567D8DCB}"/>
              </a:ext>
            </a:extLst>
          </p:cNvPr>
          <p:cNvSpPr txBox="1"/>
          <p:nvPr/>
        </p:nvSpPr>
        <p:spPr>
          <a:xfrm>
            <a:off x="468217" y="1186734"/>
            <a:ext cx="7474944" cy="1323439"/>
          </a:xfrm>
          <a:prstGeom prst="rect">
            <a:avLst/>
          </a:prstGeom>
          <a:noFill/>
        </p:spPr>
        <p:txBody>
          <a:bodyPr wrap="square">
            <a:spAutoFit/>
          </a:bodyPr>
          <a:lstStyle/>
          <a:p>
            <a:r>
              <a:rPr lang="en-US" sz="2000" b="1" dirty="0">
                <a:latin typeface="Arial" panose="020B0604020202020204" pitchFamily="34" charset="0"/>
                <a:cs typeface="Arial" panose="020B0604020202020204" pitchFamily="34" charset="0"/>
              </a:rPr>
              <a:t>Consider the following:</a:t>
            </a:r>
          </a:p>
          <a:p>
            <a:endParaRPr lang="en-US" sz="2000" dirty="0">
              <a:latin typeface="Arial" panose="020B0604020202020204" pitchFamily="34" charset="0"/>
              <a:cs typeface="Arial" panose="020B0604020202020204" pitchFamily="34" charset="0"/>
            </a:endParaRPr>
          </a:p>
          <a:p>
            <a:r>
              <a:rPr lang="en-US" sz="2000" dirty="0">
                <a:latin typeface="Arial" panose="020B0604020202020204" pitchFamily="34" charset="0"/>
                <a:cs typeface="Arial" panose="020B0604020202020204" pitchFamily="34" charset="0"/>
              </a:rPr>
              <a:t>What if we knew the final tumor was shedding cells, and we had their concentration. Should we control for that?</a:t>
            </a:r>
          </a:p>
        </p:txBody>
      </p:sp>
      <p:sp>
        <p:nvSpPr>
          <p:cNvPr id="12" name="TextBox 11">
            <a:extLst>
              <a:ext uri="{FF2B5EF4-FFF2-40B4-BE49-F238E27FC236}">
                <a16:creationId xmlns:a16="http://schemas.microsoft.com/office/drawing/2014/main" id="{1C4A4794-F0AC-B31B-9049-5C5D0E0ED16A}"/>
              </a:ext>
            </a:extLst>
          </p:cNvPr>
          <p:cNvSpPr txBox="1"/>
          <p:nvPr/>
        </p:nvSpPr>
        <p:spPr>
          <a:xfrm>
            <a:off x="2876440" y="4473550"/>
            <a:ext cx="1438904" cy="369332"/>
          </a:xfrm>
          <a:prstGeom prst="rect">
            <a:avLst/>
          </a:prstGeom>
          <a:noFill/>
          <a:ln>
            <a:solidFill>
              <a:schemeClr val="tx1"/>
            </a:solidFill>
          </a:ln>
        </p:spPr>
        <p:txBody>
          <a:bodyPr wrap="square">
            <a:spAutoFit/>
          </a:bodyPr>
          <a:lstStyle/>
          <a:p>
            <a:r>
              <a:rPr lang="en-SG" dirty="0">
                <a:solidFill>
                  <a:srgbClr val="000000"/>
                </a:solidFill>
                <a:effectLst/>
                <a:latin typeface="Arial" panose="020B0604020202020204" pitchFamily="34" charset="0"/>
                <a:cs typeface="Arial" panose="020B0604020202020204" pitchFamily="34" charset="0"/>
              </a:rPr>
              <a:t>Shed Cells</a:t>
            </a:r>
          </a:p>
        </p:txBody>
      </p:sp>
      <p:cxnSp>
        <p:nvCxnSpPr>
          <p:cNvPr id="13" name="Conector recto de flecha 4">
            <a:extLst>
              <a:ext uri="{FF2B5EF4-FFF2-40B4-BE49-F238E27FC236}">
                <a16:creationId xmlns:a16="http://schemas.microsoft.com/office/drawing/2014/main" id="{31CAE6FB-2A00-FB02-5BF2-BDCBE0D16874}"/>
              </a:ext>
            </a:extLst>
          </p:cNvPr>
          <p:cNvCxnSpPr>
            <a:cxnSpLocks/>
          </p:cNvCxnSpPr>
          <p:nvPr/>
        </p:nvCxnSpPr>
        <p:spPr>
          <a:xfrm>
            <a:off x="3537192" y="3715266"/>
            <a:ext cx="0" cy="644433"/>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5238AB97-17C0-98DD-67EA-F9BA446A560C}"/>
              </a:ext>
            </a:extLst>
          </p:cNvPr>
          <p:cNvSpPr txBox="1"/>
          <p:nvPr/>
        </p:nvSpPr>
        <p:spPr>
          <a:xfrm>
            <a:off x="468217" y="3259644"/>
            <a:ext cx="1438904" cy="369332"/>
          </a:xfrm>
          <a:prstGeom prst="rect">
            <a:avLst/>
          </a:prstGeom>
          <a:noFill/>
          <a:ln>
            <a:solidFill>
              <a:schemeClr val="tx1"/>
            </a:solidFill>
          </a:ln>
        </p:spPr>
        <p:txBody>
          <a:bodyPr wrap="square">
            <a:spAutoFit/>
          </a:bodyPr>
          <a:lstStyle/>
          <a:p>
            <a:r>
              <a:rPr lang="en-SG" dirty="0">
                <a:solidFill>
                  <a:srgbClr val="000000"/>
                </a:solidFill>
                <a:effectLst/>
                <a:latin typeface="Arial" panose="020B0604020202020204" pitchFamily="34" charset="0"/>
                <a:cs typeface="Arial" panose="020B0604020202020204" pitchFamily="34" charset="0"/>
              </a:rPr>
              <a:t>Initial </a:t>
            </a:r>
            <a:r>
              <a:rPr lang="en-SG" dirty="0" err="1">
                <a:solidFill>
                  <a:srgbClr val="000000"/>
                </a:solidFill>
                <a:effectLst/>
                <a:latin typeface="Arial" panose="020B0604020202020204" pitchFamily="34" charset="0"/>
                <a:cs typeface="Arial" panose="020B0604020202020204" pitchFamily="34" charset="0"/>
              </a:rPr>
              <a:t>Tumor</a:t>
            </a:r>
            <a:endParaRPr lang="en-SG" dirty="0">
              <a:solidFill>
                <a:srgbClr val="000000"/>
              </a:solidFill>
              <a:effectLst/>
              <a:latin typeface="Arial" panose="020B0604020202020204" pitchFamily="34" charset="0"/>
              <a:cs typeface="Arial" panose="020B0604020202020204" pitchFamily="34" charset="0"/>
            </a:endParaRPr>
          </a:p>
        </p:txBody>
      </p:sp>
      <p:sp>
        <p:nvSpPr>
          <p:cNvPr id="16" name="TextBox 15">
            <a:extLst>
              <a:ext uri="{FF2B5EF4-FFF2-40B4-BE49-F238E27FC236}">
                <a16:creationId xmlns:a16="http://schemas.microsoft.com/office/drawing/2014/main" id="{B9395A0A-E3C9-5ECE-5226-3A037158DC85}"/>
              </a:ext>
            </a:extLst>
          </p:cNvPr>
          <p:cNvSpPr txBox="1"/>
          <p:nvPr/>
        </p:nvSpPr>
        <p:spPr>
          <a:xfrm>
            <a:off x="2876440" y="3253153"/>
            <a:ext cx="1438904" cy="369332"/>
          </a:xfrm>
          <a:prstGeom prst="rect">
            <a:avLst/>
          </a:prstGeom>
          <a:noFill/>
          <a:ln>
            <a:solidFill>
              <a:schemeClr val="tx1"/>
            </a:solidFill>
          </a:ln>
        </p:spPr>
        <p:txBody>
          <a:bodyPr wrap="square">
            <a:spAutoFit/>
          </a:bodyPr>
          <a:lstStyle/>
          <a:p>
            <a:r>
              <a:rPr lang="en-SG" dirty="0">
                <a:solidFill>
                  <a:srgbClr val="000000"/>
                </a:solidFill>
                <a:effectLst/>
                <a:latin typeface="Arial" panose="020B0604020202020204" pitchFamily="34" charset="0"/>
                <a:cs typeface="Arial" panose="020B0604020202020204" pitchFamily="34" charset="0"/>
              </a:rPr>
              <a:t>Final </a:t>
            </a:r>
            <a:r>
              <a:rPr lang="en-SG" dirty="0" err="1">
                <a:solidFill>
                  <a:srgbClr val="000000"/>
                </a:solidFill>
                <a:effectLst/>
                <a:latin typeface="Arial" panose="020B0604020202020204" pitchFamily="34" charset="0"/>
                <a:cs typeface="Arial" panose="020B0604020202020204" pitchFamily="34" charset="0"/>
              </a:rPr>
              <a:t>Tumor</a:t>
            </a:r>
            <a:endParaRPr lang="en-SG" dirty="0">
              <a:solidFill>
                <a:srgbClr val="000000"/>
              </a:solidFill>
              <a:effectLst/>
              <a:latin typeface="Arial" panose="020B0604020202020204" pitchFamily="34" charset="0"/>
              <a:cs typeface="Arial" panose="020B0604020202020204" pitchFamily="34" charset="0"/>
            </a:endParaRPr>
          </a:p>
        </p:txBody>
      </p:sp>
      <p:sp>
        <p:nvSpPr>
          <p:cNvPr id="17" name="TextBox 16">
            <a:extLst>
              <a:ext uri="{FF2B5EF4-FFF2-40B4-BE49-F238E27FC236}">
                <a16:creationId xmlns:a16="http://schemas.microsoft.com/office/drawing/2014/main" id="{3A34261C-5B18-E38D-0795-D540D8FB480F}"/>
              </a:ext>
            </a:extLst>
          </p:cNvPr>
          <p:cNvSpPr txBox="1"/>
          <p:nvPr/>
        </p:nvSpPr>
        <p:spPr>
          <a:xfrm>
            <a:off x="5234517" y="3244334"/>
            <a:ext cx="2285803" cy="369332"/>
          </a:xfrm>
          <a:prstGeom prst="rect">
            <a:avLst/>
          </a:prstGeom>
          <a:noFill/>
          <a:ln>
            <a:solidFill>
              <a:schemeClr val="tx1"/>
            </a:solidFill>
          </a:ln>
        </p:spPr>
        <p:txBody>
          <a:bodyPr wrap="square">
            <a:spAutoFit/>
          </a:bodyPr>
          <a:lstStyle/>
          <a:p>
            <a:r>
              <a:rPr lang="en-SG" dirty="0">
                <a:solidFill>
                  <a:srgbClr val="000000"/>
                </a:solidFill>
                <a:effectLst/>
                <a:latin typeface="Arial" panose="020B0604020202020204" pitchFamily="34" charset="0"/>
                <a:cs typeface="Arial" panose="020B0604020202020204" pitchFamily="34" charset="0"/>
              </a:rPr>
              <a:t>Toxin Concentration</a:t>
            </a:r>
            <a:endParaRPr lang="en-US" dirty="0">
              <a:latin typeface="Arial" panose="020B0604020202020204" pitchFamily="34" charset="0"/>
              <a:cs typeface="Arial" panose="020B0604020202020204" pitchFamily="34" charset="0"/>
            </a:endParaRPr>
          </a:p>
        </p:txBody>
      </p:sp>
      <p:cxnSp>
        <p:nvCxnSpPr>
          <p:cNvPr id="18" name="Conector recto de flecha 4">
            <a:extLst>
              <a:ext uri="{FF2B5EF4-FFF2-40B4-BE49-F238E27FC236}">
                <a16:creationId xmlns:a16="http://schemas.microsoft.com/office/drawing/2014/main" id="{D764AC13-A431-B5C7-56BB-168B9D277079}"/>
              </a:ext>
            </a:extLst>
          </p:cNvPr>
          <p:cNvCxnSpPr>
            <a:cxnSpLocks/>
          </p:cNvCxnSpPr>
          <p:nvPr/>
        </p:nvCxnSpPr>
        <p:spPr>
          <a:xfrm>
            <a:off x="1962819" y="3417147"/>
            <a:ext cx="857922" cy="1"/>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9" name="Conector recto de flecha 4">
            <a:extLst>
              <a:ext uri="{FF2B5EF4-FFF2-40B4-BE49-F238E27FC236}">
                <a16:creationId xmlns:a16="http://schemas.microsoft.com/office/drawing/2014/main" id="{EC079742-2B98-5F35-5D2F-5E1F2CBF8CB2}"/>
              </a:ext>
            </a:extLst>
          </p:cNvPr>
          <p:cNvCxnSpPr>
            <a:cxnSpLocks/>
          </p:cNvCxnSpPr>
          <p:nvPr/>
        </p:nvCxnSpPr>
        <p:spPr>
          <a:xfrm flipV="1">
            <a:off x="4371043" y="3429000"/>
            <a:ext cx="807775" cy="7360"/>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B8BCA502-0CA1-E82B-977C-6964A933695E}"/>
              </a:ext>
            </a:extLst>
          </p:cNvPr>
          <p:cNvSpPr txBox="1"/>
          <p:nvPr/>
        </p:nvSpPr>
        <p:spPr>
          <a:xfrm>
            <a:off x="468217" y="2700242"/>
            <a:ext cx="1203573" cy="369332"/>
          </a:xfrm>
          <a:prstGeom prst="rect">
            <a:avLst/>
          </a:prstGeom>
          <a:noFill/>
        </p:spPr>
        <p:txBody>
          <a:bodyPr wrap="square">
            <a:spAutoFit/>
          </a:bodyPr>
          <a:lstStyle/>
          <a:p>
            <a:r>
              <a:rPr lang="en-SG" dirty="0">
                <a:solidFill>
                  <a:srgbClr val="FB0007"/>
                </a:solidFill>
                <a:effectLst/>
                <a:latin typeface="Arial" panose="020B0604020202020204" pitchFamily="34" charset="0"/>
                <a:cs typeface="Arial" panose="020B0604020202020204" pitchFamily="34" charset="0"/>
              </a:rPr>
              <a:t>Truth</a:t>
            </a:r>
          </a:p>
        </p:txBody>
      </p:sp>
    </p:spTree>
    <p:extLst>
      <p:ext uri="{BB962C8B-B14F-4D97-AF65-F5344CB8AC3E}">
        <p14:creationId xmlns:p14="http://schemas.microsoft.com/office/powerpoint/2010/main" val="412907740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C7BF6F-42ED-6801-8271-BC57B7FA1D94}"/>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24F69955-E553-3B92-908A-CB1AA4388C4B}"/>
              </a:ext>
            </a:extLst>
          </p:cNvPr>
          <p:cNvSpPr txBox="1"/>
          <p:nvPr/>
        </p:nvSpPr>
        <p:spPr>
          <a:xfrm>
            <a:off x="413132" y="393719"/>
            <a:ext cx="4572000" cy="461665"/>
          </a:xfrm>
          <a:prstGeom prst="rect">
            <a:avLst/>
          </a:prstGeom>
          <a:noFill/>
        </p:spPr>
        <p:txBody>
          <a:bodyPr wrap="square">
            <a:spAutoFit/>
          </a:bodyPr>
          <a:lstStyle/>
          <a:p>
            <a:r>
              <a:rPr lang="en-US" sz="2400" b="1" dirty="0"/>
              <a:t>2. The Descendant Problem</a:t>
            </a:r>
          </a:p>
        </p:txBody>
      </p:sp>
      <p:sp>
        <p:nvSpPr>
          <p:cNvPr id="7" name="TextBox 6">
            <a:extLst>
              <a:ext uri="{FF2B5EF4-FFF2-40B4-BE49-F238E27FC236}">
                <a16:creationId xmlns:a16="http://schemas.microsoft.com/office/drawing/2014/main" id="{DEB5D763-A4A7-175E-66A4-A17939EF2B5B}"/>
              </a:ext>
            </a:extLst>
          </p:cNvPr>
          <p:cNvSpPr txBox="1"/>
          <p:nvPr/>
        </p:nvSpPr>
        <p:spPr>
          <a:xfrm>
            <a:off x="413132" y="967087"/>
            <a:ext cx="4572000" cy="369332"/>
          </a:xfrm>
          <a:prstGeom prst="rect">
            <a:avLst/>
          </a:prstGeom>
          <a:noFill/>
        </p:spPr>
        <p:txBody>
          <a:bodyPr wrap="square">
            <a:spAutoFit/>
          </a:bodyPr>
          <a:lstStyle/>
          <a:p>
            <a:r>
              <a:rPr lang="en-US" dirty="0">
                <a:solidFill>
                  <a:srgbClr val="FF0000"/>
                </a:solidFill>
                <a:latin typeface="Arial" panose="020B0604020202020204" pitchFamily="34" charset="0"/>
                <a:cs typeface="Arial" panose="020B0604020202020204" pitchFamily="34" charset="0"/>
              </a:rPr>
              <a:t>Causal Model</a:t>
            </a:r>
          </a:p>
        </p:txBody>
      </p:sp>
      <p:sp>
        <p:nvSpPr>
          <p:cNvPr id="15" name="TextBox 14">
            <a:extLst>
              <a:ext uri="{FF2B5EF4-FFF2-40B4-BE49-F238E27FC236}">
                <a16:creationId xmlns:a16="http://schemas.microsoft.com/office/drawing/2014/main" id="{4998B0C0-2AD0-D04E-D00B-6C92829CB774}"/>
              </a:ext>
            </a:extLst>
          </p:cNvPr>
          <p:cNvSpPr txBox="1"/>
          <p:nvPr/>
        </p:nvSpPr>
        <p:spPr>
          <a:xfrm>
            <a:off x="4486879" y="3642570"/>
            <a:ext cx="3770531" cy="1477328"/>
          </a:xfrm>
          <a:prstGeom prst="rect">
            <a:avLst/>
          </a:prstGeom>
          <a:noFill/>
        </p:spPr>
        <p:txBody>
          <a:bodyPr wrap="square">
            <a:spAutoFit/>
          </a:bodyPr>
          <a:lstStyle/>
          <a:p>
            <a:pPr marL="285750" indent="-285750">
              <a:buFont typeface="Arial" panose="020B0604020202020204" pitchFamily="34" charset="0"/>
              <a:buChar char="•"/>
            </a:pPr>
            <a:r>
              <a:rPr lang="en-US" b="1" dirty="0">
                <a:latin typeface="Arial" panose="020B0604020202020204" pitchFamily="34" charset="0"/>
                <a:cs typeface="Arial" panose="020B0604020202020204" pitchFamily="34" charset="0"/>
              </a:rPr>
              <a:t>Descendant still partially blocks cause</a:t>
            </a:r>
          </a:p>
          <a:p>
            <a:endParaRPr lang="en-US" b="1"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b="1" dirty="0">
                <a:latin typeface="Arial" panose="020B0604020202020204" pitchFamily="34" charset="0"/>
                <a:cs typeface="Arial" panose="020B0604020202020204" pitchFamily="34" charset="0"/>
              </a:rPr>
              <a:t>Masks effect of cause – many possibilities</a:t>
            </a:r>
          </a:p>
        </p:txBody>
      </p:sp>
      <p:sp>
        <p:nvSpPr>
          <p:cNvPr id="2" name="TextBox 1">
            <a:extLst>
              <a:ext uri="{FF2B5EF4-FFF2-40B4-BE49-F238E27FC236}">
                <a16:creationId xmlns:a16="http://schemas.microsoft.com/office/drawing/2014/main" id="{073CE9A2-DF5D-FF44-BF39-84C8ED60465D}"/>
              </a:ext>
            </a:extLst>
          </p:cNvPr>
          <p:cNvSpPr txBox="1"/>
          <p:nvPr/>
        </p:nvSpPr>
        <p:spPr>
          <a:xfrm>
            <a:off x="413132" y="1521085"/>
            <a:ext cx="903514" cy="369332"/>
          </a:xfrm>
          <a:prstGeom prst="rect">
            <a:avLst/>
          </a:prstGeom>
          <a:noFill/>
          <a:ln>
            <a:solidFill>
              <a:schemeClr val="tx1"/>
            </a:solidFill>
          </a:ln>
        </p:spPr>
        <p:txBody>
          <a:bodyPr wrap="square">
            <a:spAutoFit/>
          </a:bodyPr>
          <a:lstStyle/>
          <a:p>
            <a:r>
              <a:rPr lang="en-SG" dirty="0">
                <a:solidFill>
                  <a:srgbClr val="000000"/>
                </a:solidFill>
                <a:effectLst/>
                <a:latin typeface="Arial" panose="020B0604020202020204" pitchFamily="34" charset="0"/>
                <a:cs typeface="Arial" panose="020B0604020202020204" pitchFamily="34" charset="0"/>
              </a:rPr>
              <a:t>Cause</a:t>
            </a:r>
          </a:p>
        </p:txBody>
      </p:sp>
      <p:sp>
        <p:nvSpPr>
          <p:cNvPr id="4" name="TextBox 3">
            <a:extLst>
              <a:ext uri="{FF2B5EF4-FFF2-40B4-BE49-F238E27FC236}">
                <a16:creationId xmlns:a16="http://schemas.microsoft.com/office/drawing/2014/main" id="{0EF297CA-1A41-DFBF-B41B-150A68BE8407}"/>
              </a:ext>
            </a:extLst>
          </p:cNvPr>
          <p:cNvSpPr txBox="1"/>
          <p:nvPr/>
        </p:nvSpPr>
        <p:spPr>
          <a:xfrm>
            <a:off x="3004027" y="1521085"/>
            <a:ext cx="1203573" cy="369332"/>
          </a:xfrm>
          <a:prstGeom prst="rect">
            <a:avLst/>
          </a:prstGeom>
          <a:noFill/>
          <a:ln>
            <a:solidFill>
              <a:schemeClr val="tx1"/>
            </a:solidFill>
          </a:ln>
        </p:spPr>
        <p:txBody>
          <a:bodyPr wrap="square">
            <a:spAutoFit/>
          </a:bodyPr>
          <a:lstStyle/>
          <a:p>
            <a:r>
              <a:rPr lang="en-SG" dirty="0">
                <a:solidFill>
                  <a:srgbClr val="000000"/>
                </a:solidFill>
                <a:effectLst/>
                <a:latin typeface="Arial" panose="020B0604020202020204" pitchFamily="34" charset="0"/>
                <a:cs typeface="Arial" panose="020B0604020202020204" pitchFamily="34" charset="0"/>
              </a:rPr>
              <a:t>Mediator</a:t>
            </a:r>
          </a:p>
        </p:txBody>
      </p:sp>
      <p:sp>
        <p:nvSpPr>
          <p:cNvPr id="6" name="TextBox 5">
            <a:extLst>
              <a:ext uri="{FF2B5EF4-FFF2-40B4-BE49-F238E27FC236}">
                <a16:creationId xmlns:a16="http://schemas.microsoft.com/office/drawing/2014/main" id="{5B743710-3DB2-E5C0-7E61-272BF00A8F19}"/>
              </a:ext>
            </a:extLst>
          </p:cNvPr>
          <p:cNvSpPr txBox="1"/>
          <p:nvPr/>
        </p:nvSpPr>
        <p:spPr>
          <a:xfrm>
            <a:off x="6027450" y="1521085"/>
            <a:ext cx="870857" cy="369332"/>
          </a:xfrm>
          <a:prstGeom prst="rect">
            <a:avLst/>
          </a:prstGeom>
          <a:noFill/>
          <a:ln>
            <a:solidFill>
              <a:schemeClr val="tx1"/>
            </a:solidFill>
          </a:ln>
        </p:spPr>
        <p:txBody>
          <a:bodyPr wrap="square">
            <a:spAutoFit/>
          </a:bodyPr>
          <a:lstStyle/>
          <a:p>
            <a:r>
              <a:rPr lang="en-SG" dirty="0">
                <a:solidFill>
                  <a:srgbClr val="000000"/>
                </a:solidFill>
                <a:effectLst/>
                <a:latin typeface="Arial" panose="020B0604020202020204" pitchFamily="34" charset="0"/>
                <a:cs typeface="Arial" panose="020B0604020202020204" pitchFamily="34" charset="0"/>
              </a:rPr>
              <a:t>Effect</a:t>
            </a:r>
            <a:endParaRPr lang="en-US" dirty="0">
              <a:latin typeface="Arial" panose="020B0604020202020204" pitchFamily="34" charset="0"/>
              <a:cs typeface="Arial" panose="020B0604020202020204" pitchFamily="34" charset="0"/>
            </a:endParaRPr>
          </a:p>
        </p:txBody>
      </p:sp>
      <p:cxnSp>
        <p:nvCxnSpPr>
          <p:cNvPr id="8" name="Conector recto de flecha 4">
            <a:extLst>
              <a:ext uri="{FF2B5EF4-FFF2-40B4-BE49-F238E27FC236}">
                <a16:creationId xmlns:a16="http://schemas.microsoft.com/office/drawing/2014/main" id="{3E93BFF6-B46F-0BE5-12B2-5B33D5BD11BB}"/>
              </a:ext>
            </a:extLst>
          </p:cNvPr>
          <p:cNvCxnSpPr>
            <a:cxnSpLocks/>
          </p:cNvCxnSpPr>
          <p:nvPr/>
        </p:nvCxnSpPr>
        <p:spPr>
          <a:xfrm>
            <a:off x="1417422" y="1705751"/>
            <a:ext cx="1586605" cy="0"/>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0" name="Conector recto de flecha 4">
            <a:extLst>
              <a:ext uri="{FF2B5EF4-FFF2-40B4-BE49-F238E27FC236}">
                <a16:creationId xmlns:a16="http://schemas.microsoft.com/office/drawing/2014/main" id="{2604D4B4-BA73-1876-3FFA-3AE0C41CEE5F}"/>
              </a:ext>
            </a:extLst>
          </p:cNvPr>
          <p:cNvCxnSpPr>
            <a:cxnSpLocks/>
          </p:cNvCxnSpPr>
          <p:nvPr/>
        </p:nvCxnSpPr>
        <p:spPr>
          <a:xfrm>
            <a:off x="4241468" y="1705751"/>
            <a:ext cx="1687381" cy="0"/>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1" name="Conector recto de flecha 4">
            <a:extLst>
              <a:ext uri="{FF2B5EF4-FFF2-40B4-BE49-F238E27FC236}">
                <a16:creationId xmlns:a16="http://schemas.microsoft.com/office/drawing/2014/main" id="{820D1370-1574-F780-5E88-43BC32D37BB9}"/>
              </a:ext>
            </a:extLst>
          </p:cNvPr>
          <p:cNvCxnSpPr>
            <a:cxnSpLocks/>
          </p:cNvCxnSpPr>
          <p:nvPr/>
        </p:nvCxnSpPr>
        <p:spPr>
          <a:xfrm>
            <a:off x="3521802" y="1976685"/>
            <a:ext cx="0" cy="480467"/>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C73669AB-75E6-93ED-DCA6-FBCE33CD9A1D}"/>
              </a:ext>
            </a:extLst>
          </p:cNvPr>
          <p:cNvSpPr txBox="1"/>
          <p:nvPr/>
        </p:nvSpPr>
        <p:spPr>
          <a:xfrm>
            <a:off x="2821826" y="2506773"/>
            <a:ext cx="1567973" cy="369332"/>
          </a:xfrm>
          <a:prstGeom prst="rect">
            <a:avLst/>
          </a:prstGeom>
          <a:noFill/>
          <a:ln>
            <a:solidFill>
              <a:schemeClr val="tx1"/>
            </a:solidFill>
          </a:ln>
        </p:spPr>
        <p:txBody>
          <a:bodyPr wrap="square">
            <a:spAutoFit/>
          </a:bodyPr>
          <a:lstStyle/>
          <a:p>
            <a:r>
              <a:rPr lang="en-SG" dirty="0">
                <a:solidFill>
                  <a:srgbClr val="000000"/>
                </a:solidFill>
                <a:effectLst/>
                <a:latin typeface="Arial" panose="020B0604020202020204" pitchFamily="34" charset="0"/>
                <a:cs typeface="Arial" panose="020B0604020202020204" pitchFamily="34" charset="0"/>
              </a:rPr>
              <a:t>Descendent</a:t>
            </a:r>
          </a:p>
        </p:txBody>
      </p:sp>
      <p:sp>
        <p:nvSpPr>
          <p:cNvPr id="19" name="TextBox 18">
            <a:extLst>
              <a:ext uri="{FF2B5EF4-FFF2-40B4-BE49-F238E27FC236}">
                <a16:creationId xmlns:a16="http://schemas.microsoft.com/office/drawing/2014/main" id="{86B37C67-43CD-C5D9-B688-3F7EDD63BF28}"/>
              </a:ext>
            </a:extLst>
          </p:cNvPr>
          <p:cNvSpPr txBox="1"/>
          <p:nvPr/>
        </p:nvSpPr>
        <p:spPr>
          <a:xfrm>
            <a:off x="369524" y="3313211"/>
            <a:ext cx="2402333" cy="369332"/>
          </a:xfrm>
          <a:prstGeom prst="rect">
            <a:avLst/>
          </a:prstGeom>
          <a:noFill/>
        </p:spPr>
        <p:txBody>
          <a:bodyPr wrap="square">
            <a:spAutoFit/>
          </a:bodyPr>
          <a:lstStyle/>
          <a:p>
            <a:r>
              <a:rPr lang="en-SG" dirty="0">
                <a:solidFill>
                  <a:srgbClr val="FF0000"/>
                </a:solidFill>
                <a:effectLst/>
                <a:latin typeface="Arial" panose="020B0604020202020204" pitchFamily="34" charset="0"/>
                <a:cs typeface="Arial" panose="020B0604020202020204" pitchFamily="34" charset="0"/>
              </a:rPr>
              <a:t>Regression</a:t>
            </a:r>
          </a:p>
        </p:txBody>
      </p:sp>
      <p:sp>
        <p:nvSpPr>
          <p:cNvPr id="21" name="TextBox 20">
            <a:extLst>
              <a:ext uri="{FF2B5EF4-FFF2-40B4-BE49-F238E27FC236}">
                <a16:creationId xmlns:a16="http://schemas.microsoft.com/office/drawing/2014/main" id="{98EAC8FF-422C-39FB-6428-4229DE6C79F5}"/>
              </a:ext>
            </a:extLst>
          </p:cNvPr>
          <p:cNvSpPr txBox="1"/>
          <p:nvPr/>
        </p:nvSpPr>
        <p:spPr>
          <a:xfrm>
            <a:off x="623723" y="3959541"/>
            <a:ext cx="903514" cy="369332"/>
          </a:xfrm>
          <a:prstGeom prst="rect">
            <a:avLst/>
          </a:prstGeom>
          <a:noFill/>
          <a:ln>
            <a:solidFill>
              <a:schemeClr val="tx1"/>
            </a:solidFill>
          </a:ln>
        </p:spPr>
        <p:txBody>
          <a:bodyPr wrap="square">
            <a:spAutoFit/>
          </a:bodyPr>
          <a:lstStyle/>
          <a:p>
            <a:r>
              <a:rPr lang="en-SG" dirty="0">
                <a:solidFill>
                  <a:srgbClr val="000000"/>
                </a:solidFill>
                <a:effectLst/>
                <a:latin typeface="Arial" panose="020B0604020202020204" pitchFamily="34" charset="0"/>
                <a:cs typeface="Arial" panose="020B0604020202020204" pitchFamily="34" charset="0"/>
              </a:rPr>
              <a:t>Cause</a:t>
            </a:r>
          </a:p>
        </p:txBody>
      </p:sp>
      <p:sp>
        <p:nvSpPr>
          <p:cNvPr id="22" name="TextBox 21">
            <a:extLst>
              <a:ext uri="{FF2B5EF4-FFF2-40B4-BE49-F238E27FC236}">
                <a16:creationId xmlns:a16="http://schemas.microsoft.com/office/drawing/2014/main" id="{3B4BAA7C-CBF9-AC1C-ADA1-F774BD0B5E75}"/>
              </a:ext>
            </a:extLst>
          </p:cNvPr>
          <p:cNvSpPr txBox="1"/>
          <p:nvPr/>
        </p:nvSpPr>
        <p:spPr>
          <a:xfrm>
            <a:off x="618173" y="4935232"/>
            <a:ext cx="1529229" cy="369332"/>
          </a:xfrm>
          <a:prstGeom prst="rect">
            <a:avLst/>
          </a:prstGeom>
          <a:noFill/>
          <a:ln>
            <a:solidFill>
              <a:schemeClr val="tx1"/>
            </a:solidFill>
          </a:ln>
        </p:spPr>
        <p:txBody>
          <a:bodyPr wrap="square">
            <a:spAutoFit/>
          </a:bodyPr>
          <a:lstStyle/>
          <a:p>
            <a:r>
              <a:rPr lang="en-SG" dirty="0">
                <a:solidFill>
                  <a:srgbClr val="000000"/>
                </a:solidFill>
                <a:effectLst/>
                <a:latin typeface="Arial" panose="020B0604020202020204" pitchFamily="34" charset="0"/>
                <a:cs typeface="Arial" panose="020B0604020202020204" pitchFamily="34" charset="0"/>
              </a:rPr>
              <a:t>Descendent </a:t>
            </a:r>
          </a:p>
        </p:txBody>
      </p:sp>
      <p:sp>
        <p:nvSpPr>
          <p:cNvPr id="23" name="TextBox 22">
            <a:extLst>
              <a:ext uri="{FF2B5EF4-FFF2-40B4-BE49-F238E27FC236}">
                <a16:creationId xmlns:a16="http://schemas.microsoft.com/office/drawing/2014/main" id="{B2E7255D-FC8B-5DA8-9188-E64F1137856A}"/>
              </a:ext>
            </a:extLst>
          </p:cNvPr>
          <p:cNvSpPr txBox="1"/>
          <p:nvPr/>
        </p:nvSpPr>
        <p:spPr>
          <a:xfrm>
            <a:off x="3214415" y="4383876"/>
            <a:ext cx="870857" cy="369332"/>
          </a:xfrm>
          <a:prstGeom prst="rect">
            <a:avLst/>
          </a:prstGeom>
          <a:noFill/>
          <a:ln>
            <a:solidFill>
              <a:schemeClr val="tx1"/>
            </a:solidFill>
          </a:ln>
        </p:spPr>
        <p:txBody>
          <a:bodyPr wrap="square">
            <a:spAutoFit/>
          </a:bodyPr>
          <a:lstStyle/>
          <a:p>
            <a:r>
              <a:rPr lang="en-SG" dirty="0">
                <a:solidFill>
                  <a:srgbClr val="000000"/>
                </a:solidFill>
                <a:effectLst/>
                <a:latin typeface="Arial" panose="020B0604020202020204" pitchFamily="34" charset="0"/>
                <a:cs typeface="Arial" panose="020B0604020202020204" pitchFamily="34" charset="0"/>
              </a:rPr>
              <a:t>Effect</a:t>
            </a:r>
            <a:endParaRPr lang="en-US" dirty="0">
              <a:latin typeface="Arial" panose="020B0604020202020204" pitchFamily="34" charset="0"/>
              <a:cs typeface="Arial" panose="020B0604020202020204" pitchFamily="34" charset="0"/>
            </a:endParaRPr>
          </a:p>
        </p:txBody>
      </p:sp>
      <p:cxnSp>
        <p:nvCxnSpPr>
          <p:cNvPr id="24" name="Conector recto de flecha 4">
            <a:extLst>
              <a:ext uri="{FF2B5EF4-FFF2-40B4-BE49-F238E27FC236}">
                <a16:creationId xmlns:a16="http://schemas.microsoft.com/office/drawing/2014/main" id="{FE5AD341-0A7D-16B3-B2E7-C0C9239D4FD4}"/>
              </a:ext>
            </a:extLst>
          </p:cNvPr>
          <p:cNvCxnSpPr>
            <a:cxnSpLocks/>
          </p:cNvCxnSpPr>
          <p:nvPr/>
        </p:nvCxnSpPr>
        <p:spPr>
          <a:xfrm>
            <a:off x="1617133" y="4105025"/>
            <a:ext cx="1433890" cy="369332"/>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25" name="Conector recto de flecha 4">
            <a:extLst>
              <a:ext uri="{FF2B5EF4-FFF2-40B4-BE49-F238E27FC236}">
                <a16:creationId xmlns:a16="http://schemas.microsoft.com/office/drawing/2014/main" id="{4BCAEEF1-D587-3750-95D5-0063D2E959B3}"/>
              </a:ext>
            </a:extLst>
          </p:cNvPr>
          <p:cNvCxnSpPr>
            <a:cxnSpLocks/>
          </p:cNvCxnSpPr>
          <p:nvPr/>
        </p:nvCxnSpPr>
        <p:spPr>
          <a:xfrm flipV="1">
            <a:off x="2180166" y="4681785"/>
            <a:ext cx="870857" cy="470464"/>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26" name="Curved Connector 25">
            <a:extLst>
              <a:ext uri="{FF2B5EF4-FFF2-40B4-BE49-F238E27FC236}">
                <a16:creationId xmlns:a16="http://schemas.microsoft.com/office/drawing/2014/main" id="{555D5B79-6346-6D75-4071-713F17C14296}"/>
              </a:ext>
            </a:extLst>
          </p:cNvPr>
          <p:cNvCxnSpPr>
            <a:cxnSpLocks/>
            <a:stCxn id="21" idx="1"/>
          </p:cNvCxnSpPr>
          <p:nvPr/>
        </p:nvCxnSpPr>
        <p:spPr>
          <a:xfrm rot="10800000" flipV="1">
            <a:off x="618173" y="4144206"/>
            <a:ext cx="5550" cy="1066581"/>
          </a:xfrm>
          <a:prstGeom prst="curvedConnector3">
            <a:avLst>
              <a:gd name="adj1" fmla="val 4218919"/>
            </a:avLst>
          </a:prstGeom>
          <a:ln w="2540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7590870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B01A8A-7BDD-BF66-8F76-98FDAD9CA18D}"/>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30A74323-CAF8-4539-6ED2-3E3C584BE4B4}"/>
              </a:ext>
            </a:extLst>
          </p:cNvPr>
          <p:cNvSpPr txBox="1"/>
          <p:nvPr/>
        </p:nvSpPr>
        <p:spPr>
          <a:xfrm>
            <a:off x="368770" y="315549"/>
            <a:ext cx="8656697" cy="461665"/>
          </a:xfrm>
          <a:prstGeom prst="rect">
            <a:avLst/>
          </a:prstGeom>
          <a:noFill/>
        </p:spPr>
        <p:txBody>
          <a:bodyPr wrap="square">
            <a:spAutoFit/>
          </a:bodyPr>
          <a:lstStyle/>
          <a:p>
            <a:r>
              <a:rPr lang="en-US" sz="2400" b="1" dirty="0">
                <a:latin typeface="Arial" panose="020B0604020202020204" pitchFamily="34" charset="0"/>
                <a:cs typeface="Arial" panose="020B0604020202020204" pitchFamily="34" charset="0"/>
              </a:rPr>
              <a:t>Elemental paths in causal graphs (and Why to use SEM)</a:t>
            </a:r>
          </a:p>
        </p:txBody>
      </p:sp>
      <p:grpSp>
        <p:nvGrpSpPr>
          <p:cNvPr id="9" name="Group 8">
            <a:extLst>
              <a:ext uri="{FF2B5EF4-FFF2-40B4-BE49-F238E27FC236}">
                <a16:creationId xmlns:a16="http://schemas.microsoft.com/office/drawing/2014/main" id="{16604EE1-758D-497B-6B4E-9C4BD8808EC3}"/>
              </a:ext>
            </a:extLst>
          </p:cNvPr>
          <p:cNvGrpSpPr/>
          <p:nvPr/>
        </p:nvGrpSpPr>
        <p:grpSpPr>
          <a:xfrm>
            <a:off x="971491" y="1049865"/>
            <a:ext cx="6919443" cy="4955670"/>
            <a:chOff x="455024" y="937854"/>
            <a:chExt cx="7733628" cy="5264327"/>
          </a:xfrm>
        </p:grpSpPr>
        <p:sp>
          <p:nvSpPr>
            <p:cNvPr id="3" name="TextBox 2">
              <a:extLst>
                <a:ext uri="{FF2B5EF4-FFF2-40B4-BE49-F238E27FC236}">
                  <a16:creationId xmlns:a16="http://schemas.microsoft.com/office/drawing/2014/main" id="{D5828098-0531-9044-8982-4A604AA0F561}"/>
                </a:ext>
              </a:extLst>
            </p:cNvPr>
            <p:cNvSpPr txBox="1"/>
            <p:nvPr/>
          </p:nvSpPr>
          <p:spPr>
            <a:xfrm>
              <a:off x="1028808" y="1369943"/>
              <a:ext cx="2345125" cy="392335"/>
            </a:xfrm>
            <a:prstGeom prst="rect">
              <a:avLst/>
            </a:prstGeom>
            <a:noFill/>
          </p:spPr>
          <p:txBody>
            <a:bodyPr wrap="square">
              <a:spAutoFit/>
            </a:bodyPr>
            <a:lstStyle/>
            <a:p>
              <a:r>
                <a:rPr lang="en-SG" b="1" dirty="0">
                  <a:solidFill>
                    <a:schemeClr val="bg2"/>
                  </a:solidFill>
                  <a:effectLst/>
                  <a:latin typeface="Arial" panose="020B0604020202020204" pitchFamily="34" charset="0"/>
                  <a:cs typeface="Arial" panose="020B0604020202020204" pitchFamily="34" charset="0"/>
                </a:rPr>
                <a:t>1. The </a:t>
              </a:r>
              <a:r>
                <a:rPr lang="en-SG" b="1" dirty="0">
                  <a:solidFill>
                    <a:schemeClr val="bg2"/>
                  </a:solidFill>
                  <a:latin typeface="Arial" panose="020B0604020202020204" pitchFamily="34" charset="0"/>
                  <a:cs typeface="Arial" panose="020B0604020202020204" pitchFamily="34" charset="0"/>
                </a:rPr>
                <a:t>Chain/Pipe </a:t>
              </a:r>
              <a:endParaRPr lang="en-SG" b="1" dirty="0">
                <a:solidFill>
                  <a:schemeClr val="bg2"/>
                </a:solidFill>
                <a:effectLst/>
                <a:latin typeface="Arial" panose="020B0604020202020204" pitchFamily="34" charset="0"/>
                <a:cs typeface="Arial" panose="020B0604020202020204" pitchFamily="34" charset="0"/>
              </a:endParaRPr>
            </a:p>
          </p:txBody>
        </p:sp>
        <p:sp>
          <p:nvSpPr>
            <p:cNvPr id="4" name="CuadroTexto 3">
              <a:extLst>
                <a:ext uri="{FF2B5EF4-FFF2-40B4-BE49-F238E27FC236}">
                  <a16:creationId xmlns:a16="http://schemas.microsoft.com/office/drawing/2014/main" id="{12AB4AE5-3C7A-F899-57EE-DBF2DC1362A1}"/>
                </a:ext>
              </a:extLst>
            </p:cNvPr>
            <p:cNvSpPr txBox="1"/>
            <p:nvPr/>
          </p:nvSpPr>
          <p:spPr>
            <a:xfrm>
              <a:off x="560410" y="2121657"/>
              <a:ext cx="555762" cy="555808"/>
            </a:xfrm>
            <a:prstGeom prst="rect">
              <a:avLst/>
            </a:prstGeom>
            <a:noFill/>
            <a:ln w="25400">
              <a:solidFill>
                <a:schemeClr val="bg2"/>
              </a:solidFill>
            </a:ln>
          </p:spPr>
          <p:txBody>
            <a:bodyPr wrap="none" rtlCol="0">
              <a:spAutoFit/>
            </a:bodyPr>
            <a:lstStyle/>
            <a:p>
              <a:r>
                <a:rPr lang="es-ES" sz="2800" dirty="0">
                  <a:solidFill>
                    <a:schemeClr val="bg2"/>
                  </a:solidFill>
                  <a:latin typeface="Arial" panose="020B0604020202020204" pitchFamily="34" charset="0"/>
                  <a:cs typeface="Arial" panose="020B0604020202020204" pitchFamily="34" charset="0"/>
                </a:rPr>
                <a:t>x</a:t>
              </a:r>
              <a:r>
                <a:rPr lang="es-ES" sz="2800" baseline="-25000" dirty="0">
                  <a:solidFill>
                    <a:schemeClr val="bg2"/>
                  </a:solidFill>
                  <a:latin typeface="Arial" panose="020B0604020202020204" pitchFamily="34" charset="0"/>
                  <a:cs typeface="Arial" panose="020B0604020202020204" pitchFamily="34" charset="0"/>
                </a:rPr>
                <a:t>1</a:t>
              </a:r>
            </a:p>
          </p:txBody>
        </p:sp>
        <p:cxnSp>
          <p:nvCxnSpPr>
            <p:cNvPr id="6" name="Conector recto de flecha 4">
              <a:extLst>
                <a:ext uri="{FF2B5EF4-FFF2-40B4-BE49-F238E27FC236}">
                  <a16:creationId xmlns:a16="http://schemas.microsoft.com/office/drawing/2014/main" id="{81E43A42-232E-D1C3-414C-3429DBCB019E}"/>
                </a:ext>
              </a:extLst>
            </p:cNvPr>
            <p:cNvCxnSpPr>
              <a:cxnSpLocks/>
              <a:stCxn id="4" idx="3"/>
            </p:cNvCxnSpPr>
            <p:nvPr/>
          </p:nvCxnSpPr>
          <p:spPr>
            <a:xfrm flipV="1">
              <a:off x="1116172" y="2395144"/>
              <a:ext cx="599201" cy="4417"/>
            </a:xfrm>
            <a:prstGeom prst="straightConnector1">
              <a:avLst/>
            </a:prstGeom>
            <a:ln w="25400">
              <a:solidFill>
                <a:schemeClr val="bg2"/>
              </a:solidFill>
              <a:tailEnd type="triangle" w="lg" len="lg"/>
            </a:ln>
          </p:spPr>
          <p:style>
            <a:lnRef idx="1">
              <a:schemeClr val="accent1"/>
            </a:lnRef>
            <a:fillRef idx="0">
              <a:schemeClr val="accent1"/>
            </a:fillRef>
            <a:effectRef idx="0">
              <a:schemeClr val="accent1"/>
            </a:effectRef>
            <a:fontRef idx="minor">
              <a:schemeClr val="tx1"/>
            </a:fontRef>
          </p:style>
        </p:cxnSp>
        <p:sp>
          <p:nvSpPr>
            <p:cNvPr id="7" name="CuadroTexto 5">
              <a:extLst>
                <a:ext uri="{FF2B5EF4-FFF2-40B4-BE49-F238E27FC236}">
                  <a16:creationId xmlns:a16="http://schemas.microsoft.com/office/drawing/2014/main" id="{110BB78D-D57F-339B-C60E-5EAF526A10BD}"/>
                </a:ext>
              </a:extLst>
            </p:cNvPr>
            <p:cNvSpPr txBox="1"/>
            <p:nvPr/>
          </p:nvSpPr>
          <p:spPr>
            <a:xfrm>
              <a:off x="2857510" y="2121657"/>
              <a:ext cx="577189" cy="555808"/>
            </a:xfrm>
            <a:prstGeom prst="rect">
              <a:avLst/>
            </a:prstGeom>
            <a:noFill/>
            <a:ln w="25400">
              <a:solidFill>
                <a:schemeClr val="bg2"/>
              </a:solidFill>
            </a:ln>
          </p:spPr>
          <p:txBody>
            <a:bodyPr wrap="none" rtlCol="0">
              <a:spAutoFit/>
            </a:bodyPr>
            <a:lstStyle/>
            <a:p>
              <a:r>
                <a:rPr lang="es-ES" sz="2800" dirty="0">
                  <a:solidFill>
                    <a:schemeClr val="bg2"/>
                  </a:solidFill>
                  <a:latin typeface="Arial" panose="020B0604020202020204" pitchFamily="34" charset="0"/>
                  <a:cs typeface="Arial" panose="020B0604020202020204" pitchFamily="34" charset="0"/>
                </a:rPr>
                <a:t>Y </a:t>
              </a:r>
              <a:endParaRPr lang="es-ES" sz="2800" baseline="-25000" dirty="0">
                <a:solidFill>
                  <a:schemeClr val="bg2"/>
                </a:solidFill>
                <a:latin typeface="Arial" panose="020B0604020202020204" pitchFamily="34" charset="0"/>
                <a:cs typeface="Arial" panose="020B0604020202020204" pitchFamily="34" charset="0"/>
              </a:endParaRPr>
            </a:p>
          </p:txBody>
        </p:sp>
        <p:sp>
          <p:nvSpPr>
            <p:cNvPr id="8" name="CuadroTexto 6">
              <a:extLst>
                <a:ext uri="{FF2B5EF4-FFF2-40B4-BE49-F238E27FC236}">
                  <a16:creationId xmlns:a16="http://schemas.microsoft.com/office/drawing/2014/main" id="{6D5C405E-8272-23D5-F166-9C7046B998F2}"/>
                </a:ext>
              </a:extLst>
            </p:cNvPr>
            <p:cNvSpPr txBox="1"/>
            <p:nvPr/>
          </p:nvSpPr>
          <p:spPr>
            <a:xfrm>
              <a:off x="1715372" y="2121657"/>
              <a:ext cx="555762" cy="555808"/>
            </a:xfrm>
            <a:prstGeom prst="rect">
              <a:avLst/>
            </a:prstGeom>
            <a:noFill/>
            <a:ln w="25400">
              <a:solidFill>
                <a:schemeClr val="bg2"/>
              </a:solidFill>
            </a:ln>
          </p:spPr>
          <p:txBody>
            <a:bodyPr wrap="none" rtlCol="0">
              <a:spAutoFit/>
            </a:bodyPr>
            <a:lstStyle/>
            <a:p>
              <a:r>
                <a:rPr lang="es-ES" sz="2800" dirty="0">
                  <a:solidFill>
                    <a:schemeClr val="bg2"/>
                  </a:solidFill>
                  <a:latin typeface="Arial" panose="020B0604020202020204" pitchFamily="34" charset="0"/>
                  <a:cs typeface="Arial" panose="020B0604020202020204" pitchFamily="34" charset="0"/>
                </a:rPr>
                <a:t>x</a:t>
              </a:r>
              <a:r>
                <a:rPr lang="es-ES" sz="2800" baseline="-25000" dirty="0">
                  <a:solidFill>
                    <a:schemeClr val="bg2"/>
                  </a:solidFill>
                  <a:latin typeface="Arial" panose="020B0604020202020204" pitchFamily="34" charset="0"/>
                  <a:cs typeface="Arial" panose="020B0604020202020204" pitchFamily="34" charset="0"/>
                </a:rPr>
                <a:t>2</a:t>
              </a:r>
            </a:p>
          </p:txBody>
        </p:sp>
        <p:cxnSp>
          <p:nvCxnSpPr>
            <p:cNvPr id="11" name="Conector recto de flecha 4">
              <a:extLst>
                <a:ext uri="{FF2B5EF4-FFF2-40B4-BE49-F238E27FC236}">
                  <a16:creationId xmlns:a16="http://schemas.microsoft.com/office/drawing/2014/main" id="{E376A43A-97B9-95B8-7757-D1094AE36F6D}"/>
                </a:ext>
              </a:extLst>
            </p:cNvPr>
            <p:cNvCxnSpPr>
              <a:cxnSpLocks/>
              <a:stCxn id="8" idx="3"/>
            </p:cNvCxnSpPr>
            <p:nvPr/>
          </p:nvCxnSpPr>
          <p:spPr>
            <a:xfrm flipV="1">
              <a:off x="2271133" y="2383267"/>
              <a:ext cx="592788" cy="16294"/>
            </a:xfrm>
            <a:prstGeom prst="straightConnector1">
              <a:avLst/>
            </a:prstGeom>
            <a:ln w="25400">
              <a:solidFill>
                <a:schemeClr val="bg2"/>
              </a:solidFill>
              <a:tailEnd type="triangle" w="lg" len="lg"/>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E4AE819B-0DB7-7071-93AF-04379A728E0B}"/>
                </a:ext>
              </a:extLst>
            </p:cNvPr>
            <p:cNvSpPr txBox="1"/>
            <p:nvPr/>
          </p:nvSpPr>
          <p:spPr>
            <a:xfrm>
              <a:off x="5992077" y="937854"/>
              <a:ext cx="2101946" cy="392335"/>
            </a:xfrm>
            <a:prstGeom prst="rect">
              <a:avLst/>
            </a:prstGeom>
            <a:noFill/>
          </p:spPr>
          <p:txBody>
            <a:bodyPr wrap="square">
              <a:spAutoFit/>
            </a:bodyPr>
            <a:lstStyle/>
            <a:p>
              <a:r>
                <a:rPr lang="en-SG" b="1" dirty="0">
                  <a:solidFill>
                    <a:srgbClr val="000000"/>
                  </a:solidFill>
                  <a:latin typeface="Arial" panose="020B0604020202020204" pitchFamily="34" charset="0"/>
                  <a:cs typeface="Arial" panose="020B0604020202020204" pitchFamily="34" charset="0"/>
                </a:rPr>
                <a:t>3</a:t>
              </a:r>
              <a:r>
                <a:rPr lang="en-SG" b="1" dirty="0">
                  <a:solidFill>
                    <a:srgbClr val="000000"/>
                  </a:solidFill>
                  <a:effectLst/>
                  <a:latin typeface="Arial" panose="020B0604020202020204" pitchFamily="34" charset="0"/>
                  <a:cs typeface="Arial" panose="020B0604020202020204" pitchFamily="34" charset="0"/>
                </a:rPr>
                <a:t>. The Collider</a:t>
              </a:r>
            </a:p>
          </p:txBody>
        </p:sp>
        <p:sp>
          <p:nvSpPr>
            <p:cNvPr id="13" name="TextBox 12">
              <a:extLst>
                <a:ext uri="{FF2B5EF4-FFF2-40B4-BE49-F238E27FC236}">
                  <a16:creationId xmlns:a16="http://schemas.microsoft.com/office/drawing/2014/main" id="{CFB359ED-8C17-3AB4-6D48-351D3362B66C}"/>
                </a:ext>
              </a:extLst>
            </p:cNvPr>
            <p:cNvSpPr txBox="1"/>
            <p:nvPr/>
          </p:nvSpPr>
          <p:spPr>
            <a:xfrm>
              <a:off x="5743472" y="3461657"/>
              <a:ext cx="2246457" cy="392335"/>
            </a:xfrm>
            <a:prstGeom prst="rect">
              <a:avLst/>
            </a:prstGeom>
            <a:noFill/>
          </p:spPr>
          <p:txBody>
            <a:bodyPr wrap="square">
              <a:spAutoFit/>
            </a:bodyPr>
            <a:lstStyle/>
            <a:p>
              <a:r>
                <a:rPr lang="en-SG" b="1" dirty="0">
                  <a:solidFill>
                    <a:srgbClr val="000000"/>
                  </a:solidFill>
                  <a:effectLst/>
                  <a:latin typeface="Arial" panose="020B0604020202020204" pitchFamily="34" charset="0"/>
                  <a:cs typeface="Arial" panose="020B0604020202020204" pitchFamily="34" charset="0"/>
                </a:rPr>
                <a:t>4. The Fork</a:t>
              </a:r>
            </a:p>
          </p:txBody>
        </p:sp>
        <p:sp>
          <p:nvSpPr>
            <p:cNvPr id="14" name="TextBox 13">
              <a:extLst>
                <a:ext uri="{FF2B5EF4-FFF2-40B4-BE49-F238E27FC236}">
                  <a16:creationId xmlns:a16="http://schemas.microsoft.com/office/drawing/2014/main" id="{2D7D3CBE-C392-BC3C-0933-D3A39B610B40}"/>
                </a:ext>
              </a:extLst>
            </p:cNvPr>
            <p:cNvSpPr txBox="1"/>
            <p:nvPr/>
          </p:nvSpPr>
          <p:spPr>
            <a:xfrm>
              <a:off x="808569" y="3830335"/>
              <a:ext cx="2800036" cy="392335"/>
            </a:xfrm>
            <a:prstGeom prst="rect">
              <a:avLst/>
            </a:prstGeom>
            <a:noFill/>
          </p:spPr>
          <p:txBody>
            <a:bodyPr wrap="square">
              <a:spAutoFit/>
            </a:bodyPr>
            <a:lstStyle/>
            <a:p>
              <a:r>
                <a:rPr lang="en-SG" b="1" dirty="0">
                  <a:solidFill>
                    <a:schemeClr val="bg2"/>
                  </a:solidFill>
                  <a:effectLst/>
                  <a:latin typeface="Arial" panose="020B0604020202020204" pitchFamily="34" charset="0"/>
                  <a:cs typeface="Arial" panose="020B0604020202020204" pitchFamily="34" charset="0"/>
                </a:rPr>
                <a:t>2. The Descendant</a:t>
              </a:r>
            </a:p>
          </p:txBody>
        </p:sp>
        <p:sp>
          <p:nvSpPr>
            <p:cNvPr id="15" name="CuadroTexto 3">
              <a:extLst>
                <a:ext uri="{FF2B5EF4-FFF2-40B4-BE49-F238E27FC236}">
                  <a16:creationId xmlns:a16="http://schemas.microsoft.com/office/drawing/2014/main" id="{976EA20D-CECE-39B2-FC2A-05002FEAB335}"/>
                </a:ext>
              </a:extLst>
            </p:cNvPr>
            <p:cNvSpPr txBox="1"/>
            <p:nvPr/>
          </p:nvSpPr>
          <p:spPr>
            <a:xfrm>
              <a:off x="5431971" y="1511100"/>
              <a:ext cx="560106" cy="523220"/>
            </a:xfrm>
            <a:prstGeom prst="rect">
              <a:avLst/>
            </a:prstGeom>
            <a:noFill/>
            <a:ln w="25400">
              <a:solidFill>
                <a:schemeClr val="tx1"/>
              </a:solidFill>
            </a:ln>
          </p:spPr>
          <p:txBody>
            <a:bodyPr wrap="square" rtlCol="0">
              <a:spAutoFit/>
            </a:bodyPr>
            <a:lstStyle/>
            <a:p>
              <a:r>
                <a:rPr lang="es-ES" sz="2800" dirty="0">
                  <a:latin typeface="Arial" panose="020B0604020202020204" pitchFamily="34" charset="0"/>
                  <a:cs typeface="Arial" panose="020B0604020202020204" pitchFamily="34" charset="0"/>
                </a:rPr>
                <a:t>x</a:t>
              </a:r>
              <a:r>
                <a:rPr lang="es-ES" sz="2800" baseline="-25000" dirty="0">
                  <a:latin typeface="Arial" panose="020B0604020202020204" pitchFamily="34" charset="0"/>
                  <a:cs typeface="Arial" panose="020B0604020202020204" pitchFamily="34" charset="0"/>
                </a:rPr>
                <a:t>1</a:t>
              </a:r>
            </a:p>
          </p:txBody>
        </p:sp>
        <p:cxnSp>
          <p:nvCxnSpPr>
            <p:cNvPr id="16" name="Conector recto de flecha 4">
              <a:extLst>
                <a:ext uri="{FF2B5EF4-FFF2-40B4-BE49-F238E27FC236}">
                  <a16:creationId xmlns:a16="http://schemas.microsoft.com/office/drawing/2014/main" id="{A4913A60-6A12-A631-C777-594E5072A0CF}"/>
                </a:ext>
              </a:extLst>
            </p:cNvPr>
            <p:cNvCxnSpPr>
              <a:cxnSpLocks/>
            </p:cNvCxnSpPr>
            <p:nvPr/>
          </p:nvCxnSpPr>
          <p:spPr>
            <a:xfrm>
              <a:off x="5996018" y="2032918"/>
              <a:ext cx="455723" cy="490562"/>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17" name="CuadroTexto 5">
              <a:extLst>
                <a:ext uri="{FF2B5EF4-FFF2-40B4-BE49-F238E27FC236}">
                  <a16:creationId xmlns:a16="http://schemas.microsoft.com/office/drawing/2014/main" id="{9A59796C-9E4E-E3B3-F7CF-6BA7E7CE8D62}"/>
                </a:ext>
              </a:extLst>
            </p:cNvPr>
            <p:cNvSpPr txBox="1"/>
            <p:nvPr/>
          </p:nvSpPr>
          <p:spPr>
            <a:xfrm>
              <a:off x="6464416" y="2516640"/>
              <a:ext cx="441146" cy="523220"/>
            </a:xfrm>
            <a:prstGeom prst="rect">
              <a:avLst/>
            </a:prstGeom>
            <a:noFill/>
            <a:ln w="25400">
              <a:solidFill>
                <a:schemeClr val="tx1"/>
              </a:solidFill>
            </a:ln>
          </p:spPr>
          <p:txBody>
            <a:bodyPr wrap="square" rtlCol="0">
              <a:spAutoFit/>
            </a:bodyPr>
            <a:lstStyle/>
            <a:p>
              <a:r>
                <a:rPr lang="es-ES" sz="2800" dirty="0">
                  <a:latin typeface="Arial" panose="020B0604020202020204" pitchFamily="34" charset="0"/>
                  <a:cs typeface="Arial" panose="020B0604020202020204" pitchFamily="34" charset="0"/>
                </a:rPr>
                <a:t>Y </a:t>
              </a:r>
              <a:endParaRPr lang="es-ES" sz="2800" baseline="-25000" dirty="0">
                <a:latin typeface="Arial" panose="020B0604020202020204" pitchFamily="34" charset="0"/>
                <a:cs typeface="Arial" panose="020B0604020202020204" pitchFamily="34" charset="0"/>
              </a:endParaRPr>
            </a:p>
          </p:txBody>
        </p:sp>
        <p:sp>
          <p:nvSpPr>
            <p:cNvPr id="18" name="CuadroTexto 6">
              <a:extLst>
                <a:ext uri="{FF2B5EF4-FFF2-40B4-BE49-F238E27FC236}">
                  <a16:creationId xmlns:a16="http://schemas.microsoft.com/office/drawing/2014/main" id="{9DB1548E-F1E4-F9E8-217B-EDE2741FB655}"/>
                </a:ext>
              </a:extLst>
            </p:cNvPr>
            <p:cNvSpPr txBox="1"/>
            <p:nvPr/>
          </p:nvSpPr>
          <p:spPr>
            <a:xfrm>
              <a:off x="7537848" y="1513253"/>
              <a:ext cx="650804" cy="523220"/>
            </a:xfrm>
            <a:prstGeom prst="rect">
              <a:avLst/>
            </a:prstGeom>
            <a:noFill/>
            <a:ln w="25400">
              <a:solidFill>
                <a:schemeClr val="tx1"/>
              </a:solidFill>
            </a:ln>
          </p:spPr>
          <p:txBody>
            <a:bodyPr wrap="square" rtlCol="0">
              <a:spAutoFit/>
            </a:bodyPr>
            <a:lstStyle/>
            <a:p>
              <a:r>
                <a:rPr lang="es-ES" sz="2800" dirty="0">
                  <a:latin typeface="Arial" panose="020B0604020202020204" pitchFamily="34" charset="0"/>
                  <a:cs typeface="Arial" panose="020B0604020202020204" pitchFamily="34" charset="0"/>
                </a:rPr>
                <a:t>x</a:t>
              </a:r>
              <a:r>
                <a:rPr lang="es-ES" sz="2800" baseline="-25000" dirty="0">
                  <a:latin typeface="Arial" panose="020B0604020202020204" pitchFamily="34" charset="0"/>
                  <a:cs typeface="Arial" panose="020B0604020202020204" pitchFamily="34" charset="0"/>
                </a:rPr>
                <a:t>2</a:t>
              </a:r>
            </a:p>
          </p:txBody>
        </p:sp>
        <p:cxnSp>
          <p:nvCxnSpPr>
            <p:cNvPr id="19" name="Conector recto de flecha 4">
              <a:extLst>
                <a:ext uri="{FF2B5EF4-FFF2-40B4-BE49-F238E27FC236}">
                  <a16:creationId xmlns:a16="http://schemas.microsoft.com/office/drawing/2014/main" id="{9DD2CDC5-FA90-6293-D3ED-7A907AB92DA4}"/>
                </a:ext>
              </a:extLst>
            </p:cNvPr>
            <p:cNvCxnSpPr>
              <a:cxnSpLocks/>
            </p:cNvCxnSpPr>
            <p:nvPr/>
          </p:nvCxnSpPr>
          <p:spPr>
            <a:xfrm flipH="1">
              <a:off x="6887044" y="2051421"/>
              <a:ext cx="650804" cy="483284"/>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28" name="CuadroTexto 3">
              <a:extLst>
                <a:ext uri="{FF2B5EF4-FFF2-40B4-BE49-F238E27FC236}">
                  <a16:creationId xmlns:a16="http://schemas.microsoft.com/office/drawing/2014/main" id="{22E1BDB9-844A-9CB4-7F1F-A4062F70AA34}"/>
                </a:ext>
              </a:extLst>
            </p:cNvPr>
            <p:cNvSpPr txBox="1"/>
            <p:nvPr/>
          </p:nvSpPr>
          <p:spPr>
            <a:xfrm>
              <a:off x="455024" y="4532778"/>
              <a:ext cx="555762" cy="555808"/>
            </a:xfrm>
            <a:prstGeom prst="rect">
              <a:avLst/>
            </a:prstGeom>
            <a:noFill/>
            <a:ln w="25400">
              <a:solidFill>
                <a:schemeClr val="bg2"/>
              </a:solidFill>
            </a:ln>
          </p:spPr>
          <p:txBody>
            <a:bodyPr wrap="none" rtlCol="0">
              <a:spAutoFit/>
            </a:bodyPr>
            <a:lstStyle/>
            <a:p>
              <a:r>
                <a:rPr lang="es-ES" sz="2800" dirty="0">
                  <a:solidFill>
                    <a:schemeClr val="bg2"/>
                  </a:solidFill>
                  <a:latin typeface="Arial" panose="020B0604020202020204" pitchFamily="34" charset="0"/>
                  <a:cs typeface="Arial" panose="020B0604020202020204" pitchFamily="34" charset="0"/>
                </a:rPr>
                <a:t>x</a:t>
              </a:r>
              <a:r>
                <a:rPr lang="es-ES" sz="2800" baseline="-25000" dirty="0">
                  <a:solidFill>
                    <a:schemeClr val="bg2"/>
                  </a:solidFill>
                  <a:latin typeface="Arial" panose="020B0604020202020204" pitchFamily="34" charset="0"/>
                  <a:cs typeface="Arial" panose="020B0604020202020204" pitchFamily="34" charset="0"/>
                </a:rPr>
                <a:t>1</a:t>
              </a:r>
            </a:p>
          </p:txBody>
        </p:sp>
        <p:cxnSp>
          <p:nvCxnSpPr>
            <p:cNvPr id="29" name="Conector recto de flecha 4">
              <a:extLst>
                <a:ext uri="{FF2B5EF4-FFF2-40B4-BE49-F238E27FC236}">
                  <a16:creationId xmlns:a16="http://schemas.microsoft.com/office/drawing/2014/main" id="{EC77FBE9-A700-5A76-7824-698ED780EDCA}"/>
                </a:ext>
              </a:extLst>
            </p:cNvPr>
            <p:cNvCxnSpPr>
              <a:cxnSpLocks/>
              <a:stCxn id="28" idx="3"/>
            </p:cNvCxnSpPr>
            <p:nvPr/>
          </p:nvCxnSpPr>
          <p:spPr>
            <a:xfrm flipV="1">
              <a:off x="1010786" y="4806266"/>
              <a:ext cx="599200" cy="4416"/>
            </a:xfrm>
            <a:prstGeom prst="straightConnector1">
              <a:avLst/>
            </a:prstGeom>
            <a:ln w="25400">
              <a:solidFill>
                <a:schemeClr val="bg2"/>
              </a:solidFill>
              <a:tailEnd type="triangle" w="lg" len="lg"/>
            </a:ln>
          </p:spPr>
          <p:style>
            <a:lnRef idx="1">
              <a:schemeClr val="accent1"/>
            </a:lnRef>
            <a:fillRef idx="0">
              <a:schemeClr val="accent1"/>
            </a:fillRef>
            <a:effectRef idx="0">
              <a:schemeClr val="accent1"/>
            </a:effectRef>
            <a:fontRef idx="minor">
              <a:schemeClr val="tx1"/>
            </a:fontRef>
          </p:style>
        </p:cxnSp>
        <p:sp>
          <p:nvSpPr>
            <p:cNvPr id="30" name="CuadroTexto 5">
              <a:extLst>
                <a:ext uri="{FF2B5EF4-FFF2-40B4-BE49-F238E27FC236}">
                  <a16:creationId xmlns:a16="http://schemas.microsoft.com/office/drawing/2014/main" id="{E07B761B-B9A3-46DA-7D9B-D6601361D09D}"/>
                </a:ext>
              </a:extLst>
            </p:cNvPr>
            <p:cNvSpPr txBox="1"/>
            <p:nvPr/>
          </p:nvSpPr>
          <p:spPr>
            <a:xfrm>
              <a:off x="2752124" y="4532778"/>
              <a:ext cx="577189" cy="555808"/>
            </a:xfrm>
            <a:prstGeom prst="rect">
              <a:avLst/>
            </a:prstGeom>
            <a:noFill/>
            <a:ln w="25400">
              <a:solidFill>
                <a:schemeClr val="bg2"/>
              </a:solidFill>
            </a:ln>
          </p:spPr>
          <p:txBody>
            <a:bodyPr wrap="none" rtlCol="0">
              <a:spAutoFit/>
            </a:bodyPr>
            <a:lstStyle/>
            <a:p>
              <a:r>
                <a:rPr lang="es-ES" sz="2800" dirty="0">
                  <a:solidFill>
                    <a:schemeClr val="bg2"/>
                  </a:solidFill>
                  <a:latin typeface="Arial" panose="020B0604020202020204" pitchFamily="34" charset="0"/>
                  <a:cs typeface="Arial" panose="020B0604020202020204" pitchFamily="34" charset="0"/>
                </a:rPr>
                <a:t>Y </a:t>
              </a:r>
              <a:endParaRPr lang="es-ES" sz="2800" baseline="-25000" dirty="0">
                <a:solidFill>
                  <a:schemeClr val="bg2"/>
                </a:solidFill>
                <a:latin typeface="Arial" panose="020B0604020202020204" pitchFamily="34" charset="0"/>
                <a:cs typeface="Arial" panose="020B0604020202020204" pitchFamily="34" charset="0"/>
              </a:endParaRPr>
            </a:p>
          </p:txBody>
        </p:sp>
        <p:sp>
          <p:nvSpPr>
            <p:cNvPr id="31" name="CuadroTexto 6">
              <a:extLst>
                <a:ext uri="{FF2B5EF4-FFF2-40B4-BE49-F238E27FC236}">
                  <a16:creationId xmlns:a16="http://schemas.microsoft.com/office/drawing/2014/main" id="{9BD79CCF-026B-BE20-F894-1E8279B66942}"/>
                </a:ext>
              </a:extLst>
            </p:cNvPr>
            <p:cNvSpPr txBox="1"/>
            <p:nvPr/>
          </p:nvSpPr>
          <p:spPr>
            <a:xfrm>
              <a:off x="1609986" y="4532778"/>
              <a:ext cx="555762" cy="555808"/>
            </a:xfrm>
            <a:prstGeom prst="rect">
              <a:avLst/>
            </a:prstGeom>
            <a:noFill/>
            <a:ln w="25400">
              <a:solidFill>
                <a:schemeClr val="bg2"/>
              </a:solidFill>
            </a:ln>
          </p:spPr>
          <p:txBody>
            <a:bodyPr wrap="none" rtlCol="0">
              <a:spAutoFit/>
            </a:bodyPr>
            <a:lstStyle/>
            <a:p>
              <a:r>
                <a:rPr lang="es-ES" sz="2800" dirty="0">
                  <a:solidFill>
                    <a:schemeClr val="bg2"/>
                  </a:solidFill>
                  <a:latin typeface="Arial" panose="020B0604020202020204" pitchFamily="34" charset="0"/>
                  <a:cs typeface="Arial" panose="020B0604020202020204" pitchFamily="34" charset="0"/>
                </a:rPr>
                <a:t>x</a:t>
              </a:r>
              <a:r>
                <a:rPr lang="es-ES" sz="2800" baseline="-25000" dirty="0">
                  <a:solidFill>
                    <a:schemeClr val="bg2"/>
                  </a:solidFill>
                  <a:latin typeface="Arial" panose="020B0604020202020204" pitchFamily="34" charset="0"/>
                  <a:cs typeface="Arial" panose="020B0604020202020204" pitchFamily="34" charset="0"/>
                </a:rPr>
                <a:t>2</a:t>
              </a:r>
            </a:p>
          </p:txBody>
        </p:sp>
        <p:cxnSp>
          <p:nvCxnSpPr>
            <p:cNvPr id="32" name="Conector recto de flecha 4">
              <a:extLst>
                <a:ext uri="{FF2B5EF4-FFF2-40B4-BE49-F238E27FC236}">
                  <a16:creationId xmlns:a16="http://schemas.microsoft.com/office/drawing/2014/main" id="{046ADD9D-4446-6188-9F0D-F9EE58F2B295}"/>
                </a:ext>
              </a:extLst>
            </p:cNvPr>
            <p:cNvCxnSpPr>
              <a:cxnSpLocks/>
              <a:stCxn id="31" idx="3"/>
            </p:cNvCxnSpPr>
            <p:nvPr/>
          </p:nvCxnSpPr>
          <p:spPr>
            <a:xfrm flipV="1">
              <a:off x="2165747" y="4794388"/>
              <a:ext cx="592788" cy="16293"/>
            </a:xfrm>
            <a:prstGeom prst="straightConnector1">
              <a:avLst/>
            </a:prstGeom>
            <a:ln w="25400">
              <a:solidFill>
                <a:schemeClr val="bg2"/>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33" name="Conector recto de flecha 4">
              <a:extLst>
                <a:ext uri="{FF2B5EF4-FFF2-40B4-BE49-F238E27FC236}">
                  <a16:creationId xmlns:a16="http://schemas.microsoft.com/office/drawing/2014/main" id="{39A1362D-6910-4DB1-535D-DC44845A513C}"/>
                </a:ext>
              </a:extLst>
            </p:cNvPr>
            <p:cNvCxnSpPr>
              <a:cxnSpLocks/>
            </p:cNvCxnSpPr>
            <p:nvPr/>
          </p:nvCxnSpPr>
          <p:spPr>
            <a:xfrm>
              <a:off x="1866029" y="5055998"/>
              <a:ext cx="0" cy="588533"/>
            </a:xfrm>
            <a:prstGeom prst="straightConnector1">
              <a:avLst/>
            </a:prstGeom>
            <a:ln w="25400">
              <a:solidFill>
                <a:schemeClr val="bg2"/>
              </a:solidFill>
              <a:tailEnd type="triangle" w="lg" len="lg"/>
            </a:ln>
          </p:spPr>
          <p:style>
            <a:lnRef idx="1">
              <a:schemeClr val="accent1"/>
            </a:lnRef>
            <a:fillRef idx="0">
              <a:schemeClr val="accent1"/>
            </a:fillRef>
            <a:effectRef idx="0">
              <a:schemeClr val="accent1"/>
            </a:effectRef>
            <a:fontRef idx="minor">
              <a:schemeClr val="tx1"/>
            </a:fontRef>
          </p:style>
        </p:cxnSp>
        <p:sp>
          <p:nvSpPr>
            <p:cNvPr id="35" name="CuadroTexto 6">
              <a:extLst>
                <a:ext uri="{FF2B5EF4-FFF2-40B4-BE49-F238E27FC236}">
                  <a16:creationId xmlns:a16="http://schemas.microsoft.com/office/drawing/2014/main" id="{94A2FA20-4781-A48A-956B-168E40B6BA5B}"/>
                </a:ext>
              </a:extLst>
            </p:cNvPr>
            <p:cNvSpPr txBox="1"/>
            <p:nvPr/>
          </p:nvSpPr>
          <p:spPr>
            <a:xfrm>
              <a:off x="1609986" y="5646373"/>
              <a:ext cx="555762" cy="555808"/>
            </a:xfrm>
            <a:prstGeom prst="rect">
              <a:avLst/>
            </a:prstGeom>
            <a:noFill/>
            <a:ln w="25400">
              <a:solidFill>
                <a:schemeClr val="bg2"/>
              </a:solidFill>
            </a:ln>
          </p:spPr>
          <p:txBody>
            <a:bodyPr wrap="none" rtlCol="0">
              <a:spAutoFit/>
            </a:bodyPr>
            <a:lstStyle/>
            <a:p>
              <a:r>
                <a:rPr lang="es-ES" sz="2800" dirty="0">
                  <a:solidFill>
                    <a:schemeClr val="bg2"/>
                  </a:solidFill>
                  <a:latin typeface="Arial" panose="020B0604020202020204" pitchFamily="34" charset="0"/>
                  <a:cs typeface="Arial" panose="020B0604020202020204" pitchFamily="34" charset="0"/>
                </a:rPr>
                <a:t>x</a:t>
              </a:r>
              <a:r>
                <a:rPr lang="es-ES" sz="2800" baseline="-25000" dirty="0">
                  <a:solidFill>
                    <a:schemeClr val="bg2"/>
                  </a:solidFill>
                  <a:latin typeface="Arial" panose="020B0604020202020204" pitchFamily="34" charset="0"/>
                  <a:cs typeface="Arial" panose="020B0604020202020204" pitchFamily="34" charset="0"/>
                </a:rPr>
                <a:t>3</a:t>
              </a:r>
            </a:p>
          </p:txBody>
        </p:sp>
        <p:sp>
          <p:nvSpPr>
            <p:cNvPr id="45" name="CuadroTexto 3">
              <a:extLst>
                <a:ext uri="{FF2B5EF4-FFF2-40B4-BE49-F238E27FC236}">
                  <a16:creationId xmlns:a16="http://schemas.microsoft.com/office/drawing/2014/main" id="{CFEBEFD0-C322-087E-B378-35D24C434005}"/>
                </a:ext>
              </a:extLst>
            </p:cNvPr>
            <p:cNvSpPr txBox="1"/>
            <p:nvPr/>
          </p:nvSpPr>
          <p:spPr>
            <a:xfrm>
              <a:off x="5029202" y="5477528"/>
              <a:ext cx="603646" cy="523220"/>
            </a:xfrm>
            <a:prstGeom prst="rect">
              <a:avLst/>
            </a:prstGeom>
            <a:noFill/>
            <a:ln w="25400">
              <a:solidFill>
                <a:schemeClr val="tx1"/>
              </a:solidFill>
            </a:ln>
          </p:spPr>
          <p:txBody>
            <a:bodyPr wrap="square" rtlCol="0">
              <a:spAutoFit/>
            </a:bodyPr>
            <a:lstStyle/>
            <a:p>
              <a:r>
                <a:rPr lang="es-ES" sz="2800" dirty="0">
                  <a:latin typeface="Arial" panose="020B0604020202020204" pitchFamily="34" charset="0"/>
                  <a:cs typeface="Arial" panose="020B0604020202020204" pitchFamily="34" charset="0"/>
                </a:rPr>
                <a:t>x</a:t>
              </a:r>
              <a:r>
                <a:rPr lang="es-ES" sz="2800" baseline="-25000" dirty="0">
                  <a:latin typeface="Arial" panose="020B0604020202020204" pitchFamily="34" charset="0"/>
                  <a:cs typeface="Arial" panose="020B0604020202020204" pitchFamily="34" charset="0"/>
                </a:rPr>
                <a:t>1</a:t>
              </a:r>
            </a:p>
          </p:txBody>
        </p:sp>
        <p:cxnSp>
          <p:nvCxnSpPr>
            <p:cNvPr id="46" name="Conector recto de flecha 4">
              <a:extLst>
                <a:ext uri="{FF2B5EF4-FFF2-40B4-BE49-F238E27FC236}">
                  <a16:creationId xmlns:a16="http://schemas.microsoft.com/office/drawing/2014/main" id="{D7BD3A2C-81CF-C7B1-6441-B4D024CA3481}"/>
                </a:ext>
              </a:extLst>
            </p:cNvPr>
            <p:cNvCxnSpPr>
              <a:cxnSpLocks/>
              <a:endCxn id="45" idx="0"/>
            </p:cNvCxnSpPr>
            <p:nvPr/>
          </p:nvCxnSpPr>
          <p:spPr>
            <a:xfrm flipH="1">
              <a:off x="5331025" y="4555253"/>
              <a:ext cx="724546" cy="922275"/>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47" name="CuadroTexto 5">
              <a:extLst>
                <a:ext uri="{FF2B5EF4-FFF2-40B4-BE49-F238E27FC236}">
                  <a16:creationId xmlns:a16="http://schemas.microsoft.com/office/drawing/2014/main" id="{7467B598-2052-4886-EE72-87E8FE6915F9}"/>
                </a:ext>
              </a:extLst>
            </p:cNvPr>
            <p:cNvSpPr txBox="1"/>
            <p:nvPr/>
          </p:nvSpPr>
          <p:spPr>
            <a:xfrm>
              <a:off x="7309482" y="5445806"/>
              <a:ext cx="441146" cy="523220"/>
            </a:xfrm>
            <a:prstGeom prst="rect">
              <a:avLst/>
            </a:prstGeom>
            <a:noFill/>
            <a:ln w="25400">
              <a:solidFill>
                <a:schemeClr val="tx1"/>
              </a:solidFill>
            </a:ln>
          </p:spPr>
          <p:txBody>
            <a:bodyPr wrap="square" rtlCol="0">
              <a:spAutoFit/>
            </a:bodyPr>
            <a:lstStyle/>
            <a:p>
              <a:r>
                <a:rPr lang="es-ES" sz="2800" dirty="0">
                  <a:latin typeface="Arial" panose="020B0604020202020204" pitchFamily="34" charset="0"/>
                  <a:cs typeface="Arial" panose="020B0604020202020204" pitchFamily="34" charset="0"/>
                </a:rPr>
                <a:t>Y </a:t>
              </a:r>
              <a:endParaRPr lang="es-ES" sz="2800" baseline="-25000" dirty="0">
                <a:latin typeface="Arial" panose="020B0604020202020204" pitchFamily="34" charset="0"/>
                <a:cs typeface="Arial" panose="020B0604020202020204" pitchFamily="34" charset="0"/>
              </a:endParaRPr>
            </a:p>
          </p:txBody>
        </p:sp>
        <p:sp>
          <p:nvSpPr>
            <p:cNvPr id="48" name="CuadroTexto 6">
              <a:extLst>
                <a:ext uri="{FF2B5EF4-FFF2-40B4-BE49-F238E27FC236}">
                  <a16:creationId xmlns:a16="http://schemas.microsoft.com/office/drawing/2014/main" id="{973767C0-2BEB-6241-EBE6-D3FFBC73D630}"/>
                </a:ext>
              </a:extLst>
            </p:cNvPr>
            <p:cNvSpPr txBox="1"/>
            <p:nvPr/>
          </p:nvSpPr>
          <p:spPr>
            <a:xfrm>
              <a:off x="6055573" y="4032033"/>
              <a:ext cx="677972" cy="555808"/>
            </a:xfrm>
            <a:prstGeom prst="rect">
              <a:avLst/>
            </a:prstGeom>
            <a:noFill/>
            <a:ln w="25400">
              <a:solidFill>
                <a:schemeClr val="tx1"/>
              </a:solidFill>
            </a:ln>
          </p:spPr>
          <p:txBody>
            <a:bodyPr wrap="square" rtlCol="0">
              <a:spAutoFit/>
            </a:bodyPr>
            <a:lstStyle/>
            <a:p>
              <a:r>
                <a:rPr lang="es-ES" sz="2800" dirty="0">
                  <a:latin typeface="Arial" panose="020B0604020202020204" pitchFamily="34" charset="0"/>
                  <a:cs typeface="Arial" panose="020B0604020202020204" pitchFamily="34" charset="0"/>
                </a:rPr>
                <a:t>x</a:t>
              </a:r>
              <a:r>
                <a:rPr lang="es-ES" sz="2800" baseline="-25000" dirty="0">
                  <a:latin typeface="Arial" panose="020B0604020202020204" pitchFamily="34" charset="0"/>
                  <a:cs typeface="Arial" panose="020B0604020202020204" pitchFamily="34" charset="0"/>
                </a:rPr>
                <a:t>2</a:t>
              </a:r>
            </a:p>
          </p:txBody>
        </p:sp>
        <p:cxnSp>
          <p:nvCxnSpPr>
            <p:cNvPr id="49" name="Conector recto de flecha 4">
              <a:extLst>
                <a:ext uri="{FF2B5EF4-FFF2-40B4-BE49-F238E27FC236}">
                  <a16:creationId xmlns:a16="http://schemas.microsoft.com/office/drawing/2014/main" id="{0A3AC8FB-46FC-B10C-7772-CD0ABA83DB99}"/>
                </a:ext>
              </a:extLst>
            </p:cNvPr>
            <p:cNvCxnSpPr>
              <a:cxnSpLocks/>
              <a:endCxn id="47" idx="1"/>
            </p:cNvCxnSpPr>
            <p:nvPr/>
          </p:nvCxnSpPr>
          <p:spPr>
            <a:xfrm flipV="1">
              <a:off x="5643322" y="5707416"/>
              <a:ext cx="1666160" cy="36496"/>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56" name="Conector recto de flecha 4">
              <a:extLst>
                <a:ext uri="{FF2B5EF4-FFF2-40B4-BE49-F238E27FC236}">
                  <a16:creationId xmlns:a16="http://schemas.microsoft.com/office/drawing/2014/main" id="{2BAFF4CE-F4A5-38C0-7D80-CFF0BC02D94E}"/>
                </a:ext>
              </a:extLst>
            </p:cNvPr>
            <p:cNvCxnSpPr>
              <a:cxnSpLocks/>
            </p:cNvCxnSpPr>
            <p:nvPr/>
          </p:nvCxnSpPr>
          <p:spPr>
            <a:xfrm>
              <a:off x="6733543" y="4587841"/>
              <a:ext cx="575938" cy="889687"/>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79105424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E4ACC8-A498-5493-5908-947337F52676}"/>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016ED2FB-E6B0-FF8B-A0EE-C0076CA3A104}"/>
              </a:ext>
            </a:extLst>
          </p:cNvPr>
          <p:cNvSpPr txBox="1"/>
          <p:nvPr/>
        </p:nvSpPr>
        <p:spPr>
          <a:xfrm>
            <a:off x="479234" y="481854"/>
            <a:ext cx="6538510" cy="461665"/>
          </a:xfrm>
          <a:prstGeom prst="rect">
            <a:avLst/>
          </a:prstGeom>
          <a:noFill/>
        </p:spPr>
        <p:txBody>
          <a:bodyPr wrap="square">
            <a:spAutoFit/>
          </a:bodyPr>
          <a:lstStyle/>
          <a:p>
            <a:r>
              <a:rPr lang="en-US" sz="2400" b="1" dirty="0">
                <a:latin typeface="Arial" panose="020B0604020202020204" pitchFamily="34" charset="0"/>
                <a:cs typeface="Arial" panose="020B0604020202020204" pitchFamily="34" charset="0"/>
              </a:rPr>
              <a:t>A Collision of Sampling and Regression</a:t>
            </a:r>
          </a:p>
        </p:txBody>
      </p:sp>
      <p:sp>
        <p:nvSpPr>
          <p:cNvPr id="5" name="TextBox 4">
            <a:extLst>
              <a:ext uri="{FF2B5EF4-FFF2-40B4-BE49-F238E27FC236}">
                <a16:creationId xmlns:a16="http://schemas.microsoft.com/office/drawing/2014/main" id="{BAC38025-DC6C-8787-E2DE-671267165B89}"/>
              </a:ext>
            </a:extLst>
          </p:cNvPr>
          <p:cNvSpPr txBox="1"/>
          <p:nvPr/>
        </p:nvSpPr>
        <p:spPr>
          <a:xfrm>
            <a:off x="479233" y="1274746"/>
            <a:ext cx="7761383" cy="1323439"/>
          </a:xfrm>
          <a:prstGeom prst="rect">
            <a:avLst/>
          </a:prstGeom>
          <a:noFill/>
        </p:spPr>
        <p:txBody>
          <a:bodyPr wrap="square">
            <a:spAutoFit/>
          </a:bodyPr>
          <a:lstStyle/>
          <a:p>
            <a:r>
              <a:rPr lang="en-US" sz="2000" b="1" dirty="0">
                <a:latin typeface="Arial" panose="020B0604020202020204" pitchFamily="34" charset="0"/>
                <a:cs typeface="Arial" panose="020B0604020202020204" pitchFamily="34" charset="0"/>
              </a:rPr>
              <a:t>Consider the following:</a:t>
            </a:r>
          </a:p>
          <a:p>
            <a:endParaRPr lang="en-US" sz="2000" b="1" dirty="0">
              <a:latin typeface="Arial" panose="020B0604020202020204" pitchFamily="34" charset="0"/>
              <a:cs typeface="Arial" panose="020B0604020202020204" pitchFamily="34" charset="0"/>
            </a:endParaRPr>
          </a:p>
          <a:p>
            <a:r>
              <a:rPr lang="en-US" sz="2000" dirty="0">
                <a:latin typeface="Arial" panose="020B0604020202020204" pitchFamily="34" charset="0"/>
                <a:cs typeface="Arial" panose="020B0604020202020204" pitchFamily="34" charset="0"/>
              </a:rPr>
              <a:t>You are interested to see if academic ability and athletic ability are correlated. So, you sample students at your collage.</a:t>
            </a:r>
          </a:p>
        </p:txBody>
      </p:sp>
      <p:grpSp>
        <p:nvGrpSpPr>
          <p:cNvPr id="69" name="Group 68">
            <a:extLst>
              <a:ext uri="{FF2B5EF4-FFF2-40B4-BE49-F238E27FC236}">
                <a16:creationId xmlns:a16="http://schemas.microsoft.com/office/drawing/2014/main" id="{30346C43-30CC-D04C-2DFC-7D1395496CC6}"/>
              </a:ext>
            </a:extLst>
          </p:cNvPr>
          <p:cNvGrpSpPr/>
          <p:nvPr/>
        </p:nvGrpSpPr>
        <p:grpSpPr>
          <a:xfrm>
            <a:off x="1332257" y="2929412"/>
            <a:ext cx="3239743" cy="2998730"/>
            <a:chOff x="832724" y="2919470"/>
            <a:chExt cx="4236871" cy="3702548"/>
          </a:xfrm>
        </p:grpSpPr>
        <p:sp>
          <p:nvSpPr>
            <p:cNvPr id="8" name="TextBox 7">
              <a:extLst>
                <a:ext uri="{FF2B5EF4-FFF2-40B4-BE49-F238E27FC236}">
                  <a16:creationId xmlns:a16="http://schemas.microsoft.com/office/drawing/2014/main" id="{219E27C1-B35D-704B-34A0-0C1E83E843D9}"/>
                </a:ext>
              </a:extLst>
            </p:cNvPr>
            <p:cNvSpPr txBox="1"/>
            <p:nvPr/>
          </p:nvSpPr>
          <p:spPr>
            <a:xfrm rot="16200000">
              <a:off x="-542634" y="4294828"/>
              <a:ext cx="3150825" cy="400110"/>
            </a:xfrm>
            <a:prstGeom prst="rect">
              <a:avLst/>
            </a:prstGeom>
            <a:noFill/>
          </p:spPr>
          <p:txBody>
            <a:bodyPr wrap="square">
              <a:spAutoFit/>
            </a:bodyPr>
            <a:lstStyle/>
            <a:p>
              <a:pPr algn="ctr"/>
              <a:r>
                <a:rPr lang="en-US" sz="2000" dirty="0">
                  <a:latin typeface="Arial" panose="020B0604020202020204" pitchFamily="34" charset="0"/>
                  <a:cs typeface="Arial" panose="020B0604020202020204" pitchFamily="34" charset="0"/>
                </a:rPr>
                <a:t>Athletic ability</a:t>
              </a:r>
            </a:p>
          </p:txBody>
        </p:sp>
        <p:cxnSp>
          <p:nvCxnSpPr>
            <p:cNvPr id="63" name="Straight Arrow Connector 62">
              <a:extLst>
                <a:ext uri="{FF2B5EF4-FFF2-40B4-BE49-F238E27FC236}">
                  <a16:creationId xmlns:a16="http://schemas.microsoft.com/office/drawing/2014/main" id="{1FDCE031-6FE3-359F-4FF5-71CFD13E4BFA}"/>
                </a:ext>
              </a:extLst>
            </p:cNvPr>
            <p:cNvCxnSpPr/>
            <p:nvPr/>
          </p:nvCxnSpPr>
          <p:spPr>
            <a:xfrm flipV="1">
              <a:off x="1509311" y="2930485"/>
              <a:ext cx="0" cy="3150824"/>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4" name="Straight Arrow Connector 63">
              <a:extLst>
                <a:ext uri="{FF2B5EF4-FFF2-40B4-BE49-F238E27FC236}">
                  <a16:creationId xmlns:a16="http://schemas.microsoft.com/office/drawing/2014/main" id="{4C6CA450-CF17-42E8-A8B6-778D0791CE98}"/>
                </a:ext>
              </a:extLst>
            </p:cNvPr>
            <p:cNvCxnSpPr>
              <a:cxnSpLocks/>
            </p:cNvCxnSpPr>
            <p:nvPr/>
          </p:nvCxnSpPr>
          <p:spPr>
            <a:xfrm>
              <a:off x="1509311" y="6081309"/>
              <a:ext cx="3560284"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67" name="Picture 66" descr="A red line between black dots&#10;&#10;AI-generated content may be incorrect.">
              <a:extLst>
                <a:ext uri="{FF2B5EF4-FFF2-40B4-BE49-F238E27FC236}">
                  <a16:creationId xmlns:a16="http://schemas.microsoft.com/office/drawing/2014/main" id="{B6B6770D-CAE3-E15B-25E2-E47C1106492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24448" y="3174140"/>
              <a:ext cx="2030221" cy="1772415"/>
            </a:xfrm>
            <a:prstGeom prst="rect">
              <a:avLst/>
            </a:prstGeom>
          </p:spPr>
        </p:pic>
        <p:sp>
          <p:nvSpPr>
            <p:cNvPr id="68" name="TextBox 67">
              <a:extLst>
                <a:ext uri="{FF2B5EF4-FFF2-40B4-BE49-F238E27FC236}">
                  <a16:creationId xmlns:a16="http://schemas.microsoft.com/office/drawing/2014/main" id="{0D8CB285-9BB0-5040-32D1-F03A11B41A0B}"/>
                </a:ext>
              </a:extLst>
            </p:cNvPr>
            <p:cNvSpPr txBox="1"/>
            <p:nvPr/>
          </p:nvSpPr>
          <p:spPr>
            <a:xfrm>
              <a:off x="1509310" y="6221908"/>
              <a:ext cx="3560277" cy="400110"/>
            </a:xfrm>
            <a:prstGeom prst="rect">
              <a:avLst/>
            </a:prstGeom>
            <a:noFill/>
          </p:spPr>
          <p:txBody>
            <a:bodyPr wrap="square">
              <a:spAutoFit/>
            </a:bodyPr>
            <a:lstStyle/>
            <a:p>
              <a:pPr algn="ctr"/>
              <a:r>
                <a:rPr lang="en-US" sz="2000" dirty="0">
                  <a:latin typeface="Arial" panose="020B0604020202020204" pitchFamily="34" charset="0"/>
                  <a:cs typeface="Arial" panose="020B0604020202020204" pitchFamily="34" charset="0"/>
                </a:rPr>
                <a:t>Academic ability</a:t>
              </a:r>
            </a:p>
          </p:txBody>
        </p:sp>
      </p:grpSp>
    </p:spTree>
    <p:extLst>
      <p:ext uri="{BB962C8B-B14F-4D97-AF65-F5344CB8AC3E}">
        <p14:creationId xmlns:p14="http://schemas.microsoft.com/office/powerpoint/2010/main" val="403231543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5E8DED-C96F-24DD-E91E-DE2ED053FEBA}"/>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1B24A0B2-811A-5226-10DE-AAE1A562F725}"/>
              </a:ext>
            </a:extLst>
          </p:cNvPr>
          <p:cNvSpPr txBox="1"/>
          <p:nvPr/>
        </p:nvSpPr>
        <p:spPr>
          <a:xfrm>
            <a:off x="479234" y="481854"/>
            <a:ext cx="6538510" cy="461665"/>
          </a:xfrm>
          <a:prstGeom prst="rect">
            <a:avLst/>
          </a:prstGeom>
          <a:noFill/>
        </p:spPr>
        <p:txBody>
          <a:bodyPr wrap="square">
            <a:spAutoFit/>
          </a:bodyPr>
          <a:lstStyle/>
          <a:p>
            <a:r>
              <a:rPr lang="en-US" sz="2400" b="1" dirty="0">
                <a:latin typeface="Arial" panose="020B0604020202020204" pitchFamily="34" charset="0"/>
                <a:cs typeface="Arial" panose="020B0604020202020204" pitchFamily="34" charset="0"/>
              </a:rPr>
              <a:t>A Collision of Sampling and Regression</a:t>
            </a:r>
          </a:p>
        </p:txBody>
      </p:sp>
      <p:sp>
        <p:nvSpPr>
          <p:cNvPr id="10" name="TextBox 9">
            <a:extLst>
              <a:ext uri="{FF2B5EF4-FFF2-40B4-BE49-F238E27FC236}">
                <a16:creationId xmlns:a16="http://schemas.microsoft.com/office/drawing/2014/main" id="{92EF2C58-737A-6281-A7EB-B8DA692181C8}"/>
              </a:ext>
            </a:extLst>
          </p:cNvPr>
          <p:cNvSpPr txBox="1"/>
          <p:nvPr/>
        </p:nvSpPr>
        <p:spPr>
          <a:xfrm>
            <a:off x="479234" y="1109189"/>
            <a:ext cx="4572000" cy="369332"/>
          </a:xfrm>
          <a:prstGeom prst="rect">
            <a:avLst/>
          </a:prstGeom>
          <a:noFill/>
        </p:spPr>
        <p:txBody>
          <a:bodyPr wrap="square">
            <a:spAutoFit/>
          </a:bodyPr>
          <a:lstStyle/>
          <a:p>
            <a:r>
              <a:rPr lang="en-US" dirty="0">
                <a:solidFill>
                  <a:srgbClr val="FF0000"/>
                </a:solidFill>
                <a:latin typeface="Arial" panose="020B0604020202020204" pitchFamily="34" charset="0"/>
                <a:cs typeface="Arial" panose="020B0604020202020204" pitchFamily="34" charset="0"/>
              </a:rPr>
              <a:t>But how do you get into college?</a:t>
            </a:r>
          </a:p>
        </p:txBody>
      </p:sp>
      <p:grpSp>
        <p:nvGrpSpPr>
          <p:cNvPr id="13" name="Group 12">
            <a:extLst>
              <a:ext uri="{FF2B5EF4-FFF2-40B4-BE49-F238E27FC236}">
                <a16:creationId xmlns:a16="http://schemas.microsoft.com/office/drawing/2014/main" id="{B997CDE9-7CDC-B8C0-EA01-997368942D49}"/>
              </a:ext>
            </a:extLst>
          </p:cNvPr>
          <p:cNvGrpSpPr/>
          <p:nvPr/>
        </p:nvGrpSpPr>
        <p:grpSpPr>
          <a:xfrm>
            <a:off x="1737599" y="2600087"/>
            <a:ext cx="4398297" cy="3691531"/>
            <a:chOff x="1152213" y="2974555"/>
            <a:chExt cx="4398297" cy="3691531"/>
          </a:xfrm>
        </p:grpSpPr>
        <p:sp>
          <p:nvSpPr>
            <p:cNvPr id="8" name="TextBox 7">
              <a:extLst>
                <a:ext uri="{FF2B5EF4-FFF2-40B4-BE49-F238E27FC236}">
                  <a16:creationId xmlns:a16="http://schemas.microsoft.com/office/drawing/2014/main" id="{BBB9E590-34A0-3E08-B357-A09F2C401C2F}"/>
                </a:ext>
              </a:extLst>
            </p:cNvPr>
            <p:cNvSpPr txBox="1"/>
            <p:nvPr/>
          </p:nvSpPr>
          <p:spPr>
            <a:xfrm rot="16200000">
              <a:off x="-223145" y="4349913"/>
              <a:ext cx="3150825" cy="400110"/>
            </a:xfrm>
            <a:prstGeom prst="rect">
              <a:avLst/>
            </a:prstGeom>
            <a:noFill/>
          </p:spPr>
          <p:txBody>
            <a:bodyPr wrap="square">
              <a:spAutoFit/>
            </a:bodyPr>
            <a:lstStyle/>
            <a:p>
              <a:pPr algn="ctr"/>
              <a:r>
                <a:rPr lang="en-US" sz="2000" dirty="0">
                  <a:latin typeface="Arial" panose="020B0604020202020204" pitchFamily="34" charset="0"/>
                  <a:cs typeface="Arial" panose="020B0604020202020204" pitchFamily="34" charset="0"/>
                </a:rPr>
                <a:t>Athletic Ability</a:t>
              </a:r>
            </a:p>
          </p:txBody>
        </p:sp>
        <p:cxnSp>
          <p:nvCxnSpPr>
            <p:cNvPr id="63" name="Straight Arrow Connector 62">
              <a:extLst>
                <a:ext uri="{FF2B5EF4-FFF2-40B4-BE49-F238E27FC236}">
                  <a16:creationId xmlns:a16="http://schemas.microsoft.com/office/drawing/2014/main" id="{2CCB8256-EA9E-E44A-1088-63ACE8361195}"/>
                </a:ext>
              </a:extLst>
            </p:cNvPr>
            <p:cNvCxnSpPr/>
            <p:nvPr/>
          </p:nvCxnSpPr>
          <p:spPr>
            <a:xfrm flipV="1">
              <a:off x="1784732" y="2985570"/>
              <a:ext cx="0" cy="3150824"/>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4" name="Straight Arrow Connector 63">
              <a:extLst>
                <a:ext uri="{FF2B5EF4-FFF2-40B4-BE49-F238E27FC236}">
                  <a16:creationId xmlns:a16="http://schemas.microsoft.com/office/drawing/2014/main" id="{00C66C61-3CE0-C7CA-70A8-B091A80A0A69}"/>
                </a:ext>
              </a:extLst>
            </p:cNvPr>
            <p:cNvCxnSpPr>
              <a:cxnSpLocks/>
            </p:cNvCxnSpPr>
            <p:nvPr/>
          </p:nvCxnSpPr>
          <p:spPr>
            <a:xfrm>
              <a:off x="1784732" y="6136394"/>
              <a:ext cx="3560284"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8" name="TextBox 67">
              <a:extLst>
                <a:ext uri="{FF2B5EF4-FFF2-40B4-BE49-F238E27FC236}">
                  <a16:creationId xmlns:a16="http://schemas.microsoft.com/office/drawing/2014/main" id="{77292577-5909-94B6-0B76-2EEDD95E5DB4}"/>
                </a:ext>
              </a:extLst>
            </p:cNvPr>
            <p:cNvSpPr txBox="1"/>
            <p:nvPr/>
          </p:nvSpPr>
          <p:spPr>
            <a:xfrm>
              <a:off x="1784731" y="6265976"/>
              <a:ext cx="3560277" cy="400110"/>
            </a:xfrm>
            <a:prstGeom prst="rect">
              <a:avLst/>
            </a:prstGeom>
            <a:noFill/>
          </p:spPr>
          <p:txBody>
            <a:bodyPr wrap="square">
              <a:spAutoFit/>
            </a:bodyPr>
            <a:lstStyle/>
            <a:p>
              <a:pPr algn="ctr"/>
              <a:r>
                <a:rPr lang="en-US" sz="2000" dirty="0">
                  <a:latin typeface="Arial" panose="020B0604020202020204" pitchFamily="34" charset="0"/>
                  <a:cs typeface="Arial" panose="020B0604020202020204" pitchFamily="34" charset="0"/>
                </a:rPr>
                <a:t>Academic Ability</a:t>
              </a:r>
            </a:p>
          </p:txBody>
        </p:sp>
        <p:pic>
          <p:nvPicPr>
            <p:cNvPr id="12" name="Picture 11" descr="A group of black and white dots with a red line&#10;&#10;AI-generated content may be incorrect.">
              <a:extLst>
                <a:ext uri="{FF2B5EF4-FFF2-40B4-BE49-F238E27FC236}">
                  <a16:creationId xmlns:a16="http://schemas.microsoft.com/office/drawing/2014/main" id="{55F11335-44E5-7DB7-6FBA-1332BD36191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99070" y="3082510"/>
              <a:ext cx="3651440" cy="3010211"/>
            </a:xfrm>
            <a:prstGeom prst="rect">
              <a:avLst/>
            </a:prstGeom>
          </p:spPr>
        </p:pic>
      </p:grpSp>
      <p:sp>
        <p:nvSpPr>
          <p:cNvPr id="2" name="TextBox 1">
            <a:extLst>
              <a:ext uri="{FF2B5EF4-FFF2-40B4-BE49-F238E27FC236}">
                <a16:creationId xmlns:a16="http://schemas.microsoft.com/office/drawing/2014/main" id="{AD470F7E-E945-FA7C-9045-5EEA32D2CBEC}"/>
              </a:ext>
            </a:extLst>
          </p:cNvPr>
          <p:cNvSpPr txBox="1"/>
          <p:nvPr/>
        </p:nvSpPr>
        <p:spPr>
          <a:xfrm>
            <a:off x="602304" y="1800661"/>
            <a:ext cx="1801907" cy="369332"/>
          </a:xfrm>
          <a:prstGeom prst="rect">
            <a:avLst/>
          </a:prstGeom>
          <a:noFill/>
          <a:ln>
            <a:solidFill>
              <a:schemeClr val="tx1"/>
            </a:solidFill>
          </a:ln>
        </p:spPr>
        <p:txBody>
          <a:bodyPr wrap="square" rtlCol="0">
            <a:spAutoFit/>
          </a:bodyPr>
          <a:lstStyle/>
          <a:p>
            <a:r>
              <a:rPr lang="en-US" dirty="0"/>
              <a:t>Academic Ability</a:t>
            </a:r>
          </a:p>
        </p:txBody>
      </p:sp>
      <p:sp>
        <p:nvSpPr>
          <p:cNvPr id="4" name="TextBox 3">
            <a:extLst>
              <a:ext uri="{FF2B5EF4-FFF2-40B4-BE49-F238E27FC236}">
                <a16:creationId xmlns:a16="http://schemas.microsoft.com/office/drawing/2014/main" id="{8FE3036B-C2B5-99EB-774A-B1050A599A64}"/>
              </a:ext>
            </a:extLst>
          </p:cNvPr>
          <p:cNvSpPr txBox="1"/>
          <p:nvPr/>
        </p:nvSpPr>
        <p:spPr>
          <a:xfrm>
            <a:off x="3187194" y="1800661"/>
            <a:ext cx="1532209" cy="369332"/>
          </a:xfrm>
          <a:prstGeom prst="rect">
            <a:avLst/>
          </a:prstGeom>
          <a:noFill/>
          <a:ln>
            <a:solidFill>
              <a:schemeClr val="tx1"/>
            </a:solidFill>
          </a:ln>
        </p:spPr>
        <p:txBody>
          <a:bodyPr wrap="square" rtlCol="0">
            <a:spAutoFit/>
          </a:bodyPr>
          <a:lstStyle/>
          <a:p>
            <a:r>
              <a:rPr lang="en-US" dirty="0"/>
              <a:t>College Admit</a:t>
            </a:r>
          </a:p>
        </p:txBody>
      </p:sp>
      <p:sp>
        <p:nvSpPr>
          <p:cNvPr id="5" name="TextBox 4">
            <a:extLst>
              <a:ext uri="{FF2B5EF4-FFF2-40B4-BE49-F238E27FC236}">
                <a16:creationId xmlns:a16="http://schemas.microsoft.com/office/drawing/2014/main" id="{FB5EE498-28F2-051E-7EFA-C0D5CA023F51}"/>
              </a:ext>
            </a:extLst>
          </p:cNvPr>
          <p:cNvSpPr txBox="1"/>
          <p:nvPr/>
        </p:nvSpPr>
        <p:spPr>
          <a:xfrm>
            <a:off x="5598700" y="1800661"/>
            <a:ext cx="1649506" cy="369332"/>
          </a:xfrm>
          <a:prstGeom prst="rect">
            <a:avLst/>
          </a:prstGeom>
          <a:noFill/>
          <a:ln>
            <a:solidFill>
              <a:schemeClr val="tx1"/>
            </a:solidFill>
          </a:ln>
        </p:spPr>
        <p:txBody>
          <a:bodyPr wrap="square" rtlCol="0">
            <a:spAutoFit/>
          </a:bodyPr>
          <a:lstStyle/>
          <a:p>
            <a:r>
              <a:rPr lang="en-US" dirty="0"/>
              <a:t>Athletic Ability</a:t>
            </a:r>
          </a:p>
        </p:txBody>
      </p:sp>
      <p:cxnSp>
        <p:nvCxnSpPr>
          <p:cNvPr id="11" name="Conector recto de flecha 4">
            <a:extLst>
              <a:ext uri="{FF2B5EF4-FFF2-40B4-BE49-F238E27FC236}">
                <a16:creationId xmlns:a16="http://schemas.microsoft.com/office/drawing/2014/main" id="{35935CE3-E074-4A45-7743-E466A7145DD0}"/>
              </a:ext>
            </a:extLst>
          </p:cNvPr>
          <p:cNvCxnSpPr>
            <a:cxnSpLocks/>
            <a:stCxn id="2" idx="3"/>
            <a:endCxn id="4" idx="1"/>
          </p:cNvCxnSpPr>
          <p:nvPr/>
        </p:nvCxnSpPr>
        <p:spPr>
          <a:xfrm>
            <a:off x="2404211" y="1985327"/>
            <a:ext cx="782983" cy="0"/>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7" name="Conector recto de flecha 4">
            <a:extLst>
              <a:ext uri="{FF2B5EF4-FFF2-40B4-BE49-F238E27FC236}">
                <a16:creationId xmlns:a16="http://schemas.microsoft.com/office/drawing/2014/main" id="{8C1319B2-FE94-1EFE-4EEB-CF09BB2D0D77}"/>
              </a:ext>
            </a:extLst>
          </p:cNvPr>
          <p:cNvCxnSpPr>
            <a:cxnSpLocks/>
            <a:stCxn id="5" idx="1"/>
            <a:endCxn id="4" idx="3"/>
          </p:cNvCxnSpPr>
          <p:nvPr/>
        </p:nvCxnSpPr>
        <p:spPr>
          <a:xfrm flipH="1">
            <a:off x="4719403" y="1985327"/>
            <a:ext cx="879297" cy="0"/>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5970673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74FA3E-E48A-B798-47D6-19CDD9612688}"/>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5A76AAC8-F618-088F-E112-895487952DFD}"/>
              </a:ext>
            </a:extLst>
          </p:cNvPr>
          <p:cNvSpPr txBox="1"/>
          <p:nvPr/>
        </p:nvSpPr>
        <p:spPr>
          <a:xfrm>
            <a:off x="501248" y="488121"/>
            <a:ext cx="3030543" cy="461665"/>
          </a:xfrm>
          <a:prstGeom prst="rect">
            <a:avLst/>
          </a:prstGeom>
          <a:noFill/>
        </p:spPr>
        <p:txBody>
          <a:bodyPr wrap="square">
            <a:spAutoFit/>
          </a:bodyPr>
          <a:lstStyle/>
          <a:p>
            <a:r>
              <a:rPr lang="en-SG" sz="2400" b="1" dirty="0">
                <a:solidFill>
                  <a:srgbClr val="000000"/>
                </a:solidFill>
                <a:effectLst/>
                <a:latin typeface="Arial" panose="020B0604020202020204" pitchFamily="34" charset="0"/>
                <a:cs typeface="Arial" panose="020B0604020202020204" pitchFamily="34" charset="0"/>
              </a:rPr>
              <a:t>3. The Collider </a:t>
            </a:r>
          </a:p>
        </p:txBody>
      </p:sp>
      <p:sp>
        <p:nvSpPr>
          <p:cNvPr id="4" name="TextBox 3">
            <a:extLst>
              <a:ext uri="{FF2B5EF4-FFF2-40B4-BE49-F238E27FC236}">
                <a16:creationId xmlns:a16="http://schemas.microsoft.com/office/drawing/2014/main" id="{41F05344-F3C5-7C9F-44F3-0461CD1E7763}"/>
              </a:ext>
            </a:extLst>
          </p:cNvPr>
          <p:cNvSpPr txBox="1"/>
          <p:nvPr/>
        </p:nvSpPr>
        <p:spPr>
          <a:xfrm>
            <a:off x="610307" y="1735400"/>
            <a:ext cx="1058880" cy="369332"/>
          </a:xfrm>
          <a:prstGeom prst="rect">
            <a:avLst/>
          </a:prstGeom>
          <a:noFill/>
          <a:ln>
            <a:solidFill>
              <a:schemeClr val="tx1"/>
            </a:solidFill>
          </a:ln>
        </p:spPr>
        <p:txBody>
          <a:bodyPr wrap="square">
            <a:spAutoFit/>
          </a:bodyPr>
          <a:lstStyle/>
          <a:p>
            <a:r>
              <a:rPr lang="en-SG" dirty="0">
                <a:solidFill>
                  <a:srgbClr val="000000"/>
                </a:solidFill>
                <a:effectLst/>
                <a:latin typeface="Arial" panose="020B0604020202020204" pitchFamily="34" charset="0"/>
                <a:cs typeface="Arial" panose="020B0604020202020204" pitchFamily="34" charset="0"/>
              </a:rPr>
              <a:t>Cause 1</a:t>
            </a:r>
          </a:p>
        </p:txBody>
      </p:sp>
      <p:sp>
        <p:nvSpPr>
          <p:cNvPr id="5" name="TextBox 4">
            <a:extLst>
              <a:ext uri="{FF2B5EF4-FFF2-40B4-BE49-F238E27FC236}">
                <a16:creationId xmlns:a16="http://schemas.microsoft.com/office/drawing/2014/main" id="{EA021BC2-D055-5687-1D29-FF09508D55D0}"/>
              </a:ext>
            </a:extLst>
          </p:cNvPr>
          <p:cNvSpPr txBox="1"/>
          <p:nvPr/>
        </p:nvSpPr>
        <p:spPr>
          <a:xfrm>
            <a:off x="2769083" y="1747999"/>
            <a:ext cx="769814" cy="369332"/>
          </a:xfrm>
          <a:prstGeom prst="rect">
            <a:avLst/>
          </a:prstGeom>
          <a:noFill/>
          <a:ln>
            <a:solidFill>
              <a:schemeClr val="tx1"/>
            </a:solidFill>
          </a:ln>
        </p:spPr>
        <p:txBody>
          <a:bodyPr wrap="square">
            <a:spAutoFit/>
          </a:bodyPr>
          <a:lstStyle/>
          <a:p>
            <a:r>
              <a:rPr lang="en-SG" dirty="0">
                <a:solidFill>
                  <a:srgbClr val="000000"/>
                </a:solidFill>
                <a:effectLst/>
                <a:latin typeface="Arial" panose="020B0604020202020204" pitchFamily="34" charset="0"/>
                <a:cs typeface="Arial" panose="020B0604020202020204" pitchFamily="34" charset="0"/>
              </a:rPr>
              <a:t>Effect</a:t>
            </a:r>
          </a:p>
        </p:txBody>
      </p:sp>
      <p:sp>
        <p:nvSpPr>
          <p:cNvPr id="6" name="TextBox 5">
            <a:extLst>
              <a:ext uri="{FF2B5EF4-FFF2-40B4-BE49-F238E27FC236}">
                <a16:creationId xmlns:a16="http://schemas.microsoft.com/office/drawing/2014/main" id="{B6CFF7FA-54E9-0375-03CB-AAFDB0ADFDA0}"/>
              </a:ext>
            </a:extLst>
          </p:cNvPr>
          <p:cNvSpPr txBox="1"/>
          <p:nvPr/>
        </p:nvSpPr>
        <p:spPr>
          <a:xfrm>
            <a:off x="4805562" y="1735400"/>
            <a:ext cx="1048911" cy="369332"/>
          </a:xfrm>
          <a:prstGeom prst="rect">
            <a:avLst/>
          </a:prstGeom>
          <a:noFill/>
          <a:ln>
            <a:solidFill>
              <a:schemeClr val="tx1"/>
            </a:solidFill>
          </a:ln>
        </p:spPr>
        <p:txBody>
          <a:bodyPr wrap="square">
            <a:spAutoFit/>
          </a:bodyPr>
          <a:lstStyle/>
          <a:p>
            <a:r>
              <a:rPr lang="en-SG" dirty="0">
                <a:solidFill>
                  <a:srgbClr val="000000"/>
                </a:solidFill>
                <a:effectLst/>
                <a:latin typeface="Arial" panose="020B0604020202020204" pitchFamily="34" charset="0"/>
                <a:cs typeface="Arial" panose="020B0604020202020204" pitchFamily="34" charset="0"/>
              </a:rPr>
              <a:t>Cause 2</a:t>
            </a:r>
          </a:p>
        </p:txBody>
      </p:sp>
      <p:cxnSp>
        <p:nvCxnSpPr>
          <p:cNvPr id="7" name="Conector recto de flecha 4">
            <a:extLst>
              <a:ext uri="{FF2B5EF4-FFF2-40B4-BE49-F238E27FC236}">
                <a16:creationId xmlns:a16="http://schemas.microsoft.com/office/drawing/2014/main" id="{4C144225-E7ED-A95A-92E8-E20C876CAF89}"/>
              </a:ext>
            </a:extLst>
          </p:cNvPr>
          <p:cNvCxnSpPr>
            <a:cxnSpLocks/>
            <a:endCxn id="5" idx="1"/>
          </p:cNvCxnSpPr>
          <p:nvPr/>
        </p:nvCxnSpPr>
        <p:spPr>
          <a:xfrm flipV="1">
            <a:off x="1669186" y="1932665"/>
            <a:ext cx="1099897" cy="8868"/>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8" name="Conector recto de flecha 4">
            <a:extLst>
              <a:ext uri="{FF2B5EF4-FFF2-40B4-BE49-F238E27FC236}">
                <a16:creationId xmlns:a16="http://schemas.microsoft.com/office/drawing/2014/main" id="{6D81A535-0CD8-1B46-72EE-69168C9A2431}"/>
              </a:ext>
            </a:extLst>
          </p:cNvPr>
          <p:cNvCxnSpPr>
            <a:cxnSpLocks/>
            <a:stCxn id="6" idx="1"/>
            <a:endCxn id="5" idx="3"/>
          </p:cNvCxnSpPr>
          <p:nvPr/>
        </p:nvCxnSpPr>
        <p:spPr>
          <a:xfrm flipH="1">
            <a:off x="3538897" y="1920066"/>
            <a:ext cx="1266665" cy="12599"/>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1BE26C25-D820-632E-00D7-4089A1760CE2}"/>
              </a:ext>
            </a:extLst>
          </p:cNvPr>
          <p:cNvSpPr txBox="1"/>
          <p:nvPr/>
        </p:nvSpPr>
        <p:spPr>
          <a:xfrm>
            <a:off x="540304" y="1263002"/>
            <a:ext cx="4789714" cy="369332"/>
          </a:xfrm>
          <a:prstGeom prst="rect">
            <a:avLst/>
          </a:prstGeom>
          <a:noFill/>
        </p:spPr>
        <p:txBody>
          <a:bodyPr wrap="square">
            <a:spAutoFit/>
          </a:bodyPr>
          <a:lstStyle/>
          <a:p>
            <a:r>
              <a:rPr lang="en-US" dirty="0">
                <a:solidFill>
                  <a:srgbClr val="FF0000"/>
                </a:solidFill>
                <a:latin typeface="Arial" panose="020B0604020202020204" pitchFamily="34" charset="0"/>
                <a:cs typeface="Arial" panose="020B0604020202020204" pitchFamily="34" charset="0"/>
              </a:rPr>
              <a:t>Causal Model</a:t>
            </a:r>
          </a:p>
        </p:txBody>
      </p:sp>
      <p:sp>
        <p:nvSpPr>
          <p:cNvPr id="14" name="TextBox 13">
            <a:extLst>
              <a:ext uri="{FF2B5EF4-FFF2-40B4-BE49-F238E27FC236}">
                <a16:creationId xmlns:a16="http://schemas.microsoft.com/office/drawing/2014/main" id="{9C9031FF-1B00-2862-4972-B192B6711CC6}"/>
              </a:ext>
            </a:extLst>
          </p:cNvPr>
          <p:cNvSpPr txBox="1"/>
          <p:nvPr/>
        </p:nvSpPr>
        <p:spPr>
          <a:xfrm>
            <a:off x="666521" y="3521690"/>
            <a:ext cx="1055915" cy="369332"/>
          </a:xfrm>
          <a:prstGeom prst="rect">
            <a:avLst/>
          </a:prstGeom>
          <a:noFill/>
          <a:ln>
            <a:solidFill>
              <a:schemeClr val="tx1"/>
            </a:solidFill>
          </a:ln>
        </p:spPr>
        <p:txBody>
          <a:bodyPr wrap="square">
            <a:spAutoFit/>
          </a:bodyPr>
          <a:lstStyle/>
          <a:p>
            <a:r>
              <a:rPr lang="en-SG" dirty="0">
                <a:solidFill>
                  <a:srgbClr val="000000"/>
                </a:solidFill>
                <a:effectLst/>
                <a:latin typeface="Arial" panose="020B0604020202020204" pitchFamily="34" charset="0"/>
                <a:cs typeface="Arial" panose="020B0604020202020204" pitchFamily="34" charset="0"/>
              </a:rPr>
              <a:t>Cause 1</a:t>
            </a:r>
          </a:p>
        </p:txBody>
      </p:sp>
      <p:sp>
        <p:nvSpPr>
          <p:cNvPr id="15" name="TextBox 14">
            <a:extLst>
              <a:ext uri="{FF2B5EF4-FFF2-40B4-BE49-F238E27FC236}">
                <a16:creationId xmlns:a16="http://schemas.microsoft.com/office/drawing/2014/main" id="{1478CA00-BA3B-7E6A-34C0-027375289BF4}"/>
              </a:ext>
            </a:extLst>
          </p:cNvPr>
          <p:cNvSpPr txBox="1"/>
          <p:nvPr/>
        </p:nvSpPr>
        <p:spPr>
          <a:xfrm>
            <a:off x="660972" y="4588271"/>
            <a:ext cx="1055915" cy="369332"/>
          </a:xfrm>
          <a:prstGeom prst="rect">
            <a:avLst/>
          </a:prstGeom>
          <a:noFill/>
          <a:ln>
            <a:solidFill>
              <a:schemeClr val="tx1"/>
            </a:solidFill>
          </a:ln>
        </p:spPr>
        <p:txBody>
          <a:bodyPr wrap="square">
            <a:spAutoFit/>
          </a:bodyPr>
          <a:lstStyle/>
          <a:p>
            <a:r>
              <a:rPr lang="en-SG" dirty="0">
                <a:solidFill>
                  <a:srgbClr val="000000"/>
                </a:solidFill>
                <a:latin typeface="Arial" panose="020B0604020202020204" pitchFamily="34" charset="0"/>
                <a:cs typeface="Arial" panose="020B0604020202020204" pitchFamily="34" charset="0"/>
              </a:rPr>
              <a:t>Effect</a:t>
            </a:r>
            <a:endParaRPr lang="en-SG" dirty="0">
              <a:solidFill>
                <a:srgbClr val="000000"/>
              </a:solidFill>
              <a:effectLst/>
              <a:latin typeface="Arial" panose="020B0604020202020204" pitchFamily="34" charset="0"/>
              <a:cs typeface="Arial" panose="020B0604020202020204" pitchFamily="34" charset="0"/>
            </a:endParaRPr>
          </a:p>
        </p:txBody>
      </p:sp>
      <p:sp>
        <p:nvSpPr>
          <p:cNvPr id="16" name="TextBox 15">
            <a:extLst>
              <a:ext uri="{FF2B5EF4-FFF2-40B4-BE49-F238E27FC236}">
                <a16:creationId xmlns:a16="http://schemas.microsoft.com/office/drawing/2014/main" id="{1CE4BFF7-BD0B-3BEF-344B-A853B7D7D05E}"/>
              </a:ext>
            </a:extLst>
          </p:cNvPr>
          <p:cNvSpPr txBox="1"/>
          <p:nvPr/>
        </p:nvSpPr>
        <p:spPr>
          <a:xfrm>
            <a:off x="3257214" y="3957455"/>
            <a:ext cx="1185377" cy="369332"/>
          </a:xfrm>
          <a:prstGeom prst="rect">
            <a:avLst/>
          </a:prstGeom>
          <a:noFill/>
          <a:ln>
            <a:solidFill>
              <a:schemeClr val="tx1"/>
            </a:solidFill>
          </a:ln>
        </p:spPr>
        <p:txBody>
          <a:bodyPr wrap="square">
            <a:spAutoFit/>
          </a:bodyPr>
          <a:lstStyle/>
          <a:p>
            <a:r>
              <a:rPr lang="en-SG" dirty="0">
                <a:solidFill>
                  <a:srgbClr val="000000"/>
                </a:solidFill>
                <a:latin typeface="Arial" panose="020B0604020202020204" pitchFamily="34" charset="0"/>
                <a:cs typeface="Arial" panose="020B0604020202020204" pitchFamily="34" charset="0"/>
              </a:rPr>
              <a:t>Cause 2</a:t>
            </a:r>
          </a:p>
        </p:txBody>
      </p:sp>
      <p:cxnSp>
        <p:nvCxnSpPr>
          <p:cNvPr id="17" name="Conector recto de flecha 4">
            <a:extLst>
              <a:ext uri="{FF2B5EF4-FFF2-40B4-BE49-F238E27FC236}">
                <a16:creationId xmlns:a16="http://schemas.microsoft.com/office/drawing/2014/main" id="{85ECD3C0-5264-0279-2B3C-0A1E763459B3}"/>
              </a:ext>
            </a:extLst>
          </p:cNvPr>
          <p:cNvCxnSpPr>
            <a:cxnSpLocks/>
          </p:cNvCxnSpPr>
          <p:nvPr/>
        </p:nvCxnSpPr>
        <p:spPr>
          <a:xfrm>
            <a:off x="1782605" y="3706355"/>
            <a:ext cx="1371385" cy="330150"/>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8" name="Conector recto de flecha 4">
            <a:extLst>
              <a:ext uri="{FF2B5EF4-FFF2-40B4-BE49-F238E27FC236}">
                <a16:creationId xmlns:a16="http://schemas.microsoft.com/office/drawing/2014/main" id="{03238C20-0915-02AA-F088-39700CA0FBB3}"/>
              </a:ext>
            </a:extLst>
          </p:cNvPr>
          <p:cNvCxnSpPr>
            <a:cxnSpLocks/>
          </p:cNvCxnSpPr>
          <p:nvPr/>
        </p:nvCxnSpPr>
        <p:spPr>
          <a:xfrm flipV="1">
            <a:off x="1748520" y="4284071"/>
            <a:ext cx="1376935" cy="529003"/>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9" name="Curved Connector 18">
            <a:extLst>
              <a:ext uri="{FF2B5EF4-FFF2-40B4-BE49-F238E27FC236}">
                <a16:creationId xmlns:a16="http://schemas.microsoft.com/office/drawing/2014/main" id="{721027A7-109E-276F-96C7-C69AA65D8642}"/>
              </a:ext>
            </a:extLst>
          </p:cNvPr>
          <p:cNvCxnSpPr>
            <a:cxnSpLocks/>
            <a:stCxn id="14" idx="1"/>
            <a:endCxn id="15" idx="1"/>
          </p:cNvCxnSpPr>
          <p:nvPr/>
        </p:nvCxnSpPr>
        <p:spPr>
          <a:xfrm rot="10800000" flipV="1">
            <a:off x="660973" y="3706355"/>
            <a:ext cx="5549" cy="1066581"/>
          </a:xfrm>
          <a:prstGeom prst="curvedConnector3">
            <a:avLst>
              <a:gd name="adj1" fmla="val 4219661"/>
            </a:avLst>
          </a:prstGeom>
          <a:ln w="2540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FCB997EE-0202-ABE9-B53F-46C308CA089A}"/>
              </a:ext>
            </a:extLst>
          </p:cNvPr>
          <p:cNvSpPr txBox="1"/>
          <p:nvPr/>
        </p:nvSpPr>
        <p:spPr>
          <a:xfrm>
            <a:off x="441154" y="2971660"/>
            <a:ext cx="4572000" cy="369332"/>
          </a:xfrm>
          <a:prstGeom prst="rect">
            <a:avLst/>
          </a:prstGeom>
          <a:noFill/>
        </p:spPr>
        <p:txBody>
          <a:bodyPr wrap="square">
            <a:spAutoFit/>
          </a:bodyPr>
          <a:lstStyle/>
          <a:p>
            <a:r>
              <a:rPr lang="en-US" dirty="0">
                <a:solidFill>
                  <a:srgbClr val="FF0000"/>
                </a:solidFill>
                <a:latin typeface="Arial" panose="020B0604020202020204" pitchFamily="34" charset="0"/>
                <a:cs typeface="Arial" panose="020B0604020202020204" pitchFamily="34" charset="0"/>
              </a:rPr>
              <a:t>Regression</a:t>
            </a:r>
          </a:p>
        </p:txBody>
      </p:sp>
      <p:sp>
        <p:nvSpPr>
          <p:cNvPr id="25" name="TextBox 24">
            <a:extLst>
              <a:ext uri="{FF2B5EF4-FFF2-40B4-BE49-F238E27FC236}">
                <a16:creationId xmlns:a16="http://schemas.microsoft.com/office/drawing/2014/main" id="{E8E40879-2546-5A2C-9252-D5DF711D794F}"/>
              </a:ext>
            </a:extLst>
          </p:cNvPr>
          <p:cNvSpPr txBox="1"/>
          <p:nvPr/>
        </p:nvSpPr>
        <p:spPr>
          <a:xfrm>
            <a:off x="4476676" y="3249443"/>
            <a:ext cx="4221710" cy="2308324"/>
          </a:xfrm>
          <a:prstGeom prst="rect">
            <a:avLst/>
          </a:prstGeom>
          <a:noFill/>
        </p:spPr>
        <p:txBody>
          <a:bodyPr wrap="square">
            <a:spAutoFit/>
          </a:bodyPr>
          <a:lstStyle/>
          <a:p>
            <a:pPr marL="285750" indent="-285750">
              <a:buFont typeface="Arial" panose="020B0604020202020204" pitchFamily="34" charset="0"/>
              <a:buChar char="•"/>
            </a:pPr>
            <a:r>
              <a:rPr lang="en-US" b="1" dirty="0">
                <a:latin typeface="Arial" panose="020B0604020202020204" pitchFamily="34" charset="0"/>
                <a:cs typeface="Arial" panose="020B0604020202020204" pitchFamily="34" charset="0"/>
              </a:rPr>
              <a:t>Ignoring Effect, Cause 1 and Cause 2 NOT associated</a:t>
            </a:r>
          </a:p>
          <a:p>
            <a:pPr marL="285750" indent="-285750">
              <a:buFont typeface="Arial" panose="020B0604020202020204" pitchFamily="34" charset="0"/>
              <a:buChar char="•"/>
            </a:pPr>
            <a:endParaRPr lang="en-US" b="1"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b="1" dirty="0">
                <a:latin typeface="Arial" panose="020B0604020202020204" pitchFamily="34" charset="0"/>
                <a:cs typeface="Arial" panose="020B0604020202020204" pitchFamily="34" charset="0"/>
              </a:rPr>
              <a:t>Conditioned by Effect, Cause 1 and Cause 2 associated</a:t>
            </a:r>
          </a:p>
          <a:p>
            <a:pPr marL="285750" indent="-285750">
              <a:buFont typeface="Arial" panose="020B0604020202020204" pitchFamily="34" charset="0"/>
              <a:buChar char="•"/>
            </a:pPr>
            <a:endParaRPr lang="en-US" b="1"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b="1" dirty="0">
                <a:latin typeface="Arial" panose="020B0604020202020204" pitchFamily="34" charset="0"/>
                <a:cs typeface="Arial" panose="020B0604020202020204" pitchFamily="34" charset="0"/>
              </a:rPr>
              <a:t>Creates spurious correlations</a:t>
            </a:r>
          </a:p>
          <a:p>
            <a:endParaRPr lang="en-US"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16523145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F81DE2-EDAF-B37B-BC8E-265856374B37}"/>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B04A2033-0450-898C-C0EC-5DFC2D6CFBF1}"/>
              </a:ext>
            </a:extLst>
          </p:cNvPr>
          <p:cNvSpPr txBox="1"/>
          <p:nvPr/>
        </p:nvSpPr>
        <p:spPr>
          <a:xfrm>
            <a:off x="424542" y="837884"/>
            <a:ext cx="7620001" cy="2031325"/>
          </a:xfrm>
          <a:prstGeom prst="rect">
            <a:avLst/>
          </a:prstGeom>
          <a:noFill/>
        </p:spPr>
        <p:txBody>
          <a:bodyPr wrap="square">
            <a:spAutoFit/>
          </a:bodyPr>
          <a:lstStyle/>
          <a:p>
            <a:r>
              <a:rPr lang="en-SG" b="1" dirty="0">
                <a:solidFill>
                  <a:srgbClr val="000000"/>
                </a:solidFill>
                <a:effectLst/>
                <a:latin typeface="Arial" panose="020B0604020202020204" pitchFamily="34" charset="0"/>
                <a:cs typeface="Arial" panose="020B0604020202020204" pitchFamily="34" charset="0"/>
              </a:rPr>
              <a:t>Preliminary studies suggested that</a:t>
            </a:r>
          </a:p>
          <a:p>
            <a:endParaRPr lang="en-SG" dirty="0">
              <a:solidFill>
                <a:srgbClr val="000000"/>
              </a:solidFill>
              <a:effectLst/>
              <a:latin typeface="Arial" panose="020B0604020202020204" pitchFamily="34" charset="0"/>
              <a:cs typeface="Arial" panose="020B0604020202020204" pitchFamily="34" charset="0"/>
            </a:endParaRPr>
          </a:p>
          <a:p>
            <a:pPr marL="342900" indent="-342900">
              <a:buAutoNum type="alphaLcParenR"/>
            </a:pPr>
            <a:r>
              <a:rPr lang="en-SG" dirty="0">
                <a:solidFill>
                  <a:srgbClr val="000000"/>
                </a:solidFill>
                <a:effectLst/>
                <a:latin typeface="Arial" panose="020B0604020202020204" pitchFamily="34" charset="0"/>
                <a:cs typeface="Arial" panose="020B0604020202020204" pitchFamily="34" charset="0"/>
              </a:rPr>
              <a:t>Healthcare workers were likely to get less severe Covid infections</a:t>
            </a:r>
          </a:p>
          <a:p>
            <a:endParaRPr lang="en-SG" dirty="0">
              <a:solidFill>
                <a:srgbClr val="000000"/>
              </a:solidFill>
              <a:effectLst/>
              <a:latin typeface="Arial" panose="020B0604020202020204" pitchFamily="34" charset="0"/>
              <a:cs typeface="Arial" panose="020B0604020202020204" pitchFamily="34" charset="0"/>
            </a:endParaRPr>
          </a:p>
          <a:p>
            <a:r>
              <a:rPr lang="en-SG" dirty="0">
                <a:solidFill>
                  <a:srgbClr val="000000"/>
                </a:solidFill>
                <a:effectLst/>
                <a:latin typeface="Arial" panose="020B0604020202020204" pitchFamily="34" charset="0"/>
                <a:cs typeface="Arial" panose="020B0604020202020204" pitchFamily="34" charset="0"/>
              </a:rPr>
              <a:t>b) Covid infection was lower among smokers</a:t>
            </a:r>
          </a:p>
          <a:p>
            <a:endParaRPr lang="en-SG" b="1" dirty="0">
              <a:solidFill>
                <a:srgbClr val="000000"/>
              </a:solidFill>
              <a:effectLst/>
              <a:latin typeface="Arial" panose="020B0604020202020204" pitchFamily="34" charset="0"/>
              <a:cs typeface="Arial" panose="020B0604020202020204" pitchFamily="34" charset="0"/>
            </a:endParaRPr>
          </a:p>
          <a:p>
            <a:r>
              <a:rPr lang="en-SG" b="1" dirty="0">
                <a:solidFill>
                  <a:srgbClr val="000000"/>
                </a:solidFill>
                <a:effectLst/>
                <a:latin typeface="Arial" panose="020B0604020202020204" pitchFamily="34" charset="0"/>
                <a:cs typeface="Arial" panose="020B0604020202020204" pitchFamily="34" charset="0"/>
              </a:rPr>
              <a:t>WHY?</a:t>
            </a:r>
            <a:endParaRPr lang="en-SG" dirty="0">
              <a:solidFill>
                <a:srgbClr val="000000"/>
              </a:solidFill>
              <a:effectLst/>
              <a:latin typeface="Arial" panose="020B0604020202020204" pitchFamily="34" charset="0"/>
              <a:cs typeface="Arial" panose="020B0604020202020204" pitchFamily="34" charset="0"/>
            </a:endParaRPr>
          </a:p>
        </p:txBody>
      </p:sp>
      <p:sp>
        <p:nvSpPr>
          <p:cNvPr id="7" name="TextBox 6">
            <a:extLst>
              <a:ext uri="{FF2B5EF4-FFF2-40B4-BE49-F238E27FC236}">
                <a16:creationId xmlns:a16="http://schemas.microsoft.com/office/drawing/2014/main" id="{3E86AABA-E3FA-88F4-1672-12FA4656216F}"/>
              </a:ext>
            </a:extLst>
          </p:cNvPr>
          <p:cNvSpPr txBox="1"/>
          <p:nvPr/>
        </p:nvSpPr>
        <p:spPr>
          <a:xfrm>
            <a:off x="424542" y="212696"/>
            <a:ext cx="4572000" cy="461665"/>
          </a:xfrm>
          <a:prstGeom prst="rect">
            <a:avLst/>
          </a:prstGeom>
          <a:noFill/>
        </p:spPr>
        <p:txBody>
          <a:bodyPr wrap="square">
            <a:spAutoFit/>
          </a:bodyPr>
          <a:lstStyle/>
          <a:p>
            <a:r>
              <a:rPr lang="en-SG" sz="2400" b="1" dirty="0">
                <a:effectLst/>
                <a:latin typeface="Arial" panose="020B0604020202020204" pitchFamily="34" charset="0"/>
                <a:cs typeface="Arial" panose="020B0604020202020204" pitchFamily="34" charset="0"/>
              </a:rPr>
              <a:t>Collider Bias </a:t>
            </a:r>
          </a:p>
        </p:txBody>
      </p:sp>
      <p:sp>
        <p:nvSpPr>
          <p:cNvPr id="23" name="TextBox 22">
            <a:extLst>
              <a:ext uri="{FF2B5EF4-FFF2-40B4-BE49-F238E27FC236}">
                <a16:creationId xmlns:a16="http://schemas.microsoft.com/office/drawing/2014/main" id="{0A480140-C04D-CDDF-C37D-5558311B2B92}"/>
              </a:ext>
            </a:extLst>
          </p:cNvPr>
          <p:cNvSpPr txBox="1"/>
          <p:nvPr/>
        </p:nvSpPr>
        <p:spPr>
          <a:xfrm>
            <a:off x="5676904" y="2894234"/>
            <a:ext cx="1273626" cy="646331"/>
          </a:xfrm>
          <a:prstGeom prst="rect">
            <a:avLst/>
          </a:prstGeom>
          <a:solidFill>
            <a:schemeClr val="accent6">
              <a:lumMod val="40000"/>
              <a:lumOff val="60000"/>
            </a:schemeClr>
          </a:solidFill>
          <a:ln>
            <a:solidFill>
              <a:schemeClr val="tx1"/>
            </a:solidFill>
          </a:ln>
        </p:spPr>
        <p:txBody>
          <a:bodyPr wrap="square">
            <a:spAutoFit/>
          </a:bodyPr>
          <a:lstStyle/>
          <a:p>
            <a:r>
              <a:rPr lang="en-US" dirty="0"/>
              <a:t>COVID-19 severity </a:t>
            </a:r>
          </a:p>
        </p:txBody>
      </p:sp>
      <p:sp>
        <p:nvSpPr>
          <p:cNvPr id="25" name="TextBox 24">
            <a:extLst>
              <a:ext uri="{FF2B5EF4-FFF2-40B4-BE49-F238E27FC236}">
                <a16:creationId xmlns:a16="http://schemas.microsoft.com/office/drawing/2014/main" id="{6EECAB05-A184-24D9-52AD-CD7D293E8657}"/>
              </a:ext>
            </a:extLst>
          </p:cNvPr>
          <p:cNvSpPr txBox="1"/>
          <p:nvPr/>
        </p:nvSpPr>
        <p:spPr>
          <a:xfrm>
            <a:off x="2332262" y="3032733"/>
            <a:ext cx="996044" cy="369332"/>
          </a:xfrm>
          <a:prstGeom prst="rect">
            <a:avLst/>
          </a:prstGeom>
          <a:solidFill>
            <a:schemeClr val="accent1">
              <a:lumMod val="40000"/>
              <a:lumOff val="60000"/>
            </a:schemeClr>
          </a:solidFill>
          <a:ln>
            <a:solidFill>
              <a:schemeClr val="tx1"/>
            </a:solidFill>
          </a:ln>
        </p:spPr>
        <p:txBody>
          <a:bodyPr wrap="square">
            <a:spAutoFit/>
          </a:bodyPr>
          <a:lstStyle/>
          <a:p>
            <a:r>
              <a:rPr lang="en-US" dirty="0"/>
              <a:t>Smoking</a:t>
            </a:r>
          </a:p>
        </p:txBody>
      </p:sp>
      <p:sp>
        <p:nvSpPr>
          <p:cNvPr id="27" name="TextBox 26">
            <a:extLst>
              <a:ext uri="{FF2B5EF4-FFF2-40B4-BE49-F238E27FC236}">
                <a16:creationId xmlns:a16="http://schemas.microsoft.com/office/drawing/2014/main" id="{F68CB3FC-67D8-0A17-CD43-4C46D2FA98C5}"/>
              </a:ext>
            </a:extLst>
          </p:cNvPr>
          <p:cNvSpPr txBox="1"/>
          <p:nvPr/>
        </p:nvSpPr>
        <p:spPr>
          <a:xfrm>
            <a:off x="2193470" y="4603588"/>
            <a:ext cx="1273628" cy="646331"/>
          </a:xfrm>
          <a:prstGeom prst="rect">
            <a:avLst/>
          </a:prstGeom>
          <a:noFill/>
          <a:ln>
            <a:solidFill>
              <a:schemeClr val="tx1"/>
            </a:solidFill>
          </a:ln>
        </p:spPr>
        <p:txBody>
          <a:bodyPr wrap="square">
            <a:spAutoFit/>
          </a:bodyPr>
          <a:lstStyle/>
          <a:p>
            <a:r>
              <a:rPr lang="en-US" dirty="0"/>
              <a:t>Healthcare worker</a:t>
            </a:r>
          </a:p>
        </p:txBody>
      </p:sp>
      <p:sp>
        <p:nvSpPr>
          <p:cNvPr id="29" name="TextBox 28">
            <a:extLst>
              <a:ext uri="{FF2B5EF4-FFF2-40B4-BE49-F238E27FC236}">
                <a16:creationId xmlns:a16="http://schemas.microsoft.com/office/drawing/2014/main" id="{EC88963D-4657-EC0F-E17F-1A971620BC3E}"/>
              </a:ext>
            </a:extLst>
          </p:cNvPr>
          <p:cNvSpPr txBox="1"/>
          <p:nvPr/>
        </p:nvSpPr>
        <p:spPr>
          <a:xfrm>
            <a:off x="5676904" y="4582080"/>
            <a:ext cx="1273626" cy="646331"/>
          </a:xfrm>
          <a:prstGeom prst="rect">
            <a:avLst/>
          </a:prstGeom>
          <a:solidFill>
            <a:schemeClr val="accent4">
              <a:lumMod val="40000"/>
              <a:lumOff val="60000"/>
            </a:schemeClr>
          </a:solidFill>
          <a:ln>
            <a:solidFill>
              <a:schemeClr val="tx1"/>
            </a:solidFill>
          </a:ln>
        </p:spPr>
        <p:txBody>
          <a:bodyPr wrap="square">
            <a:spAutoFit/>
          </a:bodyPr>
          <a:lstStyle/>
          <a:p>
            <a:r>
              <a:rPr lang="en-US" dirty="0"/>
              <a:t>COVID-19 testing </a:t>
            </a:r>
          </a:p>
        </p:txBody>
      </p:sp>
      <p:cxnSp>
        <p:nvCxnSpPr>
          <p:cNvPr id="30" name="Conector recto de flecha 4">
            <a:extLst>
              <a:ext uri="{FF2B5EF4-FFF2-40B4-BE49-F238E27FC236}">
                <a16:creationId xmlns:a16="http://schemas.microsoft.com/office/drawing/2014/main" id="{56E1650B-67AA-EEF4-2ED2-B53DC9784E8A}"/>
              </a:ext>
            </a:extLst>
          </p:cNvPr>
          <p:cNvCxnSpPr>
            <a:cxnSpLocks/>
            <a:endCxn id="29" idx="1"/>
          </p:cNvCxnSpPr>
          <p:nvPr/>
        </p:nvCxnSpPr>
        <p:spPr>
          <a:xfrm flipV="1">
            <a:off x="3467097" y="4905246"/>
            <a:ext cx="2209807" cy="21507"/>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32" name="Conector recto de flecha 4">
            <a:extLst>
              <a:ext uri="{FF2B5EF4-FFF2-40B4-BE49-F238E27FC236}">
                <a16:creationId xmlns:a16="http://schemas.microsoft.com/office/drawing/2014/main" id="{9ED5437E-012A-A154-D799-A23D6431C11C}"/>
              </a:ext>
            </a:extLst>
          </p:cNvPr>
          <p:cNvCxnSpPr>
            <a:cxnSpLocks/>
            <a:stCxn id="23" idx="2"/>
            <a:endCxn id="29" idx="0"/>
          </p:cNvCxnSpPr>
          <p:nvPr/>
        </p:nvCxnSpPr>
        <p:spPr>
          <a:xfrm>
            <a:off x="6313717" y="3540565"/>
            <a:ext cx="0" cy="1041515"/>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35" name="Conector recto de flecha 4">
            <a:extLst>
              <a:ext uri="{FF2B5EF4-FFF2-40B4-BE49-F238E27FC236}">
                <a16:creationId xmlns:a16="http://schemas.microsoft.com/office/drawing/2014/main" id="{08C42310-E250-CB7D-F2FC-930F7C828AAD}"/>
              </a:ext>
            </a:extLst>
          </p:cNvPr>
          <p:cNvCxnSpPr>
            <a:cxnSpLocks/>
            <a:stCxn id="27" idx="0"/>
            <a:endCxn id="25" idx="2"/>
          </p:cNvCxnSpPr>
          <p:nvPr/>
        </p:nvCxnSpPr>
        <p:spPr>
          <a:xfrm flipV="1">
            <a:off x="2830284" y="3402065"/>
            <a:ext cx="0" cy="1201523"/>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7606747A-D005-110E-A795-8E0B44F89171}"/>
              </a:ext>
            </a:extLst>
          </p:cNvPr>
          <p:cNvCxnSpPr/>
          <p:nvPr/>
        </p:nvCxnSpPr>
        <p:spPr>
          <a:xfrm flipH="1">
            <a:off x="3467097" y="3540565"/>
            <a:ext cx="2209807" cy="1041515"/>
          </a:xfrm>
          <a:prstGeom prst="line">
            <a:avLst/>
          </a:prstGeom>
          <a:ln w="25400">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D44F86AF-7079-0D9C-5843-20A0FAAE2D76}"/>
              </a:ext>
            </a:extLst>
          </p:cNvPr>
          <p:cNvSpPr txBox="1"/>
          <p:nvPr/>
        </p:nvSpPr>
        <p:spPr>
          <a:xfrm>
            <a:off x="3863789" y="5838748"/>
            <a:ext cx="5280211" cy="523220"/>
          </a:xfrm>
          <a:prstGeom prst="rect">
            <a:avLst/>
          </a:prstGeom>
          <a:noFill/>
        </p:spPr>
        <p:txBody>
          <a:bodyPr wrap="square">
            <a:spAutoFit/>
          </a:bodyPr>
          <a:lstStyle/>
          <a:p>
            <a:r>
              <a:rPr lang="en-US" sz="1400" dirty="0">
                <a:latin typeface="Arial" panose="020B0604020202020204" pitchFamily="34" charset="0"/>
                <a:cs typeface="Arial" panose="020B0604020202020204" pitchFamily="34" charset="0"/>
              </a:rPr>
              <a:t>Griffith et al. 2020,</a:t>
            </a:r>
          </a:p>
          <a:p>
            <a:r>
              <a:rPr lang="en-US" sz="1400" dirty="0">
                <a:latin typeface="Arial" panose="020B0604020202020204" pitchFamily="34" charset="0"/>
                <a:cs typeface="Arial" panose="020B0604020202020204" pitchFamily="34" charset="0"/>
              </a:rPr>
              <a:t>https://</a:t>
            </a:r>
            <a:r>
              <a:rPr lang="en-US" sz="1400" dirty="0" err="1">
                <a:latin typeface="Arial" panose="020B0604020202020204" pitchFamily="34" charset="0"/>
                <a:cs typeface="Arial" panose="020B0604020202020204" pitchFamily="34" charset="0"/>
              </a:rPr>
              <a:t>doi.org</a:t>
            </a:r>
            <a:r>
              <a:rPr lang="en-US" sz="1400" dirty="0">
                <a:latin typeface="Arial" panose="020B0604020202020204" pitchFamily="34" charset="0"/>
                <a:cs typeface="Arial" panose="020B0604020202020204" pitchFamily="34" charset="0"/>
              </a:rPr>
              <a:t>/10.1038/s41467-020-19478-2</a:t>
            </a:r>
          </a:p>
        </p:txBody>
      </p:sp>
    </p:spTree>
    <p:extLst>
      <p:ext uri="{BB962C8B-B14F-4D97-AF65-F5344CB8AC3E}">
        <p14:creationId xmlns:p14="http://schemas.microsoft.com/office/powerpoint/2010/main" val="3699069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378FE9-0C55-6DF7-C0B3-A501661BE317}"/>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42DDD6A2-B26D-012C-E7D7-6FD4BF46C307}"/>
              </a:ext>
            </a:extLst>
          </p:cNvPr>
          <p:cNvSpPr txBox="1"/>
          <p:nvPr/>
        </p:nvSpPr>
        <p:spPr>
          <a:xfrm>
            <a:off x="368770" y="315549"/>
            <a:ext cx="8656697" cy="461665"/>
          </a:xfrm>
          <a:prstGeom prst="rect">
            <a:avLst/>
          </a:prstGeom>
          <a:noFill/>
        </p:spPr>
        <p:txBody>
          <a:bodyPr wrap="square">
            <a:spAutoFit/>
          </a:bodyPr>
          <a:lstStyle/>
          <a:p>
            <a:r>
              <a:rPr lang="en-US" sz="2400" b="1" dirty="0">
                <a:latin typeface="Arial" panose="020B0604020202020204" pitchFamily="34" charset="0"/>
                <a:cs typeface="Arial" panose="020B0604020202020204" pitchFamily="34" charset="0"/>
              </a:rPr>
              <a:t>Elemental paths in causal graphs (and Why to use SEM)</a:t>
            </a:r>
          </a:p>
        </p:txBody>
      </p:sp>
      <p:grpSp>
        <p:nvGrpSpPr>
          <p:cNvPr id="9" name="Group 8">
            <a:extLst>
              <a:ext uri="{FF2B5EF4-FFF2-40B4-BE49-F238E27FC236}">
                <a16:creationId xmlns:a16="http://schemas.microsoft.com/office/drawing/2014/main" id="{820A797E-1CA9-49F9-E3D8-33842FDF630A}"/>
              </a:ext>
            </a:extLst>
          </p:cNvPr>
          <p:cNvGrpSpPr/>
          <p:nvPr/>
        </p:nvGrpSpPr>
        <p:grpSpPr>
          <a:xfrm>
            <a:off x="971491" y="1049865"/>
            <a:ext cx="6919443" cy="4955670"/>
            <a:chOff x="455024" y="937854"/>
            <a:chExt cx="7733628" cy="5264327"/>
          </a:xfrm>
        </p:grpSpPr>
        <p:sp>
          <p:nvSpPr>
            <p:cNvPr id="3" name="TextBox 2">
              <a:extLst>
                <a:ext uri="{FF2B5EF4-FFF2-40B4-BE49-F238E27FC236}">
                  <a16:creationId xmlns:a16="http://schemas.microsoft.com/office/drawing/2014/main" id="{4B8A6BDF-CB1E-F5EF-DC3B-74C09CC4072F}"/>
                </a:ext>
              </a:extLst>
            </p:cNvPr>
            <p:cNvSpPr txBox="1"/>
            <p:nvPr/>
          </p:nvSpPr>
          <p:spPr>
            <a:xfrm>
              <a:off x="1028808" y="1369943"/>
              <a:ext cx="2345125" cy="392335"/>
            </a:xfrm>
            <a:prstGeom prst="rect">
              <a:avLst/>
            </a:prstGeom>
            <a:noFill/>
          </p:spPr>
          <p:txBody>
            <a:bodyPr wrap="square">
              <a:spAutoFit/>
            </a:bodyPr>
            <a:lstStyle/>
            <a:p>
              <a:r>
                <a:rPr lang="en-SG" b="1" dirty="0">
                  <a:solidFill>
                    <a:schemeClr val="bg2"/>
                  </a:solidFill>
                  <a:effectLst/>
                  <a:latin typeface="Arial" panose="020B0604020202020204" pitchFamily="34" charset="0"/>
                  <a:cs typeface="Arial" panose="020B0604020202020204" pitchFamily="34" charset="0"/>
                </a:rPr>
                <a:t>1. The </a:t>
              </a:r>
              <a:r>
                <a:rPr lang="en-SG" b="1" dirty="0">
                  <a:solidFill>
                    <a:schemeClr val="bg2"/>
                  </a:solidFill>
                  <a:latin typeface="Arial" panose="020B0604020202020204" pitchFamily="34" charset="0"/>
                  <a:cs typeface="Arial" panose="020B0604020202020204" pitchFamily="34" charset="0"/>
                </a:rPr>
                <a:t>Chain/Pipe </a:t>
              </a:r>
              <a:endParaRPr lang="en-SG" b="1" dirty="0">
                <a:solidFill>
                  <a:schemeClr val="bg2"/>
                </a:solidFill>
                <a:effectLst/>
                <a:latin typeface="Arial" panose="020B0604020202020204" pitchFamily="34" charset="0"/>
                <a:cs typeface="Arial" panose="020B0604020202020204" pitchFamily="34" charset="0"/>
              </a:endParaRPr>
            </a:p>
          </p:txBody>
        </p:sp>
        <p:sp>
          <p:nvSpPr>
            <p:cNvPr id="4" name="CuadroTexto 3">
              <a:extLst>
                <a:ext uri="{FF2B5EF4-FFF2-40B4-BE49-F238E27FC236}">
                  <a16:creationId xmlns:a16="http://schemas.microsoft.com/office/drawing/2014/main" id="{0AFC7A60-E380-1A83-F19E-B42AC9C7E542}"/>
                </a:ext>
              </a:extLst>
            </p:cNvPr>
            <p:cNvSpPr txBox="1"/>
            <p:nvPr/>
          </p:nvSpPr>
          <p:spPr>
            <a:xfrm>
              <a:off x="560410" y="2121657"/>
              <a:ext cx="555762" cy="555808"/>
            </a:xfrm>
            <a:prstGeom prst="rect">
              <a:avLst/>
            </a:prstGeom>
            <a:noFill/>
            <a:ln w="25400">
              <a:solidFill>
                <a:schemeClr val="bg2"/>
              </a:solidFill>
            </a:ln>
          </p:spPr>
          <p:txBody>
            <a:bodyPr wrap="none" rtlCol="0">
              <a:spAutoFit/>
            </a:bodyPr>
            <a:lstStyle/>
            <a:p>
              <a:r>
                <a:rPr lang="es-ES" sz="2800" dirty="0">
                  <a:solidFill>
                    <a:schemeClr val="bg2"/>
                  </a:solidFill>
                  <a:latin typeface="Arial" panose="020B0604020202020204" pitchFamily="34" charset="0"/>
                  <a:cs typeface="Arial" panose="020B0604020202020204" pitchFamily="34" charset="0"/>
                </a:rPr>
                <a:t>x</a:t>
              </a:r>
              <a:r>
                <a:rPr lang="es-ES" sz="2800" baseline="-25000" dirty="0">
                  <a:solidFill>
                    <a:schemeClr val="bg2"/>
                  </a:solidFill>
                  <a:latin typeface="Arial" panose="020B0604020202020204" pitchFamily="34" charset="0"/>
                  <a:cs typeface="Arial" panose="020B0604020202020204" pitchFamily="34" charset="0"/>
                </a:rPr>
                <a:t>1</a:t>
              </a:r>
            </a:p>
          </p:txBody>
        </p:sp>
        <p:cxnSp>
          <p:nvCxnSpPr>
            <p:cNvPr id="6" name="Conector recto de flecha 4">
              <a:extLst>
                <a:ext uri="{FF2B5EF4-FFF2-40B4-BE49-F238E27FC236}">
                  <a16:creationId xmlns:a16="http://schemas.microsoft.com/office/drawing/2014/main" id="{4B2373B5-FE64-535A-941B-CAA57443B03E}"/>
                </a:ext>
              </a:extLst>
            </p:cNvPr>
            <p:cNvCxnSpPr>
              <a:cxnSpLocks/>
              <a:stCxn id="4" idx="3"/>
            </p:cNvCxnSpPr>
            <p:nvPr/>
          </p:nvCxnSpPr>
          <p:spPr>
            <a:xfrm flipV="1">
              <a:off x="1116172" y="2395144"/>
              <a:ext cx="599201" cy="4417"/>
            </a:xfrm>
            <a:prstGeom prst="straightConnector1">
              <a:avLst/>
            </a:prstGeom>
            <a:ln w="25400">
              <a:solidFill>
                <a:schemeClr val="bg2"/>
              </a:solidFill>
              <a:tailEnd type="triangle" w="lg" len="lg"/>
            </a:ln>
          </p:spPr>
          <p:style>
            <a:lnRef idx="1">
              <a:schemeClr val="accent1"/>
            </a:lnRef>
            <a:fillRef idx="0">
              <a:schemeClr val="accent1"/>
            </a:fillRef>
            <a:effectRef idx="0">
              <a:schemeClr val="accent1"/>
            </a:effectRef>
            <a:fontRef idx="minor">
              <a:schemeClr val="tx1"/>
            </a:fontRef>
          </p:style>
        </p:cxnSp>
        <p:sp>
          <p:nvSpPr>
            <p:cNvPr id="7" name="CuadroTexto 5">
              <a:extLst>
                <a:ext uri="{FF2B5EF4-FFF2-40B4-BE49-F238E27FC236}">
                  <a16:creationId xmlns:a16="http://schemas.microsoft.com/office/drawing/2014/main" id="{53BEAFBB-A251-91C9-4707-D74C6A162CAE}"/>
                </a:ext>
              </a:extLst>
            </p:cNvPr>
            <p:cNvSpPr txBox="1"/>
            <p:nvPr/>
          </p:nvSpPr>
          <p:spPr>
            <a:xfrm>
              <a:off x="2857510" y="2121657"/>
              <a:ext cx="577189" cy="555808"/>
            </a:xfrm>
            <a:prstGeom prst="rect">
              <a:avLst/>
            </a:prstGeom>
            <a:noFill/>
            <a:ln w="25400">
              <a:solidFill>
                <a:schemeClr val="bg2"/>
              </a:solidFill>
            </a:ln>
          </p:spPr>
          <p:txBody>
            <a:bodyPr wrap="none" rtlCol="0">
              <a:spAutoFit/>
            </a:bodyPr>
            <a:lstStyle/>
            <a:p>
              <a:r>
                <a:rPr lang="es-ES" sz="2800" dirty="0">
                  <a:solidFill>
                    <a:schemeClr val="bg2"/>
                  </a:solidFill>
                  <a:latin typeface="Arial" panose="020B0604020202020204" pitchFamily="34" charset="0"/>
                  <a:cs typeface="Arial" panose="020B0604020202020204" pitchFamily="34" charset="0"/>
                </a:rPr>
                <a:t>Y </a:t>
              </a:r>
              <a:endParaRPr lang="es-ES" sz="2800" baseline="-25000" dirty="0">
                <a:solidFill>
                  <a:schemeClr val="bg2"/>
                </a:solidFill>
                <a:latin typeface="Arial" panose="020B0604020202020204" pitchFamily="34" charset="0"/>
                <a:cs typeface="Arial" panose="020B0604020202020204" pitchFamily="34" charset="0"/>
              </a:endParaRPr>
            </a:p>
          </p:txBody>
        </p:sp>
        <p:sp>
          <p:nvSpPr>
            <p:cNvPr id="8" name="CuadroTexto 6">
              <a:extLst>
                <a:ext uri="{FF2B5EF4-FFF2-40B4-BE49-F238E27FC236}">
                  <a16:creationId xmlns:a16="http://schemas.microsoft.com/office/drawing/2014/main" id="{B9C95EA2-59A1-3701-0866-6BC6DAFAC622}"/>
                </a:ext>
              </a:extLst>
            </p:cNvPr>
            <p:cNvSpPr txBox="1"/>
            <p:nvPr/>
          </p:nvSpPr>
          <p:spPr>
            <a:xfrm>
              <a:off x="1715372" y="2121657"/>
              <a:ext cx="555762" cy="555808"/>
            </a:xfrm>
            <a:prstGeom prst="rect">
              <a:avLst/>
            </a:prstGeom>
            <a:noFill/>
            <a:ln w="25400">
              <a:solidFill>
                <a:schemeClr val="bg2"/>
              </a:solidFill>
            </a:ln>
          </p:spPr>
          <p:txBody>
            <a:bodyPr wrap="none" rtlCol="0">
              <a:spAutoFit/>
            </a:bodyPr>
            <a:lstStyle/>
            <a:p>
              <a:r>
                <a:rPr lang="es-ES" sz="2800" dirty="0">
                  <a:solidFill>
                    <a:schemeClr val="bg2"/>
                  </a:solidFill>
                  <a:latin typeface="Arial" panose="020B0604020202020204" pitchFamily="34" charset="0"/>
                  <a:cs typeface="Arial" panose="020B0604020202020204" pitchFamily="34" charset="0"/>
                </a:rPr>
                <a:t>x</a:t>
              </a:r>
              <a:r>
                <a:rPr lang="es-ES" sz="2800" baseline="-25000" dirty="0">
                  <a:solidFill>
                    <a:schemeClr val="bg2"/>
                  </a:solidFill>
                  <a:latin typeface="Arial" panose="020B0604020202020204" pitchFamily="34" charset="0"/>
                  <a:cs typeface="Arial" panose="020B0604020202020204" pitchFamily="34" charset="0"/>
                </a:rPr>
                <a:t>2</a:t>
              </a:r>
            </a:p>
          </p:txBody>
        </p:sp>
        <p:cxnSp>
          <p:nvCxnSpPr>
            <p:cNvPr id="11" name="Conector recto de flecha 4">
              <a:extLst>
                <a:ext uri="{FF2B5EF4-FFF2-40B4-BE49-F238E27FC236}">
                  <a16:creationId xmlns:a16="http://schemas.microsoft.com/office/drawing/2014/main" id="{6236362A-B1A8-0776-5B89-68C995E06A3D}"/>
                </a:ext>
              </a:extLst>
            </p:cNvPr>
            <p:cNvCxnSpPr>
              <a:cxnSpLocks/>
              <a:stCxn id="8" idx="3"/>
            </p:cNvCxnSpPr>
            <p:nvPr/>
          </p:nvCxnSpPr>
          <p:spPr>
            <a:xfrm flipV="1">
              <a:off x="2271133" y="2383267"/>
              <a:ext cx="592788" cy="16294"/>
            </a:xfrm>
            <a:prstGeom prst="straightConnector1">
              <a:avLst/>
            </a:prstGeom>
            <a:ln w="25400">
              <a:solidFill>
                <a:schemeClr val="bg2"/>
              </a:solidFill>
              <a:tailEnd type="triangle" w="lg" len="lg"/>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8666E90B-8F23-C774-71D0-BF70A3A7AA15}"/>
                </a:ext>
              </a:extLst>
            </p:cNvPr>
            <p:cNvSpPr txBox="1"/>
            <p:nvPr/>
          </p:nvSpPr>
          <p:spPr>
            <a:xfrm>
              <a:off x="5992077" y="937854"/>
              <a:ext cx="2101946" cy="392335"/>
            </a:xfrm>
            <a:prstGeom prst="rect">
              <a:avLst/>
            </a:prstGeom>
            <a:noFill/>
            <a:ln>
              <a:noFill/>
            </a:ln>
          </p:spPr>
          <p:txBody>
            <a:bodyPr wrap="square">
              <a:spAutoFit/>
            </a:bodyPr>
            <a:lstStyle/>
            <a:p>
              <a:r>
                <a:rPr lang="en-SG" b="1" dirty="0">
                  <a:solidFill>
                    <a:schemeClr val="bg2"/>
                  </a:solidFill>
                  <a:latin typeface="Arial" panose="020B0604020202020204" pitchFamily="34" charset="0"/>
                  <a:cs typeface="Arial" panose="020B0604020202020204" pitchFamily="34" charset="0"/>
                </a:rPr>
                <a:t>3</a:t>
              </a:r>
              <a:r>
                <a:rPr lang="en-SG" b="1" dirty="0">
                  <a:solidFill>
                    <a:schemeClr val="bg2"/>
                  </a:solidFill>
                  <a:effectLst/>
                  <a:latin typeface="Arial" panose="020B0604020202020204" pitchFamily="34" charset="0"/>
                  <a:cs typeface="Arial" panose="020B0604020202020204" pitchFamily="34" charset="0"/>
                </a:rPr>
                <a:t>. The Collider</a:t>
              </a:r>
            </a:p>
          </p:txBody>
        </p:sp>
        <p:sp>
          <p:nvSpPr>
            <p:cNvPr id="13" name="TextBox 12">
              <a:extLst>
                <a:ext uri="{FF2B5EF4-FFF2-40B4-BE49-F238E27FC236}">
                  <a16:creationId xmlns:a16="http://schemas.microsoft.com/office/drawing/2014/main" id="{FBF89DB2-0ADB-32AF-554D-2A97F1EDD452}"/>
                </a:ext>
              </a:extLst>
            </p:cNvPr>
            <p:cNvSpPr txBox="1"/>
            <p:nvPr/>
          </p:nvSpPr>
          <p:spPr>
            <a:xfrm>
              <a:off x="5743472" y="3461657"/>
              <a:ext cx="2246457" cy="392335"/>
            </a:xfrm>
            <a:prstGeom prst="rect">
              <a:avLst/>
            </a:prstGeom>
            <a:noFill/>
          </p:spPr>
          <p:txBody>
            <a:bodyPr wrap="square">
              <a:spAutoFit/>
            </a:bodyPr>
            <a:lstStyle/>
            <a:p>
              <a:r>
                <a:rPr lang="en-SG" b="1" dirty="0">
                  <a:solidFill>
                    <a:srgbClr val="000000"/>
                  </a:solidFill>
                  <a:effectLst/>
                  <a:latin typeface="Arial" panose="020B0604020202020204" pitchFamily="34" charset="0"/>
                  <a:cs typeface="Arial" panose="020B0604020202020204" pitchFamily="34" charset="0"/>
                </a:rPr>
                <a:t>4. The Fork</a:t>
              </a:r>
            </a:p>
          </p:txBody>
        </p:sp>
        <p:sp>
          <p:nvSpPr>
            <p:cNvPr id="14" name="TextBox 13">
              <a:extLst>
                <a:ext uri="{FF2B5EF4-FFF2-40B4-BE49-F238E27FC236}">
                  <a16:creationId xmlns:a16="http://schemas.microsoft.com/office/drawing/2014/main" id="{D4FF33DB-76D2-DB3F-31E3-615340CA29BC}"/>
                </a:ext>
              </a:extLst>
            </p:cNvPr>
            <p:cNvSpPr txBox="1"/>
            <p:nvPr/>
          </p:nvSpPr>
          <p:spPr>
            <a:xfrm>
              <a:off x="808569" y="3830335"/>
              <a:ext cx="2800036" cy="392335"/>
            </a:xfrm>
            <a:prstGeom prst="rect">
              <a:avLst/>
            </a:prstGeom>
            <a:noFill/>
          </p:spPr>
          <p:txBody>
            <a:bodyPr wrap="square">
              <a:spAutoFit/>
            </a:bodyPr>
            <a:lstStyle/>
            <a:p>
              <a:r>
                <a:rPr lang="en-SG" b="1" dirty="0">
                  <a:solidFill>
                    <a:schemeClr val="bg2"/>
                  </a:solidFill>
                  <a:effectLst/>
                  <a:latin typeface="Arial" panose="020B0604020202020204" pitchFamily="34" charset="0"/>
                  <a:cs typeface="Arial" panose="020B0604020202020204" pitchFamily="34" charset="0"/>
                </a:rPr>
                <a:t>2. The Descendant</a:t>
              </a:r>
            </a:p>
          </p:txBody>
        </p:sp>
        <p:sp>
          <p:nvSpPr>
            <p:cNvPr id="15" name="CuadroTexto 3">
              <a:extLst>
                <a:ext uri="{FF2B5EF4-FFF2-40B4-BE49-F238E27FC236}">
                  <a16:creationId xmlns:a16="http://schemas.microsoft.com/office/drawing/2014/main" id="{D13E6150-583B-5B6A-0E40-5A36F1C2A5DE}"/>
                </a:ext>
              </a:extLst>
            </p:cNvPr>
            <p:cNvSpPr txBox="1"/>
            <p:nvPr/>
          </p:nvSpPr>
          <p:spPr>
            <a:xfrm>
              <a:off x="5431971" y="1511100"/>
              <a:ext cx="560106" cy="555808"/>
            </a:xfrm>
            <a:prstGeom prst="rect">
              <a:avLst/>
            </a:prstGeom>
            <a:noFill/>
            <a:ln w="25400">
              <a:solidFill>
                <a:schemeClr val="bg2"/>
              </a:solidFill>
            </a:ln>
          </p:spPr>
          <p:txBody>
            <a:bodyPr wrap="square" rtlCol="0">
              <a:spAutoFit/>
            </a:bodyPr>
            <a:lstStyle/>
            <a:p>
              <a:r>
                <a:rPr lang="es-ES" sz="2800" dirty="0">
                  <a:solidFill>
                    <a:schemeClr val="bg2"/>
                  </a:solidFill>
                  <a:latin typeface="Arial" panose="020B0604020202020204" pitchFamily="34" charset="0"/>
                  <a:cs typeface="Arial" panose="020B0604020202020204" pitchFamily="34" charset="0"/>
                </a:rPr>
                <a:t>x</a:t>
              </a:r>
              <a:r>
                <a:rPr lang="es-ES" sz="2800" baseline="-25000" dirty="0">
                  <a:solidFill>
                    <a:schemeClr val="bg2"/>
                  </a:solidFill>
                  <a:latin typeface="Arial" panose="020B0604020202020204" pitchFamily="34" charset="0"/>
                  <a:cs typeface="Arial" panose="020B0604020202020204" pitchFamily="34" charset="0"/>
                </a:rPr>
                <a:t>1</a:t>
              </a:r>
            </a:p>
          </p:txBody>
        </p:sp>
        <p:cxnSp>
          <p:nvCxnSpPr>
            <p:cNvPr id="16" name="Conector recto de flecha 4">
              <a:extLst>
                <a:ext uri="{FF2B5EF4-FFF2-40B4-BE49-F238E27FC236}">
                  <a16:creationId xmlns:a16="http://schemas.microsoft.com/office/drawing/2014/main" id="{07BDCBAA-3B87-3045-D2C1-F7CA21A14002}"/>
                </a:ext>
              </a:extLst>
            </p:cNvPr>
            <p:cNvCxnSpPr>
              <a:cxnSpLocks/>
            </p:cNvCxnSpPr>
            <p:nvPr/>
          </p:nvCxnSpPr>
          <p:spPr>
            <a:xfrm>
              <a:off x="5996018" y="2032918"/>
              <a:ext cx="455723" cy="490562"/>
            </a:xfrm>
            <a:prstGeom prst="straightConnector1">
              <a:avLst/>
            </a:prstGeom>
            <a:ln w="25400">
              <a:solidFill>
                <a:schemeClr val="bg2"/>
              </a:solidFill>
              <a:tailEnd type="triangle" w="lg" len="lg"/>
            </a:ln>
          </p:spPr>
          <p:style>
            <a:lnRef idx="1">
              <a:schemeClr val="accent1"/>
            </a:lnRef>
            <a:fillRef idx="0">
              <a:schemeClr val="accent1"/>
            </a:fillRef>
            <a:effectRef idx="0">
              <a:schemeClr val="accent1"/>
            </a:effectRef>
            <a:fontRef idx="minor">
              <a:schemeClr val="tx1"/>
            </a:fontRef>
          </p:style>
        </p:cxnSp>
        <p:sp>
          <p:nvSpPr>
            <p:cNvPr id="17" name="CuadroTexto 5">
              <a:extLst>
                <a:ext uri="{FF2B5EF4-FFF2-40B4-BE49-F238E27FC236}">
                  <a16:creationId xmlns:a16="http://schemas.microsoft.com/office/drawing/2014/main" id="{E3C6301D-E3E9-8218-EE46-CBBF89D971B6}"/>
                </a:ext>
              </a:extLst>
            </p:cNvPr>
            <p:cNvSpPr txBox="1"/>
            <p:nvPr/>
          </p:nvSpPr>
          <p:spPr>
            <a:xfrm>
              <a:off x="6464416" y="2516640"/>
              <a:ext cx="441146" cy="555808"/>
            </a:xfrm>
            <a:prstGeom prst="rect">
              <a:avLst/>
            </a:prstGeom>
            <a:noFill/>
            <a:ln w="25400">
              <a:solidFill>
                <a:schemeClr val="bg2"/>
              </a:solidFill>
            </a:ln>
          </p:spPr>
          <p:txBody>
            <a:bodyPr wrap="square" rtlCol="0">
              <a:spAutoFit/>
            </a:bodyPr>
            <a:lstStyle/>
            <a:p>
              <a:r>
                <a:rPr lang="es-ES" sz="2800" dirty="0">
                  <a:solidFill>
                    <a:schemeClr val="bg2"/>
                  </a:solidFill>
                  <a:latin typeface="Arial" panose="020B0604020202020204" pitchFamily="34" charset="0"/>
                  <a:cs typeface="Arial" panose="020B0604020202020204" pitchFamily="34" charset="0"/>
                </a:rPr>
                <a:t>Y </a:t>
              </a:r>
              <a:endParaRPr lang="es-ES" sz="2800" baseline="-25000" dirty="0">
                <a:solidFill>
                  <a:schemeClr val="bg2"/>
                </a:solidFill>
                <a:latin typeface="Arial" panose="020B0604020202020204" pitchFamily="34" charset="0"/>
                <a:cs typeface="Arial" panose="020B0604020202020204" pitchFamily="34" charset="0"/>
              </a:endParaRPr>
            </a:p>
          </p:txBody>
        </p:sp>
        <p:sp>
          <p:nvSpPr>
            <p:cNvPr id="18" name="CuadroTexto 6">
              <a:extLst>
                <a:ext uri="{FF2B5EF4-FFF2-40B4-BE49-F238E27FC236}">
                  <a16:creationId xmlns:a16="http://schemas.microsoft.com/office/drawing/2014/main" id="{BD5DF19E-493C-1A49-CF97-425115AC0285}"/>
                </a:ext>
              </a:extLst>
            </p:cNvPr>
            <p:cNvSpPr txBox="1"/>
            <p:nvPr/>
          </p:nvSpPr>
          <p:spPr>
            <a:xfrm>
              <a:off x="7537848" y="1513253"/>
              <a:ext cx="650804" cy="555808"/>
            </a:xfrm>
            <a:prstGeom prst="rect">
              <a:avLst/>
            </a:prstGeom>
            <a:noFill/>
            <a:ln w="25400">
              <a:solidFill>
                <a:schemeClr val="bg2"/>
              </a:solidFill>
            </a:ln>
          </p:spPr>
          <p:txBody>
            <a:bodyPr wrap="square" rtlCol="0">
              <a:spAutoFit/>
            </a:bodyPr>
            <a:lstStyle/>
            <a:p>
              <a:r>
                <a:rPr lang="es-ES" sz="2800" dirty="0">
                  <a:solidFill>
                    <a:schemeClr val="bg2"/>
                  </a:solidFill>
                  <a:latin typeface="Arial" panose="020B0604020202020204" pitchFamily="34" charset="0"/>
                  <a:cs typeface="Arial" panose="020B0604020202020204" pitchFamily="34" charset="0"/>
                </a:rPr>
                <a:t>x</a:t>
              </a:r>
              <a:r>
                <a:rPr lang="es-ES" sz="2800" baseline="-25000" dirty="0">
                  <a:solidFill>
                    <a:schemeClr val="bg2"/>
                  </a:solidFill>
                  <a:latin typeface="Arial" panose="020B0604020202020204" pitchFamily="34" charset="0"/>
                  <a:cs typeface="Arial" panose="020B0604020202020204" pitchFamily="34" charset="0"/>
                </a:rPr>
                <a:t>2</a:t>
              </a:r>
            </a:p>
          </p:txBody>
        </p:sp>
        <p:cxnSp>
          <p:nvCxnSpPr>
            <p:cNvPr id="19" name="Conector recto de flecha 4">
              <a:extLst>
                <a:ext uri="{FF2B5EF4-FFF2-40B4-BE49-F238E27FC236}">
                  <a16:creationId xmlns:a16="http://schemas.microsoft.com/office/drawing/2014/main" id="{89084472-31A2-E008-5F7C-0B8DB3571A1E}"/>
                </a:ext>
              </a:extLst>
            </p:cNvPr>
            <p:cNvCxnSpPr>
              <a:cxnSpLocks/>
            </p:cNvCxnSpPr>
            <p:nvPr/>
          </p:nvCxnSpPr>
          <p:spPr>
            <a:xfrm flipH="1">
              <a:off x="6887044" y="2051421"/>
              <a:ext cx="650804" cy="483284"/>
            </a:xfrm>
            <a:prstGeom prst="straightConnector1">
              <a:avLst/>
            </a:prstGeom>
            <a:ln w="25400">
              <a:solidFill>
                <a:schemeClr val="bg2"/>
              </a:solidFill>
              <a:tailEnd type="triangle" w="lg" len="lg"/>
            </a:ln>
          </p:spPr>
          <p:style>
            <a:lnRef idx="1">
              <a:schemeClr val="accent1"/>
            </a:lnRef>
            <a:fillRef idx="0">
              <a:schemeClr val="accent1"/>
            </a:fillRef>
            <a:effectRef idx="0">
              <a:schemeClr val="accent1"/>
            </a:effectRef>
            <a:fontRef idx="minor">
              <a:schemeClr val="tx1"/>
            </a:fontRef>
          </p:style>
        </p:cxnSp>
        <p:sp>
          <p:nvSpPr>
            <p:cNvPr id="28" name="CuadroTexto 3">
              <a:extLst>
                <a:ext uri="{FF2B5EF4-FFF2-40B4-BE49-F238E27FC236}">
                  <a16:creationId xmlns:a16="http://schemas.microsoft.com/office/drawing/2014/main" id="{30722CB8-B95A-6E79-4F2F-457BA7FA10D9}"/>
                </a:ext>
              </a:extLst>
            </p:cNvPr>
            <p:cNvSpPr txBox="1"/>
            <p:nvPr/>
          </p:nvSpPr>
          <p:spPr>
            <a:xfrm>
              <a:off x="455024" y="4532778"/>
              <a:ext cx="555762" cy="555808"/>
            </a:xfrm>
            <a:prstGeom prst="rect">
              <a:avLst/>
            </a:prstGeom>
            <a:noFill/>
            <a:ln w="25400">
              <a:solidFill>
                <a:schemeClr val="bg2"/>
              </a:solidFill>
            </a:ln>
          </p:spPr>
          <p:txBody>
            <a:bodyPr wrap="none" rtlCol="0">
              <a:spAutoFit/>
            </a:bodyPr>
            <a:lstStyle/>
            <a:p>
              <a:r>
                <a:rPr lang="es-ES" sz="2800" dirty="0">
                  <a:solidFill>
                    <a:schemeClr val="bg2"/>
                  </a:solidFill>
                  <a:latin typeface="Arial" panose="020B0604020202020204" pitchFamily="34" charset="0"/>
                  <a:cs typeface="Arial" panose="020B0604020202020204" pitchFamily="34" charset="0"/>
                </a:rPr>
                <a:t>x</a:t>
              </a:r>
              <a:r>
                <a:rPr lang="es-ES" sz="2800" baseline="-25000" dirty="0">
                  <a:solidFill>
                    <a:schemeClr val="bg2"/>
                  </a:solidFill>
                  <a:latin typeface="Arial" panose="020B0604020202020204" pitchFamily="34" charset="0"/>
                  <a:cs typeface="Arial" panose="020B0604020202020204" pitchFamily="34" charset="0"/>
                </a:rPr>
                <a:t>1</a:t>
              </a:r>
            </a:p>
          </p:txBody>
        </p:sp>
        <p:cxnSp>
          <p:nvCxnSpPr>
            <p:cNvPr id="29" name="Conector recto de flecha 4">
              <a:extLst>
                <a:ext uri="{FF2B5EF4-FFF2-40B4-BE49-F238E27FC236}">
                  <a16:creationId xmlns:a16="http://schemas.microsoft.com/office/drawing/2014/main" id="{A760CE6D-052F-0C13-18EA-3602BA963662}"/>
                </a:ext>
              </a:extLst>
            </p:cNvPr>
            <p:cNvCxnSpPr>
              <a:cxnSpLocks/>
              <a:stCxn id="28" idx="3"/>
            </p:cNvCxnSpPr>
            <p:nvPr/>
          </p:nvCxnSpPr>
          <p:spPr>
            <a:xfrm flipV="1">
              <a:off x="1010786" y="4806266"/>
              <a:ext cx="599200" cy="4416"/>
            </a:xfrm>
            <a:prstGeom prst="straightConnector1">
              <a:avLst/>
            </a:prstGeom>
            <a:ln w="25400">
              <a:solidFill>
                <a:schemeClr val="bg2"/>
              </a:solidFill>
              <a:tailEnd type="triangle" w="lg" len="lg"/>
            </a:ln>
          </p:spPr>
          <p:style>
            <a:lnRef idx="1">
              <a:schemeClr val="accent1"/>
            </a:lnRef>
            <a:fillRef idx="0">
              <a:schemeClr val="accent1"/>
            </a:fillRef>
            <a:effectRef idx="0">
              <a:schemeClr val="accent1"/>
            </a:effectRef>
            <a:fontRef idx="minor">
              <a:schemeClr val="tx1"/>
            </a:fontRef>
          </p:style>
        </p:cxnSp>
        <p:sp>
          <p:nvSpPr>
            <p:cNvPr id="30" name="CuadroTexto 5">
              <a:extLst>
                <a:ext uri="{FF2B5EF4-FFF2-40B4-BE49-F238E27FC236}">
                  <a16:creationId xmlns:a16="http://schemas.microsoft.com/office/drawing/2014/main" id="{061DFA5A-7823-4800-21DD-6715521C942A}"/>
                </a:ext>
              </a:extLst>
            </p:cNvPr>
            <p:cNvSpPr txBox="1"/>
            <p:nvPr/>
          </p:nvSpPr>
          <p:spPr>
            <a:xfrm>
              <a:off x="2752124" y="4532778"/>
              <a:ext cx="577189" cy="555808"/>
            </a:xfrm>
            <a:prstGeom prst="rect">
              <a:avLst/>
            </a:prstGeom>
            <a:noFill/>
            <a:ln w="25400">
              <a:solidFill>
                <a:schemeClr val="bg2"/>
              </a:solidFill>
            </a:ln>
          </p:spPr>
          <p:txBody>
            <a:bodyPr wrap="none" rtlCol="0">
              <a:spAutoFit/>
            </a:bodyPr>
            <a:lstStyle/>
            <a:p>
              <a:r>
                <a:rPr lang="es-ES" sz="2800" dirty="0">
                  <a:solidFill>
                    <a:schemeClr val="bg2"/>
                  </a:solidFill>
                  <a:latin typeface="Arial" panose="020B0604020202020204" pitchFamily="34" charset="0"/>
                  <a:cs typeface="Arial" panose="020B0604020202020204" pitchFamily="34" charset="0"/>
                </a:rPr>
                <a:t>Y </a:t>
              </a:r>
              <a:endParaRPr lang="es-ES" sz="2800" baseline="-25000" dirty="0">
                <a:solidFill>
                  <a:schemeClr val="bg2"/>
                </a:solidFill>
                <a:latin typeface="Arial" panose="020B0604020202020204" pitchFamily="34" charset="0"/>
                <a:cs typeface="Arial" panose="020B0604020202020204" pitchFamily="34" charset="0"/>
              </a:endParaRPr>
            </a:p>
          </p:txBody>
        </p:sp>
        <p:sp>
          <p:nvSpPr>
            <p:cNvPr id="31" name="CuadroTexto 6">
              <a:extLst>
                <a:ext uri="{FF2B5EF4-FFF2-40B4-BE49-F238E27FC236}">
                  <a16:creationId xmlns:a16="http://schemas.microsoft.com/office/drawing/2014/main" id="{5DA93C9C-8BDF-49FD-45C6-4DA2F5A2BB94}"/>
                </a:ext>
              </a:extLst>
            </p:cNvPr>
            <p:cNvSpPr txBox="1"/>
            <p:nvPr/>
          </p:nvSpPr>
          <p:spPr>
            <a:xfrm>
              <a:off x="1609986" y="4532778"/>
              <a:ext cx="555762" cy="555808"/>
            </a:xfrm>
            <a:prstGeom prst="rect">
              <a:avLst/>
            </a:prstGeom>
            <a:noFill/>
            <a:ln w="25400">
              <a:solidFill>
                <a:schemeClr val="bg2"/>
              </a:solidFill>
            </a:ln>
          </p:spPr>
          <p:txBody>
            <a:bodyPr wrap="none" rtlCol="0">
              <a:spAutoFit/>
            </a:bodyPr>
            <a:lstStyle/>
            <a:p>
              <a:r>
                <a:rPr lang="es-ES" sz="2800" dirty="0">
                  <a:solidFill>
                    <a:schemeClr val="bg2"/>
                  </a:solidFill>
                  <a:latin typeface="Arial" panose="020B0604020202020204" pitchFamily="34" charset="0"/>
                  <a:cs typeface="Arial" panose="020B0604020202020204" pitchFamily="34" charset="0"/>
                </a:rPr>
                <a:t>x</a:t>
              </a:r>
              <a:r>
                <a:rPr lang="es-ES" sz="2800" baseline="-25000" dirty="0">
                  <a:solidFill>
                    <a:schemeClr val="bg2"/>
                  </a:solidFill>
                  <a:latin typeface="Arial" panose="020B0604020202020204" pitchFamily="34" charset="0"/>
                  <a:cs typeface="Arial" panose="020B0604020202020204" pitchFamily="34" charset="0"/>
                </a:rPr>
                <a:t>2</a:t>
              </a:r>
            </a:p>
          </p:txBody>
        </p:sp>
        <p:cxnSp>
          <p:nvCxnSpPr>
            <p:cNvPr id="32" name="Conector recto de flecha 4">
              <a:extLst>
                <a:ext uri="{FF2B5EF4-FFF2-40B4-BE49-F238E27FC236}">
                  <a16:creationId xmlns:a16="http://schemas.microsoft.com/office/drawing/2014/main" id="{7928302A-373B-29A4-D313-A26B46E77A87}"/>
                </a:ext>
              </a:extLst>
            </p:cNvPr>
            <p:cNvCxnSpPr>
              <a:cxnSpLocks/>
              <a:stCxn id="31" idx="3"/>
            </p:cNvCxnSpPr>
            <p:nvPr/>
          </p:nvCxnSpPr>
          <p:spPr>
            <a:xfrm flipV="1">
              <a:off x="2165747" y="4794388"/>
              <a:ext cx="592788" cy="16293"/>
            </a:xfrm>
            <a:prstGeom prst="straightConnector1">
              <a:avLst/>
            </a:prstGeom>
            <a:ln w="25400">
              <a:solidFill>
                <a:schemeClr val="bg2"/>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33" name="Conector recto de flecha 4">
              <a:extLst>
                <a:ext uri="{FF2B5EF4-FFF2-40B4-BE49-F238E27FC236}">
                  <a16:creationId xmlns:a16="http://schemas.microsoft.com/office/drawing/2014/main" id="{91761716-787E-BAE4-A778-26F957212D52}"/>
                </a:ext>
              </a:extLst>
            </p:cNvPr>
            <p:cNvCxnSpPr>
              <a:cxnSpLocks/>
            </p:cNvCxnSpPr>
            <p:nvPr/>
          </p:nvCxnSpPr>
          <p:spPr>
            <a:xfrm>
              <a:off x="1866029" y="5055998"/>
              <a:ext cx="0" cy="588533"/>
            </a:xfrm>
            <a:prstGeom prst="straightConnector1">
              <a:avLst/>
            </a:prstGeom>
            <a:ln w="25400">
              <a:solidFill>
                <a:schemeClr val="bg2"/>
              </a:solidFill>
              <a:tailEnd type="triangle" w="lg" len="lg"/>
            </a:ln>
          </p:spPr>
          <p:style>
            <a:lnRef idx="1">
              <a:schemeClr val="accent1"/>
            </a:lnRef>
            <a:fillRef idx="0">
              <a:schemeClr val="accent1"/>
            </a:fillRef>
            <a:effectRef idx="0">
              <a:schemeClr val="accent1"/>
            </a:effectRef>
            <a:fontRef idx="minor">
              <a:schemeClr val="tx1"/>
            </a:fontRef>
          </p:style>
        </p:cxnSp>
        <p:sp>
          <p:nvSpPr>
            <p:cNvPr id="35" name="CuadroTexto 6">
              <a:extLst>
                <a:ext uri="{FF2B5EF4-FFF2-40B4-BE49-F238E27FC236}">
                  <a16:creationId xmlns:a16="http://schemas.microsoft.com/office/drawing/2014/main" id="{AAE71C02-96E1-4A29-C9DB-997E568A3B47}"/>
                </a:ext>
              </a:extLst>
            </p:cNvPr>
            <p:cNvSpPr txBox="1"/>
            <p:nvPr/>
          </p:nvSpPr>
          <p:spPr>
            <a:xfrm>
              <a:off x="1609986" y="5646373"/>
              <a:ext cx="555762" cy="555808"/>
            </a:xfrm>
            <a:prstGeom prst="rect">
              <a:avLst/>
            </a:prstGeom>
            <a:noFill/>
            <a:ln w="25400">
              <a:solidFill>
                <a:schemeClr val="bg2"/>
              </a:solidFill>
            </a:ln>
          </p:spPr>
          <p:txBody>
            <a:bodyPr wrap="none" rtlCol="0">
              <a:spAutoFit/>
            </a:bodyPr>
            <a:lstStyle/>
            <a:p>
              <a:r>
                <a:rPr lang="es-ES" sz="2800" dirty="0">
                  <a:solidFill>
                    <a:schemeClr val="bg2"/>
                  </a:solidFill>
                  <a:latin typeface="Arial" panose="020B0604020202020204" pitchFamily="34" charset="0"/>
                  <a:cs typeface="Arial" panose="020B0604020202020204" pitchFamily="34" charset="0"/>
                </a:rPr>
                <a:t>x</a:t>
              </a:r>
              <a:r>
                <a:rPr lang="es-ES" sz="2800" baseline="-25000" dirty="0">
                  <a:solidFill>
                    <a:schemeClr val="bg2"/>
                  </a:solidFill>
                  <a:latin typeface="Arial" panose="020B0604020202020204" pitchFamily="34" charset="0"/>
                  <a:cs typeface="Arial" panose="020B0604020202020204" pitchFamily="34" charset="0"/>
                </a:rPr>
                <a:t>3</a:t>
              </a:r>
            </a:p>
          </p:txBody>
        </p:sp>
        <p:sp>
          <p:nvSpPr>
            <p:cNvPr id="45" name="CuadroTexto 3">
              <a:extLst>
                <a:ext uri="{FF2B5EF4-FFF2-40B4-BE49-F238E27FC236}">
                  <a16:creationId xmlns:a16="http://schemas.microsoft.com/office/drawing/2014/main" id="{96CA86B4-E462-C36B-AA15-35D5AB88D9FB}"/>
                </a:ext>
              </a:extLst>
            </p:cNvPr>
            <p:cNvSpPr txBox="1"/>
            <p:nvPr/>
          </p:nvSpPr>
          <p:spPr>
            <a:xfrm>
              <a:off x="5029202" y="5477528"/>
              <a:ext cx="603646" cy="523220"/>
            </a:xfrm>
            <a:prstGeom prst="rect">
              <a:avLst/>
            </a:prstGeom>
            <a:noFill/>
            <a:ln w="25400">
              <a:solidFill>
                <a:schemeClr val="tx1"/>
              </a:solidFill>
            </a:ln>
          </p:spPr>
          <p:txBody>
            <a:bodyPr wrap="square" rtlCol="0">
              <a:spAutoFit/>
            </a:bodyPr>
            <a:lstStyle/>
            <a:p>
              <a:r>
                <a:rPr lang="es-ES" sz="2800" dirty="0">
                  <a:latin typeface="Arial" panose="020B0604020202020204" pitchFamily="34" charset="0"/>
                  <a:cs typeface="Arial" panose="020B0604020202020204" pitchFamily="34" charset="0"/>
                </a:rPr>
                <a:t>x</a:t>
              </a:r>
              <a:r>
                <a:rPr lang="es-ES" sz="2800" baseline="-25000" dirty="0">
                  <a:latin typeface="Arial" panose="020B0604020202020204" pitchFamily="34" charset="0"/>
                  <a:cs typeface="Arial" panose="020B0604020202020204" pitchFamily="34" charset="0"/>
                </a:rPr>
                <a:t>1</a:t>
              </a:r>
            </a:p>
          </p:txBody>
        </p:sp>
        <p:cxnSp>
          <p:nvCxnSpPr>
            <p:cNvPr id="46" name="Conector recto de flecha 4">
              <a:extLst>
                <a:ext uri="{FF2B5EF4-FFF2-40B4-BE49-F238E27FC236}">
                  <a16:creationId xmlns:a16="http://schemas.microsoft.com/office/drawing/2014/main" id="{C759C887-ACC1-8405-BB1E-A3B6330A128D}"/>
                </a:ext>
              </a:extLst>
            </p:cNvPr>
            <p:cNvCxnSpPr>
              <a:cxnSpLocks/>
              <a:endCxn id="45" idx="0"/>
            </p:cNvCxnSpPr>
            <p:nvPr/>
          </p:nvCxnSpPr>
          <p:spPr>
            <a:xfrm flipH="1">
              <a:off x="5331025" y="4555253"/>
              <a:ext cx="724546" cy="922275"/>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47" name="CuadroTexto 5">
              <a:extLst>
                <a:ext uri="{FF2B5EF4-FFF2-40B4-BE49-F238E27FC236}">
                  <a16:creationId xmlns:a16="http://schemas.microsoft.com/office/drawing/2014/main" id="{2F661E93-E382-40DE-D822-3A75978DF9F6}"/>
                </a:ext>
              </a:extLst>
            </p:cNvPr>
            <p:cNvSpPr txBox="1"/>
            <p:nvPr/>
          </p:nvSpPr>
          <p:spPr>
            <a:xfrm>
              <a:off x="7309482" y="5445806"/>
              <a:ext cx="441146" cy="523220"/>
            </a:xfrm>
            <a:prstGeom prst="rect">
              <a:avLst/>
            </a:prstGeom>
            <a:noFill/>
            <a:ln w="25400">
              <a:solidFill>
                <a:schemeClr val="tx1"/>
              </a:solidFill>
            </a:ln>
          </p:spPr>
          <p:txBody>
            <a:bodyPr wrap="square" rtlCol="0">
              <a:spAutoFit/>
            </a:bodyPr>
            <a:lstStyle/>
            <a:p>
              <a:r>
                <a:rPr lang="es-ES" sz="2800" dirty="0">
                  <a:latin typeface="Arial" panose="020B0604020202020204" pitchFamily="34" charset="0"/>
                  <a:cs typeface="Arial" panose="020B0604020202020204" pitchFamily="34" charset="0"/>
                </a:rPr>
                <a:t>Y </a:t>
              </a:r>
              <a:endParaRPr lang="es-ES" sz="2800" baseline="-25000" dirty="0">
                <a:latin typeface="Arial" panose="020B0604020202020204" pitchFamily="34" charset="0"/>
                <a:cs typeface="Arial" panose="020B0604020202020204" pitchFamily="34" charset="0"/>
              </a:endParaRPr>
            </a:p>
          </p:txBody>
        </p:sp>
        <p:sp>
          <p:nvSpPr>
            <p:cNvPr id="48" name="CuadroTexto 6">
              <a:extLst>
                <a:ext uri="{FF2B5EF4-FFF2-40B4-BE49-F238E27FC236}">
                  <a16:creationId xmlns:a16="http://schemas.microsoft.com/office/drawing/2014/main" id="{2FA55632-4D10-D1A2-4A2A-D5E54ECEB049}"/>
                </a:ext>
              </a:extLst>
            </p:cNvPr>
            <p:cNvSpPr txBox="1"/>
            <p:nvPr/>
          </p:nvSpPr>
          <p:spPr>
            <a:xfrm>
              <a:off x="6055573" y="4032033"/>
              <a:ext cx="677972" cy="555808"/>
            </a:xfrm>
            <a:prstGeom prst="rect">
              <a:avLst/>
            </a:prstGeom>
            <a:noFill/>
            <a:ln w="25400">
              <a:solidFill>
                <a:schemeClr val="tx1"/>
              </a:solidFill>
            </a:ln>
          </p:spPr>
          <p:txBody>
            <a:bodyPr wrap="square" rtlCol="0">
              <a:spAutoFit/>
            </a:bodyPr>
            <a:lstStyle/>
            <a:p>
              <a:r>
                <a:rPr lang="es-ES" sz="2800" dirty="0">
                  <a:latin typeface="Arial" panose="020B0604020202020204" pitchFamily="34" charset="0"/>
                  <a:cs typeface="Arial" panose="020B0604020202020204" pitchFamily="34" charset="0"/>
                </a:rPr>
                <a:t>x</a:t>
              </a:r>
              <a:r>
                <a:rPr lang="es-ES" sz="2800" baseline="-25000" dirty="0">
                  <a:latin typeface="Arial" panose="020B0604020202020204" pitchFamily="34" charset="0"/>
                  <a:cs typeface="Arial" panose="020B0604020202020204" pitchFamily="34" charset="0"/>
                </a:rPr>
                <a:t>2</a:t>
              </a:r>
            </a:p>
          </p:txBody>
        </p:sp>
        <p:cxnSp>
          <p:nvCxnSpPr>
            <p:cNvPr id="49" name="Conector recto de flecha 4">
              <a:extLst>
                <a:ext uri="{FF2B5EF4-FFF2-40B4-BE49-F238E27FC236}">
                  <a16:creationId xmlns:a16="http://schemas.microsoft.com/office/drawing/2014/main" id="{262CCC1B-8E96-94D7-ACC3-06991A43F04C}"/>
                </a:ext>
              </a:extLst>
            </p:cNvPr>
            <p:cNvCxnSpPr>
              <a:cxnSpLocks/>
              <a:endCxn id="47" idx="1"/>
            </p:cNvCxnSpPr>
            <p:nvPr/>
          </p:nvCxnSpPr>
          <p:spPr>
            <a:xfrm flipV="1">
              <a:off x="5643322" y="5707416"/>
              <a:ext cx="1666160" cy="36496"/>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56" name="Conector recto de flecha 4">
              <a:extLst>
                <a:ext uri="{FF2B5EF4-FFF2-40B4-BE49-F238E27FC236}">
                  <a16:creationId xmlns:a16="http://schemas.microsoft.com/office/drawing/2014/main" id="{172E0C76-218F-8F31-31DD-A45AC2789443}"/>
                </a:ext>
              </a:extLst>
            </p:cNvPr>
            <p:cNvCxnSpPr>
              <a:cxnSpLocks/>
            </p:cNvCxnSpPr>
            <p:nvPr/>
          </p:nvCxnSpPr>
          <p:spPr>
            <a:xfrm>
              <a:off x="6733543" y="4587841"/>
              <a:ext cx="575938" cy="889687"/>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39607331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B9C711-2A15-AAD7-0D8C-2C3F3A1BB0E0}"/>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8CA81FE2-496E-45ED-5AEA-5A9A1B9A13E1}"/>
              </a:ext>
            </a:extLst>
          </p:cNvPr>
          <p:cNvSpPr txBox="1"/>
          <p:nvPr/>
        </p:nvSpPr>
        <p:spPr>
          <a:xfrm>
            <a:off x="326571" y="370506"/>
            <a:ext cx="4572000" cy="461665"/>
          </a:xfrm>
          <a:prstGeom prst="rect">
            <a:avLst/>
          </a:prstGeom>
          <a:noFill/>
        </p:spPr>
        <p:txBody>
          <a:bodyPr wrap="square">
            <a:spAutoFit/>
          </a:bodyPr>
          <a:lstStyle/>
          <a:p>
            <a:r>
              <a:rPr lang="en-SG" sz="2400" b="1" dirty="0">
                <a:solidFill>
                  <a:srgbClr val="000000"/>
                </a:solidFill>
                <a:effectLst/>
                <a:latin typeface="Arial" panose="020B0604020202020204" pitchFamily="34" charset="0"/>
                <a:cs typeface="Arial" panose="020B0604020202020204" pitchFamily="34" charset="0"/>
              </a:rPr>
              <a:t>4. The Fork</a:t>
            </a:r>
          </a:p>
        </p:txBody>
      </p:sp>
      <p:sp>
        <p:nvSpPr>
          <p:cNvPr id="5" name="TextBox 4">
            <a:extLst>
              <a:ext uri="{FF2B5EF4-FFF2-40B4-BE49-F238E27FC236}">
                <a16:creationId xmlns:a16="http://schemas.microsoft.com/office/drawing/2014/main" id="{7A874694-8C42-F798-2575-39F3FA71C6A1}"/>
              </a:ext>
            </a:extLst>
          </p:cNvPr>
          <p:cNvSpPr txBox="1"/>
          <p:nvPr/>
        </p:nvSpPr>
        <p:spPr>
          <a:xfrm>
            <a:off x="3581399" y="1073500"/>
            <a:ext cx="2068286" cy="369332"/>
          </a:xfrm>
          <a:prstGeom prst="rect">
            <a:avLst/>
          </a:prstGeom>
          <a:noFill/>
          <a:ln>
            <a:solidFill>
              <a:schemeClr val="tx1"/>
            </a:solidFill>
          </a:ln>
        </p:spPr>
        <p:txBody>
          <a:bodyPr wrap="square">
            <a:spAutoFit/>
          </a:bodyPr>
          <a:lstStyle/>
          <a:p>
            <a:r>
              <a:rPr lang="en-SG" dirty="0">
                <a:solidFill>
                  <a:srgbClr val="000000"/>
                </a:solidFill>
                <a:effectLst/>
                <a:latin typeface="Arial" panose="020B0604020202020204" pitchFamily="34" charset="0"/>
                <a:cs typeface="Arial" panose="020B0604020202020204" pitchFamily="34" charset="0"/>
              </a:rPr>
              <a:t>Exogenous Cause</a:t>
            </a:r>
          </a:p>
        </p:txBody>
      </p:sp>
      <p:sp>
        <p:nvSpPr>
          <p:cNvPr id="6" name="TextBox 5">
            <a:extLst>
              <a:ext uri="{FF2B5EF4-FFF2-40B4-BE49-F238E27FC236}">
                <a16:creationId xmlns:a16="http://schemas.microsoft.com/office/drawing/2014/main" id="{505126F4-E827-D05C-B2FD-8DAA8D9BD8E5}"/>
              </a:ext>
            </a:extLst>
          </p:cNvPr>
          <p:cNvSpPr txBox="1"/>
          <p:nvPr/>
        </p:nvSpPr>
        <p:spPr>
          <a:xfrm>
            <a:off x="2503714" y="2318936"/>
            <a:ext cx="903514" cy="369332"/>
          </a:xfrm>
          <a:prstGeom prst="rect">
            <a:avLst/>
          </a:prstGeom>
          <a:noFill/>
          <a:ln>
            <a:solidFill>
              <a:schemeClr val="tx1"/>
            </a:solidFill>
          </a:ln>
        </p:spPr>
        <p:txBody>
          <a:bodyPr wrap="square">
            <a:spAutoFit/>
          </a:bodyPr>
          <a:lstStyle/>
          <a:p>
            <a:r>
              <a:rPr lang="en-SG" dirty="0">
                <a:solidFill>
                  <a:srgbClr val="000000"/>
                </a:solidFill>
                <a:effectLst/>
                <a:latin typeface="Arial" panose="020B0604020202020204" pitchFamily="34" charset="0"/>
                <a:cs typeface="Arial" panose="020B0604020202020204" pitchFamily="34" charset="0"/>
              </a:rPr>
              <a:t>Cause</a:t>
            </a:r>
          </a:p>
        </p:txBody>
      </p:sp>
      <p:sp>
        <p:nvSpPr>
          <p:cNvPr id="7" name="TextBox 6">
            <a:extLst>
              <a:ext uri="{FF2B5EF4-FFF2-40B4-BE49-F238E27FC236}">
                <a16:creationId xmlns:a16="http://schemas.microsoft.com/office/drawing/2014/main" id="{E8ABEB5C-9826-B100-4C50-6E903033EC46}"/>
              </a:ext>
            </a:extLst>
          </p:cNvPr>
          <p:cNvSpPr txBox="1"/>
          <p:nvPr/>
        </p:nvSpPr>
        <p:spPr>
          <a:xfrm>
            <a:off x="5561683" y="2318936"/>
            <a:ext cx="870857" cy="369332"/>
          </a:xfrm>
          <a:prstGeom prst="rect">
            <a:avLst/>
          </a:prstGeom>
          <a:noFill/>
          <a:ln>
            <a:solidFill>
              <a:schemeClr val="tx1"/>
            </a:solidFill>
          </a:ln>
        </p:spPr>
        <p:txBody>
          <a:bodyPr wrap="square">
            <a:spAutoFit/>
          </a:bodyPr>
          <a:lstStyle/>
          <a:p>
            <a:r>
              <a:rPr lang="en-SG" dirty="0">
                <a:solidFill>
                  <a:srgbClr val="000000"/>
                </a:solidFill>
                <a:effectLst/>
                <a:latin typeface="Arial" panose="020B0604020202020204" pitchFamily="34" charset="0"/>
                <a:cs typeface="Arial" panose="020B0604020202020204" pitchFamily="34" charset="0"/>
              </a:rPr>
              <a:t>Effect</a:t>
            </a:r>
            <a:endParaRPr lang="en-US" dirty="0">
              <a:latin typeface="Arial" panose="020B0604020202020204" pitchFamily="34" charset="0"/>
              <a:cs typeface="Arial" panose="020B0604020202020204" pitchFamily="34" charset="0"/>
            </a:endParaRPr>
          </a:p>
        </p:txBody>
      </p:sp>
      <p:cxnSp>
        <p:nvCxnSpPr>
          <p:cNvPr id="8" name="Conector recto de flecha 4">
            <a:extLst>
              <a:ext uri="{FF2B5EF4-FFF2-40B4-BE49-F238E27FC236}">
                <a16:creationId xmlns:a16="http://schemas.microsoft.com/office/drawing/2014/main" id="{6906F680-5ED4-85F8-147E-564B88365FDF}"/>
              </a:ext>
            </a:extLst>
          </p:cNvPr>
          <p:cNvCxnSpPr>
            <a:cxnSpLocks/>
            <a:endCxn id="7" idx="1"/>
          </p:cNvCxnSpPr>
          <p:nvPr/>
        </p:nvCxnSpPr>
        <p:spPr>
          <a:xfrm flipV="1">
            <a:off x="3399307" y="2503602"/>
            <a:ext cx="2162376" cy="21467"/>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0" name="Conector recto de flecha 4">
            <a:extLst>
              <a:ext uri="{FF2B5EF4-FFF2-40B4-BE49-F238E27FC236}">
                <a16:creationId xmlns:a16="http://schemas.microsoft.com/office/drawing/2014/main" id="{D083447F-223D-C845-6098-4140C47F909F}"/>
              </a:ext>
            </a:extLst>
          </p:cNvPr>
          <p:cNvCxnSpPr>
            <a:cxnSpLocks/>
            <a:stCxn id="5" idx="2"/>
            <a:endCxn id="6" idx="0"/>
          </p:cNvCxnSpPr>
          <p:nvPr/>
        </p:nvCxnSpPr>
        <p:spPr>
          <a:xfrm flipH="1">
            <a:off x="2955471" y="1442832"/>
            <a:ext cx="1660071" cy="876104"/>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3" name="Conector recto de flecha 4">
            <a:extLst>
              <a:ext uri="{FF2B5EF4-FFF2-40B4-BE49-F238E27FC236}">
                <a16:creationId xmlns:a16="http://schemas.microsoft.com/office/drawing/2014/main" id="{BF027845-3FDB-1753-0ADF-A1D5D471588B}"/>
              </a:ext>
            </a:extLst>
          </p:cNvPr>
          <p:cNvCxnSpPr>
            <a:cxnSpLocks/>
            <a:stCxn id="5" idx="2"/>
            <a:endCxn id="7" idx="0"/>
          </p:cNvCxnSpPr>
          <p:nvPr/>
        </p:nvCxnSpPr>
        <p:spPr>
          <a:xfrm>
            <a:off x="4615542" y="1442832"/>
            <a:ext cx="1381570" cy="876104"/>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A41EE1D7-DDB2-7DFE-7359-42452B5ACE64}"/>
              </a:ext>
            </a:extLst>
          </p:cNvPr>
          <p:cNvSpPr txBox="1"/>
          <p:nvPr/>
        </p:nvSpPr>
        <p:spPr>
          <a:xfrm>
            <a:off x="2503714" y="562654"/>
            <a:ext cx="4789714" cy="369332"/>
          </a:xfrm>
          <a:prstGeom prst="rect">
            <a:avLst/>
          </a:prstGeom>
          <a:noFill/>
        </p:spPr>
        <p:txBody>
          <a:bodyPr wrap="square">
            <a:spAutoFit/>
          </a:bodyPr>
          <a:lstStyle/>
          <a:p>
            <a:r>
              <a:rPr lang="en-US" dirty="0">
                <a:solidFill>
                  <a:srgbClr val="FF0000"/>
                </a:solidFill>
                <a:latin typeface="Arial" panose="020B0604020202020204" pitchFamily="34" charset="0"/>
                <a:cs typeface="Arial" panose="020B0604020202020204" pitchFamily="34" charset="0"/>
              </a:rPr>
              <a:t>Causal Model</a:t>
            </a:r>
          </a:p>
        </p:txBody>
      </p:sp>
      <p:sp>
        <p:nvSpPr>
          <p:cNvPr id="18" name="TextBox 17">
            <a:extLst>
              <a:ext uri="{FF2B5EF4-FFF2-40B4-BE49-F238E27FC236}">
                <a16:creationId xmlns:a16="http://schemas.microsoft.com/office/drawing/2014/main" id="{B5FCE54C-FD01-A9F4-F081-8D513909EF33}"/>
              </a:ext>
            </a:extLst>
          </p:cNvPr>
          <p:cNvSpPr txBox="1"/>
          <p:nvPr/>
        </p:nvSpPr>
        <p:spPr>
          <a:xfrm>
            <a:off x="972371" y="3421817"/>
            <a:ext cx="903514" cy="369332"/>
          </a:xfrm>
          <a:prstGeom prst="rect">
            <a:avLst/>
          </a:prstGeom>
          <a:noFill/>
          <a:ln>
            <a:solidFill>
              <a:schemeClr val="tx1"/>
            </a:solidFill>
          </a:ln>
        </p:spPr>
        <p:txBody>
          <a:bodyPr wrap="square">
            <a:spAutoFit/>
          </a:bodyPr>
          <a:lstStyle/>
          <a:p>
            <a:r>
              <a:rPr lang="en-SG" dirty="0">
                <a:solidFill>
                  <a:srgbClr val="000000"/>
                </a:solidFill>
                <a:effectLst/>
                <a:latin typeface="Arial" panose="020B0604020202020204" pitchFamily="34" charset="0"/>
                <a:cs typeface="Arial" panose="020B0604020202020204" pitchFamily="34" charset="0"/>
              </a:rPr>
              <a:t>Cause</a:t>
            </a:r>
          </a:p>
        </p:txBody>
      </p:sp>
      <p:sp>
        <p:nvSpPr>
          <p:cNvPr id="19" name="TextBox 18">
            <a:extLst>
              <a:ext uri="{FF2B5EF4-FFF2-40B4-BE49-F238E27FC236}">
                <a16:creationId xmlns:a16="http://schemas.microsoft.com/office/drawing/2014/main" id="{463D4B82-13E1-69B4-6A30-3AA824632CC9}"/>
              </a:ext>
            </a:extLst>
          </p:cNvPr>
          <p:cNvSpPr txBox="1"/>
          <p:nvPr/>
        </p:nvSpPr>
        <p:spPr>
          <a:xfrm>
            <a:off x="1007665" y="4465521"/>
            <a:ext cx="2179127" cy="369332"/>
          </a:xfrm>
          <a:prstGeom prst="rect">
            <a:avLst/>
          </a:prstGeom>
          <a:noFill/>
          <a:ln>
            <a:solidFill>
              <a:schemeClr val="tx1"/>
            </a:solidFill>
          </a:ln>
        </p:spPr>
        <p:txBody>
          <a:bodyPr wrap="square">
            <a:spAutoFit/>
          </a:bodyPr>
          <a:lstStyle/>
          <a:p>
            <a:r>
              <a:rPr lang="en-SG" dirty="0">
                <a:solidFill>
                  <a:srgbClr val="000000"/>
                </a:solidFill>
                <a:effectLst/>
                <a:latin typeface="Arial" panose="020B0604020202020204" pitchFamily="34" charset="0"/>
                <a:cs typeface="Arial" panose="020B0604020202020204" pitchFamily="34" charset="0"/>
              </a:rPr>
              <a:t>Exogenous Cause</a:t>
            </a:r>
          </a:p>
        </p:txBody>
      </p:sp>
      <p:sp>
        <p:nvSpPr>
          <p:cNvPr id="20" name="TextBox 19">
            <a:extLst>
              <a:ext uri="{FF2B5EF4-FFF2-40B4-BE49-F238E27FC236}">
                <a16:creationId xmlns:a16="http://schemas.microsoft.com/office/drawing/2014/main" id="{3B427852-CE9B-A52B-B57F-2AD7AC62121D}"/>
              </a:ext>
            </a:extLst>
          </p:cNvPr>
          <p:cNvSpPr txBox="1"/>
          <p:nvPr/>
        </p:nvSpPr>
        <p:spPr>
          <a:xfrm>
            <a:off x="3258737" y="3723733"/>
            <a:ext cx="870857" cy="369332"/>
          </a:xfrm>
          <a:prstGeom prst="rect">
            <a:avLst/>
          </a:prstGeom>
          <a:noFill/>
          <a:ln>
            <a:solidFill>
              <a:schemeClr val="tx1"/>
            </a:solidFill>
          </a:ln>
        </p:spPr>
        <p:txBody>
          <a:bodyPr wrap="square">
            <a:spAutoFit/>
          </a:bodyPr>
          <a:lstStyle/>
          <a:p>
            <a:r>
              <a:rPr lang="en-SG" dirty="0">
                <a:solidFill>
                  <a:srgbClr val="000000"/>
                </a:solidFill>
                <a:effectLst/>
                <a:latin typeface="Arial" panose="020B0604020202020204" pitchFamily="34" charset="0"/>
                <a:cs typeface="Arial" panose="020B0604020202020204" pitchFamily="34" charset="0"/>
              </a:rPr>
              <a:t>Effect</a:t>
            </a:r>
            <a:endParaRPr lang="en-US" dirty="0">
              <a:latin typeface="Arial" panose="020B0604020202020204" pitchFamily="34" charset="0"/>
              <a:cs typeface="Arial" panose="020B0604020202020204" pitchFamily="34" charset="0"/>
            </a:endParaRPr>
          </a:p>
        </p:txBody>
      </p:sp>
      <p:cxnSp>
        <p:nvCxnSpPr>
          <p:cNvPr id="21" name="Conector recto de flecha 4">
            <a:extLst>
              <a:ext uri="{FF2B5EF4-FFF2-40B4-BE49-F238E27FC236}">
                <a16:creationId xmlns:a16="http://schemas.microsoft.com/office/drawing/2014/main" id="{69EBC35B-705A-4147-F2FF-5548749B3553}"/>
              </a:ext>
            </a:extLst>
          </p:cNvPr>
          <p:cNvCxnSpPr>
            <a:cxnSpLocks/>
            <a:endCxn id="20" idx="1"/>
          </p:cNvCxnSpPr>
          <p:nvPr/>
        </p:nvCxnSpPr>
        <p:spPr>
          <a:xfrm>
            <a:off x="1869534" y="3571570"/>
            <a:ext cx="1389203" cy="336829"/>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22" name="Conector recto de flecha 4">
            <a:extLst>
              <a:ext uri="{FF2B5EF4-FFF2-40B4-BE49-F238E27FC236}">
                <a16:creationId xmlns:a16="http://schemas.microsoft.com/office/drawing/2014/main" id="{BA1C287A-00ED-AE15-33CF-C21280D9BA81}"/>
              </a:ext>
            </a:extLst>
          </p:cNvPr>
          <p:cNvCxnSpPr>
            <a:cxnSpLocks/>
          </p:cNvCxnSpPr>
          <p:nvPr/>
        </p:nvCxnSpPr>
        <p:spPr>
          <a:xfrm flipV="1">
            <a:off x="3227290" y="4128335"/>
            <a:ext cx="435429" cy="557122"/>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23" name="Curved Connector 22">
            <a:extLst>
              <a:ext uri="{FF2B5EF4-FFF2-40B4-BE49-F238E27FC236}">
                <a16:creationId xmlns:a16="http://schemas.microsoft.com/office/drawing/2014/main" id="{3F23410C-4F43-6CFC-0C2F-3018DF42E61F}"/>
              </a:ext>
            </a:extLst>
          </p:cNvPr>
          <p:cNvCxnSpPr>
            <a:cxnSpLocks/>
            <a:stCxn id="18" idx="1"/>
            <a:endCxn id="19" idx="1"/>
          </p:cNvCxnSpPr>
          <p:nvPr/>
        </p:nvCxnSpPr>
        <p:spPr>
          <a:xfrm rot="10800000" flipH="1" flipV="1">
            <a:off x="972371" y="3606483"/>
            <a:ext cx="35294" cy="1043704"/>
          </a:xfrm>
          <a:prstGeom prst="curvedConnector3">
            <a:avLst>
              <a:gd name="adj1" fmla="val -647702"/>
            </a:avLst>
          </a:prstGeom>
          <a:ln w="2540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1908EF87-C8CD-3363-2F11-6A70C6D30C8F}"/>
              </a:ext>
            </a:extLst>
          </p:cNvPr>
          <p:cNvSpPr txBox="1"/>
          <p:nvPr/>
        </p:nvSpPr>
        <p:spPr>
          <a:xfrm>
            <a:off x="770655" y="2829782"/>
            <a:ext cx="1733059" cy="369332"/>
          </a:xfrm>
          <a:prstGeom prst="rect">
            <a:avLst/>
          </a:prstGeom>
          <a:noFill/>
        </p:spPr>
        <p:txBody>
          <a:bodyPr wrap="square">
            <a:spAutoFit/>
          </a:bodyPr>
          <a:lstStyle/>
          <a:p>
            <a:r>
              <a:rPr lang="en-US" dirty="0">
                <a:solidFill>
                  <a:srgbClr val="FF0000"/>
                </a:solidFill>
                <a:latin typeface="Arial" panose="020B0604020202020204" pitchFamily="34" charset="0"/>
                <a:cs typeface="Arial" panose="020B0604020202020204" pitchFamily="34" charset="0"/>
              </a:rPr>
              <a:t>Regression 1</a:t>
            </a:r>
          </a:p>
        </p:txBody>
      </p:sp>
      <p:sp>
        <p:nvSpPr>
          <p:cNvPr id="4" name="TextBox 3">
            <a:extLst>
              <a:ext uri="{FF2B5EF4-FFF2-40B4-BE49-F238E27FC236}">
                <a16:creationId xmlns:a16="http://schemas.microsoft.com/office/drawing/2014/main" id="{B7E50CE0-AB10-3876-F32A-E0E280927F95}"/>
              </a:ext>
            </a:extLst>
          </p:cNvPr>
          <p:cNvSpPr txBox="1"/>
          <p:nvPr/>
        </p:nvSpPr>
        <p:spPr>
          <a:xfrm>
            <a:off x="402663" y="4989813"/>
            <a:ext cx="4322943" cy="923330"/>
          </a:xfrm>
          <a:prstGeom prst="rect">
            <a:avLst/>
          </a:prstGeom>
          <a:noFill/>
        </p:spPr>
        <p:txBody>
          <a:bodyPr wrap="square">
            <a:spAutoFit/>
          </a:bodyPr>
          <a:lstStyle/>
          <a:p>
            <a:pPr marL="285750" indent="-285750">
              <a:buFont typeface="Arial" panose="020B0604020202020204" pitchFamily="34" charset="0"/>
              <a:buChar char="•"/>
            </a:pPr>
            <a:r>
              <a:rPr lang="en-US" b="1" dirty="0">
                <a:latin typeface="Arial" panose="020B0604020202020204" pitchFamily="34" charset="0"/>
                <a:cs typeface="Arial" panose="020B0604020202020204" pitchFamily="34" charset="0"/>
              </a:rPr>
              <a:t>Conditioned by </a:t>
            </a:r>
            <a:r>
              <a:rPr lang="en-SG" b="1" dirty="0">
                <a:solidFill>
                  <a:srgbClr val="000000"/>
                </a:solidFill>
                <a:latin typeface="Arial" panose="020B0604020202020204" pitchFamily="34" charset="0"/>
                <a:cs typeface="Arial" panose="020B0604020202020204" pitchFamily="34" charset="0"/>
              </a:rPr>
              <a:t>Exogenous Cause</a:t>
            </a:r>
            <a:r>
              <a:rPr lang="en-US" b="1" dirty="0">
                <a:latin typeface="Arial" panose="020B0604020202020204" pitchFamily="34" charset="0"/>
                <a:cs typeface="Arial" panose="020B0604020202020204" pitchFamily="34" charset="0"/>
              </a:rPr>
              <a:t>, Cause and Effect NOT associated </a:t>
            </a:r>
          </a:p>
          <a:p>
            <a:pPr marL="285750" indent="-285750">
              <a:buFont typeface="Arial" panose="020B0604020202020204" pitchFamily="34" charset="0"/>
              <a:buChar char="•"/>
            </a:pPr>
            <a:r>
              <a:rPr lang="en-US" b="1" dirty="0">
                <a:latin typeface="Arial" panose="020B0604020202020204" pitchFamily="34" charset="0"/>
                <a:cs typeface="Arial" panose="020B0604020202020204" pitchFamily="34" charset="0"/>
              </a:rPr>
              <a:t>Nothing – this is great!</a:t>
            </a:r>
          </a:p>
        </p:txBody>
      </p:sp>
      <p:sp>
        <p:nvSpPr>
          <p:cNvPr id="30" name="TextBox 29">
            <a:extLst>
              <a:ext uri="{FF2B5EF4-FFF2-40B4-BE49-F238E27FC236}">
                <a16:creationId xmlns:a16="http://schemas.microsoft.com/office/drawing/2014/main" id="{B691A7E3-24AF-09BE-E38B-21D25E72D9A1}"/>
              </a:ext>
            </a:extLst>
          </p:cNvPr>
          <p:cNvSpPr txBox="1"/>
          <p:nvPr/>
        </p:nvSpPr>
        <p:spPr>
          <a:xfrm>
            <a:off x="5093598" y="3601365"/>
            <a:ext cx="903514" cy="369332"/>
          </a:xfrm>
          <a:prstGeom prst="rect">
            <a:avLst/>
          </a:prstGeom>
          <a:noFill/>
          <a:ln>
            <a:solidFill>
              <a:schemeClr val="tx1"/>
            </a:solidFill>
          </a:ln>
        </p:spPr>
        <p:txBody>
          <a:bodyPr wrap="square">
            <a:spAutoFit/>
          </a:bodyPr>
          <a:lstStyle/>
          <a:p>
            <a:r>
              <a:rPr lang="en-SG" dirty="0">
                <a:solidFill>
                  <a:srgbClr val="000000"/>
                </a:solidFill>
                <a:effectLst/>
                <a:latin typeface="Arial" panose="020B0604020202020204" pitchFamily="34" charset="0"/>
                <a:cs typeface="Arial" panose="020B0604020202020204" pitchFamily="34" charset="0"/>
              </a:rPr>
              <a:t>Cause</a:t>
            </a:r>
          </a:p>
        </p:txBody>
      </p:sp>
      <p:sp>
        <p:nvSpPr>
          <p:cNvPr id="31" name="TextBox 30">
            <a:extLst>
              <a:ext uri="{FF2B5EF4-FFF2-40B4-BE49-F238E27FC236}">
                <a16:creationId xmlns:a16="http://schemas.microsoft.com/office/drawing/2014/main" id="{D93CA000-B4AE-8B36-89A9-0DE54746BAC5}"/>
              </a:ext>
            </a:extLst>
          </p:cNvPr>
          <p:cNvSpPr txBox="1"/>
          <p:nvPr/>
        </p:nvSpPr>
        <p:spPr>
          <a:xfrm>
            <a:off x="7085684" y="3606483"/>
            <a:ext cx="870857" cy="369332"/>
          </a:xfrm>
          <a:prstGeom prst="rect">
            <a:avLst/>
          </a:prstGeom>
          <a:noFill/>
          <a:ln>
            <a:solidFill>
              <a:schemeClr val="tx1"/>
            </a:solidFill>
          </a:ln>
        </p:spPr>
        <p:txBody>
          <a:bodyPr wrap="square">
            <a:spAutoFit/>
          </a:bodyPr>
          <a:lstStyle/>
          <a:p>
            <a:r>
              <a:rPr lang="en-SG" dirty="0">
                <a:solidFill>
                  <a:srgbClr val="000000"/>
                </a:solidFill>
                <a:effectLst/>
                <a:latin typeface="Arial" panose="020B0604020202020204" pitchFamily="34" charset="0"/>
                <a:cs typeface="Arial" panose="020B0604020202020204" pitchFamily="34" charset="0"/>
              </a:rPr>
              <a:t>Effect</a:t>
            </a:r>
            <a:endParaRPr lang="en-US" dirty="0">
              <a:latin typeface="Arial" panose="020B0604020202020204" pitchFamily="34" charset="0"/>
              <a:cs typeface="Arial" panose="020B0604020202020204" pitchFamily="34" charset="0"/>
            </a:endParaRPr>
          </a:p>
        </p:txBody>
      </p:sp>
      <p:cxnSp>
        <p:nvCxnSpPr>
          <p:cNvPr id="32" name="Conector recto de flecha 4">
            <a:extLst>
              <a:ext uri="{FF2B5EF4-FFF2-40B4-BE49-F238E27FC236}">
                <a16:creationId xmlns:a16="http://schemas.microsoft.com/office/drawing/2014/main" id="{6BECAF43-3608-BA8F-E1AA-2655788726E6}"/>
              </a:ext>
            </a:extLst>
          </p:cNvPr>
          <p:cNvCxnSpPr>
            <a:cxnSpLocks/>
            <a:endCxn id="31" idx="1"/>
          </p:cNvCxnSpPr>
          <p:nvPr/>
        </p:nvCxnSpPr>
        <p:spPr>
          <a:xfrm>
            <a:off x="5997112" y="3791149"/>
            <a:ext cx="1088572" cy="0"/>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6DE66D8D-192E-E8A5-D67B-0294FEA26C0F}"/>
              </a:ext>
            </a:extLst>
          </p:cNvPr>
          <p:cNvSpPr txBox="1"/>
          <p:nvPr/>
        </p:nvSpPr>
        <p:spPr>
          <a:xfrm>
            <a:off x="4959461" y="2996777"/>
            <a:ext cx="1733059" cy="369332"/>
          </a:xfrm>
          <a:prstGeom prst="rect">
            <a:avLst/>
          </a:prstGeom>
          <a:noFill/>
        </p:spPr>
        <p:txBody>
          <a:bodyPr wrap="square">
            <a:spAutoFit/>
          </a:bodyPr>
          <a:lstStyle/>
          <a:p>
            <a:r>
              <a:rPr lang="en-US" dirty="0">
                <a:solidFill>
                  <a:srgbClr val="FF0000"/>
                </a:solidFill>
                <a:latin typeface="Arial" panose="020B0604020202020204" pitchFamily="34" charset="0"/>
                <a:cs typeface="Arial" panose="020B0604020202020204" pitchFamily="34" charset="0"/>
              </a:rPr>
              <a:t>Regression 2</a:t>
            </a:r>
          </a:p>
        </p:txBody>
      </p:sp>
      <p:sp>
        <p:nvSpPr>
          <p:cNvPr id="34" name="TextBox 33">
            <a:extLst>
              <a:ext uri="{FF2B5EF4-FFF2-40B4-BE49-F238E27FC236}">
                <a16:creationId xmlns:a16="http://schemas.microsoft.com/office/drawing/2014/main" id="{2DE1D228-7A90-632A-24A0-E9A0FCF5FB6A}"/>
              </a:ext>
            </a:extLst>
          </p:cNvPr>
          <p:cNvSpPr txBox="1"/>
          <p:nvPr/>
        </p:nvSpPr>
        <p:spPr>
          <a:xfrm>
            <a:off x="4949888" y="4263184"/>
            <a:ext cx="4180996" cy="1477328"/>
          </a:xfrm>
          <a:prstGeom prst="rect">
            <a:avLst/>
          </a:prstGeom>
          <a:noFill/>
        </p:spPr>
        <p:txBody>
          <a:bodyPr wrap="square">
            <a:spAutoFit/>
          </a:bodyPr>
          <a:lstStyle/>
          <a:p>
            <a:pPr marL="285750" indent="-285750">
              <a:buFont typeface="Arial" panose="020B0604020202020204" pitchFamily="34" charset="0"/>
              <a:buChar char="•"/>
            </a:pPr>
            <a:r>
              <a:rPr lang="en-US" b="1" dirty="0">
                <a:latin typeface="Arial" panose="020B0604020202020204" pitchFamily="34" charset="0"/>
                <a:cs typeface="Arial" panose="020B0604020202020204" pitchFamily="34" charset="0"/>
              </a:rPr>
              <a:t>Ignoring </a:t>
            </a:r>
            <a:r>
              <a:rPr lang="en-SG" b="1" dirty="0">
                <a:solidFill>
                  <a:srgbClr val="000000"/>
                </a:solidFill>
                <a:latin typeface="Arial" panose="020B0604020202020204" pitchFamily="34" charset="0"/>
                <a:cs typeface="Arial" panose="020B0604020202020204" pitchFamily="34" charset="0"/>
              </a:rPr>
              <a:t>Exogenous Cause, Cause and Effect associated</a:t>
            </a:r>
          </a:p>
          <a:p>
            <a:pPr marL="285750" indent="-285750">
              <a:buFont typeface="Arial" panose="020B0604020202020204" pitchFamily="34" charset="0"/>
              <a:buChar char="•"/>
            </a:pPr>
            <a:r>
              <a:rPr lang="en-US" b="1" dirty="0">
                <a:latin typeface="Arial" panose="020B0604020202020204" pitchFamily="34" charset="0"/>
                <a:cs typeface="Arial" panose="020B0604020202020204" pitchFamily="34" charset="0"/>
              </a:rPr>
              <a:t>The relationship is contaminated – results unreliable!</a:t>
            </a:r>
          </a:p>
          <a:p>
            <a:pPr marL="285750" indent="-285750">
              <a:buFont typeface="Arial" panose="020B0604020202020204" pitchFamily="34" charset="0"/>
              <a:buChar char="•"/>
            </a:pPr>
            <a:endParaRPr lang="en-US"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27369764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092338-1AEE-ED2E-F24D-3361DC0C7480}"/>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1FF39C97-2432-2007-A28A-01C283AB2D9D}"/>
              </a:ext>
            </a:extLst>
          </p:cNvPr>
          <p:cNvSpPr txBox="1"/>
          <p:nvPr/>
        </p:nvSpPr>
        <p:spPr>
          <a:xfrm>
            <a:off x="327469" y="481469"/>
            <a:ext cx="8410131" cy="461665"/>
          </a:xfrm>
          <a:prstGeom prst="rect">
            <a:avLst/>
          </a:prstGeom>
          <a:noFill/>
        </p:spPr>
        <p:txBody>
          <a:bodyPr wrap="square">
            <a:spAutoFit/>
          </a:bodyPr>
          <a:lstStyle/>
          <a:p>
            <a:r>
              <a:rPr lang="en-US" sz="2400" b="1" dirty="0">
                <a:latin typeface="Arial" panose="020B0604020202020204" pitchFamily="34" charset="0"/>
                <a:cs typeface="Arial" panose="020B0604020202020204" pitchFamily="34" charset="0"/>
              </a:rPr>
              <a:t>The Bigger Problem: The Omitted Variable Bias Problem</a:t>
            </a:r>
          </a:p>
        </p:txBody>
      </p:sp>
      <p:pic>
        <p:nvPicPr>
          <p:cNvPr id="5" name="Picture 4" descr="A group of men posing for a photo&#10;&#10;AI-generated content may be incorrect.">
            <a:extLst>
              <a:ext uri="{FF2B5EF4-FFF2-40B4-BE49-F238E27FC236}">
                <a16:creationId xmlns:a16="http://schemas.microsoft.com/office/drawing/2014/main" id="{64A91304-49F9-0241-9CA6-C46AED66619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23135" y="1356777"/>
            <a:ext cx="2856088" cy="2125614"/>
          </a:xfrm>
          <a:prstGeom prst="rect">
            <a:avLst/>
          </a:prstGeom>
        </p:spPr>
      </p:pic>
      <p:sp>
        <p:nvSpPr>
          <p:cNvPr id="6" name="TextBox 5">
            <a:extLst>
              <a:ext uri="{FF2B5EF4-FFF2-40B4-BE49-F238E27FC236}">
                <a16:creationId xmlns:a16="http://schemas.microsoft.com/office/drawing/2014/main" id="{30564A2B-80AA-A17C-1DEF-3D995827A8A9}"/>
              </a:ext>
            </a:extLst>
          </p:cNvPr>
          <p:cNvSpPr txBox="1"/>
          <p:nvPr/>
        </p:nvSpPr>
        <p:spPr>
          <a:xfrm>
            <a:off x="1405154" y="1770201"/>
            <a:ext cx="2068286" cy="369332"/>
          </a:xfrm>
          <a:prstGeom prst="rect">
            <a:avLst/>
          </a:prstGeom>
          <a:noFill/>
          <a:ln>
            <a:solidFill>
              <a:schemeClr val="tx1"/>
            </a:solidFill>
          </a:ln>
        </p:spPr>
        <p:txBody>
          <a:bodyPr wrap="square">
            <a:spAutoFit/>
          </a:bodyPr>
          <a:lstStyle/>
          <a:p>
            <a:r>
              <a:rPr lang="en-SG" dirty="0">
                <a:solidFill>
                  <a:srgbClr val="000000"/>
                </a:solidFill>
                <a:effectLst/>
                <a:latin typeface="Arial" panose="020B0604020202020204" pitchFamily="34" charset="0"/>
                <a:cs typeface="Arial" panose="020B0604020202020204" pitchFamily="34" charset="0"/>
              </a:rPr>
              <a:t>Exogenous Cause</a:t>
            </a:r>
          </a:p>
        </p:txBody>
      </p:sp>
      <p:sp>
        <p:nvSpPr>
          <p:cNvPr id="7" name="TextBox 6">
            <a:extLst>
              <a:ext uri="{FF2B5EF4-FFF2-40B4-BE49-F238E27FC236}">
                <a16:creationId xmlns:a16="http://schemas.microsoft.com/office/drawing/2014/main" id="{5240CE0F-1EDC-8D3B-08FC-8D308F5F389F}"/>
              </a:ext>
            </a:extLst>
          </p:cNvPr>
          <p:cNvSpPr txBox="1"/>
          <p:nvPr/>
        </p:nvSpPr>
        <p:spPr>
          <a:xfrm>
            <a:off x="327469" y="3015637"/>
            <a:ext cx="903514" cy="369332"/>
          </a:xfrm>
          <a:prstGeom prst="rect">
            <a:avLst/>
          </a:prstGeom>
          <a:noFill/>
          <a:ln>
            <a:solidFill>
              <a:schemeClr val="tx1"/>
            </a:solidFill>
          </a:ln>
        </p:spPr>
        <p:txBody>
          <a:bodyPr wrap="square">
            <a:spAutoFit/>
          </a:bodyPr>
          <a:lstStyle/>
          <a:p>
            <a:r>
              <a:rPr lang="en-SG" dirty="0">
                <a:solidFill>
                  <a:srgbClr val="000000"/>
                </a:solidFill>
                <a:effectLst/>
                <a:latin typeface="Arial" panose="020B0604020202020204" pitchFamily="34" charset="0"/>
                <a:cs typeface="Arial" panose="020B0604020202020204" pitchFamily="34" charset="0"/>
              </a:rPr>
              <a:t>Cause</a:t>
            </a:r>
          </a:p>
        </p:txBody>
      </p:sp>
      <p:sp>
        <p:nvSpPr>
          <p:cNvPr id="8" name="TextBox 7">
            <a:extLst>
              <a:ext uri="{FF2B5EF4-FFF2-40B4-BE49-F238E27FC236}">
                <a16:creationId xmlns:a16="http://schemas.microsoft.com/office/drawing/2014/main" id="{281326B2-DEBB-E3EC-49C3-A96C08F8EC54}"/>
              </a:ext>
            </a:extLst>
          </p:cNvPr>
          <p:cNvSpPr txBox="1"/>
          <p:nvPr/>
        </p:nvSpPr>
        <p:spPr>
          <a:xfrm>
            <a:off x="3385438" y="3015637"/>
            <a:ext cx="870857" cy="369332"/>
          </a:xfrm>
          <a:prstGeom prst="rect">
            <a:avLst/>
          </a:prstGeom>
          <a:noFill/>
          <a:ln>
            <a:solidFill>
              <a:schemeClr val="tx1"/>
            </a:solidFill>
          </a:ln>
        </p:spPr>
        <p:txBody>
          <a:bodyPr wrap="square">
            <a:spAutoFit/>
          </a:bodyPr>
          <a:lstStyle/>
          <a:p>
            <a:r>
              <a:rPr lang="en-SG" dirty="0">
                <a:solidFill>
                  <a:srgbClr val="000000"/>
                </a:solidFill>
                <a:effectLst/>
                <a:latin typeface="Arial" panose="020B0604020202020204" pitchFamily="34" charset="0"/>
                <a:cs typeface="Arial" panose="020B0604020202020204" pitchFamily="34" charset="0"/>
              </a:rPr>
              <a:t>Effect</a:t>
            </a:r>
            <a:endParaRPr lang="en-US" dirty="0">
              <a:latin typeface="Arial" panose="020B0604020202020204" pitchFamily="34" charset="0"/>
              <a:cs typeface="Arial" panose="020B0604020202020204" pitchFamily="34" charset="0"/>
            </a:endParaRPr>
          </a:p>
        </p:txBody>
      </p:sp>
      <p:cxnSp>
        <p:nvCxnSpPr>
          <p:cNvPr id="9" name="Conector recto de flecha 4">
            <a:extLst>
              <a:ext uri="{FF2B5EF4-FFF2-40B4-BE49-F238E27FC236}">
                <a16:creationId xmlns:a16="http://schemas.microsoft.com/office/drawing/2014/main" id="{AE9F743C-A3AB-A9EE-9004-37DBB9454220}"/>
              </a:ext>
            </a:extLst>
          </p:cNvPr>
          <p:cNvCxnSpPr>
            <a:cxnSpLocks/>
            <a:endCxn id="8" idx="1"/>
          </p:cNvCxnSpPr>
          <p:nvPr/>
        </p:nvCxnSpPr>
        <p:spPr>
          <a:xfrm flipV="1">
            <a:off x="1223062" y="3200303"/>
            <a:ext cx="2162376" cy="21467"/>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0" name="Conector recto de flecha 4">
            <a:extLst>
              <a:ext uri="{FF2B5EF4-FFF2-40B4-BE49-F238E27FC236}">
                <a16:creationId xmlns:a16="http://schemas.microsoft.com/office/drawing/2014/main" id="{64C86FB6-DA9F-F906-7951-E83EF951DE42}"/>
              </a:ext>
            </a:extLst>
          </p:cNvPr>
          <p:cNvCxnSpPr>
            <a:cxnSpLocks/>
            <a:stCxn id="6" idx="2"/>
            <a:endCxn id="7" idx="0"/>
          </p:cNvCxnSpPr>
          <p:nvPr/>
        </p:nvCxnSpPr>
        <p:spPr>
          <a:xfrm flipH="1">
            <a:off x="779226" y="2139533"/>
            <a:ext cx="1660071" cy="876104"/>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1" name="Conector recto de flecha 4">
            <a:extLst>
              <a:ext uri="{FF2B5EF4-FFF2-40B4-BE49-F238E27FC236}">
                <a16:creationId xmlns:a16="http://schemas.microsoft.com/office/drawing/2014/main" id="{C4A27A10-2F1B-F958-B1C9-36915FEE509A}"/>
              </a:ext>
            </a:extLst>
          </p:cNvPr>
          <p:cNvCxnSpPr>
            <a:cxnSpLocks/>
            <a:stCxn id="6" idx="2"/>
            <a:endCxn id="8" idx="0"/>
          </p:cNvCxnSpPr>
          <p:nvPr/>
        </p:nvCxnSpPr>
        <p:spPr>
          <a:xfrm>
            <a:off x="2439297" y="2139533"/>
            <a:ext cx="1381570" cy="876104"/>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EEE1C8F2-4DF2-8AAB-51AD-C9B1B103572C}"/>
              </a:ext>
            </a:extLst>
          </p:cNvPr>
          <p:cNvSpPr txBox="1"/>
          <p:nvPr/>
        </p:nvSpPr>
        <p:spPr>
          <a:xfrm>
            <a:off x="327469" y="1259355"/>
            <a:ext cx="4789714" cy="369332"/>
          </a:xfrm>
          <a:prstGeom prst="rect">
            <a:avLst/>
          </a:prstGeom>
          <a:noFill/>
        </p:spPr>
        <p:txBody>
          <a:bodyPr wrap="square">
            <a:spAutoFit/>
          </a:bodyPr>
          <a:lstStyle/>
          <a:p>
            <a:r>
              <a:rPr lang="en-US" dirty="0">
                <a:solidFill>
                  <a:srgbClr val="FF0000"/>
                </a:solidFill>
                <a:latin typeface="Arial" panose="020B0604020202020204" pitchFamily="34" charset="0"/>
                <a:cs typeface="Arial" panose="020B0604020202020204" pitchFamily="34" charset="0"/>
              </a:rPr>
              <a:t>Causal Model</a:t>
            </a:r>
          </a:p>
        </p:txBody>
      </p:sp>
      <p:sp>
        <p:nvSpPr>
          <p:cNvPr id="14" name="TextBox 13">
            <a:extLst>
              <a:ext uri="{FF2B5EF4-FFF2-40B4-BE49-F238E27FC236}">
                <a16:creationId xmlns:a16="http://schemas.microsoft.com/office/drawing/2014/main" id="{7AAD7C1B-E64E-1423-04F7-26FE179C1FEF}"/>
              </a:ext>
            </a:extLst>
          </p:cNvPr>
          <p:cNvSpPr txBox="1"/>
          <p:nvPr/>
        </p:nvSpPr>
        <p:spPr>
          <a:xfrm>
            <a:off x="327469" y="3993237"/>
            <a:ext cx="8263239" cy="2031325"/>
          </a:xfrm>
          <a:prstGeom prst="rect">
            <a:avLst/>
          </a:prstGeom>
          <a:noFill/>
        </p:spPr>
        <p:txBody>
          <a:bodyPr wrap="square">
            <a:spAutoFit/>
          </a:bodyPr>
          <a:lstStyle/>
          <a:p>
            <a:pPr marL="342900" indent="-342900">
              <a:buFont typeface="Arial" panose="020B0604020202020204" pitchFamily="34" charset="0"/>
              <a:buChar char="•"/>
            </a:pPr>
            <a:r>
              <a:rPr lang="en-US" b="1" dirty="0">
                <a:latin typeface="Arial" panose="020B0604020202020204" pitchFamily="34" charset="0"/>
                <a:cs typeface="Arial" panose="020B0604020202020204" pitchFamily="34" charset="0"/>
              </a:rPr>
              <a:t>We assume that sampling means that omitted variables average to 0 – Omission produces downward bias in SE of coefficients.</a:t>
            </a:r>
          </a:p>
          <a:p>
            <a:endParaRPr lang="en-US" b="1" dirty="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US" b="1" dirty="0">
                <a:latin typeface="Arial" panose="020B0604020202020204" pitchFamily="34" charset="0"/>
                <a:cs typeface="Arial" panose="020B0604020202020204" pitchFamily="34" charset="0"/>
              </a:rPr>
              <a:t>But, if omitted variables are correlated causally with a predictor, they likely are not averaged out.</a:t>
            </a:r>
          </a:p>
          <a:p>
            <a:endParaRPr lang="en-US" b="1" dirty="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US" b="1" dirty="0">
                <a:latin typeface="Arial" panose="020B0604020202020204" pitchFamily="34" charset="0"/>
                <a:cs typeface="Arial" panose="020B0604020202020204" pitchFamily="34" charset="0"/>
              </a:rPr>
              <a:t>This will bias your estimates – You will not know in what direction.</a:t>
            </a:r>
          </a:p>
        </p:txBody>
      </p:sp>
    </p:spTree>
    <p:extLst>
      <p:ext uri="{BB962C8B-B14F-4D97-AF65-F5344CB8AC3E}">
        <p14:creationId xmlns:p14="http://schemas.microsoft.com/office/powerpoint/2010/main" val="241125191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8E7E02-643B-B1F0-0E8F-73606FB27172}"/>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8D8A70E7-17CB-5572-8B84-FEE50E154051}"/>
              </a:ext>
            </a:extLst>
          </p:cNvPr>
          <p:cNvSpPr txBox="1"/>
          <p:nvPr/>
        </p:nvSpPr>
        <p:spPr>
          <a:xfrm>
            <a:off x="368770" y="315549"/>
            <a:ext cx="8656697" cy="461665"/>
          </a:xfrm>
          <a:prstGeom prst="rect">
            <a:avLst/>
          </a:prstGeom>
          <a:noFill/>
        </p:spPr>
        <p:txBody>
          <a:bodyPr wrap="square">
            <a:spAutoFit/>
          </a:bodyPr>
          <a:lstStyle/>
          <a:p>
            <a:r>
              <a:rPr lang="en-US" sz="2400" b="1" dirty="0">
                <a:latin typeface="Arial" panose="020B0604020202020204" pitchFamily="34" charset="0"/>
                <a:cs typeface="Arial" panose="020B0604020202020204" pitchFamily="34" charset="0"/>
              </a:rPr>
              <a:t>Elemental paths in causal graphs (and Why to use SEM)</a:t>
            </a:r>
          </a:p>
        </p:txBody>
      </p:sp>
      <p:grpSp>
        <p:nvGrpSpPr>
          <p:cNvPr id="9" name="Group 8">
            <a:extLst>
              <a:ext uri="{FF2B5EF4-FFF2-40B4-BE49-F238E27FC236}">
                <a16:creationId xmlns:a16="http://schemas.microsoft.com/office/drawing/2014/main" id="{68C130C6-4ED0-E477-9694-9A6675B372B7}"/>
              </a:ext>
            </a:extLst>
          </p:cNvPr>
          <p:cNvGrpSpPr/>
          <p:nvPr/>
        </p:nvGrpSpPr>
        <p:grpSpPr>
          <a:xfrm>
            <a:off x="971491" y="1049865"/>
            <a:ext cx="6919443" cy="4924993"/>
            <a:chOff x="455024" y="937854"/>
            <a:chExt cx="7733628" cy="5231739"/>
          </a:xfrm>
        </p:grpSpPr>
        <p:sp>
          <p:nvSpPr>
            <p:cNvPr id="3" name="TextBox 2">
              <a:extLst>
                <a:ext uri="{FF2B5EF4-FFF2-40B4-BE49-F238E27FC236}">
                  <a16:creationId xmlns:a16="http://schemas.microsoft.com/office/drawing/2014/main" id="{CD1808F4-69B6-1B25-F31A-651CD4FD81A0}"/>
                </a:ext>
              </a:extLst>
            </p:cNvPr>
            <p:cNvSpPr txBox="1"/>
            <p:nvPr/>
          </p:nvSpPr>
          <p:spPr>
            <a:xfrm>
              <a:off x="1028808" y="1369943"/>
              <a:ext cx="2345125" cy="392335"/>
            </a:xfrm>
            <a:prstGeom prst="rect">
              <a:avLst/>
            </a:prstGeom>
            <a:noFill/>
          </p:spPr>
          <p:txBody>
            <a:bodyPr wrap="square">
              <a:spAutoFit/>
            </a:bodyPr>
            <a:lstStyle/>
            <a:p>
              <a:r>
                <a:rPr lang="en-SG" b="1" dirty="0">
                  <a:solidFill>
                    <a:srgbClr val="000000"/>
                  </a:solidFill>
                  <a:effectLst/>
                  <a:latin typeface="Arial" panose="020B0604020202020204" pitchFamily="34" charset="0"/>
                  <a:cs typeface="Arial" panose="020B0604020202020204" pitchFamily="34" charset="0"/>
                </a:rPr>
                <a:t>1. The </a:t>
              </a:r>
              <a:r>
                <a:rPr lang="en-SG" b="1" dirty="0">
                  <a:solidFill>
                    <a:srgbClr val="000000"/>
                  </a:solidFill>
                  <a:latin typeface="Arial" panose="020B0604020202020204" pitchFamily="34" charset="0"/>
                  <a:cs typeface="Arial" panose="020B0604020202020204" pitchFamily="34" charset="0"/>
                </a:rPr>
                <a:t>Chain/Pipe </a:t>
              </a:r>
              <a:endParaRPr lang="en-SG" b="1" dirty="0">
                <a:solidFill>
                  <a:srgbClr val="000000"/>
                </a:solidFill>
                <a:effectLst/>
                <a:latin typeface="Arial" panose="020B0604020202020204" pitchFamily="34" charset="0"/>
                <a:cs typeface="Arial" panose="020B0604020202020204" pitchFamily="34" charset="0"/>
              </a:endParaRPr>
            </a:p>
          </p:txBody>
        </p:sp>
        <p:sp>
          <p:nvSpPr>
            <p:cNvPr id="4" name="CuadroTexto 3">
              <a:extLst>
                <a:ext uri="{FF2B5EF4-FFF2-40B4-BE49-F238E27FC236}">
                  <a16:creationId xmlns:a16="http://schemas.microsoft.com/office/drawing/2014/main" id="{A72E9F3A-2343-C74F-7375-BBF6AA5182B9}"/>
                </a:ext>
              </a:extLst>
            </p:cNvPr>
            <p:cNvSpPr txBox="1"/>
            <p:nvPr/>
          </p:nvSpPr>
          <p:spPr>
            <a:xfrm>
              <a:off x="560410" y="2121657"/>
              <a:ext cx="497252" cy="523220"/>
            </a:xfrm>
            <a:prstGeom prst="rect">
              <a:avLst/>
            </a:prstGeom>
            <a:noFill/>
            <a:ln w="25400">
              <a:solidFill>
                <a:schemeClr val="tx1"/>
              </a:solidFill>
            </a:ln>
          </p:spPr>
          <p:txBody>
            <a:bodyPr wrap="none" rtlCol="0">
              <a:spAutoFit/>
            </a:bodyPr>
            <a:lstStyle/>
            <a:p>
              <a:r>
                <a:rPr lang="es-ES" sz="2800" dirty="0">
                  <a:latin typeface="Arial" panose="020B0604020202020204" pitchFamily="34" charset="0"/>
                  <a:cs typeface="Arial" panose="020B0604020202020204" pitchFamily="34" charset="0"/>
                </a:rPr>
                <a:t>x</a:t>
              </a:r>
              <a:r>
                <a:rPr lang="es-ES" sz="2800" baseline="-25000" dirty="0">
                  <a:latin typeface="Arial" panose="020B0604020202020204" pitchFamily="34" charset="0"/>
                  <a:cs typeface="Arial" panose="020B0604020202020204" pitchFamily="34" charset="0"/>
                </a:rPr>
                <a:t>1</a:t>
              </a:r>
            </a:p>
          </p:txBody>
        </p:sp>
        <p:cxnSp>
          <p:nvCxnSpPr>
            <p:cNvPr id="6" name="Conector recto de flecha 4">
              <a:extLst>
                <a:ext uri="{FF2B5EF4-FFF2-40B4-BE49-F238E27FC236}">
                  <a16:creationId xmlns:a16="http://schemas.microsoft.com/office/drawing/2014/main" id="{0BB532D4-1BFA-36FE-24EC-C200A064E382}"/>
                </a:ext>
              </a:extLst>
            </p:cNvPr>
            <p:cNvCxnSpPr>
              <a:cxnSpLocks/>
              <a:stCxn id="4" idx="3"/>
            </p:cNvCxnSpPr>
            <p:nvPr/>
          </p:nvCxnSpPr>
          <p:spPr>
            <a:xfrm>
              <a:off x="1057662" y="2383268"/>
              <a:ext cx="657711" cy="11876"/>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7" name="CuadroTexto 5">
              <a:extLst>
                <a:ext uri="{FF2B5EF4-FFF2-40B4-BE49-F238E27FC236}">
                  <a16:creationId xmlns:a16="http://schemas.microsoft.com/office/drawing/2014/main" id="{E1AC3F33-C496-DC5E-297E-CCFCCE589E51}"/>
                </a:ext>
              </a:extLst>
            </p:cNvPr>
            <p:cNvSpPr txBox="1"/>
            <p:nvPr/>
          </p:nvSpPr>
          <p:spPr>
            <a:xfrm>
              <a:off x="2857510" y="2121657"/>
              <a:ext cx="516423" cy="523220"/>
            </a:xfrm>
            <a:prstGeom prst="rect">
              <a:avLst/>
            </a:prstGeom>
            <a:noFill/>
            <a:ln w="25400">
              <a:solidFill>
                <a:schemeClr val="tx1"/>
              </a:solidFill>
            </a:ln>
          </p:spPr>
          <p:txBody>
            <a:bodyPr wrap="none" rtlCol="0">
              <a:spAutoFit/>
            </a:bodyPr>
            <a:lstStyle/>
            <a:p>
              <a:r>
                <a:rPr lang="es-ES" sz="2800" dirty="0">
                  <a:latin typeface="Arial" panose="020B0604020202020204" pitchFamily="34" charset="0"/>
                  <a:cs typeface="Arial" panose="020B0604020202020204" pitchFamily="34" charset="0"/>
                </a:rPr>
                <a:t>Y </a:t>
              </a:r>
              <a:endParaRPr lang="es-ES" sz="2800" baseline="-25000" dirty="0">
                <a:latin typeface="Arial" panose="020B0604020202020204" pitchFamily="34" charset="0"/>
                <a:cs typeface="Arial" panose="020B0604020202020204" pitchFamily="34" charset="0"/>
              </a:endParaRPr>
            </a:p>
          </p:txBody>
        </p:sp>
        <p:sp>
          <p:nvSpPr>
            <p:cNvPr id="8" name="CuadroTexto 6">
              <a:extLst>
                <a:ext uri="{FF2B5EF4-FFF2-40B4-BE49-F238E27FC236}">
                  <a16:creationId xmlns:a16="http://schemas.microsoft.com/office/drawing/2014/main" id="{695597BC-8913-3921-FE35-27CBD7046E0E}"/>
                </a:ext>
              </a:extLst>
            </p:cNvPr>
            <p:cNvSpPr txBox="1"/>
            <p:nvPr/>
          </p:nvSpPr>
          <p:spPr>
            <a:xfrm>
              <a:off x="1715372" y="2121657"/>
              <a:ext cx="497252" cy="523220"/>
            </a:xfrm>
            <a:prstGeom prst="rect">
              <a:avLst/>
            </a:prstGeom>
            <a:noFill/>
            <a:ln w="25400">
              <a:solidFill>
                <a:schemeClr val="tx1"/>
              </a:solidFill>
            </a:ln>
          </p:spPr>
          <p:txBody>
            <a:bodyPr wrap="none" rtlCol="0">
              <a:spAutoFit/>
            </a:bodyPr>
            <a:lstStyle/>
            <a:p>
              <a:r>
                <a:rPr lang="es-ES" sz="2800" dirty="0">
                  <a:latin typeface="Arial" panose="020B0604020202020204" pitchFamily="34" charset="0"/>
                  <a:cs typeface="Arial" panose="020B0604020202020204" pitchFamily="34" charset="0"/>
                </a:rPr>
                <a:t>x</a:t>
              </a:r>
              <a:r>
                <a:rPr lang="es-ES" sz="2800" baseline="-25000" dirty="0">
                  <a:latin typeface="Arial" panose="020B0604020202020204" pitchFamily="34" charset="0"/>
                  <a:cs typeface="Arial" panose="020B0604020202020204" pitchFamily="34" charset="0"/>
                </a:rPr>
                <a:t>2</a:t>
              </a:r>
            </a:p>
          </p:txBody>
        </p:sp>
        <p:cxnSp>
          <p:nvCxnSpPr>
            <p:cNvPr id="11" name="Conector recto de flecha 4">
              <a:extLst>
                <a:ext uri="{FF2B5EF4-FFF2-40B4-BE49-F238E27FC236}">
                  <a16:creationId xmlns:a16="http://schemas.microsoft.com/office/drawing/2014/main" id="{AB808E25-AEA9-6AB7-5603-5724B25D824F}"/>
                </a:ext>
              </a:extLst>
            </p:cNvPr>
            <p:cNvCxnSpPr>
              <a:cxnSpLocks/>
              <a:stCxn id="8" idx="3"/>
            </p:cNvCxnSpPr>
            <p:nvPr/>
          </p:nvCxnSpPr>
          <p:spPr>
            <a:xfrm>
              <a:off x="2212624" y="2383267"/>
              <a:ext cx="651298" cy="0"/>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1B8B89D6-8D39-F039-A4DC-73F5EC6DA5FA}"/>
                </a:ext>
              </a:extLst>
            </p:cNvPr>
            <p:cNvSpPr txBox="1"/>
            <p:nvPr/>
          </p:nvSpPr>
          <p:spPr>
            <a:xfrm>
              <a:off x="5992077" y="937854"/>
              <a:ext cx="2101946" cy="392335"/>
            </a:xfrm>
            <a:prstGeom prst="rect">
              <a:avLst/>
            </a:prstGeom>
            <a:noFill/>
          </p:spPr>
          <p:txBody>
            <a:bodyPr wrap="square">
              <a:spAutoFit/>
            </a:bodyPr>
            <a:lstStyle/>
            <a:p>
              <a:r>
                <a:rPr lang="en-SG" b="1" dirty="0">
                  <a:solidFill>
                    <a:srgbClr val="000000"/>
                  </a:solidFill>
                  <a:latin typeface="Arial" panose="020B0604020202020204" pitchFamily="34" charset="0"/>
                  <a:cs typeface="Arial" panose="020B0604020202020204" pitchFamily="34" charset="0"/>
                </a:rPr>
                <a:t>3</a:t>
              </a:r>
              <a:r>
                <a:rPr lang="en-SG" b="1" dirty="0">
                  <a:solidFill>
                    <a:srgbClr val="000000"/>
                  </a:solidFill>
                  <a:effectLst/>
                  <a:latin typeface="Arial" panose="020B0604020202020204" pitchFamily="34" charset="0"/>
                  <a:cs typeface="Arial" panose="020B0604020202020204" pitchFamily="34" charset="0"/>
                </a:rPr>
                <a:t>. The Collider</a:t>
              </a:r>
            </a:p>
          </p:txBody>
        </p:sp>
        <p:sp>
          <p:nvSpPr>
            <p:cNvPr id="13" name="TextBox 12">
              <a:extLst>
                <a:ext uri="{FF2B5EF4-FFF2-40B4-BE49-F238E27FC236}">
                  <a16:creationId xmlns:a16="http://schemas.microsoft.com/office/drawing/2014/main" id="{8E683EB7-7EE9-8BCF-1E78-0D8ED1B5DE9E}"/>
                </a:ext>
              </a:extLst>
            </p:cNvPr>
            <p:cNvSpPr txBox="1"/>
            <p:nvPr/>
          </p:nvSpPr>
          <p:spPr>
            <a:xfrm>
              <a:off x="5743472" y="3461657"/>
              <a:ext cx="2246457" cy="392335"/>
            </a:xfrm>
            <a:prstGeom prst="rect">
              <a:avLst/>
            </a:prstGeom>
            <a:noFill/>
          </p:spPr>
          <p:txBody>
            <a:bodyPr wrap="square">
              <a:spAutoFit/>
            </a:bodyPr>
            <a:lstStyle/>
            <a:p>
              <a:r>
                <a:rPr lang="en-SG" b="1" dirty="0">
                  <a:solidFill>
                    <a:srgbClr val="000000"/>
                  </a:solidFill>
                  <a:effectLst/>
                  <a:latin typeface="Arial" panose="020B0604020202020204" pitchFamily="34" charset="0"/>
                  <a:cs typeface="Arial" panose="020B0604020202020204" pitchFamily="34" charset="0"/>
                </a:rPr>
                <a:t>4. The Fork</a:t>
              </a:r>
            </a:p>
          </p:txBody>
        </p:sp>
        <p:sp>
          <p:nvSpPr>
            <p:cNvPr id="14" name="TextBox 13">
              <a:extLst>
                <a:ext uri="{FF2B5EF4-FFF2-40B4-BE49-F238E27FC236}">
                  <a16:creationId xmlns:a16="http://schemas.microsoft.com/office/drawing/2014/main" id="{B5FD7178-F41B-E363-B1D9-8269DD5B6619}"/>
                </a:ext>
              </a:extLst>
            </p:cNvPr>
            <p:cNvSpPr txBox="1"/>
            <p:nvPr/>
          </p:nvSpPr>
          <p:spPr>
            <a:xfrm>
              <a:off x="808569" y="3830335"/>
              <a:ext cx="2800036" cy="392335"/>
            </a:xfrm>
            <a:prstGeom prst="rect">
              <a:avLst/>
            </a:prstGeom>
            <a:noFill/>
          </p:spPr>
          <p:txBody>
            <a:bodyPr wrap="square">
              <a:spAutoFit/>
            </a:bodyPr>
            <a:lstStyle/>
            <a:p>
              <a:r>
                <a:rPr lang="en-SG" b="1" dirty="0">
                  <a:solidFill>
                    <a:srgbClr val="000000"/>
                  </a:solidFill>
                  <a:effectLst/>
                  <a:latin typeface="Arial" panose="020B0604020202020204" pitchFamily="34" charset="0"/>
                  <a:cs typeface="Arial" panose="020B0604020202020204" pitchFamily="34" charset="0"/>
                </a:rPr>
                <a:t>2. The Descendant</a:t>
              </a:r>
            </a:p>
          </p:txBody>
        </p:sp>
        <p:sp>
          <p:nvSpPr>
            <p:cNvPr id="15" name="CuadroTexto 3">
              <a:extLst>
                <a:ext uri="{FF2B5EF4-FFF2-40B4-BE49-F238E27FC236}">
                  <a16:creationId xmlns:a16="http://schemas.microsoft.com/office/drawing/2014/main" id="{F135AE48-69A5-F58A-B341-0E58E3AC47DD}"/>
                </a:ext>
              </a:extLst>
            </p:cNvPr>
            <p:cNvSpPr txBox="1"/>
            <p:nvPr/>
          </p:nvSpPr>
          <p:spPr>
            <a:xfrm>
              <a:off x="5431971" y="1511100"/>
              <a:ext cx="560106" cy="523220"/>
            </a:xfrm>
            <a:prstGeom prst="rect">
              <a:avLst/>
            </a:prstGeom>
            <a:noFill/>
            <a:ln w="25400">
              <a:solidFill>
                <a:schemeClr val="tx1"/>
              </a:solidFill>
            </a:ln>
          </p:spPr>
          <p:txBody>
            <a:bodyPr wrap="square" rtlCol="0">
              <a:spAutoFit/>
            </a:bodyPr>
            <a:lstStyle/>
            <a:p>
              <a:r>
                <a:rPr lang="es-ES" sz="2800" dirty="0">
                  <a:latin typeface="Arial" panose="020B0604020202020204" pitchFamily="34" charset="0"/>
                  <a:cs typeface="Arial" panose="020B0604020202020204" pitchFamily="34" charset="0"/>
                </a:rPr>
                <a:t>x</a:t>
              </a:r>
              <a:r>
                <a:rPr lang="es-ES" sz="2800" baseline="-25000" dirty="0">
                  <a:latin typeface="Arial" panose="020B0604020202020204" pitchFamily="34" charset="0"/>
                  <a:cs typeface="Arial" panose="020B0604020202020204" pitchFamily="34" charset="0"/>
                </a:rPr>
                <a:t>1</a:t>
              </a:r>
            </a:p>
          </p:txBody>
        </p:sp>
        <p:cxnSp>
          <p:nvCxnSpPr>
            <p:cNvPr id="16" name="Conector recto de flecha 4">
              <a:extLst>
                <a:ext uri="{FF2B5EF4-FFF2-40B4-BE49-F238E27FC236}">
                  <a16:creationId xmlns:a16="http://schemas.microsoft.com/office/drawing/2014/main" id="{DE376ACF-A47C-D244-44E2-B5B39671292D}"/>
                </a:ext>
              </a:extLst>
            </p:cNvPr>
            <p:cNvCxnSpPr>
              <a:cxnSpLocks/>
            </p:cNvCxnSpPr>
            <p:nvPr/>
          </p:nvCxnSpPr>
          <p:spPr>
            <a:xfrm>
              <a:off x="5996018" y="2032918"/>
              <a:ext cx="455723" cy="490562"/>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17" name="CuadroTexto 5">
              <a:extLst>
                <a:ext uri="{FF2B5EF4-FFF2-40B4-BE49-F238E27FC236}">
                  <a16:creationId xmlns:a16="http://schemas.microsoft.com/office/drawing/2014/main" id="{642577AC-52D9-6D68-663B-4F06B56735BE}"/>
                </a:ext>
              </a:extLst>
            </p:cNvPr>
            <p:cNvSpPr txBox="1"/>
            <p:nvPr/>
          </p:nvSpPr>
          <p:spPr>
            <a:xfrm>
              <a:off x="6464416" y="2516640"/>
              <a:ext cx="441146" cy="523220"/>
            </a:xfrm>
            <a:prstGeom prst="rect">
              <a:avLst/>
            </a:prstGeom>
            <a:noFill/>
            <a:ln w="25400">
              <a:solidFill>
                <a:schemeClr val="tx1"/>
              </a:solidFill>
            </a:ln>
          </p:spPr>
          <p:txBody>
            <a:bodyPr wrap="square" rtlCol="0">
              <a:spAutoFit/>
            </a:bodyPr>
            <a:lstStyle/>
            <a:p>
              <a:r>
                <a:rPr lang="es-ES" sz="2800" dirty="0">
                  <a:latin typeface="Arial" panose="020B0604020202020204" pitchFamily="34" charset="0"/>
                  <a:cs typeface="Arial" panose="020B0604020202020204" pitchFamily="34" charset="0"/>
                </a:rPr>
                <a:t>Y </a:t>
              </a:r>
              <a:endParaRPr lang="es-ES" sz="2800" baseline="-25000" dirty="0">
                <a:latin typeface="Arial" panose="020B0604020202020204" pitchFamily="34" charset="0"/>
                <a:cs typeface="Arial" panose="020B0604020202020204" pitchFamily="34" charset="0"/>
              </a:endParaRPr>
            </a:p>
          </p:txBody>
        </p:sp>
        <p:sp>
          <p:nvSpPr>
            <p:cNvPr id="18" name="CuadroTexto 6">
              <a:extLst>
                <a:ext uri="{FF2B5EF4-FFF2-40B4-BE49-F238E27FC236}">
                  <a16:creationId xmlns:a16="http://schemas.microsoft.com/office/drawing/2014/main" id="{1E68A276-D50C-645F-CF2B-83DAB7FC5388}"/>
                </a:ext>
              </a:extLst>
            </p:cNvPr>
            <p:cNvSpPr txBox="1"/>
            <p:nvPr/>
          </p:nvSpPr>
          <p:spPr>
            <a:xfrm>
              <a:off x="7537848" y="1513253"/>
              <a:ext cx="650804" cy="523220"/>
            </a:xfrm>
            <a:prstGeom prst="rect">
              <a:avLst/>
            </a:prstGeom>
            <a:noFill/>
            <a:ln w="25400">
              <a:solidFill>
                <a:schemeClr val="tx1"/>
              </a:solidFill>
            </a:ln>
          </p:spPr>
          <p:txBody>
            <a:bodyPr wrap="square" rtlCol="0">
              <a:spAutoFit/>
            </a:bodyPr>
            <a:lstStyle/>
            <a:p>
              <a:r>
                <a:rPr lang="es-ES" sz="2800" dirty="0">
                  <a:latin typeface="Arial" panose="020B0604020202020204" pitchFamily="34" charset="0"/>
                  <a:cs typeface="Arial" panose="020B0604020202020204" pitchFamily="34" charset="0"/>
                </a:rPr>
                <a:t>x</a:t>
              </a:r>
              <a:r>
                <a:rPr lang="es-ES" sz="2800" baseline="-25000" dirty="0">
                  <a:latin typeface="Arial" panose="020B0604020202020204" pitchFamily="34" charset="0"/>
                  <a:cs typeface="Arial" panose="020B0604020202020204" pitchFamily="34" charset="0"/>
                </a:rPr>
                <a:t>2</a:t>
              </a:r>
            </a:p>
          </p:txBody>
        </p:sp>
        <p:cxnSp>
          <p:nvCxnSpPr>
            <p:cNvPr id="19" name="Conector recto de flecha 4">
              <a:extLst>
                <a:ext uri="{FF2B5EF4-FFF2-40B4-BE49-F238E27FC236}">
                  <a16:creationId xmlns:a16="http://schemas.microsoft.com/office/drawing/2014/main" id="{68EBA214-CA11-8D0F-0A4A-5DC322262D2D}"/>
                </a:ext>
              </a:extLst>
            </p:cNvPr>
            <p:cNvCxnSpPr>
              <a:cxnSpLocks/>
            </p:cNvCxnSpPr>
            <p:nvPr/>
          </p:nvCxnSpPr>
          <p:spPr>
            <a:xfrm flipH="1">
              <a:off x="6887044" y="2051421"/>
              <a:ext cx="650804" cy="483284"/>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28" name="CuadroTexto 3">
              <a:extLst>
                <a:ext uri="{FF2B5EF4-FFF2-40B4-BE49-F238E27FC236}">
                  <a16:creationId xmlns:a16="http://schemas.microsoft.com/office/drawing/2014/main" id="{D935BD64-15E0-2C2C-E0BE-8B3D741261A4}"/>
                </a:ext>
              </a:extLst>
            </p:cNvPr>
            <p:cNvSpPr txBox="1"/>
            <p:nvPr/>
          </p:nvSpPr>
          <p:spPr>
            <a:xfrm>
              <a:off x="455024" y="4532778"/>
              <a:ext cx="497252" cy="523220"/>
            </a:xfrm>
            <a:prstGeom prst="rect">
              <a:avLst/>
            </a:prstGeom>
            <a:noFill/>
            <a:ln w="25400">
              <a:solidFill>
                <a:schemeClr val="tx1"/>
              </a:solidFill>
            </a:ln>
          </p:spPr>
          <p:txBody>
            <a:bodyPr wrap="none" rtlCol="0">
              <a:spAutoFit/>
            </a:bodyPr>
            <a:lstStyle/>
            <a:p>
              <a:r>
                <a:rPr lang="es-ES" sz="2800" dirty="0">
                  <a:latin typeface="Arial" panose="020B0604020202020204" pitchFamily="34" charset="0"/>
                  <a:cs typeface="Arial" panose="020B0604020202020204" pitchFamily="34" charset="0"/>
                </a:rPr>
                <a:t>x</a:t>
              </a:r>
              <a:r>
                <a:rPr lang="es-ES" sz="2800" baseline="-25000" dirty="0">
                  <a:latin typeface="Arial" panose="020B0604020202020204" pitchFamily="34" charset="0"/>
                  <a:cs typeface="Arial" panose="020B0604020202020204" pitchFamily="34" charset="0"/>
                </a:rPr>
                <a:t>1</a:t>
              </a:r>
            </a:p>
          </p:txBody>
        </p:sp>
        <p:cxnSp>
          <p:nvCxnSpPr>
            <p:cNvPr id="29" name="Conector recto de flecha 4">
              <a:extLst>
                <a:ext uri="{FF2B5EF4-FFF2-40B4-BE49-F238E27FC236}">
                  <a16:creationId xmlns:a16="http://schemas.microsoft.com/office/drawing/2014/main" id="{03CCACB7-473B-2667-F926-E76B0A9423D3}"/>
                </a:ext>
              </a:extLst>
            </p:cNvPr>
            <p:cNvCxnSpPr>
              <a:cxnSpLocks/>
              <a:stCxn id="28" idx="3"/>
            </p:cNvCxnSpPr>
            <p:nvPr/>
          </p:nvCxnSpPr>
          <p:spPr>
            <a:xfrm>
              <a:off x="952276" y="4794388"/>
              <a:ext cx="657710" cy="11877"/>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30" name="CuadroTexto 5">
              <a:extLst>
                <a:ext uri="{FF2B5EF4-FFF2-40B4-BE49-F238E27FC236}">
                  <a16:creationId xmlns:a16="http://schemas.microsoft.com/office/drawing/2014/main" id="{C8783E12-3D5A-35A2-B090-D0D79874BCA6}"/>
                </a:ext>
              </a:extLst>
            </p:cNvPr>
            <p:cNvSpPr txBox="1"/>
            <p:nvPr/>
          </p:nvSpPr>
          <p:spPr>
            <a:xfrm>
              <a:off x="2752124" y="4532778"/>
              <a:ext cx="516423" cy="523220"/>
            </a:xfrm>
            <a:prstGeom prst="rect">
              <a:avLst/>
            </a:prstGeom>
            <a:noFill/>
            <a:ln w="25400">
              <a:solidFill>
                <a:schemeClr val="tx1"/>
              </a:solidFill>
            </a:ln>
          </p:spPr>
          <p:txBody>
            <a:bodyPr wrap="none" rtlCol="0">
              <a:spAutoFit/>
            </a:bodyPr>
            <a:lstStyle/>
            <a:p>
              <a:r>
                <a:rPr lang="es-ES" sz="2800" dirty="0">
                  <a:latin typeface="Arial" panose="020B0604020202020204" pitchFamily="34" charset="0"/>
                  <a:cs typeface="Arial" panose="020B0604020202020204" pitchFamily="34" charset="0"/>
                </a:rPr>
                <a:t>Y </a:t>
              </a:r>
              <a:endParaRPr lang="es-ES" sz="2800" baseline="-25000" dirty="0">
                <a:latin typeface="Arial" panose="020B0604020202020204" pitchFamily="34" charset="0"/>
                <a:cs typeface="Arial" panose="020B0604020202020204" pitchFamily="34" charset="0"/>
              </a:endParaRPr>
            </a:p>
          </p:txBody>
        </p:sp>
        <p:sp>
          <p:nvSpPr>
            <p:cNvPr id="31" name="CuadroTexto 6">
              <a:extLst>
                <a:ext uri="{FF2B5EF4-FFF2-40B4-BE49-F238E27FC236}">
                  <a16:creationId xmlns:a16="http://schemas.microsoft.com/office/drawing/2014/main" id="{F4EBEBBC-AD30-9B35-8F32-F98EF2800E2D}"/>
                </a:ext>
              </a:extLst>
            </p:cNvPr>
            <p:cNvSpPr txBox="1"/>
            <p:nvPr/>
          </p:nvSpPr>
          <p:spPr>
            <a:xfrm>
              <a:off x="1609986" y="4532778"/>
              <a:ext cx="497252" cy="523220"/>
            </a:xfrm>
            <a:prstGeom prst="rect">
              <a:avLst/>
            </a:prstGeom>
            <a:noFill/>
            <a:ln w="25400">
              <a:solidFill>
                <a:schemeClr val="tx1"/>
              </a:solidFill>
            </a:ln>
          </p:spPr>
          <p:txBody>
            <a:bodyPr wrap="none" rtlCol="0">
              <a:spAutoFit/>
            </a:bodyPr>
            <a:lstStyle/>
            <a:p>
              <a:r>
                <a:rPr lang="es-ES" sz="2800" dirty="0">
                  <a:latin typeface="Arial" panose="020B0604020202020204" pitchFamily="34" charset="0"/>
                  <a:cs typeface="Arial" panose="020B0604020202020204" pitchFamily="34" charset="0"/>
                </a:rPr>
                <a:t>x</a:t>
              </a:r>
              <a:r>
                <a:rPr lang="es-ES" sz="2800" baseline="-25000" dirty="0">
                  <a:latin typeface="Arial" panose="020B0604020202020204" pitchFamily="34" charset="0"/>
                  <a:cs typeface="Arial" panose="020B0604020202020204" pitchFamily="34" charset="0"/>
                </a:rPr>
                <a:t>2</a:t>
              </a:r>
            </a:p>
          </p:txBody>
        </p:sp>
        <p:cxnSp>
          <p:nvCxnSpPr>
            <p:cNvPr id="32" name="Conector recto de flecha 4">
              <a:extLst>
                <a:ext uri="{FF2B5EF4-FFF2-40B4-BE49-F238E27FC236}">
                  <a16:creationId xmlns:a16="http://schemas.microsoft.com/office/drawing/2014/main" id="{ADD7412D-992D-8F37-457C-8F8B7F610F1E}"/>
                </a:ext>
              </a:extLst>
            </p:cNvPr>
            <p:cNvCxnSpPr>
              <a:cxnSpLocks/>
              <a:stCxn id="31" idx="3"/>
            </p:cNvCxnSpPr>
            <p:nvPr/>
          </p:nvCxnSpPr>
          <p:spPr>
            <a:xfrm>
              <a:off x="2107238" y="4794388"/>
              <a:ext cx="651298" cy="0"/>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33" name="Conector recto de flecha 4">
              <a:extLst>
                <a:ext uri="{FF2B5EF4-FFF2-40B4-BE49-F238E27FC236}">
                  <a16:creationId xmlns:a16="http://schemas.microsoft.com/office/drawing/2014/main" id="{BC3181A5-B0CB-E6C3-277B-36954435C2F7}"/>
                </a:ext>
              </a:extLst>
            </p:cNvPr>
            <p:cNvCxnSpPr>
              <a:cxnSpLocks/>
            </p:cNvCxnSpPr>
            <p:nvPr/>
          </p:nvCxnSpPr>
          <p:spPr>
            <a:xfrm>
              <a:off x="1866029" y="5055998"/>
              <a:ext cx="0" cy="588533"/>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35" name="CuadroTexto 6">
              <a:extLst>
                <a:ext uri="{FF2B5EF4-FFF2-40B4-BE49-F238E27FC236}">
                  <a16:creationId xmlns:a16="http://schemas.microsoft.com/office/drawing/2014/main" id="{25E4AEEC-909A-18EC-98F8-2F218BC95377}"/>
                </a:ext>
              </a:extLst>
            </p:cNvPr>
            <p:cNvSpPr txBox="1"/>
            <p:nvPr/>
          </p:nvSpPr>
          <p:spPr>
            <a:xfrm>
              <a:off x="1609986" y="5646373"/>
              <a:ext cx="497252" cy="523220"/>
            </a:xfrm>
            <a:prstGeom prst="rect">
              <a:avLst/>
            </a:prstGeom>
            <a:noFill/>
            <a:ln w="25400">
              <a:solidFill>
                <a:schemeClr val="tx1"/>
              </a:solidFill>
            </a:ln>
          </p:spPr>
          <p:txBody>
            <a:bodyPr wrap="none" rtlCol="0">
              <a:spAutoFit/>
            </a:bodyPr>
            <a:lstStyle/>
            <a:p>
              <a:r>
                <a:rPr lang="es-ES" sz="2800" dirty="0">
                  <a:latin typeface="Arial" panose="020B0604020202020204" pitchFamily="34" charset="0"/>
                  <a:cs typeface="Arial" panose="020B0604020202020204" pitchFamily="34" charset="0"/>
                </a:rPr>
                <a:t>x</a:t>
              </a:r>
              <a:r>
                <a:rPr lang="es-ES" sz="2800" baseline="-25000" dirty="0">
                  <a:latin typeface="Arial" panose="020B0604020202020204" pitchFamily="34" charset="0"/>
                  <a:cs typeface="Arial" panose="020B0604020202020204" pitchFamily="34" charset="0"/>
                </a:rPr>
                <a:t>3</a:t>
              </a:r>
            </a:p>
          </p:txBody>
        </p:sp>
        <p:sp>
          <p:nvSpPr>
            <p:cNvPr id="45" name="CuadroTexto 3">
              <a:extLst>
                <a:ext uri="{FF2B5EF4-FFF2-40B4-BE49-F238E27FC236}">
                  <a16:creationId xmlns:a16="http://schemas.microsoft.com/office/drawing/2014/main" id="{42242980-601D-6DD6-3DE7-E0BBA479381C}"/>
                </a:ext>
              </a:extLst>
            </p:cNvPr>
            <p:cNvSpPr txBox="1"/>
            <p:nvPr/>
          </p:nvSpPr>
          <p:spPr>
            <a:xfrm>
              <a:off x="5029202" y="5477528"/>
              <a:ext cx="603646" cy="523220"/>
            </a:xfrm>
            <a:prstGeom prst="rect">
              <a:avLst/>
            </a:prstGeom>
            <a:noFill/>
            <a:ln w="25400">
              <a:solidFill>
                <a:schemeClr val="tx1"/>
              </a:solidFill>
            </a:ln>
          </p:spPr>
          <p:txBody>
            <a:bodyPr wrap="square" rtlCol="0">
              <a:spAutoFit/>
            </a:bodyPr>
            <a:lstStyle/>
            <a:p>
              <a:r>
                <a:rPr lang="es-ES" sz="2800" dirty="0">
                  <a:latin typeface="Arial" panose="020B0604020202020204" pitchFamily="34" charset="0"/>
                  <a:cs typeface="Arial" panose="020B0604020202020204" pitchFamily="34" charset="0"/>
                </a:rPr>
                <a:t>x</a:t>
              </a:r>
              <a:r>
                <a:rPr lang="es-ES" sz="2800" baseline="-25000" dirty="0">
                  <a:latin typeface="Arial" panose="020B0604020202020204" pitchFamily="34" charset="0"/>
                  <a:cs typeface="Arial" panose="020B0604020202020204" pitchFamily="34" charset="0"/>
                </a:rPr>
                <a:t>1</a:t>
              </a:r>
            </a:p>
          </p:txBody>
        </p:sp>
        <p:cxnSp>
          <p:nvCxnSpPr>
            <p:cNvPr id="46" name="Conector recto de flecha 4">
              <a:extLst>
                <a:ext uri="{FF2B5EF4-FFF2-40B4-BE49-F238E27FC236}">
                  <a16:creationId xmlns:a16="http://schemas.microsoft.com/office/drawing/2014/main" id="{46DE1588-A638-C9F2-3482-1E6D0506D990}"/>
                </a:ext>
              </a:extLst>
            </p:cNvPr>
            <p:cNvCxnSpPr>
              <a:cxnSpLocks/>
              <a:endCxn id="45" idx="0"/>
            </p:cNvCxnSpPr>
            <p:nvPr/>
          </p:nvCxnSpPr>
          <p:spPr>
            <a:xfrm flipH="1">
              <a:off x="5331025" y="4555253"/>
              <a:ext cx="724546" cy="922275"/>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47" name="CuadroTexto 5">
              <a:extLst>
                <a:ext uri="{FF2B5EF4-FFF2-40B4-BE49-F238E27FC236}">
                  <a16:creationId xmlns:a16="http://schemas.microsoft.com/office/drawing/2014/main" id="{308B89F0-0373-8C99-5C82-8F294FDDAA7C}"/>
                </a:ext>
              </a:extLst>
            </p:cNvPr>
            <p:cNvSpPr txBox="1"/>
            <p:nvPr/>
          </p:nvSpPr>
          <p:spPr>
            <a:xfrm>
              <a:off x="7309482" y="5445806"/>
              <a:ext cx="441146" cy="523220"/>
            </a:xfrm>
            <a:prstGeom prst="rect">
              <a:avLst/>
            </a:prstGeom>
            <a:noFill/>
            <a:ln w="25400">
              <a:solidFill>
                <a:schemeClr val="tx1"/>
              </a:solidFill>
            </a:ln>
          </p:spPr>
          <p:txBody>
            <a:bodyPr wrap="square" rtlCol="0">
              <a:spAutoFit/>
            </a:bodyPr>
            <a:lstStyle/>
            <a:p>
              <a:r>
                <a:rPr lang="es-ES" sz="2800" dirty="0">
                  <a:latin typeface="Arial" panose="020B0604020202020204" pitchFamily="34" charset="0"/>
                  <a:cs typeface="Arial" panose="020B0604020202020204" pitchFamily="34" charset="0"/>
                </a:rPr>
                <a:t>Y </a:t>
              </a:r>
              <a:endParaRPr lang="es-ES" sz="2800" baseline="-25000" dirty="0">
                <a:latin typeface="Arial" panose="020B0604020202020204" pitchFamily="34" charset="0"/>
                <a:cs typeface="Arial" panose="020B0604020202020204" pitchFamily="34" charset="0"/>
              </a:endParaRPr>
            </a:p>
          </p:txBody>
        </p:sp>
        <p:sp>
          <p:nvSpPr>
            <p:cNvPr id="48" name="CuadroTexto 6">
              <a:extLst>
                <a:ext uri="{FF2B5EF4-FFF2-40B4-BE49-F238E27FC236}">
                  <a16:creationId xmlns:a16="http://schemas.microsoft.com/office/drawing/2014/main" id="{A9F2C63A-0591-C43A-FDA4-8E24E5144D6B}"/>
                </a:ext>
              </a:extLst>
            </p:cNvPr>
            <p:cNvSpPr txBox="1"/>
            <p:nvPr/>
          </p:nvSpPr>
          <p:spPr>
            <a:xfrm>
              <a:off x="6055573" y="4032033"/>
              <a:ext cx="677972" cy="555808"/>
            </a:xfrm>
            <a:prstGeom prst="rect">
              <a:avLst/>
            </a:prstGeom>
            <a:noFill/>
            <a:ln w="25400">
              <a:solidFill>
                <a:schemeClr val="tx1"/>
              </a:solidFill>
            </a:ln>
          </p:spPr>
          <p:txBody>
            <a:bodyPr wrap="square" rtlCol="0">
              <a:spAutoFit/>
            </a:bodyPr>
            <a:lstStyle/>
            <a:p>
              <a:r>
                <a:rPr lang="es-ES" sz="2800" dirty="0">
                  <a:latin typeface="Arial" panose="020B0604020202020204" pitchFamily="34" charset="0"/>
                  <a:cs typeface="Arial" panose="020B0604020202020204" pitchFamily="34" charset="0"/>
                </a:rPr>
                <a:t>x</a:t>
              </a:r>
              <a:r>
                <a:rPr lang="es-ES" sz="2800" baseline="-25000" dirty="0">
                  <a:latin typeface="Arial" panose="020B0604020202020204" pitchFamily="34" charset="0"/>
                  <a:cs typeface="Arial" panose="020B0604020202020204" pitchFamily="34" charset="0"/>
                </a:rPr>
                <a:t>2</a:t>
              </a:r>
            </a:p>
          </p:txBody>
        </p:sp>
        <p:cxnSp>
          <p:nvCxnSpPr>
            <p:cNvPr id="49" name="Conector recto de flecha 4">
              <a:extLst>
                <a:ext uri="{FF2B5EF4-FFF2-40B4-BE49-F238E27FC236}">
                  <a16:creationId xmlns:a16="http://schemas.microsoft.com/office/drawing/2014/main" id="{2DD1E8CD-8F68-23A3-BE8B-44AE3F5FD2A6}"/>
                </a:ext>
              </a:extLst>
            </p:cNvPr>
            <p:cNvCxnSpPr>
              <a:cxnSpLocks/>
              <a:endCxn id="47" idx="1"/>
            </p:cNvCxnSpPr>
            <p:nvPr/>
          </p:nvCxnSpPr>
          <p:spPr>
            <a:xfrm flipV="1">
              <a:off x="5643322" y="5707416"/>
              <a:ext cx="1666160" cy="36496"/>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56" name="Conector recto de flecha 4">
              <a:extLst>
                <a:ext uri="{FF2B5EF4-FFF2-40B4-BE49-F238E27FC236}">
                  <a16:creationId xmlns:a16="http://schemas.microsoft.com/office/drawing/2014/main" id="{ACC2CD92-8E04-3580-76F8-2F61CA92C053}"/>
                </a:ext>
              </a:extLst>
            </p:cNvPr>
            <p:cNvCxnSpPr>
              <a:cxnSpLocks/>
            </p:cNvCxnSpPr>
            <p:nvPr/>
          </p:nvCxnSpPr>
          <p:spPr>
            <a:xfrm>
              <a:off x="6733543" y="4587841"/>
              <a:ext cx="575938" cy="889687"/>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40261214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CAFF3F-D5CE-F71D-9BE6-62B718FD73F1}"/>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1EBCDC1B-A4CC-CE46-3F31-906D68ED7D7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71339" y="1104582"/>
            <a:ext cx="5838939" cy="4648836"/>
          </a:xfrm>
          <a:prstGeom prst="rect">
            <a:avLst/>
          </a:prstGeom>
        </p:spPr>
      </p:pic>
      <p:sp>
        <p:nvSpPr>
          <p:cNvPr id="6" name="TextBox 5">
            <a:extLst>
              <a:ext uri="{FF2B5EF4-FFF2-40B4-BE49-F238E27FC236}">
                <a16:creationId xmlns:a16="http://schemas.microsoft.com/office/drawing/2014/main" id="{D560BAA0-EC74-EAD0-DFD8-491ADE144854}"/>
              </a:ext>
            </a:extLst>
          </p:cNvPr>
          <p:cNvSpPr txBox="1"/>
          <p:nvPr/>
        </p:nvSpPr>
        <p:spPr>
          <a:xfrm>
            <a:off x="364067" y="474749"/>
            <a:ext cx="7222066" cy="461665"/>
          </a:xfrm>
          <a:prstGeom prst="rect">
            <a:avLst/>
          </a:prstGeom>
          <a:noFill/>
        </p:spPr>
        <p:txBody>
          <a:bodyPr wrap="square">
            <a:spAutoFit/>
          </a:bodyPr>
          <a:lstStyle/>
          <a:p>
            <a:r>
              <a:rPr lang="en-US" sz="2400" b="1" dirty="0">
                <a:latin typeface="Arial" panose="020B0604020202020204" pitchFamily="34" charset="0"/>
                <a:cs typeface="Arial" panose="020B0604020202020204" pitchFamily="34" charset="0"/>
              </a:rPr>
              <a:t>You are now Armed and Dangerous</a:t>
            </a:r>
          </a:p>
        </p:txBody>
      </p:sp>
    </p:spTree>
    <p:extLst>
      <p:ext uri="{BB962C8B-B14F-4D97-AF65-F5344CB8AC3E}">
        <p14:creationId xmlns:p14="http://schemas.microsoft.com/office/powerpoint/2010/main" val="143383185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D06510-3FF6-F537-8FE6-6AD66D2AB267}"/>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97662448-B9ED-1295-505A-CFA0DD29F183}"/>
              </a:ext>
            </a:extLst>
          </p:cNvPr>
          <p:cNvSpPr txBox="1"/>
          <p:nvPr/>
        </p:nvSpPr>
        <p:spPr>
          <a:xfrm>
            <a:off x="242751" y="154681"/>
            <a:ext cx="7674429" cy="830997"/>
          </a:xfrm>
          <a:prstGeom prst="rect">
            <a:avLst/>
          </a:prstGeom>
          <a:noFill/>
        </p:spPr>
        <p:txBody>
          <a:bodyPr wrap="square">
            <a:spAutoFit/>
          </a:bodyPr>
          <a:lstStyle/>
          <a:p>
            <a:r>
              <a:rPr lang="en-US" sz="2400" b="1" dirty="0">
                <a:latin typeface="Arial" panose="020B0604020202020204" pitchFamily="34" charset="0"/>
                <a:cs typeface="Arial" panose="020B0604020202020204" pitchFamily="34" charset="0"/>
              </a:rPr>
              <a:t>Translating between the languages of Causation and Probability Theory</a:t>
            </a:r>
          </a:p>
        </p:txBody>
      </p:sp>
      <p:sp>
        <p:nvSpPr>
          <p:cNvPr id="3" name="TextBox 2">
            <a:extLst>
              <a:ext uri="{FF2B5EF4-FFF2-40B4-BE49-F238E27FC236}">
                <a16:creationId xmlns:a16="http://schemas.microsoft.com/office/drawing/2014/main" id="{2071CDE1-0BEB-DB80-CA2E-71991B1D3EB8}"/>
              </a:ext>
            </a:extLst>
          </p:cNvPr>
          <p:cNvSpPr txBox="1"/>
          <p:nvPr/>
        </p:nvSpPr>
        <p:spPr>
          <a:xfrm>
            <a:off x="242751" y="1848090"/>
            <a:ext cx="1861458" cy="2585323"/>
          </a:xfrm>
          <a:prstGeom prst="rect">
            <a:avLst/>
          </a:prstGeom>
          <a:noFill/>
          <a:ln>
            <a:solidFill>
              <a:schemeClr val="tx1"/>
            </a:solidFill>
          </a:ln>
        </p:spPr>
        <p:txBody>
          <a:bodyPr wrap="square">
            <a:spAutoFit/>
          </a:bodyPr>
          <a:lstStyle/>
          <a:p>
            <a:r>
              <a:rPr lang="en-US" b="1" dirty="0">
                <a:latin typeface="Arial" panose="020B0604020202020204" pitchFamily="34" charset="0"/>
                <a:cs typeface="Arial" panose="020B0604020202020204" pitchFamily="34" charset="0"/>
              </a:rPr>
              <a:t>Language of science </a:t>
            </a:r>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Concepts of cause - effect, direct and indirect causes, causal independence, etc.</a:t>
            </a:r>
          </a:p>
        </p:txBody>
      </p:sp>
      <p:sp>
        <p:nvSpPr>
          <p:cNvPr id="5" name="TextBox 4">
            <a:extLst>
              <a:ext uri="{FF2B5EF4-FFF2-40B4-BE49-F238E27FC236}">
                <a16:creationId xmlns:a16="http://schemas.microsoft.com/office/drawing/2014/main" id="{6FA7D45D-FD90-1432-3CF1-594863AB8174}"/>
              </a:ext>
            </a:extLst>
          </p:cNvPr>
          <p:cNvSpPr txBox="1"/>
          <p:nvPr/>
        </p:nvSpPr>
        <p:spPr>
          <a:xfrm>
            <a:off x="3275238" y="1848090"/>
            <a:ext cx="1861458" cy="2585323"/>
          </a:xfrm>
          <a:prstGeom prst="rect">
            <a:avLst/>
          </a:prstGeom>
          <a:noFill/>
          <a:ln>
            <a:solidFill>
              <a:schemeClr val="tx1"/>
            </a:solidFill>
          </a:ln>
        </p:spPr>
        <p:txBody>
          <a:bodyPr wrap="square">
            <a:spAutoFit/>
          </a:bodyPr>
          <a:lstStyle/>
          <a:p>
            <a:r>
              <a:rPr lang="en-US" b="1" dirty="0">
                <a:latin typeface="Arial" panose="020B0604020202020204" pitchFamily="34" charset="0"/>
                <a:cs typeface="Arial" panose="020B0604020202020204" pitchFamily="34" charset="0"/>
              </a:rPr>
              <a:t>Language of graph theory </a:t>
            </a:r>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Concepts of direct acyclic graphs (DAGs), paths, ancestors, dependents, etc.</a:t>
            </a:r>
          </a:p>
        </p:txBody>
      </p:sp>
      <p:sp>
        <p:nvSpPr>
          <p:cNvPr id="7" name="TextBox 6">
            <a:extLst>
              <a:ext uri="{FF2B5EF4-FFF2-40B4-BE49-F238E27FC236}">
                <a16:creationId xmlns:a16="http://schemas.microsoft.com/office/drawing/2014/main" id="{DED9FF6E-811C-8944-B9B5-6BF5B05C285F}"/>
              </a:ext>
            </a:extLst>
          </p:cNvPr>
          <p:cNvSpPr txBox="1"/>
          <p:nvPr/>
        </p:nvSpPr>
        <p:spPr>
          <a:xfrm>
            <a:off x="6656070" y="1848090"/>
            <a:ext cx="2122714" cy="2585323"/>
          </a:xfrm>
          <a:prstGeom prst="rect">
            <a:avLst/>
          </a:prstGeom>
          <a:noFill/>
          <a:ln>
            <a:solidFill>
              <a:schemeClr val="tx1"/>
            </a:solidFill>
          </a:ln>
        </p:spPr>
        <p:txBody>
          <a:bodyPr wrap="square">
            <a:spAutoFit/>
          </a:bodyPr>
          <a:lstStyle/>
          <a:p>
            <a:r>
              <a:rPr lang="en-US" b="1" dirty="0">
                <a:latin typeface="Arial" panose="020B0604020202020204" pitchFamily="34" charset="0"/>
                <a:cs typeface="Arial" panose="020B0604020202020204" pitchFamily="34" charset="0"/>
              </a:rPr>
              <a:t>Languages of probability theory </a:t>
            </a:r>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Concepts dependence, independence, conditional distributions, marginal distribution.....</a:t>
            </a:r>
          </a:p>
        </p:txBody>
      </p:sp>
      <p:sp>
        <p:nvSpPr>
          <p:cNvPr id="14" name="TextBox 13">
            <a:extLst>
              <a:ext uri="{FF2B5EF4-FFF2-40B4-BE49-F238E27FC236}">
                <a16:creationId xmlns:a16="http://schemas.microsoft.com/office/drawing/2014/main" id="{777BB2A2-0B71-E797-C68C-3477A861D382}"/>
              </a:ext>
            </a:extLst>
          </p:cNvPr>
          <p:cNvSpPr txBox="1"/>
          <p:nvPr/>
        </p:nvSpPr>
        <p:spPr>
          <a:xfrm>
            <a:off x="5113020" y="2643364"/>
            <a:ext cx="1861457" cy="369332"/>
          </a:xfrm>
          <a:prstGeom prst="rect">
            <a:avLst/>
          </a:prstGeom>
          <a:noFill/>
        </p:spPr>
        <p:txBody>
          <a:bodyPr wrap="square" rtlCol="0">
            <a:spAutoFit/>
          </a:bodyPr>
          <a:lstStyle/>
          <a:p>
            <a:r>
              <a:rPr lang="en-US" b="1" dirty="0">
                <a:latin typeface="Arial" panose="020B0604020202020204" pitchFamily="34" charset="0"/>
                <a:cs typeface="Arial" panose="020B0604020202020204" pitchFamily="34" charset="0"/>
              </a:rPr>
              <a:t>D-separation </a:t>
            </a:r>
          </a:p>
        </p:txBody>
      </p:sp>
      <p:sp>
        <p:nvSpPr>
          <p:cNvPr id="19" name="TextBox 18">
            <a:extLst>
              <a:ext uri="{FF2B5EF4-FFF2-40B4-BE49-F238E27FC236}">
                <a16:creationId xmlns:a16="http://schemas.microsoft.com/office/drawing/2014/main" id="{B9B36231-8562-710C-CD4F-9655F4227F17}"/>
              </a:ext>
            </a:extLst>
          </p:cNvPr>
          <p:cNvSpPr txBox="1"/>
          <p:nvPr/>
        </p:nvSpPr>
        <p:spPr>
          <a:xfrm>
            <a:off x="242751" y="1018647"/>
            <a:ext cx="8022772" cy="646331"/>
          </a:xfrm>
          <a:prstGeom prst="rect">
            <a:avLst/>
          </a:prstGeom>
          <a:noFill/>
        </p:spPr>
        <p:txBody>
          <a:bodyPr wrap="square">
            <a:spAutoFit/>
          </a:bodyPr>
          <a:lstStyle/>
          <a:p>
            <a:pPr marL="285750" indent="-285750">
              <a:buFont typeface="Arial" panose="020B0604020202020204" pitchFamily="34" charset="0"/>
              <a:buChar char="•"/>
            </a:pPr>
            <a:r>
              <a:rPr lang="en-US" dirty="0">
                <a:latin typeface="Arial" panose="020B0604020202020204" pitchFamily="34" charset="0"/>
                <a:cs typeface="Arial" panose="020B0604020202020204" pitchFamily="34" charset="0"/>
              </a:rPr>
              <a:t>How to replace the notion of physically controlling a variable in a causal system with the notion of a statistical control in a causal system. </a:t>
            </a:r>
          </a:p>
        </p:txBody>
      </p:sp>
      <p:pic>
        <p:nvPicPr>
          <p:cNvPr id="6" name="Picture 5">
            <a:extLst>
              <a:ext uri="{FF2B5EF4-FFF2-40B4-BE49-F238E27FC236}">
                <a16:creationId xmlns:a16="http://schemas.microsoft.com/office/drawing/2014/main" id="{5C4C8CA7-9E27-BC6B-B93A-5FECCDAFBD0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7660" y="4593665"/>
            <a:ext cx="1286466" cy="1934723"/>
          </a:xfrm>
          <a:prstGeom prst="rect">
            <a:avLst/>
          </a:prstGeom>
        </p:spPr>
      </p:pic>
      <p:cxnSp>
        <p:nvCxnSpPr>
          <p:cNvPr id="15" name="Conector recto de flecha 4">
            <a:extLst>
              <a:ext uri="{FF2B5EF4-FFF2-40B4-BE49-F238E27FC236}">
                <a16:creationId xmlns:a16="http://schemas.microsoft.com/office/drawing/2014/main" id="{EB29C763-663A-D87C-21DC-A768789FBB8B}"/>
              </a:ext>
            </a:extLst>
          </p:cNvPr>
          <p:cNvCxnSpPr>
            <a:cxnSpLocks/>
            <a:stCxn id="3" idx="3"/>
          </p:cNvCxnSpPr>
          <p:nvPr/>
        </p:nvCxnSpPr>
        <p:spPr>
          <a:xfrm>
            <a:off x="2104209" y="3140752"/>
            <a:ext cx="1130482" cy="783"/>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7" name="Conector recto de flecha 4">
            <a:extLst>
              <a:ext uri="{FF2B5EF4-FFF2-40B4-BE49-F238E27FC236}">
                <a16:creationId xmlns:a16="http://schemas.microsoft.com/office/drawing/2014/main" id="{A47E2ABE-4405-9AE5-011F-96C154A900EC}"/>
              </a:ext>
            </a:extLst>
          </p:cNvPr>
          <p:cNvCxnSpPr>
            <a:cxnSpLocks/>
            <a:stCxn id="5" idx="3"/>
            <a:endCxn id="7" idx="1"/>
          </p:cNvCxnSpPr>
          <p:nvPr/>
        </p:nvCxnSpPr>
        <p:spPr>
          <a:xfrm>
            <a:off x="5136696" y="3140752"/>
            <a:ext cx="1519374" cy="0"/>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674EE8AC-337F-6FAC-6B6F-1AEF5E6F6106}"/>
              </a:ext>
            </a:extLst>
          </p:cNvPr>
          <p:cNvSpPr txBox="1"/>
          <p:nvPr/>
        </p:nvSpPr>
        <p:spPr>
          <a:xfrm>
            <a:off x="1770993" y="5473202"/>
            <a:ext cx="6684054" cy="871970"/>
          </a:xfrm>
          <a:prstGeom prst="rect">
            <a:avLst/>
          </a:prstGeom>
          <a:noFill/>
        </p:spPr>
        <p:txBody>
          <a:bodyPr wrap="square">
            <a:spAutoFit/>
          </a:bodyPr>
          <a:lstStyle/>
          <a:p>
            <a:pPr>
              <a:lnSpc>
                <a:spcPct val="150000"/>
              </a:lnSpc>
            </a:pPr>
            <a:r>
              <a:rPr lang="en-US" dirty="0">
                <a:latin typeface="Arial" panose="020B0604020202020204" pitchFamily="34" charset="0"/>
                <a:cs typeface="Arial" panose="020B0604020202020204" pitchFamily="34" charset="0"/>
              </a:rPr>
              <a:t>Causality: Models, Reasoning, and Inference (2000) </a:t>
            </a:r>
          </a:p>
          <a:p>
            <a:pPr>
              <a:lnSpc>
                <a:spcPct val="150000"/>
              </a:lnSpc>
            </a:pPr>
            <a:r>
              <a:rPr lang="en-US" dirty="0">
                <a:latin typeface="Arial" panose="020B0604020202020204" pitchFamily="34" charset="0"/>
                <a:cs typeface="Arial" panose="020B0604020202020204" pitchFamily="34" charset="0"/>
              </a:rPr>
              <a:t>The Book of Why: The New Science of Cause and Effect (2018)</a:t>
            </a:r>
          </a:p>
        </p:txBody>
      </p:sp>
      <p:sp>
        <p:nvSpPr>
          <p:cNvPr id="8" name="TextBox 7">
            <a:extLst>
              <a:ext uri="{FF2B5EF4-FFF2-40B4-BE49-F238E27FC236}">
                <a16:creationId xmlns:a16="http://schemas.microsoft.com/office/drawing/2014/main" id="{01D4B6B2-BCC8-BC2C-DB5E-126B6E5464F9}"/>
              </a:ext>
            </a:extLst>
          </p:cNvPr>
          <p:cNvSpPr txBox="1"/>
          <p:nvPr/>
        </p:nvSpPr>
        <p:spPr>
          <a:xfrm>
            <a:off x="1793965" y="4975031"/>
            <a:ext cx="4572000" cy="369332"/>
          </a:xfrm>
          <a:prstGeom prst="rect">
            <a:avLst/>
          </a:prstGeom>
          <a:noFill/>
        </p:spPr>
        <p:txBody>
          <a:bodyPr wrap="square">
            <a:spAutoFit/>
          </a:bodyPr>
          <a:lstStyle/>
          <a:p>
            <a:r>
              <a:rPr lang="en-US" dirty="0">
                <a:latin typeface="Arial" panose="020B0604020202020204" pitchFamily="34" charset="0"/>
                <a:cs typeface="Arial" panose="020B0604020202020204" pitchFamily="34" charset="0"/>
              </a:rPr>
              <a:t>Judea Pearl</a:t>
            </a:r>
          </a:p>
        </p:txBody>
      </p:sp>
    </p:spTree>
    <p:extLst>
      <p:ext uri="{BB962C8B-B14F-4D97-AF65-F5344CB8AC3E}">
        <p14:creationId xmlns:p14="http://schemas.microsoft.com/office/powerpoint/2010/main" val="200545887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213A9E-7739-AFEC-7A8C-6D621FD7D92F}"/>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1E16BE4-27A0-1611-0BC0-0E43C5598798}"/>
              </a:ext>
            </a:extLst>
          </p:cNvPr>
          <p:cNvSpPr txBox="1"/>
          <p:nvPr/>
        </p:nvSpPr>
        <p:spPr>
          <a:xfrm>
            <a:off x="206827" y="217337"/>
            <a:ext cx="8127015" cy="1131848"/>
          </a:xfrm>
          <a:prstGeom prst="rect">
            <a:avLst/>
          </a:prstGeom>
          <a:noFill/>
        </p:spPr>
        <p:txBody>
          <a:bodyPr wrap="square">
            <a:spAutoFit/>
          </a:bodyPr>
          <a:lstStyle/>
          <a:p>
            <a:pPr>
              <a:lnSpc>
                <a:spcPct val="150000"/>
              </a:lnSpc>
            </a:pPr>
            <a:r>
              <a:rPr lang="en-US" sz="2400" b="1" dirty="0">
                <a:latin typeface="Arial" panose="020B0604020202020204" pitchFamily="34" charset="0"/>
                <a:cs typeface="Arial" panose="020B0604020202020204" pitchFamily="34" charset="0"/>
              </a:rPr>
              <a:t>Expressing Causal Hypotheses using DAGs (Directed Acyclic Graphs)</a:t>
            </a:r>
          </a:p>
        </p:txBody>
      </p:sp>
      <p:cxnSp>
        <p:nvCxnSpPr>
          <p:cNvPr id="4" name="Conector recto de flecha 4">
            <a:extLst>
              <a:ext uri="{FF2B5EF4-FFF2-40B4-BE49-F238E27FC236}">
                <a16:creationId xmlns:a16="http://schemas.microsoft.com/office/drawing/2014/main" id="{28D6F92A-5D17-1B08-F79F-A7D637885794}"/>
              </a:ext>
            </a:extLst>
          </p:cNvPr>
          <p:cNvCxnSpPr>
            <a:cxnSpLocks/>
          </p:cNvCxnSpPr>
          <p:nvPr/>
        </p:nvCxnSpPr>
        <p:spPr>
          <a:xfrm>
            <a:off x="1220457" y="3749431"/>
            <a:ext cx="686564" cy="0"/>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5" name="CuadroTexto 5">
            <a:extLst>
              <a:ext uri="{FF2B5EF4-FFF2-40B4-BE49-F238E27FC236}">
                <a16:creationId xmlns:a16="http://schemas.microsoft.com/office/drawing/2014/main" id="{B64642AE-73FF-F737-E2D9-EAD9BBD18F04}"/>
              </a:ext>
            </a:extLst>
          </p:cNvPr>
          <p:cNvSpPr txBox="1"/>
          <p:nvPr/>
        </p:nvSpPr>
        <p:spPr>
          <a:xfrm>
            <a:off x="2068780" y="3486764"/>
            <a:ext cx="522900" cy="523220"/>
          </a:xfrm>
          <a:prstGeom prst="rect">
            <a:avLst/>
          </a:prstGeom>
          <a:noFill/>
          <a:ln w="25400">
            <a:solidFill>
              <a:schemeClr val="bg1"/>
            </a:solidFill>
          </a:ln>
        </p:spPr>
        <p:txBody>
          <a:bodyPr wrap="none" rtlCol="0">
            <a:spAutoFit/>
          </a:bodyPr>
          <a:lstStyle/>
          <a:p>
            <a:r>
              <a:rPr lang="es-ES" sz="2800" dirty="0">
                <a:latin typeface="Arial" panose="020B0604020202020204" pitchFamily="34" charset="0"/>
                <a:cs typeface="Arial" panose="020B0604020202020204" pitchFamily="34" charset="0"/>
              </a:rPr>
              <a:t>B </a:t>
            </a:r>
            <a:endParaRPr lang="es-ES" sz="2800" baseline="-25000" dirty="0">
              <a:latin typeface="Arial" panose="020B0604020202020204" pitchFamily="34" charset="0"/>
              <a:cs typeface="Arial" panose="020B0604020202020204" pitchFamily="34" charset="0"/>
            </a:endParaRPr>
          </a:p>
        </p:txBody>
      </p:sp>
      <p:sp>
        <p:nvSpPr>
          <p:cNvPr id="8" name="CuadroTexto 5">
            <a:extLst>
              <a:ext uri="{FF2B5EF4-FFF2-40B4-BE49-F238E27FC236}">
                <a16:creationId xmlns:a16="http://schemas.microsoft.com/office/drawing/2014/main" id="{47FE4590-953E-B0CD-317A-C63EB7EEF56E}"/>
              </a:ext>
            </a:extLst>
          </p:cNvPr>
          <p:cNvSpPr txBox="1"/>
          <p:nvPr/>
        </p:nvSpPr>
        <p:spPr>
          <a:xfrm>
            <a:off x="535306" y="3486764"/>
            <a:ext cx="516423" cy="523220"/>
          </a:xfrm>
          <a:prstGeom prst="rect">
            <a:avLst/>
          </a:prstGeom>
          <a:noFill/>
          <a:ln w="25400">
            <a:solidFill>
              <a:schemeClr val="bg1"/>
            </a:solidFill>
          </a:ln>
        </p:spPr>
        <p:txBody>
          <a:bodyPr wrap="none" rtlCol="0">
            <a:spAutoFit/>
          </a:bodyPr>
          <a:lstStyle/>
          <a:p>
            <a:r>
              <a:rPr lang="es-ES" sz="2800" dirty="0">
                <a:latin typeface="Arial" panose="020B0604020202020204" pitchFamily="34" charset="0"/>
                <a:cs typeface="Arial" panose="020B0604020202020204" pitchFamily="34" charset="0"/>
              </a:rPr>
              <a:t>A </a:t>
            </a:r>
            <a:endParaRPr lang="es-ES" sz="2800" baseline="-25000" dirty="0">
              <a:latin typeface="Arial" panose="020B0604020202020204" pitchFamily="34" charset="0"/>
              <a:cs typeface="Arial" panose="020B0604020202020204" pitchFamily="34" charset="0"/>
            </a:endParaRPr>
          </a:p>
        </p:txBody>
      </p:sp>
      <p:sp>
        <p:nvSpPr>
          <p:cNvPr id="9" name="CuadroTexto 5">
            <a:extLst>
              <a:ext uri="{FF2B5EF4-FFF2-40B4-BE49-F238E27FC236}">
                <a16:creationId xmlns:a16="http://schemas.microsoft.com/office/drawing/2014/main" id="{0D2CEA54-11F4-EE41-2A42-1FE5C3C66D19}"/>
              </a:ext>
            </a:extLst>
          </p:cNvPr>
          <p:cNvSpPr txBox="1"/>
          <p:nvPr/>
        </p:nvSpPr>
        <p:spPr>
          <a:xfrm>
            <a:off x="3430797" y="3486764"/>
            <a:ext cx="543739" cy="523220"/>
          </a:xfrm>
          <a:prstGeom prst="rect">
            <a:avLst/>
          </a:prstGeom>
          <a:noFill/>
          <a:ln w="25400">
            <a:solidFill>
              <a:schemeClr val="bg1"/>
            </a:solidFill>
          </a:ln>
        </p:spPr>
        <p:txBody>
          <a:bodyPr wrap="none" rtlCol="0">
            <a:spAutoFit/>
          </a:bodyPr>
          <a:lstStyle/>
          <a:p>
            <a:r>
              <a:rPr lang="es-ES" sz="2800" dirty="0">
                <a:latin typeface="Arial" panose="020B0604020202020204" pitchFamily="34" charset="0"/>
                <a:cs typeface="Arial" panose="020B0604020202020204" pitchFamily="34" charset="0"/>
              </a:rPr>
              <a:t>C </a:t>
            </a:r>
            <a:endParaRPr lang="es-ES" sz="2800" baseline="-25000" dirty="0">
              <a:latin typeface="Arial" panose="020B0604020202020204" pitchFamily="34" charset="0"/>
              <a:cs typeface="Arial" panose="020B0604020202020204" pitchFamily="34" charset="0"/>
            </a:endParaRPr>
          </a:p>
        </p:txBody>
      </p:sp>
      <p:cxnSp>
        <p:nvCxnSpPr>
          <p:cNvPr id="10" name="Conector recto de flecha 4">
            <a:extLst>
              <a:ext uri="{FF2B5EF4-FFF2-40B4-BE49-F238E27FC236}">
                <a16:creationId xmlns:a16="http://schemas.microsoft.com/office/drawing/2014/main" id="{95D194AA-CAF5-B935-18F7-49FB4F8F1F05}"/>
              </a:ext>
            </a:extLst>
          </p:cNvPr>
          <p:cNvCxnSpPr>
            <a:cxnSpLocks/>
          </p:cNvCxnSpPr>
          <p:nvPr/>
        </p:nvCxnSpPr>
        <p:spPr>
          <a:xfrm>
            <a:off x="2689539" y="3748374"/>
            <a:ext cx="686564" cy="0"/>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11" name="CuadroTexto 5">
            <a:extLst>
              <a:ext uri="{FF2B5EF4-FFF2-40B4-BE49-F238E27FC236}">
                <a16:creationId xmlns:a16="http://schemas.microsoft.com/office/drawing/2014/main" id="{33BE913F-3EB9-1880-5252-CDCAD3D1D48C}"/>
              </a:ext>
            </a:extLst>
          </p:cNvPr>
          <p:cNvSpPr txBox="1"/>
          <p:nvPr/>
        </p:nvSpPr>
        <p:spPr>
          <a:xfrm>
            <a:off x="2140940" y="4750135"/>
            <a:ext cx="617477" cy="523220"/>
          </a:xfrm>
          <a:prstGeom prst="rect">
            <a:avLst/>
          </a:prstGeom>
          <a:noFill/>
          <a:ln w="25400">
            <a:solidFill>
              <a:schemeClr val="bg1"/>
            </a:solidFill>
          </a:ln>
        </p:spPr>
        <p:txBody>
          <a:bodyPr wrap="none" rtlCol="0">
            <a:spAutoFit/>
          </a:bodyPr>
          <a:lstStyle/>
          <a:p>
            <a:r>
              <a:rPr lang="es-ES" sz="2800" dirty="0" err="1">
                <a:latin typeface="Arial" panose="020B0604020202020204" pitchFamily="34" charset="0"/>
                <a:cs typeface="Arial" panose="020B0604020202020204" pitchFamily="34" charset="0"/>
              </a:rPr>
              <a:t>e</a:t>
            </a:r>
            <a:r>
              <a:rPr lang="es-ES" sz="2800" baseline="-25000" dirty="0" err="1">
                <a:latin typeface="Arial" panose="020B0604020202020204" pitchFamily="34" charset="0"/>
                <a:cs typeface="Arial" panose="020B0604020202020204" pitchFamily="34" charset="0"/>
              </a:rPr>
              <a:t>b</a:t>
            </a:r>
            <a:r>
              <a:rPr lang="es-ES" sz="2800" dirty="0">
                <a:latin typeface="Arial" panose="020B0604020202020204" pitchFamily="34" charset="0"/>
                <a:cs typeface="Arial" panose="020B0604020202020204" pitchFamily="34" charset="0"/>
              </a:rPr>
              <a:t> </a:t>
            </a:r>
            <a:endParaRPr lang="es-ES" sz="2800" baseline="-25000" dirty="0">
              <a:latin typeface="Arial" panose="020B0604020202020204" pitchFamily="34" charset="0"/>
              <a:cs typeface="Arial" panose="020B0604020202020204" pitchFamily="34" charset="0"/>
            </a:endParaRPr>
          </a:p>
        </p:txBody>
      </p:sp>
      <p:sp>
        <p:nvSpPr>
          <p:cNvPr id="12" name="CuadroTexto 5">
            <a:extLst>
              <a:ext uri="{FF2B5EF4-FFF2-40B4-BE49-F238E27FC236}">
                <a16:creationId xmlns:a16="http://schemas.microsoft.com/office/drawing/2014/main" id="{8C2DD3AD-C4B9-ADB4-FD42-542A76D98CBC}"/>
              </a:ext>
            </a:extLst>
          </p:cNvPr>
          <p:cNvSpPr txBox="1"/>
          <p:nvPr/>
        </p:nvSpPr>
        <p:spPr>
          <a:xfrm>
            <a:off x="3479884" y="4750135"/>
            <a:ext cx="604653" cy="523220"/>
          </a:xfrm>
          <a:prstGeom prst="rect">
            <a:avLst/>
          </a:prstGeom>
          <a:noFill/>
          <a:ln w="25400">
            <a:solidFill>
              <a:schemeClr val="bg1"/>
            </a:solidFill>
          </a:ln>
        </p:spPr>
        <p:txBody>
          <a:bodyPr wrap="none" rtlCol="0">
            <a:spAutoFit/>
          </a:bodyPr>
          <a:lstStyle/>
          <a:p>
            <a:r>
              <a:rPr lang="es-ES" sz="2800" dirty="0" err="1">
                <a:latin typeface="Arial" panose="020B0604020202020204" pitchFamily="34" charset="0"/>
                <a:cs typeface="Arial" panose="020B0604020202020204" pitchFamily="34" charset="0"/>
              </a:rPr>
              <a:t>e</a:t>
            </a:r>
            <a:r>
              <a:rPr lang="es-ES" sz="2800" baseline="-25000" dirty="0" err="1">
                <a:latin typeface="Arial" panose="020B0604020202020204" pitchFamily="34" charset="0"/>
                <a:cs typeface="Arial" panose="020B0604020202020204" pitchFamily="34" charset="0"/>
              </a:rPr>
              <a:t>c</a:t>
            </a:r>
            <a:r>
              <a:rPr lang="es-ES" sz="2800" dirty="0">
                <a:latin typeface="Arial" panose="020B0604020202020204" pitchFamily="34" charset="0"/>
                <a:cs typeface="Arial" panose="020B0604020202020204" pitchFamily="34" charset="0"/>
              </a:rPr>
              <a:t> </a:t>
            </a:r>
            <a:endParaRPr lang="es-ES" sz="2800" baseline="-25000" dirty="0">
              <a:latin typeface="Arial" panose="020B0604020202020204" pitchFamily="34" charset="0"/>
              <a:cs typeface="Arial" panose="020B0604020202020204" pitchFamily="34" charset="0"/>
            </a:endParaRPr>
          </a:p>
        </p:txBody>
      </p:sp>
      <p:cxnSp>
        <p:nvCxnSpPr>
          <p:cNvPr id="13" name="Conector recto de flecha 4">
            <a:extLst>
              <a:ext uri="{FF2B5EF4-FFF2-40B4-BE49-F238E27FC236}">
                <a16:creationId xmlns:a16="http://schemas.microsoft.com/office/drawing/2014/main" id="{D3AB1AAC-39EB-48EC-C018-5C14478B0EA0}"/>
              </a:ext>
            </a:extLst>
          </p:cNvPr>
          <p:cNvCxnSpPr>
            <a:cxnSpLocks/>
          </p:cNvCxnSpPr>
          <p:nvPr/>
        </p:nvCxnSpPr>
        <p:spPr>
          <a:xfrm flipV="1">
            <a:off x="2325659" y="4009984"/>
            <a:ext cx="0" cy="783485"/>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5" name="Conector recto de flecha 4">
            <a:extLst>
              <a:ext uri="{FF2B5EF4-FFF2-40B4-BE49-F238E27FC236}">
                <a16:creationId xmlns:a16="http://schemas.microsoft.com/office/drawing/2014/main" id="{9951BA72-E8DF-F4EC-2C1C-93FAD51A3532}"/>
              </a:ext>
            </a:extLst>
          </p:cNvPr>
          <p:cNvCxnSpPr>
            <a:cxnSpLocks/>
          </p:cNvCxnSpPr>
          <p:nvPr/>
        </p:nvCxnSpPr>
        <p:spPr>
          <a:xfrm flipV="1">
            <a:off x="3670419" y="4009983"/>
            <a:ext cx="0" cy="783485"/>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BECE9E10-A5EA-5DA1-8D36-6E649FBBED1F}"/>
              </a:ext>
            </a:extLst>
          </p:cNvPr>
          <p:cNvSpPr txBox="1"/>
          <p:nvPr/>
        </p:nvSpPr>
        <p:spPr>
          <a:xfrm>
            <a:off x="3479884" y="3515429"/>
            <a:ext cx="184731" cy="369332"/>
          </a:xfrm>
          <a:prstGeom prst="rect">
            <a:avLst/>
          </a:prstGeom>
          <a:noFill/>
        </p:spPr>
        <p:txBody>
          <a:bodyPr wrap="none" rtlCol="0">
            <a:spAutoFit/>
          </a:bodyPr>
          <a:lstStyle/>
          <a:p>
            <a:endParaRPr lang="en-US" dirty="0"/>
          </a:p>
        </p:txBody>
      </p:sp>
      <p:sp>
        <p:nvSpPr>
          <p:cNvPr id="7" name="TextBox 6">
            <a:extLst>
              <a:ext uri="{FF2B5EF4-FFF2-40B4-BE49-F238E27FC236}">
                <a16:creationId xmlns:a16="http://schemas.microsoft.com/office/drawing/2014/main" id="{AD7E128C-A8C6-50D2-4296-459D2A948D08}"/>
              </a:ext>
            </a:extLst>
          </p:cNvPr>
          <p:cNvSpPr txBox="1"/>
          <p:nvPr/>
        </p:nvSpPr>
        <p:spPr>
          <a:xfrm>
            <a:off x="253225" y="1474408"/>
            <a:ext cx="8080617" cy="1702967"/>
          </a:xfrm>
          <a:prstGeom prst="rect">
            <a:avLst/>
          </a:prstGeom>
          <a:noFill/>
        </p:spPr>
        <p:txBody>
          <a:bodyPr wrap="square">
            <a:spAutoFit/>
          </a:bodyPr>
          <a:lstStyle/>
          <a:p>
            <a:pPr marL="342900" indent="-342900">
              <a:lnSpc>
                <a:spcPct val="150000"/>
              </a:lnSpc>
              <a:buFont typeface="Arial" panose="020B0604020202020204" pitchFamily="34" charset="0"/>
              <a:buChar char="•"/>
            </a:pPr>
            <a:r>
              <a:rPr lang="en-US" dirty="0">
                <a:latin typeface="Arial" panose="020B0604020202020204" pitchFamily="34" charset="0"/>
                <a:cs typeface="Arial" panose="020B0604020202020204" pitchFamily="34" charset="0"/>
              </a:rPr>
              <a:t>Variables A, </a:t>
            </a:r>
            <a:r>
              <a:rPr lang="en-US" dirty="0" err="1">
                <a:latin typeface="Arial" panose="020B0604020202020204" pitchFamily="34" charset="0"/>
                <a:cs typeface="Arial" panose="020B0604020202020204" pitchFamily="34" charset="0"/>
              </a:rPr>
              <a:t>e</a:t>
            </a:r>
            <a:r>
              <a:rPr lang="en-US" baseline="-25000" dirty="0" err="1">
                <a:latin typeface="Arial" panose="020B0604020202020204" pitchFamily="34" charset="0"/>
                <a:cs typeface="Arial" panose="020B0604020202020204" pitchFamily="34" charset="0"/>
              </a:rPr>
              <a:t>b</a:t>
            </a:r>
            <a:r>
              <a:rPr lang="en-US" dirty="0">
                <a:latin typeface="Arial" panose="020B0604020202020204" pitchFamily="34" charset="0"/>
                <a:cs typeface="Arial" panose="020B0604020202020204" pitchFamily="34" charset="0"/>
              </a:rPr>
              <a:t> and </a:t>
            </a:r>
            <a:r>
              <a:rPr lang="en-US" dirty="0" err="1">
                <a:latin typeface="Arial" panose="020B0604020202020204" pitchFamily="34" charset="0"/>
                <a:cs typeface="Arial" panose="020B0604020202020204" pitchFamily="34" charset="0"/>
              </a:rPr>
              <a:t>e</a:t>
            </a:r>
            <a:r>
              <a:rPr lang="en-US" baseline="-25000" dirty="0" err="1">
                <a:latin typeface="Arial" panose="020B0604020202020204" pitchFamily="34" charset="0"/>
                <a:cs typeface="Arial" panose="020B0604020202020204" pitchFamily="34" charset="0"/>
              </a:rPr>
              <a:t>c</a:t>
            </a:r>
            <a:r>
              <a:rPr lang="en-US" dirty="0">
                <a:latin typeface="Arial" panose="020B0604020202020204" pitchFamily="34" charset="0"/>
                <a:cs typeface="Arial" panose="020B0604020202020204" pitchFamily="34" charset="0"/>
              </a:rPr>
              <a:t> are </a:t>
            </a:r>
            <a:r>
              <a:rPr lang="en-US" dirty="0">
                <a:solidFill>
                  <a:srgbClr val="FF0000"/>
                </a:solidFill>
                <a:latin typeface="Arial" panose="020B0604020202020204" pitchFamily="34" charset="0"/>
                <a:cs typeface="Arial" panose="020B0604020202020204" pitchFamily="34" charset="0"/>
              </a:rPr>
              <a:t>casually independent </a:t>
            </a:r>
            <a:r>
              <a:rPr lang="en-US" dirty="0">
                <a:latin typeface="Arial" panose="020B0604020202020204" pitchFamily="34" charset="0"/>
                <a:cs typeface="Arial" panose="020B0604020202020204" pitchFamily="34" charset="0"/>
              </a:rPr>
              <a:t>of each other. </a:t>
            </a:r>
          </a:p>
          <a:p>
            <a:pPr marL="342900" indent="-342900">
              <a:lnSpc>
                <a:spcPct val="150000"/>
              </a:lnSpc>
              <a:buFont typeface="Arial" panose="020B0604020202020204" pitchFamily="34" charset="0"/>
              <a:buChar char="•"/>
            </a:pPr>
            <a:r>
              <a:rPr lang="en-US" dirty="0">
                <a:latin typeface="Arial" panose="020B0604020202020204" pitchFamily="34" charset="0"/>
                <a:cs typeface="Arial" panose="020B0604020202020204" pitchFamily="34" charset="0"/>
              </a:rPr>
              <a:t>A and </a:t>
            </a:r>
            <a:r>
              <a:rPr lang="en-US" dirty="0" err="1">
                <a:latin typeface="Arial" panose="020B0604020202020204" pitchFamily="34" charset="0"/>
                <a:cs typeface="Arial" panose="020B0604020202020204" pitchFamily="34" charset="0"/>
              </a:rPr>
              <a:t>e</a:t>
            </a:r>
            <a:r>
              <a:rPr lang="en-US" baseline="-25000" dirty="0" err="1">
                <a:latin typeface="Arial" panose="020B0604020202020204" pitchFamily="34" charset="0"/>
                <a:cs typeface="Arial" panose="020B0604020202020204" pitchFamily="34" charset="0"/>
              </a:rPr>
              <a:t>b</a:t>
            </a:r>
            <a:r>
              <a:rPr lang="en-US" dirty="0">
                <a:latin typeface="Arial" panose="020B0604020202020204" pitchFamily="34" charset="0"/>
                <a:cs typeface="Arial" panose="020B0604020202020204" pitchFamily="34" charset="0"/>
              </a:rPr>
              <a:t> each </a:t>
            </a:r>
            <a:r>
              <a:rPr lang="en-US" dirty="0">
                <a:solidFill>
                  <a:srgbClr val="FF0000"/>
                </a:solidFill>
                <a:latin typeface="Arial" panose="020B0604020202020204" pitchFamily="34" charset="0"/>
                <a:cs typeface="Arial" panose="020B0604020202020204" pitchFamily="34" charset="0"/>
              </a:rPr>
              <a:t>directly cause </a:t>
            </a:r>
            <a:r>
              <a:rPr lang="en-US" dirty="0">
                <a:latin typeface="Arial" panose="020B0604020202020204" pitchFamily="34" charset="0"/>
                <a:cs typeface="Arial" panose="020B0604020202020204" pitchFamily="34" charset="0"/>
              </a:rPr>
              <a:t>changes in variable B.</a:t>
            </a:r>
          </a:p>
          <a:p>
            <a:pPr marL="342900" indent="-342900">
              <a:lnSpc>
                <a:spcPct val="150000"/>
              </a:lnSpc>
              <a:buFont typeface="Arial" panose="020B0604020202020204" pitchFamily="34" charset="0"/>
              <a:buChar char="•"/>
            </a:pPr>
            <a:r>
              <a:rPr lang="en-US" dirty="0">
                <a:latin typeface="Arial" panose="020B0604020202020204" pitchFamily="34" charset="0"/>
                <a:cs typeface="Arial" panose="020B0604020202020204" pitchFamily="34" charset="0"/>
              </a:rPr>
              <a:t>Variables B and </a:t>
            </a:r>
            <a:r>
              <a:rPr lang="en-US" dirty="0" err="1">
                <a:latin typeface="Arial" panose="020B0604020202020204" pitchFamily="34" charset="0"/>
                <a:cs typeface="Arial" panose="020B0604020202020204" pitchFamily="34" charset="0"/>
              </a:rPr>
              <a:t>e</a:t>
            </a:r>
            <a:r>
              <a:rPr lang="en-US" baseline="-25000" dirty="0" err="1">
                <a:latin typeface="Arial" panose="020B0604020202020204" pitchFamily="34" charset="0"/>
                <a:cs typeface="Arial" panose="020B0604020202020204" pitchFamily="34" charset="0"/>
              </a:rPr>
              <a:t>c</a:t>
            </a:r>
            <a:r>
              <a:rPr lang="en-US" dirty="0">
                <a:latin typeface="Arial" panose="020B0604020202020204" pitchFamily="34" charset="0"/>
                <a:cs typeface="Arial" panose="020B0604020202020204" pitchFamily="34" charset="0"/>
              </a:rPr>
              <a:t> </a:t>
            </a:r>
            <a:r>
              <a:rPr lang="en-US" dirty="0">
                <a:solidFill>
                  <a:srgbClr val="FF0000"/>
                </a:solidFill>
                <a:latin typeface="Arial" panose="020B0604020202020204" pitchFamily="34" charset="0"/>
                <a:cs typeface="Arial" panose="020B0604020202020204" pitchFamily="34" charset="0"/>
              </a:rPr>
              <a:t>are also causally independent </a:t>
            </a:r>
            <a:r>
              <a:rPr lang="en-US" dirty="0">
                <a:latin typeface="Arial" panose="020B0604020202020204" pitchFamily="34" charset="0"/>
                <a:cs typeface="Arial" panose="020B0604020202020204" pitchFamily="34" charset="0"/>
              </a:rPr>
              <a:t>of each other and </a:t>
            </a:r>
            <a:r>
              <a:rPr lang="en-US" dirty="0">
                <a:solidFill>
                  <a:srgbClr val="FF0000"/>
                </a:solidFill>
                <a:latin typeface="Arial" panose="020B0604020202020204" pitchFamily="34" charset="0"/>
                <a:cs typeface="Arial" panose="020B0604020202020204" pitchFamily="34" charset="0"/>
              </a:rPr>
              <a:t>each directly causes changes</a:t>
            </a:r>
            <a:r>
              <a:rPr lang="en-US" dirty="0">
                <a:latin typeface="Arial" panose="020B0604020202020204" pitchFamily="34" charset="0"/>
                <a:cs typeface="Arial" panose="020B0604020202020204" pitchFamily="34" charset="0"/>
              </a:rPr>
              <a:t> in variable C. </a:t>
            </a:r>
          </a:p>
        </p:txBody>
      </p:sp>
      <p:sp>
        <p:nvSpPr>
          <p:cNvPr id="16" name="TextBox 15">
            <a:extLst>
              <a:ext uri="{FF2B5EF4-FFF2-40B4-BE49-F238E27FC236}">
                <a16:creationId xmlns:a16="http://schemas.microsoft.com/office/drawing/2014/main" id="{515484B0-261F-6FC6-099A-EE29A0C89C4B}"/>
              </a:ext>
            </a:extLst>
          </p:cNvPr>
          <p:cNvSpPr txBox="1"/>
          <p:nvPr/>
        </p:nvSpPr>
        <p:spPr>
          <a:xfrm>
            <a:off x="253225" y="5659688"/>
            <a:ext cx="6521683" cy="369332"/>
          </a:xfrm>
          <a:prstGeom prst="rect">
            <a:avLst/>
          </a:prstGeom>
          <a:noFill/>
        </p:spPr>
        <p:txBody>
          <a:bodyPr wrap="square">
            <a:spAutoFit/>
          </a:bodyPr>
          <a:lstStyle/>
          <a:p>
            <a:r>
              <a:rPr lang="en-US" dirty="0">
                <a:latin typeface="Arial" panose="020B0604020202020204" pitchFamily="34" charset="0"/>
                <a:cs typeface="Arial" panose="020B0604020202020204" pitchFamily="34" charset="0"/>
              </a:rPr>
              <a:t>The same causal hypothesis expresses as a DAG</a:t>
            </a:r>
          </a:p>
        </p:txBody>
      </p:sp>
      <p:sp>
        <p:nvSpPr>
          <p:cNvPr id="6" name="TextBox 5">
            <a:extLst>
              <a:ext uri="{FF2B5EF4-FFF2-40B4-BE49-F238E27FC236}">
                <a16:creationId xmlns:a16="http://schemas.microsoft.com/office/drawing/2014/main" id="{7F228C05-56E7-DE06-9EB2-40E6788F598F}"/>
              </a:ext>
            </a:extLst>
          </p:cNvPr>
          <p:cNvSpPr txBox="1"/>
          <p:nvPr/>
        </p:nvSpPr>
        <p:spPr>
          <a:xfrm>
            <a:off x="4324159" y="3386062"/>
            <a:ext cx="4572000" cy="2031325"/>
          </a:xfrm>
          <a:prstGeom prst="rect">
            <a:avLst/>
          </a:prstGeom>
          <a:noFill/>
        </p:spPr>
        <p:txBody>
          <a:bodyPr wrap="square">
            <a:spAutoFit/>
          </a:bodyPr>
          <a:lstStyle/>
          <a:p>
            <a:r>
              <a:rPr lang="en-US" b="1" dirty="0">
                <a:latin typeface="Arial" panose="020B0604020202020204" pitchFamily="34" charset="0"/>
                <a:cs typeface="Arial" panose="020B0604020202020204" pitchFamily="34" charset="0"/>
              </a:rPr>
              <a:t>Important:</a:t>
            </a:r>
            <a:r>
              <a:rPr lang="en-US" dirty="0">
                <a:latin typeface="Arial" panose="020B0604020202020204" pitchFamily="34" charset="0"/>
                <a:cs typeface="Arial" panose="020B0604020202020204" pitchFamily="34" charset="0"/>
              </a:rPr>
              <a:t> the mathematical statement, X</a:t>
            </a:r>
            <a:r>
              <a:rPr lang="en-US" dirty="0">
                <a:latin typeface="Arial" panose="020B0604020202020204" pitchFamily="34" charset="0"/>
                <a:cs typeface="Arial" panose="020B0604020202020204" pitchFamily="34" charset="0"/>
                <a:sym typeface="Wingdings" pitchFamily="2" charset="2"/>
              </a:rPr>
              <a:t>Y in a DAG DOES NOT mean X is correlated with Y.  It means that “A change in X will provoke a change in Y even when all other variables in the DAG are prevented from changing but a change in Y will not provoke a change in X”</a:t>
            </a:r>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9202904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Conector recto de flecha 4">
            <a:extLst>
              <a:ext uri="{FF2B5EF4-FFF2-40B4-BE49-F238E27FC236}">
                <a16:creationId xmlns:a16="http://schemas.microsoft.com/office/drawing/2014/main" id="{BF929ADB-1A79-72A7-B91D-3C82659E9D0B}"/>
              </a:ext>
            </a:extLst>
          </p:cNvPr>
          <p:cNvCxnSpPr>
            <a:cxnSpLocks/>
          </p:cNvCxnSpPr>
          <p:nvPr/>
        </p:nvCxnSpPr>
        <p:spPr>
          <a:xfrm>
            <a:off x="1384530" y="1251561"/>
            <a:ext cx="686564" cy="0"/>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5" name="CuadroTexto 5">
            <a:extLst>
              <a:ext uri="{FF2B5EF4-FFF2-40B4-BE49-F238E27FC236}">
                <a16:creationId xmlns:a16="http://schemas.microsoft.com/office/drawing/2014/main" id="{26AA9160-C158-6996-7F47-7083AF41391F}"/>
              </a:ext>
            </a:extLst>
          </p:cNvPr>
          <p:cNvSpPr txBox="1"/>
          <p:nvPr/>
        </p:nvSpPr>
        <p:spPr>
          <a:xfrm>
            <a:off x="2232853" y="988894"/>
            <a:ext cx="543739" cy="523220"/>
          </a:xfrm>
          <a:prstGeom prst="rect">
            <a:avLst/>
          </a:prstGeom>
          <a:noFill/>
          <a:ln w="25400">
            <a:solidFill>
              <a:schemeClr val="bg1"/>
            </a:solidFill>
          </a:ln>
        </p:spPr>
        <p:txBody>
          <a:bodyPr wrap="none" rtlCol="0">
            <a:spAutoFit/>
          </a:bodyPr>
          <a:lstStyle/>
          <a:p>
            <a:r>
              <a:rPr lang="es-ES" sz="2800" dirty="0">
                <a:latin typeface="Arial" panose="020B0604020202020204" pitchFamily="34" charset="0"/>
                <a:cs typeface="Arial" panose="020B0604020202020204" pitchFamily="34" charset="0"/>
              </a:rPr>
              <a:t>U </a:t>
            </a:r>
            <a:endParaRPr lang="es-ES" sz="2800" baseline="-25000" dirty="0">
              <a:latin typeface="Arial" panose="020B0604020202020204" pitchFamily="34" charset="0"/>
              <a:cs typeface="Arial" panose="020B0604020202020204" pitchFamily="34" charset="0"/>
            </a:endParaRPr>
          </a:p>
        </p:txBody>
      </p:sp>
      <p:sp>
        <p:nvSpPr>
          <p:cNvPr id="6" name="CuadroTexto 5">
            <a:extLst>
              <a:ext uri="{FF2B5EF4-FFF2-40B4-BE49-F238E27FC236}">
                <a16:creationId xmlns:a16="http://schemas.microsoft.com/office/drawing/2014/main" id="{E4E153E7-F732-B763-4236-9521757F7C1B}"/>
              </a:ext>
            </a:extLst>
          </p:cNvPr>
          <p:cNvSpPr txBox="1"/>
          <p:nvPr/>
        </p:nvSpPr>
        <p:spPr>
          <a:xfrm>
            <a:off x="780751" y="1001014"/>
            <a:ext cx="522900" cy="523220"/>
          </a:xfrm>
          <a:prstGeom prst="rect">
            <a:avLst/>
          </a:prstGeom>
          <a:noFill/>
          <a:ln w="25400">
            <a:solidFill>
              <a:schemeClr val="bg1"/>
            </a:solidFill>
          </a:ln>
        </p:spPr>
        <p:txBody>
          <a:bodyPr wrap="none" rtlCol="0">
            <a:spAutoFit/>
          </a:bodyPr>
          <a:lstStyle/>
          <a:p>
            <a:r>
              <a:rPr lang="es-ES" sz="2800" dirty="0">
                <a:latin typeface="Arial" panose="020B0604020202020204" pitchFamily="34" charset="0"/>
                <a:cs typeface="Arial" panose="020B0604020202020204" pitchFamily="34" charset="0"/>
              </a:rPr>
              <a:t>X </a:t>
            </a:r>
            <a:endParaRPr lang="es-ES" sz="2800" baseline="-25000" dirty="0">
              <a:latin typeface="Arial" panose="020B0604020202020204" pitchFamily="34" charset="0"/>
              <a:cs typeface="Arial" panose="020B0604020202020204" pitchFamily="34" charset="0"/>
            </a:endParaRPr>
          </a:p>
        </p:txBody>
      </p:sp>
      <p:sp>
        <p:nvSpPr>
          <p:cNvPr id="7" name="CuadroTexto 5">
            <a:extLst>
              <a:ext uri="{FF2B5EF4-FFF2-40B4-BE49-F238E27FC236}">
                <a16:creationId xmlns:a16="http://schemas.microsoft.com/office/drawing/2014/main" id="{54E0FF05-5775-E0A3-29B8-A103BE8A4276}"/>
              </a:ext>
            </a:extLst>
          </p:cNvPr>
          <p:cNvSpPr txBox="1"/>
          <p:nvPr/>
        </p:nvSpPr>
        <p:spPr>
          <a:xfrm>
            <a:off x="3594870" y="988894"/>
            <a:ext cx="522900" cy="523220"/>
          </a:xfrm>
          <a:prstGeom prst="rect">
            <a:avLst/>
          </a:prstGeom>
          <a:noFill/>
          <a:ln w="25400">
            <a:solidFill>
              <a:schemeClr val="bg1"/>
            </a:solidFill>
          </a:ln>
        </p:spPr>
        <p:txBody>
          <a:bodyPr wrap="none" rtlCol="0">
            <a:spAutoFit/>
          </a:bodyPr>
          <a:lstStyle/>
          <a:p>
            <a:r>
              <a:rPr lang="es-ES" sz="2800" dirty="0">
                <a:latin typeface="Arial" panose="020B0604020202020204" pitchFamily="34" charset="0"/>
                <a:cs typeface="Arial" panose="020B0604020202020204" pitchFamily="34" charset="0"/>
              </a:rPr>
              <a:t>V </a:t>
            </a:r>
            <a:endParaRPr lang="es-ES" sz="2800" baseline="-25000" dirty="0">
              <a:latin typeface="Arial" panose="020B0604020202020204" pitchFamily="34" charset="0"/>
              <a:cs typeface="Arial" panose="020B0604020202020204" pitchFamily="34" charset="0"/>
            </a:endParaRPr>
          </a:p>
        </p:txBody>
      </p:sp>
      <p:cxnSp>
        <p:nvCxnSpPr>
          <p:cNvPr id="8" name="Conector recto de flecha 4">
            <a:extLst>
              <a:ext uri="{FF2B5EF4-FFF2-40B4-BE49-F238E27FC236}">
                <a16:creationId xmlns:a16="http://schemas.microsoft.com/office/drawing/2014/main" id="{99C3D733-DA68-2DD7-C2DD-3B2C2D22EA9A}"/>
              </a:ext>
            </a:extLst>
          </p:cNvPr>
          <p:cNvCxnSpPr>
            <a:cxnSpLocks/>
          </p:cNvCxnSpPr>
          <p:nvPr/>
        </p:nvCxnSpPr>
        <p:spPr>
          <a:xfrm flipH="1">
            <a:off x="2706020" y="1250503"/>
            <a:ext cx="782518" cy="0"/>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9" name="CuadroTexto 5">
            <a:extLst>
              <a:ext uri="{FF2B5EF4-FFF2-40B4-BE49-F238E27FC236}">
                <a16:creationId xmlns:a16="http://schemas.microsoft.com/office/drawing/2014/main" id="{21799D54-DF23-4A87-3F00-85C29F02CAA6}"/>
              </a:ext>
            </a:extLst>
          </p:cNvPr>
          <p:cNvSpPr txBox="1"/>
          <p:nvPr/>
        </p:nvSpPr>
        <p:spPr>
          <a:xfrm>
            <a:off x="2305013" y="2252265"/>
            <a:ext cx="655949" cy="523220"/>
          </a:xfrm>
          <a:prstGeom prst="rect">
            <a:avLst/>
          </a:prstGeom>
          <a:noFill/>
          <a:ln w="25400">
            <a:solidFill>
              <a:schemeClr val="bg1"/>
            </a:solidFill>
          </a:ln>
        </p:spPr>
        <p:txBody>
          <a:bodyPr wrap="none" rtlCol="0">
            <a:spAutoFit/>
          </a:bodyPr>
          <a:lstStyle/>
          <a:p>
            <a:r>
              <a:rPr lang="es-ES" sz="2800" dirty="0">
                <a:latin typeface="Arial" panose="020B0604020202020204" pitchFamily="34" charset="0"/>
                <a:cs typeface="Arial" panose="020B0604020202020204" pitchFamily="34" charset="0"/>
              </a:rPr>
              <a:t>S</a:t>
            </a:r>
            <a:r>
              <a:rPr lang="es-ES" sz="2800" baseline="-25000" dirty="0">
                <a:latin typeface="Arial" panose="020B0604020202020204" pitchFamily="34" charset="0"/>
                <a:cs typeface="Arial" panose="020B0604020202020204" pitchFamily="34" charset="0"/>
              </a:rPr>
              <a:t>1</a:t>
            </a:r>
            <a:r>
              <a:rPr lang="es-ES" sz="2800" dirty="0">
                <a:latin typeface="Arial" panose="020B0604020202020204" pitchFamily="34" charset="0"/>
                <a:cs typeface="Arial" panose="020B0604020202020204" pitchFamily="34" charset="0"/>
              </a:rPr>
              <a:t> </a:t>
            </a:r>
            <a:endParaRPr lang="es-ES" sz="2800" baseline="-25000" dirty="0">
              <a:latin typeface="Arial" panose="020B0604020202020204" pitchFamily="34" charset="0"/>
              <a:cs typeface="Arial" panose="020B0604020202020204" pitchFamily="34" charset="0"/>
            </a:endParaRPr>
          </a:p>
        </p:txBody>
      </p:sp>
      <p:sp>
        <p:nvSpPr>
          <p:cNvPr id="10" name="CuadroTexto 5">
            <a:extLst>
              <a:ext uri="{FF2B5EF4-FFF2-40B4-BE49-F238E27FC236}">
                <a16:creationId xmlns:a16="http://schemas.microsoft.com/office/drawing/2014/main" id="{96BA2F13-7C22-1D44-34AC-537F720AB4D7}"/>
              </a:ext>
            </a:extLst>
          </p:cNvPr>
          <p:cNvSpPr txBox="1"/>
          <p:nvPr/>
        </p:nvSpPr>
        <p:spPr>
          <a:xfrm>
            <a:off x="3643957" y="2252265"/>
            <a:ext cx="655949" cy="523220"/>
          </a:xfrm>
          <a:prstGeom prst="rect">
            <a:avLst/>
          </a:prstGeom>
          <a:noFill/>
          <a:ln w="25400">
            <a:solidFill>
              <a:schemeClr val="bg1"/>
            </a:solidFill>
          </a:ln>
        </p:spPr>
        <p:txBody>
          <a:bodyPr wrap="none" rtlCol="0">
            <a:spAutoFit/>
          </a:bodyPr>
          <a:lstStyle/>
          <a:p>
            <a:r>
              <a:rPr lang="es-ES" sz="2800" dirty="0">
                <a:latin typeface="Arial" panose="020B0604020202020204" pitchFamily="34" charset="0"/>
                <a:cs typeface="Arial" panose="020B0604020202020204" pitchFamily="34" charset="0"/>
              </a:rPr>
              <a:t>S</a:t>
            </a:r>
            <a:r>
              <a:rPr lang="es-ES" sz="2800" baseline="-25000" dirty="0">
                <a:latin typeface="Arial" panose="020B0604020202020204" pitchFamily="34" charset="0"/>
                <a:cs typeface="Arial" panose="020B0604020202020204" pitchFamily="34" charset="0"/>
              </a:rPr>
              <a:t>2</a:t>
            </a:r>
            <a:r>
              <a:rPr lang="es-ES" sz="2800" dirty="0">
                <a:latin typeface="Arial" panose="020B0604020202020204" pitchFamily="34" charset="0"/>
                <a:cs typeface="Arial" panose="020B0604020202020204" pitchFamily="34" charset="0"/>
              </a:rPr>
              <a:t> </a:t>
            </a:r>
            <a:endParaRPr lang="es-ES" sz="2800" baseline="-25000" dirty="0">
              <a:latin typeface="Arial" panose="020B0604020202020204" pitchFamily="34" charset="0"/>
              <a:cs typeface="Arial" panose="020B0604020202020204" pitchFamily="34" charset="0"/>
            </a:endParaRPr>
          </a:p>
        </p:txBody>
      </p:sp>
      <p:cxnSp>
        <p:nvCxnSpPr>
          <p:cNvPr id="11" name="Conector recto de flecha 4">
            <a:extLst>
              <a:ext uri="{FF2B5EF4-FFF2-40B4-BE49-F238E27FC236}">
                <a16:creationId xmlns:a16="http://schemas.microsoft.com/office/drawing/2014/main" id="{72A2A45B-93B0-4D37-BA89-A256F2A27386}"/>
              </a:ext>
            </a:extLst>
          </p:cNvPr>
          <p:cNvCxnSpPr>
            <a:cxnSpLocks/>
          </p:cNvCxnSpPr>
          <p:nvPr/>
        </p:nvCxnSpPr>
        <p:spPr>
          <a:xfrm>
            <a:off x="2489732" y="1502208"/>
            <a:ext cx="14990" cy="707505"/>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13" name="CuadroTexto 5">
            <a:extLst>
              <a:ext uri="{FF2B5EF4-FFF2-40B4-BE49-F238E27FC236}">
                <a16:creationId xmlns:a16="http://schemas.microsoft.com/office/drawing/2014/main" id="{D7BA0E5D-4F8A-92BB-F870-A6AFD4A69472}"/>
              </a:ext>
            </a:extLst>
          </p:cNvPr>
          <p:cNvSpPr txBox="1"/>
          <p:nvPr/>
        </p:nvSpPr>
        <p:spPr>
          <a:xfrm>
            <a:off x="4652770" y="988893"/>
            <a:ext cx="522900" cy="523220"/>
          </a:xfrm>
          <a:prstGeom prst="rect">
            <a:avLst/>
          </a:prstGeom>
          <a:noFill/>
          <a:ln w="25400">
            <a:solidFill>
              <a:schemeClr val="bg1"/>
            </a:solidFill>
          </a:ln>
        </p:spPr>
        <p:txBody>
          <a:bodyPr wrap="square" rtlCol="0">
            <a:spAutoFit/>
          </a:bodyPr>
          <a:lstStyle/>
          <a:p>
            <a:r>
              <a:rPr lang="es-ES" sz="2800" dirty="0">
                <a:latin typeface="Arial" panose="020B0604020202020204" pitchFamily="34" charset="0"/>
                <a:cs typeface="Arial" panose="020B0604020202020204" pitchFamily="34" charset="0"/>
              </a:rPr>
              <a:t>W </a:t>
            </a:r>
            <a:endParaRPr lang="es-ES" sz="2800" baseline="-25000" dirty="0">
              <a:latin typeface="Arial" panose="020B0604020202020204" pitchFamily="34" charset="0"/>
              <a:cs typeface="Arial" panose="020B0604020202020204" pitchFamily="34" charset="0"/>
            </a:endParaRPr>
          </a:p>
        </p:txBody>
      </p:sp>
      <p:sp>
        <p:nvSpPr>
          <p:cNvPr id="14" name="CuadroTexto 5">
            <a:extLst>
              <a:ext uri="{FF2B5EF4-FFF2-40B4-BE49-F238E27FC236}">
                <a16:creationId xmlns:a16="http://schemas.microsoft.com/office/drawing/2014/main" id="{43E3DEAD-BF43-4BE7-6652-F8B6E6BC89F1}"/>
              </a:ext>
            </a:extLst>
          </p:cNvPr>
          <p:cNvSpPr txBox="1"/>
          <p:nvPr/>
        </p:nvSpPr>
        <p:spPr>
          <a:xfrm>
            <a:off x="6017753" y="1001014"/>
            <a:ext cx="516423" cy="523220"/>
          </a:xfrm>
          <a:prstGeom prst="rect">
            <a:avLst/>
          </a:prstGeom>
          <a:noFill/>
          <a:ln w="25400">
            <a:solidFill>
              <a:schemeClr val="bg1"/>
            </a:solidFill>
          </a:ln>
        </p:spPr>
        <p:txBody>
          <a:bodyPr wrap="none" rtlCol="0">
            <a:spAutoFit/>
          </a:bodyPr>
          <a:lstStyle/>
          <a:p>
            <a:r>
              <a:rPr lang="es-ES" sz="2800" dirty="0">
                <a:latin typeface="Arial" panose="020B0604020202020204" pitchFamily="34" charset="0"/>
                <a:cs typeface="Arial" panose="020B0604020202020204" pitchFamily="34" charset="0"/>
              </a:rPr>
              <a:t>Y </a:t>
            </a:r>
            <a:endParaRPr lang="es-ES" sz="2800" baseline="-25000" dirty="0">
              <a:latin typeface="Arial" panose="020B0604020202020204" pitchFamily="34" charset="0"/>
              <a:cs typeface="Arial" panose="020B0604020202020204" pitchFamily="34" charset="0"/>
            </a:endParaRPr>
          </a:p>
        </p:txBody>
      </p:sp>
      <p:cxnSp>
        <p:nvCxnSpPr>
          <p:cNvPr id="16" name="Conector recto de flecha 4">
            <a:extLst>
              <a:ext uri="{FF2B5EF4-FFF2-40B4-BE49-F238E27FC236}">
                <a16:creationId xmlns:a16="http://schemas.microsoft.com/office/drawing/2014/main" id="{3658A99C-9F5A-D2A7-17AF-33362EC70AC2}"/>
              </a:ext>
            </a:extLst>
          </p:cNvPr>
          <p:cNvCxnSpPr>
            <a:cxnSpLocks/>
          </p:cNvCxnSpPr>
          <p:nvPr/>
        </p:nvCxnSpPr>
        <p:spPr>
          <a:xfrm>
            <a:off x="3804042" y="1529236"/>
            <a:ext cx="14990" cy="707505"/>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8" name="Conector recto de flecha 4">
            <a:extLst>
              <a:ext uri="{FF2B5EF4-FFF2-40B4-BE49-F238E27FC236}">
                <a16:creationId xmlns:a16="http://schemas.microsoft.com/office/drawing/2014/main" id="{153C0B1D-88B2-9005-B9F4-D776C24888A4}"/>
              </a:ext>
            </a:extLst>
          </p:cNvPr>
          <p:cNvCxnSpPr>
            <a:cxnSpLocks/>
          </p:cNvCxnSpPr>
          <p:nvPr/>
        </p:nvCxnSpPr>
        <p:spPr>
          <a:xfrm>
            <a:off x="3971434" y="1251561"/>
            <a:ext cx="686564" cy="0"/>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9" name="Conector recto de flecha 4">
            <a:extLst>
              <a:ext uri="{FF2B5EF4-FFF2-40B4-BE49-F238E27FC236}">
                <a16:creationId xmlns:a16="http://schemas.microsoft.com/office/drawing/2014/main" id="{7839E11F-01E4-709F-5A05-DE49499B68EA}"/>
              </a:ext>
            </a:extLst>
          </p:cNvPr>
          <p:cNvCxnSpPr>
            <a:cxnSpLocks/>
          </p:cNvCxnSpPr>
          <p:nvPr/>
        </p:nvCxnSpPr>
        <p:spPr>
          <a:xfrm flipH="1">
            <a:off x="5175670" y="1250503"/>
            <a:ext cx="782518" cy="0"/>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20" name="Conector recto de flecha 4">
            <a:extLst>
              <a:ext uri="{FF2B5EF4-FFF2-40B4-BE49-F238E27FC236}">
                <a16:creationId xmlns:a16="http://schemas.microsoft.com/office/drawing/2014/main" id="{5160A09A-F793-1A23-BE0C-7F963C6C643F}"/>
              </a:ext>
            </a:extLst>
          </p:cNvPr>
          <p:cNvCxnSpPr>
            <a:cxnSpLocks/>
          </p:cNvCxnSpPr>
          <p:nvPr/>
        </p:nvCxnSpPr>
        <p:spPr>
          <a:xfrm>
            <a:off x="1218691" y="3570557"/>
            <a:ext cx="686564" cy="0"/>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21" name="CuadroTexto 5">
            <a:extLst>
              <a:ext uri="{FF2B5EF4-FFF2-40B4-BE49-F238E27FC236}">
                <a16:creationId xmlns:a16="http://schemas.microsoft.com/office/drawing/2014/main" id="{50B0F533-2A53-D029-BA62-9CF1550FA294}"/>
              </a:ext>
            </a:extLst>
          </p:cNvPr>
          <p:cNvSpPr txBox="1"/>
          <p:nvPr/>
        </p:nvSpPr>
        <p:spPr>
          <a:xfrm>
            <a:off x="2135446" y="3385891"/>
            <a:ext cx="415498" cy="369332"/>
          </a:xfrm>
          <a:prstGeom prst="rect">
            <a:avLst/>
          </a:prstGeom>
          <a:noFill/>
          <a:ln w="25400">
            <a:solidFill>
              <a:schemeClr val="bg1"/>
            </a:solidFill>
          </a:ln>
        </p:spPr>
        <p:txBody>
          <a:bodyPr wrap="none" rtlCol="0">
            <a:spAutoFit/>
          </a:bodyPr>
          <a:lstStyle/>
          <a:p>
            <a:r>
              <a:rPr lang="es-ES" dirty="0">
                <a:latin typeface="Arial" panose="020B0604020202020204" pitchFamily="34" charset="0"/>
                <a:cs typeface="Arial" panose="020B0604020202020204" pitchFamily="34" charset="0"/>
              </a:rPr>
              <a:t>U </a:t>
            </a:r>
            <a:endParaRPr lang="es-ES" baseline="-25000" dirty="0">
              <a:latin typeface="Arial" panose="020B0604020202020204" pitchFamily="34" charset="0"/>
              <a:cs typeface="Arial" panose="020B0604020202020204" pitchFamily="34" charset="0"/>
            </a:endParaRPr>
          </a:p>
        </p:txBody>
      </p:sp>
      <p:sp>
        <p:nvSpPr>
          <p:cNvPr id="22" name="CuadroTexto 5">
            <a:extLst>
              <a:ext uri="{FF2B5EF4-FFF2-40B4-BE49-F238E27FC236}">
                <a16:creationId xmlns:a16="http://schemas.microsoft.com/office/drawing/2014/main" id="{AE968206-1E43-D775-78DF-3817DED4F40D}"/>
              </a:ext>
            </a:extLst>
          </p:cNvPr>
          <p:cNvSpPr txBox="1"/>
          <p:nvPr/>
        </p:nvSpPr>
        <p:spPr>
          <a:xfrm>
            <a:off x="780751" y="3308947"/>
            <a:ext cx="437940" cy="523220"/>
          </a:xfrm>
          <a:prstGeom prst="rect">
            <a:avLst/>
          </a:prstGeom>
          <a:noFill/>
          <a:ln w="25400">
            <a:solidFill>
              <a:schemeClr val="bg1"/>
            </a:solidFill>
          </a:ln>
        </p:spPr>
        <p:txBody>
          <a:bodyPr wrap="none" rtlCol="0">
            <a:spAutoFit/>
          </a:bodyPr>
          <a:lstStyle/>
          <a:p>
            <a:r>
              <a:rPr lang="es-ES" dirty="0">
                <a:latin typeface="Arial" panose="020B0604020202020204" pitchFamily="34" charset="0"/>
                <a:cs typeface="Arial" panose="020B0604020202020204" pitchFamily="34" charset="0"/>
              </a:rPr>
              <a:t>X</a:t>
            </a:r>
            <a:r>
              <a:rPr lang="es-ES" sz="2800" dirty="0">
                <a:latin typeface="Arial" panose="020B0604020202020204" pitchFamily="34" charset="0"/>
                <a:cs typeface="Arial" panose="020B0604020202020204" pitchFamily="34" charset="0"/>
              </a:rPr>
              <a:t> </a:t>
            </a:r>
            <a:endParaRPr lang="es-ES" sz="2800" baseline="-25000" dirty="0">
              <a:latin typeface="Arial" panose="020B0604020202020204" pitchFamily="34" charset="0"/>
              <a:cs typeface="Arial" panose="020B0604020202020204" pitchFamily="34" charset="0"/>
            </a:endParaRPr>
          </a:p>
        </p:txBody>
      </p:sp>
      <p:sp>
        <p:nvSpPr>
          <p:cNvPr id="23" name="CuadroTexto 5">
            <a:extLst>
              <a:ext uri="{FF2B5EF4-FFF2-40B4-BE49-F238E27FC236}">
                <a16:creationId xmlns:a16="http://schemas.microsoft.com/office/drawing/2014/main" id="{9D1AEF5A-E079-B4C5-DFD4-DBE989F650F4}"/>
              </a:ext>
            </a:extLst>
          </p:cNvPr>
          <p:cNvSpPr txBox="1"/>
          <p:nvPr/>
        </p:nvSpPr>
        <p:spPr>
          <a:xfrm>
            <a:off x="3643957" y="3385891"/>
            <a:ext cx="487634" cy="369332"/>
          </a:xfrm>
          <a:prstGeom prst="rect">
            <a:avLst/>
          </a:prstGeom>
          <a:noFill/>
          <a:ln w="25400">
            <a:solidFill>
              <a:schemeClr val="bg1"/>
            </a:solidFill>
          </a:ln>
        </p:spPr>
        <p:txBody>
          <a:bodyPr wrap="none" rtlCol="0">
            <a:spAutoFit/>
          </a:bodyPr>
          <a:lstStyle/>
          <a:p>
            <a:r>
              <a:rPr lang="es-ES" dirty="0">
                <a:latin typeface="Arial" panose="020B0604020202020204" pitchFamily="34" charset="0"/>
                <a:cs typeface="Arial" panose="020B0604020202020204" pitchFamily="34" charset="0"/>
              </a:rPr>
              <a:t>S</a:t>
            </a:r>
            <a:r>
              <a:rPr lang="es-ES" baseline="-25000" dirty="0">
                <a:latin typeface="Arial" panose="020B0604020202020204" pitchFamily="34" charset="0"/>
                <a:cs typeface="Arial" panose="020B0604020202020204" pitchFamily="34" charset="0"/>
              </a:rPr>
              <a:t>1</a:t>
            </a:r>
            <a:r>
              <a:rPr lang="es-ES" dirty="0">
                <a:latin typeface="Arial" panose="020B0604020202020204" pitchFamily="34" charset="0"/>
                <a:cs typeface="Arial" panose="020B0604020202020204" pitchFamily="34" charset="0"/>
              </a:rPr>
              <a:t> </a:t>
            </a:r>
            <a:endParaRPr lang="es-ES" baseline="-25000" dirty="0">
              <a:latin typeface="Arial" panose="020B0604020202020204" pitchFamily="34" charset="0"/>
              <a:cs typeface="Arial" panose="020B0604020202020204" pitchFamily="34" charset="0"/>
            </a:endParaRPr>
          </a:p>
        </p:txBody>
      </p:sp>
      <p:cxnSp>
        <p:nvCxnSpPr>
          <p:cNvPr id="24" name="Conector recto de flecha 4">
            <a:extLst>
              <a:ext uri="{FF2B5EF4-FFF2-40B4-BE49-F238E27FC236}">
                <a16:creationId xmlns:a16="http://schemas.microsoft.com/office/drawing/2014/main" id="{42C9D86F-76D8-6723-F563-A0CC4DD9B45D}"/>
              </a:ext>
            </a:extLst>
          </p:cNvPr>
          <p:cNvCxnSpPr>
            <a:cxnSpLocks/>
          </p:cNvCxnSpPr>
          <p:nvPr/>
        </p:nvCxnSpPr>
        <p:spPr>
          <a:xfrm>
            <a:off x="2632987" y="3570557"/>
            <a:ext cx="807731" cy="0"/>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6D47070A-24D3-CBAC-BFA9-B420BB842026}"/>
              </a:ext>
            </a:extLst>
          </p:cNvPr>
          <p:cNvSpPr txBox="1"/>
          <p:nvPr/>
        </p:nvSpPr>
        <p:spPr>
          <a:xfrm>
            <a:off x="4471216" y="3384799"/>
            <a:ext cx="1804748" cy="369332"/>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Directed path </a:t>
            </a:r>
          </a:p>
        </p:txBody>
      </p:sp>
      <p:cxnSp>
        <p:nvCxnSpPr>
          <p:cNvPr id="27" name="Conector recto de flecha 4">
            <a:extLst>
              <a:ext uri="{FF2B5EF4-FFF2-40B4-BE49-F238E27FC236}">
                <a16:creationId xmlns:a16="http://schemas.microsoft.com/office/drawing/2014/main" id="{F92C0D1B-AC7E-901E-A4D0-F0C7A55BE2A5}"/>
              </a:ext>
            </a:extLst>
          </p:cNvPr>
          <p:cNvCxnSpPr>
            <a:cxnSpLocks/>
          </p:cNvCxnSpPr>
          <p:nvPr/>
        </p:nvCxnSpPr>
        <p:spPr>
          <a:xfrm>
            <a:off x="1218691" y="4267065"/>
            <a:ext cx="686564" cy="0"/>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28" name="CuadroTexto 5">
            <a:extLst>
              <a:ext uri="{FF2B5EF4-FFF2-40B4-BE49-F238E27FC236}">
                <a16:creationId xmlns:a16="http://schemas.microsoft.com/office/drawing/2014/main" id="{69323758-FFCA-4787-622F-D48140BB8BD3}"/>
              </a:ext>
            </a:extLst>
          </p:cNvPr>
          <p:cNvSpPr txBox="1"/>
          <p:nvPr/>
        </p:nvSpPr>
        <p:spPr>
          <a:xfrm>
            <a:off x="2135446" y="4082399"/>
            <a:ext cx="415498" cy="369332"/>
          </a:xfrm>
          <a:prstGeom prst="rect">
            <a:avLst/>
          </a:prstGeom>
          <a:noFill/>
          <a:ln w="25400">
            <a:solidFill>
              <a:schemeClr val="bg1"/>
            </a:solidFill>
          </a:ln>
        </p:spPr>
        <p:txBody>
          <a:bodyPr wrap="none" rtlCol="0">
            <a:spAutoFit/>
          </a:bodyPr>
          <a:lstStyle/>
          <a:p>
            <a:r>
              <a:rPr lang="es-ES" dirty="0">
                <a:latin typeface="Arial" panose="020B0604020202020204" pitchFamily="34" charset="0"/>
                <a:cs typeface="Arial" panose="020B0604020202020204" pitchFamily="34" charset="0"/>
              </a:rPr>
              <a:t>U </a:t>
            </a:r>
            <a:endParaRPr lang="es-ES" baseline="-25000" dirty="0">
              <a:latin typeface="Arial" panose="020B0604020202020204" pitchFamily="34" charset="0"/>
              <a:cs typeface="Arial" panose="020B0604020202020204" pitchFamily="34" charset="0"/>
            </a:endParaRPr>
          </a:p>
        </p:txBody>
      </p:sp>
      <p:sp>
        <p:nvSpPr>
          <p:cNvPr id="29" name="CuadroTexto 5">
            <a:extLst>
              <a:ext uri="{FF2B5EF4-FFF2-40B4-BE49-F238E27FC236}">
                <a16:creationId xmlns:a16="http://schemas.microsoft.com/office/drawing/2014/main" id="{83794A45-2BDA-1B83-D5C0-ADEE9D7FA302}"/>
              </a:ext>
            </a:extLst>
          </p:cNvPr>
          <p:cNvSpPr txBox="1"/>
          <p:nvPr/>
        </p:nvSpPr>
        <p:spPr>
          <a:xfrm>
            <a:off x="780751" y="4005455"/>
            <a:ext cx="437940" cy="523220"/>
          </a:xfrm>
          <a:prstGeom prst="rect">
            <a:avLst/>
          </a:prstGeom>
          <a:noFill/>
          <a:ln w="25400">
            <a:solidFill>
              <a:schemeClr val="bg1"/>
            </a:solidFill>
          </a:ln>
        </p:spPr>
        <p:txBody>
          <a:bodyPr wrap="none" rtlCol="0">
            <a:spAutoFit/>
          </a:bodyPr>
          <a:lstStyle/>
          <a:p>
            <a:r>
              <a:rPr lang="es-ES" dirty="0">
                <a:latin typeface="Arial" panose="020B0604020202020204" pitchFamily="34" charset="0"/>
                <a:cs typeface="Arial" panose="020B0604020202020204" pitchFamily="34" charset="0"/>
              </a:rPr>
              <a:t>X</a:t>
            </a:r>
            <a:r>
              <a:rPr lang="es-ES" sz="2800" dirty="0">
                <a:latin typeface="Arial" panose="020B0604020202020204" pitchFamily="34" charset="0"/>
                <a:cs typeface="Arial" panose="020B0604020202020204" pitchFamily="34" charset="0"/>
              </a:rPr>
              <a:t> </a:t>
            </a:r>
            <a:endParaRPr lang="es-ES" sz="2800" baseline="-25000" dirty="0">
              <a:latin typeface="Arial" panose="020B0604020202020204" pitchFamily="34" charset="0"/>
              <a:cs typeface="Arial" panose="020B0604020202020204" pitchFamily="34" charset="0"/>
            </a:endParaRPr>
          </a:p>
        </p:txBody>
      </p:sp>
      <p:sp>
        <p:nvSpPr>
          <p:cNvPr id="30" name="CuadroTexto 5">
            <a:extLst>
              <a:ext uri="{FF2B5EF4-FFF2-40B4-BE49-F238E27FC236}">
                <a16:creationId xmlns:a16="http://schemas.microsoft.com/office/drawing/2014/main" id="{6AED52B7-C3AE-DEF0-3875-878B3F36EB29}"/>
              </a:ext>
            </a:extLst>
          </p:cNvPr>
          <p:cNvSpPr txBox="1"/>
          <p:nvPr/>
        </p:nvSpPr>
        <p:spPr>
          <a:xfrm>
            <a:off x="3643957" y="4082399"/>
            <a:ext cx="402674" cy="369332"/>
          </a:xfrm>
          <a:prstGeom prst="rect">
            <a:avLst/>
          </a:prstGeom>
          <a:noFill/>
          <a:ln w="25400">
            <a:solidFill>
              <a:schemeClr val="bg1"/>
            </a:solidFill>
          </a:ln>
        </p:spPr>
        <p:txBody>
          <a:bodyPr wrap="none" rtlCol="0">
            <a:spAutoFit/>
          </a:bodyPr>
          <a:lstStyle/>
          <a:p>
            <a:r>
              <a:rPr lang="es-ES" dirty="0">
                <a:latin typeface="Arial" panose="020B0604020202020204" pitchFamily="34" charset="0"/>
                <a:cs typeface="Arial" panose="020B0604020202020204" pitchFamily="34" charset="0"/>
              </a:rPr>
              <a:t>V </a:t>
            </a:r>
            <a:endParaRPr lang="es-ES" baseline="-25000" dirty="0">
              <a:latin typeface="Arial" panose="020B0604020202020204" pitchFamily="34" charset="0"/>
              <a:cs typeface="Arial" panose="020B0604020202020204" pitchFamily="34" charset="0"/>
            </a:endParaRPr>
          </a:p>
        </p:txBody>
      </p:sp>
      <p:cxnSp>
        <p:nvCxnSpPr>
          <p:cNvPr id="31" name="Conector recto de flecha 4">
            <a:extLst>
              <a:ext uri="{FF2B5EF4-FFF2-40B4-BE49-F238E27FC236}">
                <a16:creationId xmlns:a16="http://schemas.microsoft.com/office/drawing/2014/main" id="{3789E0C5-783A-120E-7626-1EE4155AED5B}"/>
              </a:ext>
            </a:extLst>
          </p:cNvPr>
          <p:cNvCxnSpPr>
            <a:cxnSpLocks/>
          </p:cNvCxnSpPr>
          <p:nvPr/>
        </p:nvCxnSpPr>
        <p:spPr>
          <a:xfrm flipH="1">
            <a:off x="2632987" y="4267065"/>
            <a:ext cx="855551" cy="0"/>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32" name="TextBox 31">
            <a:extLst>
              <a:ext uri="{FF2B5EF4-FFF2-40B4-BE49-F238E27FC236}">
                <a16:creationId xmlns:a16="http://schemas.microsoft.com/office/drawing/2014/main" id="{565251F7-1424-B35A-AAD0-482FCB00BAEE}"/>
              </a:ext>
            </a:extLst>
          </p:cNvPr>
          <p:cNvSpPr txBox="1"/>
          <p:nvPr/>
        </p:nvSpPr>
        <p:spPr>
          <a:xfrm>
            <a:off x="4471216" y="4081307"/>
            <a:ext cx="2062960" cy="369332"/>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(Undirected) path </a:t>
            </a:r>
          </a:p>
        </p:txBody>
      </p:sp>
      <p:sp>
        <p:nvSpPr>
          <p:cNvPr id="35" name="TextBox 34">
            <a:extLst>
              <a:ext uri="{FF2B5EF4-FFF2-40B4-BE49-F238E27FC236}">
                <a16:creationId xmlns:a16="http://schemas.microsoft.com/office/drawing/2014/main" id="{75EFBF5B-CC50-9530-557B-34EEF95EDF5C}"/>
              </a:ext>
            </a:extLst>
          </p:cNvPr>
          <p:cNvSpPr txBox="1"/>
          <p:nvPr/>
        </p:nvSpPr>
        <p:spPr>
          <a:xfrm>
            <a:off x="6693243" y="3405742"/>
            <a:ext cx="1804748" cy="369332"/>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Non-collider (U)</a:t>
            </a:r>
          </a:p>
        </p:txBody>
      </p:sp>
      <p:sp>
        <p:nvSpPr>
          <p:cNvPr id="36" name="TextBox 35">
            <a:extLst>
              <a:ext uri="{FF2B5EF4-FFF2-40B4-BE49-F238E27FC236}">
                <a16:creationId xmlns:a16="http://schemas.microsoft.com/office/drawing/2014/main" id="{983B97FF-5E5A-D6B2-3DEB-90B737D75D2C}"/>
              </a:ext>
            </a:extLst>
          </p:cNvPr>
          <p:cNvSpPr txBox="1"/>
          <p:nvPr/>
        </p:nvSpPr>
        <p:spPr>
          <a:xfrm>
            <a:off x="6727354" y="4069585"/>
            <a:ext cx="1804748" cy="369332"/>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Collider (U)</a:t>
            </a:r>
          </a:p>
        </p:txBody>
      </p:sp>
      <p:sp>
        <p:nvSpPr>
          <p:cNvPr id="38" name="TextBox 37">
            <a:extLst>
              <a:ext uri="{FF2B5EF4-FFF2-40B4-BE49-F238E27FC236}">
                <a16:creationId xmlns:a16="http://schemas.microsoft.com/office/drawing/2014/main" id="{43C42271-858D-56D6-B35C-485072D2DBD7}"/>
              </a:ext>
            </a:extLst>
          </p:cNvPr>
          <p:cNvSpPr txBox="1"/>
          <p:nvPr/>
        </p:nvSpPr>
        <p:spPr>
          <a:xfrm>
            <a:off x="780751" y="4803350"/>
            <a:ext cx="7498381" cy="1477328"/>
          </a:xfrm>
          <a:prstGeom prst="rect">
            <a:avLst/>
          </a:prstGeom>
          <a:noFill/>
        </p:spPr>
        <p:txBody>
          <a:bodyPr wrap="square">
            <a:spAutoFit/>
          </a:bodyPr>
          <a:lstStyle/>
          <a:p>
            <a:r>
              <a:rPr lang="en-US" dirty="0">
                <a:latin typeface="Arial" panose="020B0604020202020204" pitchFamily="34" charset="0"/>
                <a:cs typeface="Arial" panose="020B0604020202020204" pitchFamily="34" charset="0"/>
              </a:rPr>
              <a:t>Natural state of a variable along a path:</a:t>
            </a:r>
          </a:p>
          <a:p>
            <a:endParaRPr lang="en-US"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b="1" dirty="0">
                <a:latin typeface="Arial" panose="020B0604020202020204" pitchFamily="34" charset="0"/>
                <a:cs typeface="Arial" panose="020B0604020202020204" pitchFamily="34" charset="0"/>
              </a:rPr>
              <a:t>Collider:</a:t>
            </a:r>
            <a:r>
              <a:rPr lang="en-US" dirty="0">
                <a:latin typeface="Arial" panose="020B0604020202020204" pitchFamily="34" charset="0"/>
                <a:cs typeface="Arial" panose="020B0604020202020204" pitchFamily="34" charset="0"/>
              </a:rPr>
              <a:t> blocks the flow of statistical information through it.</a:t>
            </a:r>
          </a:p>
          <a:p>
            <a:r>
              <a:rPr lang="en-US" dirty="0">
                <a:latin typeface="Arial" panose="020B0604020202020204" pitchFamily="34" charset="0"/>
                <a:cs typeface="Arial" panose="020B0604020202020204" pitchFamily="34" charset="0"/>
              </a:rPr>
              <a:t> </a:t>
            </a:r>
          </a:p>
          <a:p>
            <a:pPr marL="285750" indent="-285750">
              <a:buFont typeface="Arial" panose="020B0604020202020204" pitchFamily="34" charset="0"/>
              <a:buChar char="•"/>
            </a:pPr>
            <a:r>
              <a:rPr lang="en-US" b="1" dirty="0">
                <a:latin typeface="Arial" panose="020B0604020202020204" pitchFamily="34" charset="0"/>
                <a:cs typeface="Arial" panose="020B0604020202020204" pitchFamily="34" charset="0"/>
              </a:rPr>
              <a:t>Non-collider: </a:t>
            </a:r>
            <a:r>
              <a:rPr lang="en-US" dirty="0">
                <a:latin typeface="Arial" panose="020B0604020202020204" pitchFamily="34" charset="0"/>
                <a:cs typeface="Arial" panose="020B0604020202020204" pitchFamily="34" charset="0"/>
              </a:rPr>
              <a:t>allows the flow of statistical information through it.</a:t>
            </a:r>
          </a:p>
        </p:txBody>
      </p:sp>
      <p:sp>
        <p:nvSpPr>
          <p:cNvPr id="40" name="TextBox 39">
            <a:extLst>
              <a:ext uri="{FF2B5EF4-FFF2-40B4-BE49-F238E27FC236}">
                <a16:creationId xmlns:a16="http://schemas.microsoft.com/office/drawing/2014/main" id="{157119AF-B752-AD0B-1206-33421B7CF475}"/>
              </a:ext>
            </a:extLst>
          </p:cNvPr>
          <p:cNvSpPr txBox="1"/>
          <p:nvPr/>
        </p:nvSpPr>
        <p:spPr>
          <a:xfrm>
            <a:off x="260517" y="194969"/>
            <a:ext cx="8077971" cy="461665"/>
          </a:xfrm>
          <a:prstGeom prst="rect">
            <a:avLst/>
          </a:prstGeom>
          <a:noFill/>
        </p:spPr>
        <p:txBody>
          <a:bodyPr wrap="square">
            <a:spAutoFit/>
          </a:bodyPr>
          <a:lstStyle/>
          <a:p>
            <a:r>
              <a:rPr lang="en-US" sz="2400" b="1" dirty="0">
                <a:latin typeface="Arial" panose="020B0604020202020204" pitchFamily="34" charset="0"/>
                <a:cs typeface="Arial" panose="020B0604020202020204" pitchFamily="34" charset="0"/>
              </a:rPr>
              <a:t>D-separation is a mathematical operation on a DAG</a:t>
            </a:r>
          </a:p>
        </p:txBody>
      </p:sp>
      <p:cxnSp>
        <p:nvCxnSpPr>
          <p:cNvPr id="2" name="Elbow Connector 1">
            <a:extLst>
              <a:ext uri="{FF2B5EF4-FFF2-40B4-BE49-F238E27FC236}">
                <a16:creationId xmlns:a16="http://schemas.microsoft.com/office/drawing/2014/main" id="{4E706C6D-5833-2896-3DBE-CE7EB7043781}"/>
              </a:ext>
            </a:extLst>
          </p:cNvPr>
          <p:cNvCxnSpPr>
            <a:cxnSpLocks/>
          </p:cNvCxnSpPr>
          <p:nvPr/>
        </p:nvCxnSpPr>
        <p:spPr>
          <a:xfrm>
            <a:off x="834490" y="997055"/>
            <a:ext cx="1871530" cy="1268098"/>
          </a:xfrm>
          <a:prstGeom prst="bentConnector3">
            <a:avLst>
              <a:gd name="adj1" fmla="val 98859"/>
            </a:avLst>
          </a:prstGeom>
          <a:ln w="50800">
            <a:solidFill>
              <a:srgbClr val="231DF4"/>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06D2B8F0-1463-CFDA-2255-778FDE948F44}"/>
              </a:ext>
            </a:extLst>
          </p:cNvPr>
          <p:cNvCxnSpPr>
            <a:cxnSpLocks/>
          </p:cNvCxnSpPr>
          <p:nvPr/>
        </p:nvCxnSpPr>
        <p:spPr>
          <a:xfrm>
            <a:off x="885158" y="1041787"/>
            <a:ext cx="2968762" cy="0"/>
          </a:xfrm>
          <a:prstGeom prst="line">
            <a:avLst/>
          </a:prstGeom>
          <a:ln w="50800">
            <a:solidFill>
              <a:srgbClr val="231DF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126428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1"/>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xit" presetSubtype="0" fill="hold" nodeType="clickEffect">
                                  <p:stCondLst>
                                    <p:cond delay="0"/>
                                  </p:stCondLst>
                                  <p:childTnLst>
                                    <p:set>
                                      <p:cBhvr>
                                        <p:cTn id="30" dur="1" fill="hold">
                                          <p:stCondLst>
                                            <p:cond delay="0"/>
                                          </p:stCondLst>
                                        </p:cTn>
                                        <p:tgtEl>
                                          <p:spTgt spid="2"/>
                                        </p:tgtEl>
                                        <p:attrNameLst>
                                          <p:attrName>style.visibility</p:attrName>
                                        </p:attrNameLst>
                                      </p:cBhvr>
                                      <p:to>
                                        <p:strVal val="hidden"/>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9"/>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27"/>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8"/>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31"/>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30"/>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42"/>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32"/>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36"/>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3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2" grpId="0" animBg="1"/>
      <p:bldP spid="23" grpId="0" animBg="1"/>
      <p:bldP spid="26" grpId="0"/>
      <p:bldP spid="28" grpId="0" animBg="1"/>
      <p:bldP spid="29" grpId="0" animBg="1"/>
      <p:bldP spid="30" grpId="0" animBg="1"/>
      <p:bldP spid="32" grpId="0"/>
      <p:bldP spid="35" grpId="0"/>
      <p:bldP spid="36" grpId="0"/>
      <p:bldP spid="38" grpId="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Conector recto de flecha 4">
            <a:extLst>
              <a:ext uri="{FF2B5EF4-FFF2-40B4-BE49-F238E27FC236}">
                <a16:creationId xmlns:a16="http://schemas.microsoft.com/office/drawing/2014/main" id="{FB3DB31E-2411-DB1A-44B4-9E29D4A95BEF}"/>
              </a:ext>
            </a:extLst>
          </p:cNvPr>
          <p:cNvCxnSpPr>
            <a:cxnSpLocks/>
          </p:cNvCxnSpPr>
          <p:nvPr/>
        </p:nvCxnSpPr>
        <p:spPr>
          <a:xfrm>
            <a:off x="1384530" y="1251561"/>
            <a:ext cx="686564" cy="0"/>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5" name="CuadroTexto 5">
            <a:extLst>
              <a:ext uri="{FF2B5EF4-FFF2-40B4-BE49-F238E27FC236}">
                <a16:creationId xmlns:a16="http://schemas.microsoft.com/office/drawing/2014/main" id="{674F6C01-C4A6-F344-4CF2-65B17BFD65F3}"/>
              </a:ext>
            </a:extLst>
          </p:cNvPr>
          <p:cNvSpPr txBox="1"/>
          <p:nvPr/>
        </p:nvSpPr>
        <p:spPr>
          <a:xfrm>
            <a:off x="2232853" y="988894"/>
            <a:ext cx="543739" cy="523220"/>
          </a:xfrm>
          <a:prstGeom prst="rect">
            <a:avLst/>
          </a:prstGeom>
          <a:noFill/>
          <a:ln w="25400">
            <a:solidFill>
              <a:schemeClr val="bg1"/>
            </a:solidFill>
          </a:ln>
        </p:spPr>
        <p:txBody>
          <a:bodyPr wrap="none" rtlCol="0">
            <a:spAutoFit/>
          </a:bodyPr>
          <a:lstStyle/>
          <a:p>
            <a:r>
              <a:rPr lang="es-ES" sz="2800" dirty="0">
                <a:latin typeface="Arial" panose="020B0604020202020204" pitchFamily="34" charset="0"/>
                <a:cs typeface="Arial" panose="020B0604020202020204" pitchFamily="34" charset="0"/>
              </a:rPr>
              <a:t>U </a:t>
            </a:r>
            <a:endParaRPr lang="es-ES" sz="2800" baseline="-25000" dirty="0">
              <a:latin typeface="Arial" panose="020B0604020202020204" pitchFamily="34" charset="0"/>
              <a:cs typeface="Arial" panose="020B0604020202020204" pitchFamily="34" charset="0"/>
            </a:endParaRPr>
          </a:p>
        </p:txBody>
      </p:sp>
      <p:sp>
        <p:nvSpPr>
          <p:cNvPr id="6" name="CuadroTexto 5">
            <a:extLst>
              <a:ext uri="{FF2B5EF4-FFF2-40B4-BE49-F238E27FC236}">
                <a16:creationId xmlns:a16="http://schemas.microsoft.com/office/drawing/2014/main" id="{1CFCD9C6-BF1F-744D-B7AD-544FE93DA42E}"/>
              </a:ext>
            </a:extLst>
          </p:cNvPr>
          <p:cNvSpPr txBox="1"/>
          <p:nvPr/>
        </p:nvSpPr>
        <p:spPr>
          <a:xfrm>
            <a:off x="780751" y="1001014"/>
            <a:ext cx="522900" cy="523220"/>
          </a:xfrm>
          <a:prstGeom prst="rect">
            <a:avLst/>
          </a:prstGeom>
          <a:noFill/>
          <a:ln w="25400">
            <a:solidFill>
              <a:schemeClr val="bg1"/>
            </a:solidFill>
          </a:ln>
        </p:spPr>
        <p:txBody>
          <a:bodyPr wrap="none" rtlCol="0">
            <a:spAutoFit/>
          </a:bodyPr>
          <a:lstStyle/>
          <a:p>
            <a:r>
              <a:rPr lang="es-ES" sz="2800" dirty="0">
                <a:latin typeface="Arial" panose="020B0604020202020204" pitchFamily="34" charset="0"/>
                <a:cs typeface="Arial" panose="020B0604020202020204" pitchFamily="34" charset="0"/>
              </a:rPr>
              <a:t>X </a:t>
            </a:r>
            <a:endParaRPr lang="es-ES" sz="2800" baseline="-25000" dirty="0">
              <a:latin typeface="Arial" panose="020B0604020202020204" pitchFamily="34" charset="0"/>
              <a:cs typeface="Arial" panose="020B0604020202020204" pitchFamily="34" charset="0"/>
            </a:endParaRPr>
          </a:p>
        </p:txBody>
      </p:sp>
      <p:sp>
        <p:nvSpPr>
          <p:cNvPr id="7" name="CuadroTexto 5">
            <a:extLst>
              <a:ext uri="{FF2B5EF4-FFF2-40B4-BE49-F238E27FC236}">
                <a16:creationId xmlns:a16="http://schemas.microsoft.com/office/drawing/2014/main" id="{CB35D87D-FD8C-14AD-2CCC-7CA064F2E0AA}"/>
              </a:ext>
            </a:extLst>
          </p:cNvPr>
          <p:cNvSpPr txBox="1"/>
          <p:nvPr/>
        </p:nvSpPr>
        <p:spPr>
          <a:xfrm>
            <a:off x="3594870" y="988894"/>
            <a:ext cx="522900" cy="523220"/>
          </a:xfrm>
          <a:prstGeom prst="rect">
            <a:avLst/>
          </a:prstGeom>
          <a:noFill/>
          <a:ln w="25400">
            <a:solidFill>
              <a:schemeClr val="bg1"/>
            </a:solidFill>
          </a:ln>
        </p:spPr>
        <p:txBody>
          <a:bodyPr wrap="none" rtlCol="0">
            <a:spAutoFit/>
          </a:bodyPr>
          <a:lstStyle/>
          <a:p>
            <a:r>
              <a:rPr lang="es-ES" sz="2800" dirty="0">
                <a:latin typeface="Arial" panose="020B0604020202020204" pitchFamily="34" charset="0"/>
                <a:cs typeface="Arial" panose="020B0604020202020204" pitchFamily="34" charset="0"/>
              </a:rPr>
              <a:t>V </a:t>
            </a:r>
            <a:endParaRPr lang="es-ES" sz="2800" baseline="-25000" dirty="0">
              <a:latin typeface="Arial" panose="020B0604020202020204" pitchFamily="34" charset="0"/>
              <a:cs typeface="Arial" panose="020B0604020202020204" pitchFamily="34" charset="0"/>
            </a:endParaRPr>
          </a:p>
        </p:txBody>
      </p:sp>
      <p:cxnSp>
        <p:nvCxnSpPr>
          <p:cNvPr id="8" name="Conector recto de flecha 4">
            <a:extLst>
              <a:ext uri="{FF2B5EF4-FFF2-40B4-BE49-F238E27FC236}">
                <a16:creationId xmlns:a16="http://schemas.microsoft.com/office/drawing/2014/main" id="{4268F18F-FC52-E9B7-4BEA-0E388BA2EBC1}"/>
              </a:ext>
            </a:extLst>
          </p:cNvPr>
          <p:cNvCxnSpPr>
            <a:cxnSpLocks/>
          </p:cNvCxnSpPr>
          <p:nvPr/>
        </p:nvCxnSpPr>
        <p:spPr>
          <a:xfrm flipH="1">
            <a:off x="2706020" y="1250503"/>
            <a:ext cx="782518" cy="0"/>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9" name="CuadroTexto 5">
            <a:extLst>
              <a:ext uri="{FF2B5EF4-FFF2-40B4-BE49-F238E27FC236}">
                <a16:creationId xmlns:a16="http://schemas.microsoft.com/office/drawing/2014/main" id="{F0353391-9285-643B-810D-1A254318A9AC}"/>
              </a:ext>
            </a:extLst>
          </p:cNvPr>
          <p:cNvSpPr txBox="1"/>
          <p:nvPr/>
        </p:nvSpPr>
        <p:spPr>
          <a:xfrm>
            <a:off x="2305013" y="2252265"/>
            <a:ext cx="655949" cy="523220"/>
          </a:xfrm>
          <a:prstGeom prst="rect">
            <a:avLst/>
          </a:prstGeom>
          <a:noFill/>
          <a:ln w="25400">
            <a:solidFill>
              <a:schemeClr val="bg1"/>
            </a:solidFill>
          </a:ln>
        </p:spPr>
        <p:txBody>
          <a:bodyPr wrap="none" rtlCol="0">
            <a:spAutoFit/>
          </a:bodyPr>
          <a:lstStyle/>
          <a:p>
            <a:r>
              <a:rPr lang="es-ES" sz="2800" dirty="0">
                <a:latin typeface="Arial" panose="020B0604020202020204" pitchFamily="34" charset="0"/>
                <a:cs typeface="Arial" panose="020B0604020202020204" pitchFamily="34" charset="0"/>
              </a:rPr>
              <a:t>S</a:t>
            </a:r>
            <a:r>
              <a:rPr lang="es-ES" sz="2800" baseline="-25000" dirty="0">
                <a:latin typeface="Arial" panose="020B0604020202020204" pitchFamily="34" charset="0"/>
                <a:cs typeface="Arial" panose="020B0604020202020204" pitchFamily="34" charset="0"/>
              </a:rPr>
              <a:t>1</a:t>
            </a:r>
            <a:r>
              <a:rPr lang="es-ES" sz="2800" dirty="0">
                <a:latin typeface="Arial" panose="020B0604020202020204" pitchFamily="34" charset="0"/>
                <a:cs typeface="Arial" panose="020B0604020202020204" pitchFamily="34" charset="0"/>
              </a:rPr>
              <a:t> </a:t>
            </a:r>
            <a:endParaRPr lang="es-ES" sz="2800" baseline="-25000" dirty="0">
              <a:latin typeface="Arial" panose="020B0604020202020204" pitchFamily="34" charset="0"/>
              <a:cs typeface="Arial" panose="020B0604020202020204" pitchFamily="34" charset="0"/>
            </a:endParaRPr>
          </a:p>
        </p:txBody>
      </p:sp>
      <p:sp>
        <p:nvSpPr>
          <p:cNvPr id="10" name="CuadroTexto 5">
            <a:extLst>
              <a:ext uri="{FF2B5EF4-FFF2-40B4-BE49-F238E27FC236}">
                <a16:creationId xmlns:a16="http://schemas.microsoft.com/office/drawing/2014/main" id="{69CC2F56-07A5-1C1D-0C1A-A959A9723360}"/>
              </a:ext>
            </a:extLst>
          </p:cNvPr>
          <p:cNvSpPr txBox="1"/>
          <p:nvPr/>
        </p:nvSpPr>
        <p:spPr>
          <a:xfrm>
            <a:off x="4739787" y="2223178"/>
            <a:ext cx="655949" cy="523220"/>
          </a:xfrm>
          <a:prstGeom prst="rect">
            <a:avLst/>
          </a:prstGeom>
          <a:noFill/>
          <a:ln w="25400">
            <a:solidFill>
              <a:schemeClr val="bg1"/>
            </a:solidFill>
          </a:ln>
        </p:spPr>
        <p:txBody>
          <a:bodyPr wrap="none" rtlCol="0">
            <a:spAutoFit/>
          </a:bodyPr>
          <a:lstStyle/>
          <a:p>
            <a:r>
              <a:rPr lang="es-ES" sz="2800" dirty="0">
                <a:latin typeface="Arial" panose="020B0604020202020204" pitchFamily="34" charset="0"/>
                <a:cs typeface="Arial" panose="020B0604020202020204" pitchFamily="34" charset="0"/>
              </a:rPr>
              <a:t>S</a:t>
            </a:r>
            <a:r>
              <a:rPr lang="es-ES" sz="2800" baseline="-25000" dirty="0">
                <a:latin typeface="Arial" panose="020B0604020202020204" pitchFamily="34" charset="0"/>
                <a:cs typeface="Arial" panose="020B0604020202020204" pitchFamily="34" charset="0"/>
              </a:rPr>
              <a:t>2</a:t>
            </a:r>
            <a:r>
              <a:rPr lang="es-ES" sz="2800" dirty="0">
                <a:latin typeface="Arial" panose="020B0604020202020204" pitchFamily="34" charset="0"/>
                <a:cs typeface="Arial" panose="020B0604020202020204" pitchFamily="34" charset="0"/>
              </a:rPr>
              <a:t> </a:t>
            </a:r>
            <a:endParaRPr lang="es-ES" sz="2800" baseline="-25000" dirty="0">
              <a:latin typeface="Arial" panose="020B0604020202020204" pitchFamily="34" charset="0"/>
              <a:cs typeface="Arial" panose="020B0604020202020204" pitchFamily="34" charset="0"/>
            </a:endParaRPr>
          </a:p>
        </p:txBody>
      </p:sp>
      <p:cxnSp>
        <p:nvCxnSpPr>
          <p:cNvPr id="11" name="Conector recto de flecha 4">
            <a:extLst>
              <a:ext uri="{FF2B5EF4-FFF2-40B4-BE49-F238E27FC236}">
                <a16:creationId xmlns:a16="http://schemas.microsoft.com/office/drawing/2014/main" id="{EBF7837F-A144-86DB-53C7-DD6C21DD5D09}"/>
              </a:ext>
            </a:extLst>
          </p:cNvPr>
          <p:cNvCxnSpPr>
            <a:cxnSpLocks/>
          </p:cNvCxnSpPr>
          <p:nvPr/>
        </p:nvCxnSpPr>
        <p:spPr>
          <a:xfrm>
            <a:off x="2489732" y="1502208"/>
            <a:ext cx="14990" cy="707505"/>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12" name="CuadroTexto 5">
            <a:extLst>
              <a:ext uri="{FF2B5EF4-FFF2-40B4-BE49-F238E27FC236}">
                <a16:creationId xmlns:a16="http://schemas.microsoft.com/office/drawing/2014/main" id="{CBEE4942-8A91-B6DA-B019-58458018E86F}"/>
              </a:ext>
            </a:extLst>
          </p:cNvPr>
          <p:cNvSpPr txBox="1"/>
          <p:nvPr/>
        </p:nvSpPr>
        <p:spPr>
          <a:xfrm>
            <a:off x="4652770" y="988893"/>
            <a:ext cx="622286" cy="523220"/>
          </a:xfrm>
          <a:prstGeom prst="rect">
            <a:avLst/>
          </a:prstGeom>
          <a:noFill/>
          <a:ln w="25400">
            <a:solidFill>
              <a:schemeClr val="bg1"/>
            </a:solidFill>
          </a:ln>
        </p:spPr>
        <p:txBody>
          <a:bodyPr wrap="none" rtlCol="0">
            <a:spAutoFit/>
          </a:bodyPr>
          <a:lstStyle/>
          <a:p>
            <a:r>
              <a:rPr lang="es-ES" sz="2800" dirty="0">
                <a:latin typeface="Arial" panose="020B0604020202020204" pitchFamily="34" charset="0"/>
                <a:cs typeface="Arial" panose="020B0604020202020204" pitchFamily="34" charset="0"/>
              </a:rPr>
              <a:t>W </a:t>
            </a:r>
            <a:endParaRPr lang="es-ES" sz="2800" baseline="-25000" dirty="0">
              <a:latin typeface="Arial" panose="020B0604020202020204" pitchFamily="34" charset="0"/>
              <a:cs typeface="Arial" panose="020B0604020202020204" pitchFamily="34" charset="0"/>
            </a:endParaRPr>
          </a:p>
        </p:txBody>
      </p:sp>
      <p:sp>
        <p:nvSpPr>
          <p:cNvPr id="13" name="CuadroTexto 5">
            <a:extLst>
              <a:ext uri="{FF2B5EF4-FFF2-40B4-BE49-F238E27FC236}">
                <a16:creationId xmlns:a16="http://schemas.microsoft.com/office/drawing/2014/main" id="{032523F7-5A7D-1FB7-8B91-719E3F96732B}"/>
              </a:ext>
            </a:extLst>
          </p:cNvPr>
          <p:cNvSpPr txBox="1"/>
          <p:nvPr/>
        </p:nvSpPr>
        <p:spPr>
          <a:xfrm>
            <a:off x="6017753" y="1001014"/>
            <a:ext cx="516423" cy="523220"/>
          </a:xfrm>
          <a:prstGeom prst="rect">
            <a:avLst/>
          </a:prstGeom>
          <a:noFill/>
          <a:ln w="25400">
            <a:solidFill>
              <a:schemeClr val="bg1"/>
            </a:solidFill>
          </a:ln>
        </p:spPr>
        <p:txBody>
          <a:bodyPr wrap="none" rtlCol="0">
            <a:spAutoFit/>
          </a:bodyPr>
          <a:lstStyle/>
          <a:p>
            <a:r>
              <a:rPr lang="es-ES" sz="2800" dirty="0">
                <a:latin typeface="Arial" panose="020B0604020202020204" pitchFamily="34" charset="0"/>
                <a:cs typeface="Arial" panose="020B0604020202020204" pitchFamily="34" charset="0"/>
              </a:rPr>
              <a:t>Y </a:t>
            </a:r>
            <a:endParaRPr lang="es-ES" sz="2800" baseline="-25000" dirty="0">
              <a:latin typeface="Arial" panose="020B0604020202020204" pitchFamily="34" charset="0"/>
              <a:cs typeface="Arial" panose="020B0604020202020204" pitchFamily="34" charset="0"/>
            </a:endParaRPr>
          </a:p>
        </p:txBody>
      </p:sp>
      <p:cxnSp>
        <p:nvCxnSpPr>
          <p:cNvPr id="14" name="Conector recto de flecha 4">
            <a:extLst>
              <a:ext uri="{FF2B5EF4-FFF2-40B4-BE49-F238E27FC236}">
                <a16:creationId xmlns:a16="http://schemas.microsoft.com/office/drawing/2014/main" id="{4A20413D-4ACF-6197-8F5D-F3AAE0691FAF}"/>
              </a:ext>
            </a:extLst>
          </p:cNvPr>
          <p:cNvCxnSpPr>
            <a:cxnSpLocks/>
          </p:cNvCxnSpPr>
          <p:nvPr/>
        </p:nvCxnSpPr>
        <p:spPr>
          <a:xfrm>
            <a:off x="4899872" y="1500149"/>
            <a:ext cx="14990" cy="707505"/>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5" name="Conector recto de flecha 4">
            <a:extLst>
              <a:ext uri="{FF2B5EF4-FFF2-40B4-BE49-F238E27FC236}">
                <a16:creationId xmlns:a16="http://schemas.microsoft.com/office/drawing/2014/main" id="{6BD8086B-B0BD-3383-6CC3-45B591CFAB4F}"/>
              </a:ext>
            </a:extLst>
          </p:cNvPr>
          <p:cNvCxnSpPr>
            <a:cxnSpLocks/>
          </p:cNvCxnSpPr>
          <p:nvPr/>
        </p:nvCxnSpPr>
        <p:spPr>
          <a:xfrm>
            <a:off x="3971434" y="1251561"/>
            <a:ext cx="686564" cy="0"/>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6" name="Conector recto de flecha 4">
            <a:extLst>
              <a:ext uri="{FF2B5EF4-FFF2-40B4-BE49-F238E27FC236}">
                <a16:creationId xmlns:a16="http://schemas.microsoft.com/office/drawing/2014/main" id="{03B06D48-62CB-7387-D1B3-9A56953937C7}"/>
              </a:ext>
            </a:extLst>
          </p:cNvPr>
          <p:cNvCxnSpPr>
            <a:cxnSpLocks/>
          </p:cNvCxnSpPr>
          <p:nvPr/>
        </p:nvCxnSpPr>
        <p:spPr>
          <a:xfrm flipH="1">
            <a:off x="5175670" y="1250503"/>
            <a:ext cx="782518" cy="0"/>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DAF1D872-A00B-FE83-6F9D-B0A844D76DD4}"/>
              </a:ext>
            </a:extLst>
          </p:cNvPr>
          <p:cNvSpPr txBox="1"/>
          <p:nvPr/>
        </p:nvSpPr>
        <p:spPr>
          <a:xfrm>
            <a:off x="260517" y="194969"/>
            <a:ext cx="8077971" cy="461665"/>
          </a:xfrm>
          <a:prstGeom prst="rect">
            <a:avLst/>
          </a:prstGeom>
          <a:noFill/>
        </p:spPr>
        <p:txBody>
          <a:bodyPr wrap="square">
            <a:spAutoFit/>
          </a:bodyPr>
          <a:lstStyle/>
          <a:p>
            <a:r>
              <a:rPr lang="en-US" sz="2400" b="1" dirty="0">
                <a:latin typeface="Arial" panose="020B0604020202020204" pitchFamily="34" charset="0"/>
                <a:cs typeface="Arial" panose="020B0604020202020204" pitchFamily="34" charset="0"/>
              </a:rPr>
              <a:t>Let’s do a Test</a:t>
            </a:r>
          </a:p>
        </p:txBody>
      </p:sp>
      <p:sp>
        <p:nvSpPr>
          <p:cNvPr id="20" name="TextBox 19">
            <a:extLst>
              <a:ext uri="{FF2B5EF4-FFF2-40B4-BE49-F238E27FC236}">
                <a16:creationId xmlns:a16="http://schemas.microsoft.com/office/drawing/2014/main" id="{837FBF22-A7F4-D43B-BA10-1424ADB48764}"/>
              </a:ext>
            </a:extLst>
          </p:cNvPr>
          <p:cNvSpPr txBox="1"/>
          <p:nvPr/>
        </p:nvSpPr>
        <p:spPr>
          <a:xfrm>
            <a:off x="260517" y="3330970"/>
            <a:ext cx="4572000" cy="369332"/>
          </a:xfrm>
          <a:prstGeom prst="rect">
            <a:avLst/>
          </a:prstGeom>
          <a:noFill/>
        </p:spPr>
        <p:txBody>
          <a:bodyPr wrap="square">
            <a:spAutoFit/>
          </a:bodyPr>
          <a:lstStyle/>
          <a:p>
            <a:r>
              <a:rPr lang="en-US" dirty="0">
                <a:latin typeface="Arial" panose="020B0604020202020204" pitchFamily="34" charset="0"/>
                <a:cs typeface="Arial" panose="020B0604020202020204" pitchFamily="34" charset="0"/>
              </a:rPr>
              <a:t>Is there a directed path from </a:t>
            </a:r>
            <a:r>
              <a:rPr lang="en-US" b="1" dirty="0">
                <a:latin typeface="Arial" panose="020B0604020202020204" pitchFamily="34" charset="0"/>
                <a:cs typeface="Arial" panose="020B0604020202020204" pitchFamily="34" charset="0"/>
              </a:rPr>
              <a:t>V</a:t>
            </a:r>
            <a:r>
              <a:rPr lang="en-US" dirty="0">
                <a:latin typeface="Arial" panose="020B0604020202020204" pitchFamily="34" charset="0"/>
                <a:cs typeface="Arial" panose="020B0604020202020204" pitchFamily="34" charset="0"/>
              </a:rPr>
              <a:t> to </a:t>
            </a:r>
            <a:r>
              <a:rPr lang="en-US" b="1" dirty="0">
                <a:latin typeface="Arial" panose="020B0604020202020204" pitchFamily="34" charset="0"/>
                <a:cs typeface="Arial" panose="020B0604020202020204" pitchFamily="34" charset="0"/>
              </a:rPr>
              <a:t>S</a:t>
            </a:r>
            <a:r>
              <a:rPr lang="en-US" b="1" baseline="-25000" dirty="0">
                <a:latin typeface="Arial" panose="020B0604020202020204" pitchFamily="34" charset="0"/>
                <a:cs typeface="Arial" panose="020B0604020202020204" pitchFamily="34" charset="0"/>
              </a:rPr>
              <a:t>2</a:t>
            </a:r>
            <a:r>
              <a:rPr lang="en-US" baseline="-25000" dirty="0">
                <a:latin typeface="Arial" panose="020B0604020202020204" pitchFamily="34" charset="0"/>
                <a:cs typeface="Arial" panose="020B0604020202020204" pitchFamily="34" charset="0"/>
              </a:rPr>
              <a:t> </a:t>
            </a:r>
            <a:r>
              <a:rPr lang="en-US" dirty="0">
                <a:latin typeface="Arial" panose="020B0604020202020204" pitchFamily="34" charset="0"/>
                <a:cs typeface="Arial" panose="020B0604020202020204" pitchFamily="34" charset="0"/>
              </a:rPr>
              <a:t>? </a:t>
            </a:r>
          </a:p>
        </p:txBody>
      </p:sp>
      <p:sp>
        <p:nvSpPr>
          <p:cNvPr id="21" name="TextBox 20">
            <a:extLst>
              <a:ext uri="{FF2B5EF4-FFF2-40B4-BE49-F238E27FC236}">
                <a16:creationId xmlns:a16="http://schemas.microsoft.com/office/drawing/2014/main" id="{183AB61C-041B-49DD-939B-276E715321C8}"/>
              </a:ext>
            </a:extLst>
          </p:cNvPr>
          <p:cNvSpPr txBox="1"/>
          <p:nvPr/>
        </p:nvSpPr>
        <p:spPr>
          <a:xfrm>
            <a:off x="4480391" y="3330970"/>
            <a:ext cx="4572000" cy="369332"/>
          </a:xfrm>
          <a:prstGeom prst="rect">
            <a:avLst/>
          </a:prstGeom>
          <a:noFill/>
        </p:spPr>
        <p:txBody>
          <a:bodyPr wrap="square">
            <a:spAutoFit/>
          </a:bodyPr>
          <a:lstStyle/>
          <a:p>
            <a:r>
              <a:rPr lang="en-US" dirty="0">
                <a:latin typeface="Arial" panose="020B0604020202020204" pitchFamily="34" charset="0"/>
                <a:cs typeface="Arial" panose="020B0604020202020204" pitchFamily="34" charset="0"/>
              </a:rPr>
              <a:t>Is there an undirected path from </a:t>
            </a:r>
            <a:r>
              <a:rPr lang="en-US" b="1" dirty="0">
                <a:latin typeface="Arial" panose="020B0604020202020204" pitchFamily="34" charset="0"/>
                <a:cs typeface="Arial" panose="020B0604020202020204" pitchFamily="34" charset="0"/>
              </a:rPr>
              <a:t>V</a:t>
            </a:r>
            <a:r>
              <a:rPr lang="en-US" dirty="0">
                <a:latin typeface="Arial" panose="020B0604020202020204" pitchFamily="34" charset="0"/>
                <a:cs typeface="Arial" panose="020B0604020202020204" pitchFamily="34" charset="0"/>
              </a:rPr>
              <a:t> to </a:t>
            </a:r>
            <a:r>
              <a:rPr lang="en-US" b="1" dirty="0">
                <a:latin typeface="Arial" panose="020B0604020202020204" pitchFamily="34" charset="0"/>
                <a:cs typeface="Arial" panose="020B0604020202020204" pitchFamily="34" charset="0"/>
              </a:rPr>
              <a:t>S</a:t>
            </a:r>
            <a:r>
              <a:rPr lang="en-US" b="1" baseline="-25000" dirty="0">
                <a:latin typeface="Arial" panose="020B0604020202020204" pitchFamily="34" charset="0"/>
                <a:cs typeface="Arial" panose="020B0604020202020204" pitchFamily="34" charset="0"/>
              </a:rPr>
              <a:t>2</a:t>
            </a:r>
            <a:r>
              <a:rPr lang="en-US" baseline="-25000" dirty="0">
                <a:latin typeface="Arial" panose="020B0604020202020204" pitchFamily="34" charset="0"/>
                <a:cs typeface="Arial" panose="020B0604020202020204" pitchFamily="34" charset="0"/>
              </a:rPr>
              <a:t> </a:t>
            </a:r>
            <a:r>
              <a:rPr lang="en-US" dirty="0">
                <a:latin typeface="Arial" panose="020B0604020202020204" pitchFamily="34" charset="0"/>
                <a:cs typeface="Arial" panose="020B0604020202020204" pitchFamily="34" charset="0"/>
              </a:rPr>
              <a:t>? </a:t>
            </a:r>
          </a:p>
        </p:txBody>
      </p:sp>
      <p:sp>
        <p:nvSpPr>
          <p:cNvPr id="22" name="TextBox 21">
            <a:extLst>
              <a:ext uri="{FF2B5EF4-FFF2-40B4-BE49-F238E27FC236}">
                <a16:creationId xmlns:a16="http://schemas.microsoft.com/office/drawing/2014/main" id="{78D5682F-7CEC-26D6-AC59-1B7DD144F76C}"/>
              </a:ext>
            </a:extLst>
          </p:cNvPr>
          <p:cNvSpPr txBox="1"/>
          <p:nvPr/>
        </p:nvSpPr>
        <p:spPr>
          <a:xfrm>
            <a:off x="260517" y="4071121"/>
            <a:ext cx="4572000" cy="646331"/>
          </a:xfrm>
          <a:prstGeom prst="rect">
            <a:avLst/>
          </a:prstGeom>
          <a:noFill/>
        </p:spPr>
        <p:txBody>
          <a:bodyPr wrap="square">
            <a:spAutoFit/>
          </a:bodyPr>
          <a:lstStyle/>
          <a:p>
            <a:r>
              <a:rPr lang="en-US" dirty="0">
                <a:latin typeface="Arial" panose="020B0604020202020204" pitchFamily="34" charset="0"/>
                <a:cs typeface="Arial" panose="020B0604020202020204" pitchFamily="34" charset="0"/>
              </a:rPr>
              <a:t>Is </a:t>
            </a:r>
            <a:r>
              <a:rPr lang="en-US" b="1" dirty="0">
                <a:latin typeface="Arial" panose="020B0604020202020204" pitchFamily="34" charset="0"/>
                <a:cs typeface="Arial" panose="020B0604020202020204" pitchFamily="34" charset="0"/>
              </a:rPr>
              <a:t>W</a:t>
            </a:r>
            <a:r>
              <a:rPr lang="en-US" dirty="0">
                <a:latin typeface="Arial" panose="020B0604020202020204" pitchFamily="34" charset="0"/>
                <a:cs typeface="Arial" panose="020B0604020202020204" pitchFamily="34" charset="0"/>
              </a:rPr>
              <a:t> a collider or non-collider along the undirected path between </a:t>
            </a:r>
            <a:r>
              <a:rPr lang="en-US" b="1" dirty="0">
                <a:latin typeface="Arial" panose="020B0604020202020204" pitchFamily="34" charset="0"/>
                <a:cs typeface="Arial" panose="020B0604020202020204" pitchFamily="34" charset="0"/>
              </a:rPr>
              <a:t>V</a:t>
            </a:r>
            <a:r>
              <a:rPr lang="en-US" dirty="0">
                <a:latin typeface="Arial" panose="020B0604020202020204" pitchFamily="34" charset="0"/>
                <a:cs typeface="Arial" panose="020B0604020202020204" pitchFamily="34" charset="0"/>
              </a:rPr>
              <a:t> to </a:t>
            </a:r>
            <a:r>
              <a:rPr lang="en-US" b="1" dirty="0">
                <a:latin typeface="Arial" panose="020B0604020202020204" pitchFamily="34" charset="0"/>
                <a:cs typeface="Arial" panose="020B0604020202020204" pitchFamily="34" charset="0"/>
              </a:rPr>
              <a:t>S2</a:t>
            </a:r>
          </a:p>
        </p:txBody>
      </p:sp>
      <p:sp>
        <p:nvSpPr>
          <p:cNvPr id="23" name="TextBox 22">
            <a:extLst>
              <a:ext uri="{FF2B5EF4-FFF2-40B4-BE49-F238E27FC236}">
                <a16:creationId xmlns:a16="http://schemas.microsoft.com/office/drawing/2014/main" id="{7DE307D9-C67D-00C4-4FBA-E029C20858FC}"/>
              </a:ext>
            </a:extLst>
          </p:cNvPr>
          <p:cNvSpPr txBox="1"/>
          <p:nvPr/>
        </p:nvSpPr>
        <p:spPr>
          <a:xfrm>
            <a:off x="4572000" y="4071121"/>
            <a:ext cx="4572000" cy="369332"/>
          </a:xfrm>
          <a:prstGeom prst="rect">
            <a:avLst/>
          </a:prstGeom>
          <a:noFill/>
        </p:spPr>
        <p:txBody>
          <a:bodyPr wrap="square">
            <a:spAutoFit/>
          </a:bodyPr>
          <a:lstStyle/>
          <a:p>
            <a:r>
              <a:rPr lang="en-US" dirty="0">
                <a:latin typeface="Arial" panose="020B0604020202020204" pitchFamily="34" charset="0"/>
                <a:cs typeface="Arial" panose="020B0604020202020204" pitchFamily="34" charset="0"/>
              </a:rPr>
              <a:t>Is there a directed path from </a:t>
            </a:r>
            <a:r>
              <a:rPr lang="en-US" b="1" dirty="0">
                <a:latin typeface="Arial" panose="020B0604020202020204" pitchFamily="34" charset="0"/>
                <a:cs typeface="Arial" panose="020B0604020202020204" pitchFamily="34" charset="0"/>
              </a:rPr>
              <a:t>U</a:t>
            </a:r>
            <a:r>
              <a:rPr lang="en-US" dirty="0">
                <a:latin typeface="Arial" panose="020B0604020202020204" pitchFamily="34" charset="0"/>
                <a:cs typeface="Arial" panose="020B0604020202020204" pitchFamily="34" charset="0"/>
              </a:rPr>
              <a:t> to </a:t>
            </a:r>
            <a:r>
              <a:rPr lang="en-US" b="1" dirty="0">
                <a:latin typeface="Arial" panose="020B0604020202020204" pitchFamily="34" charset="0"/>
                <a:cs typeface="Arial" panose="020B0604020202020204" pitchFamily="34" charset="0"/>
              </a:rPr>
              <a:t>Y</a:t>
            </a:r>
            <a:r>
              <a:rPr lang="en-US" dirty="0">
                <a:latin typeface="Arial" panose="020B0604020202020204" pitchFamily="34" charset="0"/>
                <a:cs typeface="Arial" panose="020B0604020202020204" pitchFamily="34" charset="0"/>
              </a:rPr>
              <a:t> ?</a:t>
            </a:r>
          </a:p>
        </p:txBody>
      </p:sp>
      <p:sp>
        <p:nvSpPr>
          <p:cNvPr id="25" name="TextBox 24">
            <a:extLst>
              <a:ext uri="{FF2B5EF4-FFF2-40B4-BE49-F238E27FC236}">
                <a16:creationId xmlns:a16="http://schemas.microsoft.com/office/drawing/2014/main" id="{B9D9322D-B4B7-467E-F868-D4CA93B5DDCE}"/>
              </a:ext>
            </a:extLst>
          </p:cNvPr>
          <p:cNvSpPr txBox="1"/>
          <p:nvPr/>
        </p:nvSpPr>
        <p:spPr>
          <a:xfrm>
            <a:off x="304108" y="5072707"/>
            <a:ext cx="4572000" cy="646331"/>
          </a:xfrm>
          <a:prstGeom prst="rect">
            <a:avLst/>
          </a:prstGeom>
          <a:noFill/>
        </p:spPr>
        <p:txBody>
          <a:bodyPr wrap="square">
            <a:spAutoFit/>
          </a:bodyPr>
          <a:lstStyle/>
          <a:p>
            <a:r>
              <a:rPr lang="en-US" dirty="0">
                <a:latin typeface="Arial" panose="020B0604020202020204" pitchFamily="34" charset="0"/>
                <a:cs typeface="Arial" panose="020B0604020202020204" pitchFamily="34" charset="0"/>
              </a:rPr>
              <a:t>Is </a:t>
            </a:r>
            <a:r>
              <a:rPr lang="en-US" b="1" dirty="0">
                <a:latin typeface="Arial" panose="020B0604020202020204" pitchFamily="34" charset="0"/>
                <a:cs typeface="Arial" panose="020B0604020202020204" pitchFamily="34" charset="0"/>
              </a:rPr>
              <a:t>W</a:t>
            </a:r>
            <a:r>
              <a:rPr lang="en-US" dirty="0">
                <a:latin typeface="Arial" panose="020B0604020202020204" pitchFamily="34" charset="0"/>
                <a:cs typeface="Arial" panose="020B0604020202020204" pitchFamily="34" charset="0"/>
              </a:rPr>
              <a:t> a collider or a non-collider along the undirected path between </a:t>
            </a:r>
            <a:r>
              <a:rPr lang="en-US" b="1" dirty="0">
                <a:latin typeface="Arial" panose="020B0604020202020204" pitchFamily="34" charset="0"/>
                <a:cs typeface="Arial" panose="020B0604020202020204" pitchFamily="34" charset="0"/>
              </a:rPr>
              <a:t>U</a:t>
            </a:r>
            <a:r>
              <a:rPr lang="en-US" dirty="0">
                <a:latin typeface="Arial" panose="020B0604020202020204" pitchFamily="34" charset="0"/>
                <a:cs typeface="Arial" panose="020B0604020202020204" pitchFamily="34" charset="0"/>
              </a:rPr>
              <a:t> to </a:t>
            </a:r>
            <a:r>
              <a:rPr lang="en-US" b="1" dirty="0">
                <a:latin typeface="Arial" panose="020B0604020202020204" pitchFamily="34" charset="0"/>
                <a:cs typeface="Arial" panose="020B0604020202020204" pitchFamily="34" charset="0"/>
              </a:rPr>
              <a:t>Y</a:t>
            </a:r>
            <a:r>
              <a:rPr lang="en-US" dirty="0">
                <a:latin typeface="Arial" panose="020B0604020202020204" pitchFamily="34" charset="0"/>
                <a:cs typeface="Arial" panose="020B0604020202020204" pitchFamily="34" charset="0"/>
              </a:rPr>
              <a:t> ?</a:t>
            </a:r>
          </a:p>
        </p:txBody>
      </p:sp>
      <p:sp>
        <p:nvSpPr>
          <p:cNvPr id="24" name="Rectangle 23">
            <a:extLst>
              <a:ext uri="{FF2B5EF4-FFF2-40B4-BE49-F238E27FC236}">
                <a16:creationId xmlns:a16="http://schemas.microsoft.com/office/drawing/2014/main" id="{DFE1B406-15AC-CBBA-774D-FA3027CFEB47}"/>
              </a:ext>
            </a:extLst>
          </p:cNvPr>
          <p:cNvSpPr/>
          <p:nvPr/>
        </p:nvSpPr>
        <p:spPr>
          <a:xfrm>
            <a:off x="3594870" y="889463"/>
            <a:ext cx="2016221" cy="1886022"/>
          </a:xfrm>
          <a:prstGeom prst="rect">
            <a:avLst/>
          </a:prstGeom>
          <a:noFill/>
          <a:ln w="38100">
            <a:solidFill>
              <a:srgbClr val="231DF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 name="Rectangle 27">
            <a:extLst>
              <a:ext uri="{FF2B5EF4-FFF2-40B4-BE49-F238E27FC236}">
                <a16:creationId xmlns:a16="http://schemas.microsoft.com/office/drawing/2014/main" id="{7CC80CA6-8997-AE87-8F03-D43026ECD5EB}"/>
              </a:ext>
            </a:extLst>
          </p:cNvPr>
          <p:cNvSpPr/>
          <p:nvPr/>
        </p:nvSpPr>
        <p:spPr>
          <a:xfrm>
            <a:off x="2254998" y="898034"/>
            <a:ext cx="4170740" cy="731274"/>
          </a:xfrm>
          <a:prstGeom prst="rect">
            <a:avLst/>
          </a:prstGeom>
          <a:noFill/>
          <a:ln w="38100">
            <a:solidFill>
              <a:srgbClr val="231DF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421313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3"/>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5"/>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6"/>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0"/>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4"/>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1"/>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22"/>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xit" presetSubtype="0" fill="hold" grpId="1" nodeType="clickEffect">
                                  <p:stCondLst>
                                    <p:cond delay="0"/>
                                  </p:stCondLst>
                                  <p:childTnLst>
                                    <p:set>
                                      <p:cBhvr>
                                        <p:cTn id="50" dur="1" fill="hold">
                                          <p:stCondLst>
                                            <p:cond delay="0"/>
                                          </p:stCondLst>
                                        </p:cTn>
                                        <p:tgtEl>
                                          <p:spTgt spid="24"/>
                                        </p:tgtEl>
                                        <p:attrNameLst>
                                          <p:attrName>style.visibility</p:attrName>
                                        </p:attrNameLst>
                                      </p:cBhvr>
                                      <p:to>
                                        <p:strVal val="hidden"/>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23"/>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28"/>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9" grpId="0" animBg="1"/>
      <p:bldP spid="10" grpId="0" animBg="1"/>
      <p:bldP spid="12" grpId="0" animBg="1"/>
      <p:bldP spid="13" grpId="0" animBg="1"/>
      <p:bldP spid="20" grpId="0"/>
      <p:bldP spid="21" grpId="0"/>
      <p:bldP spid="22" grpId="0"/>
      <p:bldP spid="23" grpId="0"/>
      <p:bldP spid="25" grpId="0"/>
      <p:bldP spid="24" grpId="0" animBg="1"/>
      <p:bldP spid="24" grpId="1" animBg="1"/>
      <p:bldP spid="28" grpId="0" animBg="1"/>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22A3D97-D489-5173-8A62-1DD290B4E27D}"/>
              </a:ext>
            </a:extLst>
          </p:cNvPr>
          <p:cNvSpPr txBox="1"/>
          <p:nvPr/>
        </p:nvSpPr>
        <p:spPr>
          <a:xfrm>
            <a:off x="306237" y="1210273"/>
            <a:ext cx="7498381" cy="1477328"/>
          </a:xfrm>
          <a:prstGeom prst="rect">
            <a:avLst/>
          </a:prstGeom>
          <a:noFill/>
        </p:spPr>
        <p:txBody>
          <a:bodyPr wrap="square">
            <a:spAutoFit/>
          </a:bodyPr>
          <a:lstStyle/>
          <a:p>
            <a:r>
              <a:rPr lang="en-US" dirty="0">
                <a:latin typeface="Arial" panose="020B0604020202020204" pitchFamily="34" charset="0"/>
                <a:cs typeface="Arial" panose="020B0604020202020204" pitchFamily="34" charset="0"/>
              </a:rPr>
              <a:t>Natural state of a variable along a path:</a:t>
            </a:r>
          </a:p>
          <a:p>
            <a:endParaRPr lang="en-US"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b="1" dirty="0">
                <a:latin typeface="Arial" panose="020B0604020202020204" pitchFamily="34" charset="0"/>
                <a:cs typeface="Arial" panose="020B0604020202020204" pitchFamily="34" charset="0"/>
              </a:rPr>
              <a:t>Collider: </a:t>
            </a:r>
            <a:r>
              <a:rPr lang="en-US" dirty="0">
                <a:latin typeface="Arial" panose="020B0604020202020204" pitchFamily="34" charset="0"/>
                <a:cs typeface="Arial" panose="020B0604020202020204" pitchFamily="34" charset="0"/>
              </a:rPr>
              <a:t>blocks the flow of statistical information through it.</a:t>
            </a:r>
          </a:p>
          <a:p>
            <a:r>
              <a:rPr lang="en-US" dirty="0">
                <a:latin typeface="Arial" panose="020B0604020202020204" pitchFamily="34" charset="0"/>
                <a:cs typeface="Arial" panose="020B0604020202020204" pitchFamily="34" charset="0"/>
              </a:rPr>
              <a:t> </a:t>
            </a:r>
          </a:p>
          <a:p>
            <a:pPr marL="285750" indent="-285750">
              <a:buFont typeface="Arial" panose="020B0604020202020204" pitchFamily="34" charset="0"/>
              <a:buChar char="•"/>
            </a:pPr>
            <a:r>
              <a:rPr lang="en-US" b="1" dirty="0">
                <a:latin typeface="Arial" panose="020B0604020202020204" pitchFamily="34" charset="0"/>
                <a:cs typeface="Arial" panose="020B0604020202020204" pitchFamily="34" charset="0"/>
              </a:rPr>
              <a:t>Non-collider:</a:t>
            </a:r>
            <a:r>
              <a:rPr lang="en-US" dirty="0">
                <a:latin typeface="Arial" panose="020B0604020202020204" pitchFamily="34" charset="0"/>
                <a:cs typeface="Arial" panose="020B0604020202020204" pitchFamily="34" charset="0"/>
              </a:rPr>
              <a:t> allows the flow of statistical information through it.</a:t>
            </a:r>
          </a:p>
        </p:txBody>
      </p:sp>
      <p:sp>
        <p:nvSpPr>
          <p:cNvPr id="5" name="TextBox 4">
            <a:extLst>
              <a:ext uri="{FF2B5EF4-FFF2-40B4-BE49-F238E27FC236}">
                <a16:creationId xmlns:a16="http://schemas.microsoft.com/office/drawing/2014/main" id="{48867652-DBBC-55EB-4641-3EDBBF92A49C}"/>
              </a:ext>
            </a:extLst>
          </p:cNvPr>
          <p:cNvSpPr txBox="1"/>
          <p:nvPr/>
        </p:nvSpPr>
        <p:spPr>
          <a:xfrm>
            <a:off x="306237" y="457859"/>
            <a:ext cx="8077971" cy="461665"/>
          </a:xfrm>
          <a:prstGeom prst="rect">
            <a:avLst/>
          </a:prstGeom>
          <a:noFill/>
        </p:spPr>
        <p:txBody>
          <a:bodyPr wrap="square">
            <a:spAutoFit/>
          </a:bodyPr>
          <a:lstStyle/>
          <a:p>
            <a:r>
              <a:rPr lang="en-US" sz="2400" b="1" dirty="0">
                <a:latin typeface="Arial" panose="020B0604020202020204" pitchFamily="34" charset="0"/>
                <a:cs typeface="Arial" panose="020B0604020202020204" pitchFamily="34" charset="0"/>
              </a:rPr>
              <a:t>D-separation is a Mathematical Operation on a DAG</a:t>
            </a:r>
          </a:p>
        </p:txBody>
      </p:sp>
      <p:sp>
        <p:nvSpPr>
          <p:cNvPr id="7" name="TextBox 6">
            <a:extLst>
              <a:ext uri="{FF2B5EF4-FFF2-40B4-BE49-F238E27FC236}">
                <a16:creationId xmlns:a16="http://schemas.microsoft.com/office/drawing/2014/main" id="{4910D49F-7047-CDFB-11E1-68796F7BBD4C}"/>
              </a:ext>
            </a:extLst>
          </p:cNvPr>
          <p:cNvSpPr txBox="1"/>
          <p:nvPr/>
        </p:nvSpPr>
        <p:spPr>
          <a:xfrm>
            <a:off x="306237" y="2978350"/>
            <a:ext cx="8230340" cy="871970"/>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US" dirty="0">
                <a:latin typeface="Arial" panose="020B0604020202020204" pitchFamily="34" charset="0"/>
                <a:cs typeface="Arial" panose="020B0604020202020204" pitchFamily="34" charset="0"/>
              </a:rPr>
              <a:t>Conditioning on a </a:t>
            </a:r>
            <a:r>
              <a:rPr lang="en-US" b="1" dirty="0">
                <a:solidFill>
                  <a:srgbClr val="FF0000"/>
                </a:solidFill>
                <a:latin typeface="Arial" panose="020B0604020202020204" pitchFamily="34" charset="0"/>
                <a:cs typeface="Arial" panose="020B0604020202020204" pitchFamily="34" charset="0"/>
              </a:rPr>
              <a:t>non-colder</a:t>
            </a:r>
            <a:r>
              <a:rPr lang="en-US" dirty="0">
                <a:latin typeface="Arial" panose="020B0604020202020204" pitchFamily="34" charset="0"/>
                <a:cs typeface="Arial" panose="020B0604020202020204" pitchFamily="34" charset="0"/>
              </a:rPr>
              <a:t> reverses its natural stat and </a:t>
            </a:r>
            <a:r>
              <a:rPr lang="en-US" b="1" dirty="0">
                <a:solidFill>
                  <a:srgbClr val="FF0000"/>
                </a:solidFill>
                <a:latin typeface="Arial" panose="020B0604020202020204" pitchFamily="34" charset="0"/>
                <a:cs typeface="Arial" panose="020B0604020202020204" pitchFamily="34" charset="0"/>
              </a:rPr>
              <a:t>blocks</a:t>
            </a:r>
            <a:r>
              <a:rPr lang="en-US" dirty="0">
                <a:latin typeface="Arial" panose="020B0604020202020204" pitchFamily="34" charset="0"/>
                <a:cs typeface="Arial" panose="020B0604020202020204" pitchFamily="34" charset="0"/>
              </a:rPr>
              <a:t> the flow of statistical information through it.</a:t>
            </a:r>
          </a:p>
        </p:txBody>
      </p:sp>
      <p:sp>
        <p:nvSpPr>
          <p:cNvPr id="9" name="TextBox 8">
            <a:extLst>
              <a:ext uri="{FF2B5EF4-FFF2-40B4-BE49-F238E27FC236}">
                <a16:creationId xmlns:a16="http://schemas.microsoft.com/office/drawing/2014/main" id="{F605CB4B-D5F0-3ADD-B990-70BE36491DF0}"/>
              </a:ext>
            </a:extLst>
          </p:cNvPr>
          <p:cNvSpPr txBox="1"/>
          <p:nvPr/>
        </p:nvSpPr>
        <p:spPr>
          <a:xfrm>
            <a:off x="306237" y="4076702"/>
            <a:ext cx="8448054" cy="871970"/>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US" dirty="0">
                <a:latin typeface="Arial" panose="020B0604020202020204" pitchFamily="34" charset="0"/>
                <a:cs typeface="Arial" panose="020B0604020202020204" pitchFamily="34" charset="0"/>
              </a:rPr>
              <a:t>Conditioning on a </a:t>
            </a:r>
            <a:r>
              <a:rPr lang="en-US" b="1" dirty="0">
                <a:solidFill>
                  <a:srgbClr val="FF0000"/>
                </a:solidFill>
                <a:latin typeface="Arial" panose="020B0604020202020204" pitchFamily="34" charset="0"/>
                <a:cs typeface="Arial" panose="020B0604020202020204" pitchFamily="34" charset="0"/>
              </a:rPr>
              <a:t>collider</a:t>
            </a:r>
            <a:r>
              <a:rPr lang="en-US" dirty="0">
                <a:solidFill>
                  <a:srgbClr val="FF0000"/>
                </a:solidFill>
                <a:latin typeface="Arial" panose="020B0604020202020204" pitchFamily="34" charset="0"/>
                <a:cs typeface="Arial" panose="020B0604020202020204" pitchFamily="34" charset="0"/>
              </a:rPr>
              <a:t> </a:t>
            </a:r>
            <a:r>
              <a:rPr lang="en-US" b="1" dirty="0">
                <a:solidFill>
                  <a:srgbClr val="FF0000"/>
                </a:solidFill>
                <a:latin typeface="Arial" panose="020B0604020202020204" pitchFamily="34" charset="0"/>
                <a:cs typeface="Arial" panose="020B0604020202020204" pitchFamily="34" charset="0"/>
              </a:rPr>
              <a:t>or</a:t>
            </a:r>
            <a:r>
              <a:rPr lang="en-US" dirty="0">
                <a:solidFill>
                  <a:srgbClr val="FF0000"/>
                </a:solidFill>
                <a:latin typeface="Arial" panose="020B0604020202020204" pitchFamily="34" charset="0"/>
                <a:cs typeface="Arial" panose="020B0604020202020204" pitchFamily="34" charset="0"/>
              </a:rPr>
              <a:t> </a:t>
            </a:r>
            <a:r>
              <a:rPr lang="en-US" dirty="0">
                <a:latin typeface="Arial" panose="020B0604020202020204" pitchFamily="34" charset="0"/>
                <a:cs typeface="Arial" panose="020B0604020202020204" pitchFamily="34" charset="0"/>
              </a:rPr>
              <a:t>on the </a:t>
            </a:r>
            <a:r>
              <a:rPr lang="en-US" b="1" dirty="0">
                <a:solidFill>
                  <a:srgbClr val="FF0000"/>
                </a:solidFill>
                <a:latin typeface="Arial" panose="020B0604020202020204" pitchFamily="34" charset="0"/>
                <a:cs typeface="Arial" panose="020B0604020202020204" pitchFamily="34" charset="0"/>
              </a:rPr>
              <a:t>descendent of a collider reverses</a:t>
            </a:r>
            <a:r>
              <a:rPr lang="en-US" dirty="0">
                <a:latin typeface="Arial" panose="020B0604020202020204" pitchFamily="34" charset="0"/>
                <a:cs typeface="Arial" panose="020B0604020202020204" pitchFamily="34" charset="0"/>
              </a:rPr>
              <a:t> its natural state and </a:t>
            </a:r>
            <a:r>
              <a:rPr lang="en-US" b="1" dirty="0">
                <a:solidFill>
                  <a:srgbClr val="FF0000"/>
                </a:solidFill>
                <a:latin typeface="Arial" panose="020B0604020202020204" pitchFamily="34" charset="0"/>
                <a:cs typeface="Arial" panose="020B0604020202020204" pitchFamily="34" charset="0"/>
              </a:rPr>
              <a:t>allows</a:t>
            </a:r>
            <a:r>
              <a:rPr lang="en-US" dirty="0">
                <a:latin typeface="Arial" panose="020B0604020202020204" pitchFamily="34" charset="0"/>
                <a:cs typeface="Arial" panose="020B0604020202020204" pitchFamily="34" charset="0"/>
              </a:rPr>
              <a:t> the flow of statistical information through it.</a:t>
            </a:r>
          </a:p>
        </p:txBody>
      </p:sp>
    </p:spTree>
    <p:extLst>
      <p:ext uri="{BB962C8B-B14F-4D97-AF65-F5344CB8AC3E}">
        <p14:creationId xmlns:p14="http://schemas.microsoft.com/office/powerpoint/2010/main" val="16856135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9" grpId="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40B4196D-CA30-2A5E-43CE-87F9AF1D2FFB}"/>
              </a:ext>
            </a:extLst>
          </p:cNvPr>
          <p:cNvSpPr txBox="1"/>
          <p:nvPr/>
        </p:nvSpPr>
        <p:spPr>
          <a:xfrm>
            <a:off x="354525" y="248742"/>
            <a:ext cx="5604096" cy="461665"/>
          </a:xfrm>
          <a:prstGeom prst="rect">
            <a:avLst/>
          </a:prstGeom>
          <a:noFill/>
        </p:spPr>
        <p:txBody>
          <a:bodyPr wrap="square">
            <a:spAutoFit/>
          </a:bodyPr>
          <a:lstStyle/>
          <a:p>
            <a:r>
              <a:rPr lang="en-US" sz="2400" b="1" dirty="0">
                <a:latin typeface="Arial" panose="020B0604020202020204" pitchFamily="34" charset="0"/>
                <a:cs typeface="Arial" panose="020B0604020202020204" pitchFamily="34" charset="0"/>
              </a:rPr>
              <a:t>An example of a d-Separation claim </a:t>
            </a:r>
          </a:p>
        </p:txBody>
      </p:sp>
      <p:sp>
        <p:nvSpPr>
          <p:cNvPr id="7" name="TextBox 6">
            <a:extLst>
              <a:ext uri="{FF2B5EF4-FFF2-40B4-BE49-F238E27FC236}">
                <a16:creationId xmlns:a16="http://schemas.microsoft.com/office/drawing/2014/main" id="{05A2A099-D851-33F2-6674-ADDE20EE12F8}"/>
              </a:ext>
            </a:extLst>
          </p:cNvPr>
          <p:cNvSpPr txBox="1"/>
          <p:nvPr/>
        </p:nvSpPr>
        <p:spPr>
          <a:xfrm>
            <a:off x="403653" y="3146304"/>
            <a:ext cx="4572000" cy="369332"/>
          </a:xfrm>
          <a:prstGeom prst="rect">
            <a:avLst/>
          </a:prstGeom>
          <a:noFill/>
        </p:spPr>
        <p:txBody>
          <a:bodyPr wrap="square">
            <a:spAutoFit/>
          </a:bodyPr>
          <a:lstStyle/>
          <a:p>
            <a:r>
              <a:rPr lang="en-US" dirty="0">
                <a:latin typeface="Arial" panose="020B0604020202020204" pitchFamily="34" charset="0"/>
                <a:cs typeface="Arial" panose="020B0604020202020204" pitchFamily="34" charset="0"/>
              </a:rPr>
              <a:t>Is </a:t>
            </a:r>
            <a:r>
              <a:rPr lang="en-US" b="1" dirty="0">
                <a:latin typeface="Arial" panose="020B0604020202020204" pitchFamily="34" charset="0"/>
                <a:cs typeface="Arial" panose="020B0604020202020204" pitchFamily="34" charset="0"/>
              </a:rPr>
              <a:t>X </a:t>
            </a:r>
            <a:r>
              <a:rPr lang="en-US" dirty="0">
                <a:latin typeface="Arial" panose="020B0604020202020204" pitchFamily="34" charset="0"/>
                <a:cs typeface="Arial" panose="020B0604020202020204" pitchFamily="34" charset="0"/>
              </a:rPr>
              <a:t>d-separated from </a:t>
            </a:r>
            <a:r>
              <a:rPr lang="en-US" b="1" dirty="0">
                <a:latin typeface="Arial" panose="020B0604020202020204" pitchFamily="34" charset="0"/>
                <a:cs typeface="Arial" panose="020B0604020202020204" pitchFamily="34" charset="0"/>
              </a:rPr>
              <a:t>W</a:t>
            </a:r>
            <a:r>
              <a:rPr lang="en-US" dirty="0">
                <a:latin typeface="Arial" panose="020B0604020202020204" pitchFamily="34" charset="0"/>
                <a:cs typeface="Arial" panose="020B0604020202020204" pitchFamily="34" charset="0"/>
              </a:rPr>
              <a:t> given </a:t>
            </a:r>
            <a:r>
              <a:rPr lang="en-US" b="1" dirty="0">
                <a:latin typeface="Arial" panose="020B0604020202020204" pitchFamily="34" charset="0"/>
                <a:cs typeface="Arial" panose="020B0604020202020204" pitchFamily="34" charset="0"/>
              </a:rPr>
              <a:t>U </a:t>
            </a:r>
            <a:r>
              <a:rPr lang="en-US" dirty="0">
                <a:latin typeface="Arial" panose="020B0604020202020204" pitchFamily="34" charset="0"/>
                <a:cs typeface="Arial" panose="020B0604020202020204" pitchFamily="34" charset="0"/>
              </a:rPr>
              <a:t>? </a:t>
            </a:r>
          </a:p>
        </p:txBody>
      </p:sp>
      <p:cxnSp>
        <p:nvCxnSpPr>
          <p:cNvPr id="8" name="Conector recto de flecha 4">
            <a:extLst>
              <a:ext uri="{FF2B5EF4-FFF2-40B4-BE49-F238E27FC236}">
                <a16:creationId xmlns:a16="http://schemas.microsoft.com/office/drawing/2014/main" id="{626F27E5-D452-580C-D8A0-D2832A30EBE2}"/>
              </a:ext>
            </a:extLst>
          </p:cNvPr>
          <p:cNvCxnSpPr>
            <a:cxnSpLocks/>
          </p:cNvCxnSpPr>
          <p:nvPr/>
        </p:nvCxnSpPr>
        <p:spPr>
          <a:xfrm>
            <a:off x="1384530" y="1251561"/>
            <a:ext cx="686564" cy="0"/>
          </a:xfrm>
          <a:prstGeom prst="straightConnector1">
            <a:avLst/>
          </a:prstGeom>
          <a:ln w="25400">
            <a:solidFill>
              <a:srgbClr val="FF0000"/>
            </a:solidFill>
            <a:tailEnd type="triangle" w="lg" len="lg"/>
          </a:ln>
        </p:spPr>
        <p:style>
          <a:lnRef idx="1">
            <a:schemeClr val="accent1"/>
          </a:lnRef>
          <a:fillRef idx="0">
            <a:schemeClr val="accent1"/>
          </a:fillRef>
          <a:effectRef idx="0">
            <a:schemeClr val="accent1"/>
          </a:effectRef>
          <a:fontRef idx="minor">
            <a:schemeClr val="tx1"/>
          </a:fontRef>
        </p:style>
      </p:cxnSp>
      <p:sp>
        <p:nvSpPr>
          <p:cNvPr id="9" name="CuadroTexto 5">
            <a:extLst>
              <a:ext uri="{FF2B5EF4-FFF2-40B4-BE49-F238E27FC236}">
                <a16:creationId xmlns:a16="http://schemas.microsoft.com/office/drawing/2014/main" id="{098EA578-9899-0A7A-77D3-418782172AF5}"/>
              </a:ext>
            </a:extLst>
          </p:cNvPr>
          <p:cNvSpPr txBox="1"/>
          <p:nvPr/>
        </p:nvSpPr>
        <p:spPr>
          <a:xfrm>
            <a:off x="2232853" y="988894"/>
            <a:ext cx="543739" cy="523220"/>
          </a:xfrm>
          <a:prstGeom prst="rect">
            <a:avLst/>
          </a:prstGeom>
          <a:noFill/>
          <a:ln w="25400">
            <a:solidFill>
              <a:schemeClr val="bg1"/>
            </a:solidFill>
          </a:ln>
        </p:spPr>
        <p:txBody>
          <a:bodyPr wrap="none" rtlCol="0">
            <a:spAutoFit/>
          </a:bodyPr>
          <a:lstStyle/>
          <a:p>
            <a:r>
              <a:rPr lang="es-ES" sz="2800" dirty="0">
                <a:solidFill>
                  <a:srgbClr val="FF0000"/>
                </a:solidFill>
                <a:latin typeface="Arial" panose="020B0604020202020204" pitchFamily="34" charset="0"/>
                <a:cs typeface="Arial" panose="020B0604020202020204" pitchFamily="34" charset="0"/>
              </a:rPr>
              <a:t>U </a:t>
            </a:r>
            <a:endParaRPr lang="es-ES" sz="2800" baseline="-25000" dirty="0">
              <a:solidFill>
                <a:srgbClr val="FF0000"/>
              </a:solidFill>
              <a:latin typeface="Arial" panose="020B0604020202020204" pitchFamily="34" charset="0"/>
              <a:cs typeface="Arial" panose="020B0604020202020204" pitchFamily="34" charset="0"/>
            </a:endParaRPr>
          </a:p>
        </p:txBody>
      </p:sp>
      <p:sp>
        <p:nvSpPr>
          <p:cNvPr id="10" name="CuadroTexto 5">
            <a:extLst>
              <a:ext uri="{FF2B5EF4-FFF2-40B4-BE49-F238E27FC236}">
                <a16:creationId xmlns:a16="http://schemas.microsoft.com/office/drawing/2014/main" id="{91FCD0F2-9651-6FF9-BCD3-532C5BCF07AF}"/>
              </a:ext>
            </a:extLst>
          </p:cNvPr>
          <p:cNvSpPr txBox="1"/>
          <p:nvPr/>
        </p:nvSpPr>
        <p:spPr>
          <a:xfrm>
            <a:off x="780751" y="1001014"/>
            <a:ext cx="522900" cy="523220"/>
          </a:xfrm>
          <a:prstGeom prst="rect">
            <a:avLst/>
          </a:prstGeom>
          <a:noFill/>
          <a:ln w="25400">
            <a:solidFill>
              <a:schemeClr val="bg1"/>
            </a:solidFill>
          </a:ln>
        </p:spPr>
        <p:txBody>
          <a:bodyPr wrap="none" rtlCol="0">
            <a:spAutoFit/>
          </a:bodyPr>
          <a:lstStyle/>
          <a:p>
            <a:r>
              <a:rPr lang="es-ES" sz="2800" dirty="0">
                <a:solidFill>
                  <a:srgbClr val="FF0000"/>
                </a:solidFill>
                <a:latin typeface="Arial" panose="020B0604020202020204" pitchFamily="34" charset="0"/>
                <a:cs typeface="Arial" panose="020B0604020202020204" pitchFamily="34" charset="0"/>
              </a:rPr>
              <a:t>X </a:t>
            </a:r>
            <a:endParaRPr lang="es-ES" sz="2800" baseline="-25000" dirty="0">
              <a:solidFill>
                <a:srgbClr val="FF0000"/>
              </a:solidFill>
              <a:latin typeface="Arial" panose="020B0604020202020204" pitchFamily="34" charset="0"/>
              <a:cs typeface="Arial" panose="020B0604020202020204" pitchFamily="34" charset="0"/>
            </a:endParaRPr>
          </a:p>
        </p:txBody>
      </p:sp>
      <p:sp>
        <p:nvSpPr>
          <p:cNvPr id="11" name="CuadroTexto 5">
            <a:extLst>
              <a:ext uri="{FF2B5EF4-FFF2-40B4-BE49-F238E27FC236}">
                <a16:creationId xmlns:a16="http://schemas.microsoft.com/office/drawing/2014/main" id="{95954F6C-B61D-E7FC-723C-43B0BB571855}"/>
              </a:ext>
            </a:extLst>
          </p:cNvPr>
          <p:cNvSpPr txBox="1"/>
          <p:nvPr/>
        </p:nvSpPr>
        <p:spPr>
          <a:xfrm>
            <a:off x="3594870" y="988894"/>
            <a:ext cx="522900" cy="523220"/>
          </a:xfrm>
          <a:prstGeom prst="rect">
            <a:avLst/>
          </a:prstGeom>
          <a:noFill/>
          <a:ln w="25400">
            <a:solidFill>
              <a:schemeClr val="bg1"/>
            </a:solidFill>
          </a:ln>
        </p:spPr>
        <p:txBody>
          <a:bodyPr wrap="none" rtlCol="0">
            <a:spAutoFit/>
          </a:bodyPr>
          <a:lstStyle/>
          <a:p>
            <a:r>
              <a:rPr lang="es-ES" sz="2800" dirty="0">
                <a:solidFill>
                  <a:srgbClr val="FF0000"/>
                </a:solidFill>
                <a:latin typeface="Arial" panose="020B0604020202020204" pitchFamily="34" charset="0"/>
                <a:cs typeface="Arial" panose="020B0604020202020204" pitchFamily="34" charset="0"/>
              </a:rPr>
              <a:t>V </a:t>
            </a:r>
            <a:endParaRPr lang="es-ES" sz="2800" baseline="-25000" dirty="0">
              <a:solidFill>
                <a:srgbClr val="FF0000"/>
              </a:solidFill>
              <a:latin typeface="Arial" panose="020B0604020202020204" pitchFamily="34" charset="0"/>
              <a:cs typeface="Arial" panose="020B0604020202020204" pitchFamily="34" charset="0"/>
            </a:endParaRPr>
          </a:p>
        </p:txBody>
      </p:sp>
      <p:cxnSp>
        <p:nvCxnSpPr>
          <p:cNvPr id="12" name="Conector recto de flecha 4">
            <a:extLst>
              <a:ext uri="{FF2B5EF4-FFF2-40B4-BE49-F238E27FC236}">
                <a16:creationId xmlns:a16="http://schemas.microsoft.com/office/drawing/2014/main" id="{D52D5A32-E225-CDF0-C67A-83B060A13026}"/>
              </a:ext>
            </a:extLst>
          </p:cNvPr>
          <p:cNvCxnSpPr>
            <a:cxnSpLocks/>
          </p:cNvCxnSpPr>
          <p:nvPr/>
        </p:nvCxnSpPr>
        <p:spPr>
          <a:xfrm flipH="1">
            <a:off x="2706020" y="1250503"/>
            <a:ext cx="782518" cy="0"/>
          </a:xfrm>
          <a:prstGeom prst="straightConnector1">
            <a:avLst/>
          </a:prstGeom>
          <a:ln w="25400">
            <a:solidFill>
              <a:srgbClr val="FF0000"/>
            </a:solidFill>
            <a:tailEnd type="triangle" w="lg" len="lg"/>
          </a:ln>
        </p:spPr>
        <p:style>
          <a:lnRef idx="1">
            <a:schemeClr val="accent1"/>
          </a:lnRef>
          <a:fillRef idx="0">
            <a:schemeClr val="accent1"/>
          </a:fillRef>
          <a:effectRef idx="0">
            <a:schemeClr val="accent1"/>
          </a:effectRef>
          <a:fontRef idx="minor">
            <a:schemeClr val="tx1"/>
          </a:fontRef>
        </p:style>
      </p:cxnSp>
      <p:sp>
        <p:nvSpPr>
          <p:cNvPr id="13" name="CuadroTexto 5">
            <a:extLst>
              <a:ext uri="{FF2B5EF4-FFF2-40B4-BE49-F238E27FC236}">
                <a16:creationId xmlns:a16="http://schemas.microsoft.com/office/drawing/2014/main" id="{D2921AF8-C127-14A1-AF85-9FB734D20439}"/>
              </a:ext>
            </a:extLst>
          </p:cNvPr>
          <p:cNvSpPr txBox="1"/>
          <p:nvPr/>
        </p:nvSpPr>
        <p:spPr>
          <a:xfrm>
            <a:off x="2305013" y="2252265"/>
            <a:ext cx="655949" cy="523220"/>
          </a:xfrm>
          <a:prstGeom prst="rect">
            <a:avLst/>
          </a:prstGeom>
          <a:noFill/>
          <a:ln w="25400">
            <a:solidFill>
              <a:schemeClr val="bg1"/>
            </a:solidFill>
          </a:ln>
        </p:spPr>
        <p:txBody>
          <a:bodyPr wrap="none" rtlCol="0">
            <a:spAutoFit/>
          </a:bodyPr>
          <a:lstStyle/>
          <a:p>
            <a:r>
              <a:rPr lang="es-ES" sz="2800" dirty="0">
                <a:latin typeface="Arial" panose="020B0604020202020204" pitchFamily="34" charset="0"/>
                <a:cs typeface="Arial" panose="020B0604020202020204" pitchFamily="34" charset="0"/>
              </a:rPr>
              <a:t>S</a:t>
            </a:r>
            <a:r>
              <a:rPr lang="es-ES" sz="2800" baseline="-25000" dirty="0">
                <a:latin typeface="Arial" panose="020B0604020202020204" pitchFamily="34" charset="0"/>
                <a:cs typeface="Arial" panose="020B0604020202020204" pitchFamily="34" charset="0"/>
              </a:rPr>
              <a:t>1</a:t>
            </a:r>
            <a:r>
              <a:rPr lang="es-ES" sz="2800" dirty="0">
                <a:latin typeface="Arial" panose="020B0604020202020204" pitchFamily="34" charset="0"/>
                <a:cs typeface="Arial" panose="020B0604020202020204" pitchFamily="34" charset="0"/>
              </a:rPr>
              <a:t> </a:t>
            </a:r>
            <a:endParaRPr lang="es-ES" sz="2800" baseline="-25000" dirty="0">
              <a:latin typeface="Arial" panose="020B0604020202020204" pitchFamily="34" charset="0"/>
              <a:cs typeface="Arial" panose="020B0604020202020204" pitchFamily="34" charset="0"/>
            </a:endParaRPr>
          </a:p>
        </p:txBody>
      </p:sp>
      <p:sp>
        <p:nvSpPr>
          <p:cNvPr id="14" name="CuadroTexto 5">
            <a:extLst>
              <a:ext uri="{FF2B5EF4-FFF2-40B4-BE49-F238E27FC236}">
                <a16:creationId xmlns:a16="http://schemas.microsoft.com/office/drawing/2014/main" id="{B38C1D3B-1B80-6E13-1DAA-B59D12DAAB9E}"/>
              </a:ext>
            </a:extLst>
          </p:cNvPr>
          <p:cNvSpPr txBox="1"/>
          <p:nvPr/>
        </p:nvSpPr>
        <p:spPr>
          <a:xfrm>
            <a:off x="4739787" y="2223178"/>
            <a:ext cx="655949" cy="523220"/>
          </a:xfrm>
          <a:prstGeom prst="rect">
            <a:avLst/>
          </a:prstGeom>
          <a:noFill/>
          <a:ln w="25400">
            <a:solidFill>
              <a:schemeClr val="bg1"/>
            </a:solidFill>
          </a:ln>
        </p:spPr>
        <p:txBody>
          <a:bodyPr wrap="none" rtlCol="0">
            <a:spAutoFit/>
          </a:bodyPr>
          <a:lstStyle/>
          <a:p>
            <a:r>
              <a:rPr lang="es-ES" sz="2800" dirty="0">
                <a:latin typeface="Arial" panose="020B0604020202020204" pitchFamily="34" charset="0"/>
                <a:cs typeface="Arial" panose="020B0604020202020204" pitchFamily="34" charset="0"/>
              </a:rPr>
              <a:t>S</a:t>
            </a:r>
            <a:r>
              <a:rPr lang="es-ES" sz="2800" baseline="-25000" dirty="0">
                <a:latin typeface="Arial" panose="020B0604020202020204" pitchFamily="34" charset="0"/>
                <a:cs typeface="Arial" panose="020B0604020202020204" pitchFamily="34" charset="0"/>
              </a:rPr>
              <a:t>2</a:t>
            </a:r>
            <a:r>
              <a:rPr lang="es-ES" sz="2800" dirty="0">
                <a:latin typeface="Arial" panose="020B0604020202020204" pitchFamily="34" charset="0"/>
                <a:cs typeface="Arial" panose="020B0604020202020204" pitchFamily="34" charset="0"/>
              </a:rPr>
              <a:t> </a:t>
            </a:r>
            <a:endParaRPr lang="es-ES" sz="2800" baseline="-25000" dirty="0">
              <a:latin typeface="Arial" panose="020B0604020202020204" pitchFamily="34" charset="0"/>
              <a:cs typeface="Arial" panose="020B0604020202020204" pitchFamily="34" charset="0"/>
            </a:endParaRPr>
          </a:p>
        </p:txBody>
      </p:sp>
      <p:cxnSp>
        <p:nvCxnSpPr>
          <p:cNvPr id="15" name="Conector recto de flecha 4">
            <a:extLst>
              <a:ext uri="{FF2B5EF4-FFF2-40B4-BE49-F238E27FC236}">
                <a16:creationId xmlns:a16="http://schemas.microsoft.com/office/drawing/2014/main" id="{45A65370-08ED-7B52-C3CA-1239C1ECBE1E}"/>
              </a:ext>
            </a:extLst>
          </p:cNvPr>
          <p:cNvCxnSpPr>
            <a:cxnSpLocks/>
          </p:cNvCxnSpPr>
          <p:nvPr/>
        </p:nvCxnSpPr>
        <p:spPr>
          <a:xfrm>
            <a:off x="2489732" y="1502208"/>
            <a:ext cx="14990" cy="707505"/>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16" name="CuadroTexto 5">
            <a:extLst>
              <a:ext uri="{FF2B5EF4-FFF2-40B4-BE49-F238E27FC236}">
                <a16:creationId xmlns:a16="http://schemas.microsoft.com/office/drawing/2014/main" id="{A72FA1CD-809C-0052-DE16-51B172E8A533}"/>
              </a:ext>
            </a:extLst>
          </p:cNvPr>
          <p:cNvSpPr txBox="1"/>
          <p:nvPr/>
        </p:nvSpPr>
        <p:spPr>
          <a:xfrm>
            <a:off x="4652770" y="988893"/>
            <a:ext cx="622286" cy="523220"/>
          </a:xfrm>
          <a:prstGeom prst="rect">
            <a:avLst/>
          </a:prstGeom>
          <a:noFill/>
          <a:ln w="25400">
            <a:solidFill>
              <a:schemeClr val="bg1"/>
            </a:solidFill>
          </a:ln>
        </p:spPr>
        <p:txBody>
          <a:bodyPr wrap="none" rtlCol="0">
            <a:spAutoFit/>
          </a:bodyPr>
          <a:lstStyle/>
          <a:p>
            <a:r>
              <a:rPr lang="es-ES" sz="2800" dirty="0">
                <a:solidFill>
                  <a:srgbClr val="FF0000"/>
                </a:solidFill>
                <a:latin typeface="Arial" panose="020B0604020202020204" pitchFamily="34" charset="0"/>
                <a:cs typeface="Arial" panose="020B0604020202020204" pitchFamily="34" charset="0"/>
              </a:rPr>
              <a:t>W </a:t>
            </a:r>
            <a:endParaRPr lang="es-ES" sz="2800" baseline="-25000" dirty="0">
              <a:solidFill>
                <a:srgbClr val="FF0000"/>
              </a:solidFill>
              <a:latin typeface="Arial" panose="020B0604020202020204" pitchFamily="34" charset="0"/>
              <a:cs typeface="Arial" panose="020B0604020202020204" pitchFamily="34" charset="0"/>
            </a:endParaRPr>
          </a:p>
        </p:txBody>
      </p:sp>
      <p:sp>
        <p:nvSpPr>
          <p:cNvPr id="17" name="CuadroTexto 5">
            <a:extLst>
              <a:ext uri="{FF2B5EF4-FFF2-40B4-BE49-F238E27FC236}">
                <a16:creationId xmlns:a16="http://schemas.microsoft.com/office/drawing/2014/main" id="{4D2C7AA1-C405-402B-6120-5E0EE91227A5}"/>
              </a:ext>
            </a:extLst>
          </p:cNvPr>
          <p:cNvSpPr txBox="1"/>
          <p:nvPr/>
        </p:nvSpPr>
        <p:spPr>
          <a:xfrm>
            <a:off x="6017753" y="1001014"/>
            <a:ext cx="516423" cy="523220"/>
          </a:xfrm>
          <a:prstGeom prst="rect">
            <a:avLst/>
          </a:prstGeom>
          <a:noFill/>
          <a:ln w="25400">
            <a:solidFill>
              <a:schemeClr val="bg1"/>
            </a:solidFill>
          </a:ln>
        </p:spPr>
        <p:txBody>
          <a:bodyPr wrap="none" rtlCol="0">
            <a:spAutoFit/>
          </a:bodyPr>
          <a:lstStyle/>
          <a:p>
            <a:r>
              <a:rPr lang="es-ES" sz="2800" dirty="0">
                <a:latin typeface="Arial" panose="020B0604020202020204" pitchFamily="34" charset="0"/>
                <a:cs typeface="Arial" panose="020B0604020202020204" pitchFamily="34" charset="0"/>
              </a:rPr>
              <a:t>Y </a:t>
            </a:r>
            <a:endParaRPr lang="es-ES" sz="2800" baseline="-25000" dirty="0">
              <a:latin typeface="Arial" panose="020B0604020202020204" pitchFamily="34" charset="0"/>
              <a:cs typeface="Arial" panose="020B0604020202020204" pitchFamily="34" charset="0"/>
            </a:endParaRPr>
          </a:p>
        </p:txBody>
      </p:sp>
      <p:cxnSp>
        <p:nvCxnSpPr>
          <p:cNvPr id="18" name="Conector recto de flecha 4">
            <a:extLst>
              <a:ext uri="{FF2B5EF4-FFF2-40B4-BE49-F238E27FC236}">
                <a16:creationId xmlns:a16="http://schemas.microsoft.com/office/drawing/2014/main" id="{B58F414B-3E38-7735-5E80-F041514E3D7A}"/>
              </a:ext>
            </a:extLst>
          </p:cNvPr>
          <p:cNvCxnSpPr>
            <a:cxnSpLocks/>
          </p:cNvCxnSpPr>
          <p:nvPr/>
        </p:nvCxnSpPr>
        <p:spPr>
          <a:xfrm>
            <a:off x="4899872" y="1500149"/>
            <a:ext cx="14990" cy="707505"/>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9" name="Conector recto de flecha 4">
            <a:extLst>
              <a:ext uri="{FF2B5EF4-FFF2-40B4-BE49-F238E27FC236}">
                <a16:creationId xmlns:a16="http://schemas.microsoft.com/office/drawing/2014/main" id="{A1485A2C-00AF-8F5A-23A3-359D2B822AB7}"/>
              </a:ext>
            </a:extLst>
          </p:cNvPr>
          <p:cNvCxnSpPr>
            <a:cxnSpLocks/>
          </p:cNvCxnSpPr>
          <p:nvPr/>
        </p:nvCxnSpPr>
        <p:spPr>
          <a:xfrm>
            <a:off x="3971434" y="1251561"/>
            <a:ext cx="686564" cy="0"/>
          </a:xfrm>
          <a:prstGeom prst="straightConnector1">
            <a:avLst/>
          </a:prstGeom>
          <a:ln w="25400">
            <a:solidFill>
              <a:srgbClr val="FF0000"/>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20" name="Conector recto de flecha 4">
            <a:extLst>
              <a:ext uri="{FF2B5EF4-FFF2-40B4-BE49-F238E27FC236}">
                <a16:creationId xmlns:a16="http://schemas.microsoft.com/office/drawing/2014/main" id="{4E050DE3-1603-A931-2A20-ABF941C80CDB}"/>
              </a:ext>
            </a:extLst>
          </p:cNvPr>
          <p:cNvCxnSpPr>
            <a:cxnSpLocks/>
          </p:cNvCxnSpPr>
          <p:nvPr/>
        </p:nvCxnSpPr>
        <p:spPr>
          <a:xfrm flipH="1">
            <a:off x="5175670" y="1250503"/>
            <a:ext cx="782518" cy="0"/>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5F92DE58-D5EF-4E1E-E224-08FFAB1431AA}"/>
              </a:ext>
            </a:extLst>
          </p:cNvPr>
          <p:cNvSpPr txBox="1"/>
          <p:nvPr/>
        </p:nvSpPr>
        <p:spPr>
          <a:xfrm>
            <a:off x="4985657" y="3146304"/>
            <a:ext cx="2209800" cy="369332"/>
          </a:xfrm>
          <a:prstGeom prst="rect">
            <a:avLst/>
          </a:prstGeom>
          <a:noFill/>
        </p:spPr>
        <p:txBody>
          <a:bodyPr wrap="square" rtlCol="0">
            <a:spAutoFit/>
          </a:bodyPr>
          <a:lstStyle/>
          <a:p>
            <a:r>
              <a:rPr lang="en-US" b="1" dirty="0">
                <a:latin typeface="Arial" panose="020B0604020202020204" pitchFamily="34" charset="0"/>
                <a:cs typeface="Arial" panose="020B0604020202020204" pitchFamily="34" charset="0"/>
              </a:rPr>
              <a:t>X </a:t>
            </a:r>
            <a:r>
              <a:rPr lang="en-US" b="1" u="sng" dirty="0">
                <a:latin typeface="Arial" panose="020B0604020202020204" pitchFamily="34" charset="0"/>
                <a:cs typeface="Arial" panose="020B0604020202020204" pitchFamily="34" charset="0"/>
              </a:rPr>
              <a:t>||</a:t>
            </a:r>
            <a:r>
              <a:rPr lang="en-US" b="1" dirty="0">
                <a:latin typeface="Arial" panose="020B0604020202020204" pitchFamily="34" charset="0"/>
                <a:cs typeface="Arial" panose="020B0604020202020204" pitchFamily="34" charset="0"/>
              </a:rPr>
              <a:t> W {U}</a:t>
            </a:r>
            <a:r>
              <a:rPr lang="en-US" dirty="0">
                <a:latin typeface="Arial" panose="020B0604020202020204" pitchFamily="34" charset="0"/>
                <a:cs typeface="Arial" panose="020B0604020202020204" pitchFamily="34" charset="0"/>
              </a:rPr>
              <a:t> ?</a:t>
            </a:r>
          </a:p>
        </p:txBody>
      </p:sp>
      <p:sp>
        <p:nvSpPr>
          <p:cNvPr id="23" name="TextBox 22">
            <a:extLst>
              <a:ext uri="{FF2B5EF4-FFF2-40B4-BE49-F238E27FC236}">
                <a16:creationId xmlns:a16="http://schemas.microsoft.com/office/drawing/2014/main" id="{E28DF55A-89E4-828D-B3A0-00E2DCC2C3D2}"/>
              </a:ext>
            </a:extLst>
          </p:cNvPr>
          <p:cNvSpPr txBox="1"/>
          <p:nvPr/>
        </p:nvSpPr>
        <p:spPr>
          <a:xfrm>
            <a:off x="425304" y="3842893"/>
            <a:ext cx="6214982" cy="369332"/>
          </a:xfrm>
          <a:prstGeom prst="rect">
            <a:avLst/>
          </a:prstGeom>
          <a:noFill/>
        </p:spPr>
        <p:txBody>
          <a:bodyPr wrap="square">
            <a:spAutoFit/>
          </a:bodyPr>
          <a:lstStyle/>
          <a:p>
            <a:r>
              <a:rPr lang="en-US" b="1" dirty="0">
                <a:latin typeface="Arial" panose="020B0604020202020204" pitchFamily="34" charset="0"/>
                <a:cs typeface="Arial" panose="020B0604020202020204" pitchFamily="34" charset="0"/>
              </a:rPr>
              <a:t>Step 1:</a:t>
            </a:r>
            <a:r>
              <a:rPr lang="en-US" dirty="0">
                <a:latin typeface="Arial" panose="020B0604020202020204" pitchFamily="34" charset="0"/>
                <a:cs typeface="Arial" panose="020B0604020202020204" pitchFamily="34" charset="0"/>
              </a:rPr>
              <a:t> Write down all (undirected) paths between </a:t>
            </a:r>
            <a:r>
              <a:rPr lang="en-US" b="1" dirty="0">
                <a:latin typeface="Arial" panose="020B0604020202020204" pitchFamily="34" charset="0"/>
                <a:cs typeface="Arial" panose="020B0604020202020204" pitchFamily="34" charset="0"/>
              </a:rPr>
              <a:t>X</a:t>
            </a:r>
            <a:r>
              <a:rPr lang="en-US" dirty="0">
                <a:latin typeface="Arial" panose="020B0604020202020204" pitchFamily="34" charset="0"/>
                <a:cs typeface="Arial" panose="020B0604020202020204" pitchFamily="34" charset="0"/>
              </a:rPr>
              <a:t> and </a:t>
            </a:r>
            <a:r>
              <a:rPr lang="en-US" b="1" dirty="0">
                <a:latin typeface="Arial" panose="020B0604020202020204" pitchFamily="34" charset="0"/>
                <a:cs typeface="Arial" panose="020B0604020202020204" pitchFamily="34" charset="0"/>
              </a:rPr>
              <a:t>W</a:t>
            </a:r>
          </a:p>
        </p:txBody>
      </p:sp>
      <p:sp>
        <p:nvSpPr>
          <p:cNvPr id="25" name="CuadroTexto 5">
            <a:extLst>
              <a:ext uri="{FF2B5EF4-FFF2-40B4-BE49-F238E27FC236}">
                <a16:creationId xmlns:a16="http://schemas.microsoft.com/office/drawing/2014/main" id="{28290355-6698-0DD8-5855-AF880FEB4348}"/>
              </a:ext>
            </a:extLst>
          </p:cNvPr>
          <p:cNvSpPr txBox="1"/>
          <p:nvPr/>
        </p:nvSpPr>
        <p:spPr>
          <a:xfrm>
            <a:off x="1741154" y="4612131"/>
            <a:ext cx="415498" cy="369332"/>
          </a:xfrm>
          <a:prstGeom prst="rect">
            <a:avLst/>
          </a:prstGeom>
          <a:noFill/>
          <a:ln w="25400">
            <a:solidFill>
              <a:schemeClr val="bg1"/>
            </a:solidFill>
          </a:ln>
        </p:spPr>
        <p:txBody>
          <a:bodyPr wrap="none" rtlCol="0">
            <a:spAutoFit/>
          </a:bodyPr>
          <a:lstStyle/>
          <a:p>
            <a:r>
              <a:rPr lang="es-ES" dirty="0">
                <a:latin typeface="Arial" panose="020B0604020202020204" pitchFamily="34" charset="0"/>
                <a:cs typeface="Arial" panose="020B0604020202020204" pitchFamily="34" charset="0"/>
              </a:rPr>
              <a:t>U </a:t>
            </a:r>
            <a:endParaRPr lang="es-ES" baseline="-25000" dirty="0">
              <a:latin typeface="Arial" panose="020B0604020202020204" pitchFamily="34" charset="0"/>
              <a:cs typeface="Arial" panose="020B0604020202020204" pitchFamily="34" charset="0"/>
            </a:endParaRPr>
          </a:p>
        </p:txBody>
      </p:sp>
      <p:sp>
        <p:nvSpPr>
          <p:cNvPr id="26" name="CuadroTexto 5">
            <a:extLst>
              <a:ext uri="{FF2B5EF4-FFF2-40B4-BE49-F238E27FC236}">
                <a16:creationId xmlns:a16="http://schemas.microsoft.com/office/drawing/2014/main" id="{9FDB06DC-AAD0-900F-3659-D9E92905E881}"/>
              </a:ext>
            </a:extLst>
          </p:cNvPr>
          <p:cNvSpPr txBox="1"/>
          <p:nvPr/>
        </p:nvSpPr>
        <p:spPr>
          <a:xfrm>
            <a:off x="526404" y="4458243"/>
            <a:ext cx="437940" cy="523220"/>
          </a:xfrm>
          <a:prstGeom prst="rect">
            <a:avLst/>
          </a:prstGeom>
          <a:noFill/>
          <a:ln w="25400">
            <a:solidFill>
              <a:schemeClr val="bg1"/>
            </a:solidFill>
          </a:ln>
        </p:spPr>
        <p:txBody>
          <a:bodyPr wrap="none" rtlCol="0">
            <a:spAutoFit/>
          </a:bodyPr>
          <a:lstStyle/>
          <a:p>
            <a:r>
              <a:rPr lang="es-ES" dirty="0">
                <a:latin typeface="Arial" panose="020B0604020202020204" pitchFamily="34" charset="0"/>
                <a:cs typeface="Arial" panose="020B0604020202020204" pitchFamily="34" charset="0"/>
              </a:rPr>
              <a:t>X</a:t>
            </a:r>
            <a:r>
              <a:rPr lang="es-ES" sz="2800" dirty="0">
                <a:latin typeface="Arial" panose="020B0604020202020204" pitchFamily="34" charset="0"/>
                <a:cs typeface="Arial" panose="020B0604020202020204" pitchFamily="34" charset="0"/>
              </a:rPr>
              <a:t> </a:t>
            </a:r>
            <a:endParaRPr lang="es-ES" sz="2800" baseline="-25000" dirty="0">
              <a:latin typeface="Arial" panose="020B0604020202020204" pitchFamily="34" charset="0"/>
              <a:cs typeface="Arial" panose="020B0604020202020204" pitchFamily="34" charset="0"/>
            </a:endParaRPr>
          </a:p>
        </p:txBody>
      </p:sp>
      <p:cxnSp>
        <p:nvCxnSpPr>
          <p:cNvPr id="28" name="Conector recto de flecha 4">
            <a:extLst>
              <a:ext uri="{FF2B5EF4-FFF2-40B4-BE49-F238E27FC236}">
                <a16:creationId xmlns:a16="http://schemas.microsoft.com/office/drawing/2014/main" id="{93836E97-1375-7E8B-E20F-0C7FE8E44BE6}"/>
              </a:ext>
            </a:extLst>
          </p:cNvPr>
          <p:cNvCxnSpPr>
            <a:cxnSpLocks/>
          </p:cNvCxnSpPr>
          <p:nvPr/>
        </p:nvCxnSpPr>
        <p:spPr>
          <a:xfrm flipH="1">
            <a:off x="2232853" y="4796797"/>
            <a:ext cx="728109" cy="0"/>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31" name="CuadroTexto 5">
            <a:extLst>
              <a:ext uri="{FF2B5EF4-FFF2-40B4-BE49-F238E27FC236}">
                <a16:creationId xmlns:a16="http://schemas.microsoft.com/office/drawing/2014/main" id="{C6A83CB8-3BB9-67FB-F684-5036363AB64E}"/>
              </a:ext>
            </a:extLst>
          </p:cNvPr>
          <p:cNvSpPr txBox="1"/>
          <p:nvPr/>
        </p:nvSpPr>
        <p:spPr>
          <a:xfrm>
            <a:off x="2955236" y="4612131"/>
            <a:ext cx="402674" cy="369332"/>
          </a:xfrm>
          <a:prstGeom prst="rect">
            <a:avLst/>
          </a:prstGeom>
          <a:noFill/>
          <a:ln w="25400">
            <a:solidFill>
              <a:schemeClr val="bg1"/>
            </a:solidFill>
          </a:ln>
        </p:spPr>
        <p:txBody>
          <a:bodyPr wrap="none" rtlCol="0">
            <a:spAutoFit/>
          </a:bodyPr>
          <a:lstStyle/>
          <a:p>
            <a:r>
              <a:rPr lang="es-ES" dirty="0">
                <a:latin typeface="Arial" panose="020B0604020202020204" pitchFamily="34" charset="0"/>
                <a:cs typeface="Arial" panose="020B0604020202020204" pitchFamily="34" charset="0"/>
              </a:rPr>
              <a:t>V </a:t>
            </a:r>
            <a:endParaRPr lang="es-ES" baseline="-25000" dirty="0">
              <a:latin typeface="Arial" panose="020B0604020202020204" pitchFamily="34" charset="0"/>
              <a:cs typeface="Arial" panose="020B0604020202020204" pitchFamily="34" charset="0"/>
            </a:endParaRPr>
          </a:p>
        </p:txBody>
      </p:sp>
      <p:cxnSp>
        <p:nvCxnSpPr>
          <p:cNvPr id="33" name="Conector recto de flecha 4">
            <a:extLst>
              <a:ext uri="{FF2B5EF4-FFF2-40B4-BE49-F238E27FC236}">
                <a16:creationId xmlns:a16="http://schemas.microsoft.com/office/drawing/2014/main" id="{1715624A-42E0-CD75-CA4E-CA3D544B2BA5}"/>
              </a:ext>
            </a:extLst>
          </p:cNvPr>
          <p:cNvCxnSpPr>
            <a:cxnSpLocks/>
          </p:cNvCxnSpPr>
          <p:nvPr/>
        </p:nvCxnSpPr>
        <p:spPr>
          <a:xfrm>
            <a:off x="900600" y="4796797"/>
            <a:ext cx="686564" cy="0"/>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34" name="Conector recto de flecha 4">
            <a:extLst>
              <a:ext uri="{FF2B5EF4-FFF2-40B4-BE49-F238E27FC236}">
                <a16:creationId xmlns:a16="http://schemas.microsoft.com/office/drawing/2014/main" id="{23A84EFE-C585-38A5-F17D-6831F80BA37B}"/>
              </a:ext>
            </a:extLst>
          </p:cNvPr>
          <p:cNvCxnSpPr>
            <a:cxnSpLocks/>
          </p:cNvCxnSpPr>
          <p:nvPr/>
        </p:nvCxnSpPr>
        <p:spPr>
          <a:xfrm>
            <a:off x="3357910" y="4796797"/>
            <a:ext cx="686564" cy="0"/>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35" name="CuadroTexto 5">
            <a:extLst>
              <a:ext uri="{FF2B5EF4-FFF2-40B4-BE49-F238E27FC236}">
                <a16:creationId xmlns:a16="http://schemas.microsoft.com/office/drawing/2014/main" id="{30AD0941-779C-86BF-326E-B00CE3C3C0A7}"/>
              </a:ext>
            </a:extLst>
          </p:cNvPr>
          <p:cNvSpPr txBox="1"/>
          <p:nvPr/>
        </p:nvSpPr>
        <p:spPr>
          <a:xfrm>
            <a:off x="4223261" y="4612131"/>
            <a:ext cx="466794" cy="369332"/>
          </a:xfrm>
          <a:prstGeom prst="rect">
            <a:avLst/>
          </a:prstGeom>
          <a:noFill/>
          <a:ln w="25400">
            <a:solidFill>
              <a:schemeClr val="bg1"/>
            </a:solidFill>
          </a:ln>
        </p:spPr>
        <p:txBody>
          <a:bodyPr wrap="none" rtlCol="0">
            <a:spAutoFit/>
          </a:bodyPr>
          <a:lstStyle/>
          <a:p>
            <a:r>
              <a:rPr lang="es-ES" dirty="0">
                <a:latin typeface="Arial" panose="020B0604020202020204" pitchFamily="34" charset="0"/>
                <a:cs typeface="Arial" panose="020B0604020202020204" pitchFamily="34" charset="0"/>
              </a:rPr>
              <a:t>W </a:t>
            </a:r>
            <a:endParaRPr lang="es-ES" baseline="-25000" dirty="0">
              <a:latin typeface="Arial" panose="020B0604020202020204" pitchFamily="34" charset="0"/>
              <a:cs typeface="Arial" panose="020B0604020202020204" pitchFamily="34" charset="0"/>
            </a:endParaRPr>
          </a:p>
        </p:txBody>
      </p:sp>
      <p:sp>
        <p:nvSpPr>
          <p:cNvPr id="36" name="TextBox 35">
            <a:extLst>
              <a:ext uri="{FF2B5EF4-FFF2-40B4-BE49-F238E27FC236}">
                <a16:creationId xmlns:a16="http://schemas.microsoft.com/office/drawing/2014/main" id="{E69E5A81-4066-6A15-3A2F-824DC62B7BA5}"/>
              </a:ext>
            </a:extLst>
          </p:cNvPr>
          <p:cNvSpPr txBox="1"/>
          <p:nvPr/>
        </p:nvSpPr>
        <p:spPr>
          <a:xfrm>
            <a:off x="425304" y="5326292"/>
            <a:ext cx="5888409" cy="369332"/>
          </a:xfrm>
          <a:prstGeom prst="rect">
            <a:avLst/>
          </a:prstGeom>
          <a:noFill/>
        </p:spPr>
        <p:txBody>
          <a:bodyPr wrap="square">
            <a:spAutoFit/>
          </a:bodyPr>
          <a:lstStyle/>
          <a:p>
            <a:r>
              <a:rPr lang="en-US" b="1" dirty="0">
                <a:latin typeface="Arial" panose="020B0604020202020204" pitchFamily="34" charset="0"/>
                <a:cs typeface="Arial" panose="020B0604020202020204" pitchFamily="34" charset="0"/>
              </a:rPr>
              <a:t>Step 2:</a:t>
            </a:r>
            <a:r>
              <a:rPr lang="en-US" dirty="0">
                <a:latin typeface="Arial" panose="020B0604020202020204" pitchFamily="34" charset="0"/>
                <a:cs typeface="Arial" panose="020B0604020202020204" pitchFamily="34" charset="0"/>
              </a:rPr>
              <a:t> Now check the conditional set </a:t>
            </a:r>
          </a:p>
        </p:txBody>
      </p:sp>
      <p:sp>
        <p:nvSpPr>
          <p:cNvPr id="38" name="TextBox 37">
            <a:extLst>
              <a:ext uri="{FF2B5EF4-FFF2-40B4-BE49-F238E27FC236}">
                <a16:creationId xmlns:a16="http://schemas.microsoft.com/office/drawing/2014/main" id="{645E28C4-F5D2-936C-0D09-49EAF8FC55C6}"/>
              </a:ext>
            </a:extLst>
          </p:cNvPr>
          <p:cNvSpPr txBox="1"/>
          <p:nvPr/>
        </p:nvSpPr>
        <p:spPr>
          <a:xfrm>
            <a:off x="526404" y="6000844"/>
            <a:ext cx="7963693" cy="369332"/>
          </a:xfrm>
          <a:prstGeom prst="rect">
            <a:avLst/>
          </a:prstGeom>
          <a:noFill/>
        </p:spPr>
        <p:txBody>
          <a:bodyPr wrap="square">
            <a:spAutoFit/>
          </a:bodyPr>
          <a:lstStyle/>
          <a:p>
            <a:r>
              <a:rPr lang="en-US" b="1" dirty="0">
                <a:latin typeface="Arial" panose="020B0604020202020204" pitchFamily="34" charset="0"/>
                <a:cs typeface="Arial" panose="020B0604020202020204" pitchFamily="34" charset="0"/>
              </a:rPr>
              <a:t>Concussion:</a:t>
            </a:r>
            <a:r>
              <a:rPr lang="en-US" dirty="0">
                <a:latin typeface="Arial" panose="020B0604020202020204" pitchFamily="34" charset="0"/>
                <a:cs typeface="Arial" panose="020B0604020202020204" pitchFamily="34" charset="0"/>
              </a:rPr>
              <a:t> </a:t>
            </a:r>
            <a:r>
              <a:rPr lang="en-US" b="1" dirty="0">
                <a:latin typeface="Arial" panose="020B0604020202020204" pitchFamily="34" charset="0"/>
                <a:cs typeface="Arial" panose="020B0604020202020204" pitchFamily="34" charset="0"/>
              </a:rPr>
              <a:t>X</a:t>
            </a:r>
            <a:r>
              <a:rPr lang="en-US" dirty="0">
                <a:latin typeface="Arial" panose="020B0604020202020204" pitchFamily="34" charset="0"/>
                <a:cs typeface="Arial" panose="020B0604020202020204" pitchFamily="34" charset="0"/>
              </a:rPr>
              <a:t> is not d-separated from </a:t>
            </a:r>
            <a:r>
              <a:rPr lang="en-US" b="1" dirty="0">
                <a:latin typeface="Arial" panose="020B0604020202020204" pitchFamily="34" charset="0"/>
                <a:cs typeface="Arial" panose="020B0604020202020204" pitchFamily="34" charset="0"/>
              </a:rPr>
              <a:t>W</a:t>
            </a:r>
            <a:r>
              <a:rPr lang="en-US" dirty="0">
                <a:latin typeface="Arial" panose="020B0604020202020204" pitchFamily="34" charset="0"/>
                <a:cs typeface="Arial" panose="020B0604020202020204" pitchFamily="34" charset="0"/>
              </a:rPr>
              <a:t>, given (conditional on) </a:t>
            </a:r>
            <a:r>
              <a:rPr lang="en-US" b="1" dirty="0">
                <a:latin typeface="Arial" panose="020B0604020202020204" pitchFamily="34" charset="0"/>
                <a:cs typeface="Arial" panose="020B0604020202020204" pitchFamily="34" charset="0"/>
              </a:rPr>
              <a:t>U</a:t>
            </a:r>
          </a:p>
        </p:txBody>
      </p:sp>
      <p:sp>
        <p:nvSpPr>
          <p:cNvPr id="41" name="TextBox 40">
            <a:extLst>
              <a:ext uri="{FF2B5EF4-FFF2-40B4-BE49-F238E27FC236}">
                <a16:creationId xmlns:a16="http://schemas.microsoft.com/office/drawing/2014/main" id="{FC765E4D-600A-A9AB-73FF-D4F7CC28C4E5}"/>
              </a:ext>
            </a:extLst>
          </p:cNvPr>
          <p:cNvSpPr txBox="1"/>
          <p:nvPr/>
        </p:nvSpPr>
        <p:spPr>
          <a:xfrm>
            <a:off x="4899872" y="5285450"/>
            <a:ext cx="691730" cy="369332"/>
          </a:xfrm>
          <a:prstGeom prst="rect">
            <a:avLst/>
          </a:prstGeom>
          <a:noFill/>
        </p:spPr>
        <p:txBody>
          <a:bodyPr wrap="square">
            <a:spAutoFit/>
          </a:bodyPr>
          <a:lstStyle/>
          <a:p>
            <a:r>
              <a:rPr lang="en-US" b="1" dirty="0">
                <a:latin typeface="Arial" panose="020B0604020202020204" pitchFamily="34" charset="0"/>
                <a:cs typeface="Arial" panose="020B0604020202020204" pitchFamily="34" charset="0"/>
              </a:rPr>
              <a:t>{U}</a:t>
            </a:r>
            <a:endParaRPr lang="en-US" dirty="0"/>
          </a:p>
        </p:txBody>
      </p:sp>
    </p:spTree>
    <p:extLst>
      <p:ext uri="{BB962C8B-B14F-4D97-AF65-F5344CB8AC3E}">
        <p14:creationId xmlns:p14="http://schemas.microsoft.com/office/powerpoint/2010/main" val="37775963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6"/>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3"/>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5"/>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8"/>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1"/>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4"/>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6"/>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41"/>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21" grpId="0"/>
      <p:bldP spid="23" grpId="0"/>
      <p:bldP spid="25" grpId="0" animBg="1"/>
      <p:bldP spid="26" grpId="0" animBg="1"/>
      <p:bldP spid="31" grpId="0" animBg="1"/>
      <p:bldP spid="35" grpId="0" animBg="1"/>
      <p:bldP spid="36" grpId="0"/>
      <p:bldP spid="38" grpId="0"/>
      <p:bldP spid="41" grpId="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58FE13C-514E-10A0-57D6-BBBD901B34F8}"/>
              </a:ext>
            </a:extLst>
          </p:cNvPr>
          <p:cNvSpPr txBox="1"/>
          <p:nvPr/>
        </p:nvSpPr>
        <p:spPr>
          <a:xfrm>
            <a:off x="421908" y="224129"/>
            <a:ext cx="5604096" cy="461665"/>
          </a:xfrm>
          <a:prstGeom prst="rect">
            <a:avLst/>
          </a:prstGeom>
          <a:noFill/>
        </p:spPr>
        <p:txBody>
          <a:bodyPr wrap="square">
            <a:spAutoFit/>
          </a:bodyPr>
          <a:lstStyle/>
          <a:p>
            <a:r>
              <a:rPr lang="en-US" sz="2400" b="1" dirty="0">
                <a:latin typeface="Arial" panose="020B0604020202020204" pitchFamily="34" charset="0"/>
                <a:cs typeface="Arial" panose="020B0604020202020204" pitchFamily="34" charset="0"/>
              </a:rPr>
              <a:t>An example of a d-Separation claim </a:t>
            </a:r>
          </a:p>
        </p:txBody>
      </p:sp>
      <p:cxnSp>
        <p:nvCxnSpPr>
          <p:cNvPr id="5" name="Conector recto de flecha 4">
            <a:extLst>
              <a:ext uri="{FF2B5EF4-FFF2-40B4-BE49-F238E27FC236}">
                <a16:creationId xmlns:a16="http://schemas.microsoft.com/office/drawing/2014/main" id="{52312721-8946-6E49-3A25-0C0734613E13}"/>
              </a:ext>
            </a:extLst>
          </p:cNvPr>
          <p:cNvCxnSpPr>
            <a:cxnSpLocks/>
          </p:cNvCxnSpPr>
          <p:nvPr/>
        </p:nvCxnSpPr>
        <p:spPr>
          <a:xfrm>
            <a:off x="1384530" y="1251561"/>
            <a:ext cx="686564" cy="0"/>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6" name="CuadroTexto 5">
            <a:extLst>
              <a:ext uri="{FF2B5EF4-FFF2-40B4-BE49-F238E27FC236}">
                <a16:creationId xmlns:a16="http://schemas.microsoft.com/office/drawing/2014/main" id="{AD0B80C7-407C-63E3-E7E0-41CE5B4E5DDD}"/>
              </a:ext>
            </a:extLst>
          </p:cNvPr>
          <p:cNvSpPr txBox="1"/>
          <p:nvPr/>
        </p:nvSpPr>
        <p:spPr>
          <a:xfrm>
            <a:off x="2232853" y="988894"/>
            <a:ext cx="543739" cy="523220"/>
          </a:xfrm>
          <a:prstGeom prst="rect">
            <a:avLst/>
          </a:prstGeom>
          <a:noFill/>
          <a:ln w="25400">
            <a:solidFill>
              <a:schemeClr val="bg1"/>
            </a:solidFill>
          </a:ln>
        </p:spPr>
        <p:txBody>
          <a:bodyPr wrap="none" rtlCol="0">
            <a:spAutoFit/>
          </a:bodyPr>
          <a:lstStyle/>
          <a:p>
            <a:r>
              <a:rPr lang="es-ES" sz="2800" dirty="0">
                <a:latin typeface="Arial" panose="020B0604020202020204" pitchFamily="34" charset="0"/>
                <a:cs typeface="Arial" panose="020B0604020202020204" pitchFamily="34" charset="0"/>
              </a:rPr>
              <a:t>U </a:t>
            </a:r>
            <a:endParaRPr lang="es-ES" sz="2800" baseline="-25000" dirty="0">
              <a:latin typeface="Arial" panose="020B0604020202020204" pitchFamily="34" charset="0"/>
              <a:cs typeface="Arial" panose="020B0604020202020204" pitchFamily="34" charset="0"/>
            </a:endParaRPr>
          </a:p>
        </p:txBody>
      </p:sp>
      <p:sp>
        <p:nvSpPr>
          <p:cNvPr id="7" name="CuadroTexto 5">
            <a:extLst>
              <a:ext uri="{FF2B5EF4-FFF2-40B4-BE49-F238E27FC236}">
                <a16:creationId xmlns:a16="http://schemas.microsoft.com/office/drawing/2014/main" id="{57C7831E-68BC-19F5-5D57-22311552FD82}"/>
              </a:ext>
            </a:extLst>
          </p:cNvPr>
          <p:cNvSpPr txBox="1"/>
          <p:nvPr/>
        </p:nvSpPr>
        <p:spPr>
          <a:xfrm>
            <a:off x="780751" y="1001014"/>
            <a:ext cx="522900" cy="523220"/>
          </a:xfrm>
          <a:prstGeom prst="rect">
            <a:avLst/>
          </a:prstGeom>
          <a:noFill/>
          <a:ln w="25400">
            <a:solidFill>
              <a:schemeClr val="bg1"/>
            </a:solidFill>
          </a:ln>
        </p:spPr>
        <p:txBody>
          <a:bodyPr wrap="none" rtlCol="0">
            <a:spAutoFit/>
          </a:bodyPr>
          <a:lstStyle/>
          <a:p>
            <a:r>
              <a:rPr lang="es-ES" sz="2800" dirty="0">
                <a:latin typeface="Arial" panose="020B0604020202020204" pitchFamily="34" charset="0"/>
                <a:cs typeface="Arial" panose="020B0604020202020204" pitchFamily="34" charset="0"/>
              </a:rPr>
              <a:t>X </a:t>
            </a:r>
            <a:endParaRPr lang="es-ES" sz="2800" baseline="-25000" dirty="0">
              <a:latin typeface="Arial" panose="020B0604020202020204" pitchFamily="34" charset="0"/>
              <a:cs typeface="Arial" panose="020B0604020202020204" pitchFamily="34" charset="0"/>
            </a:endParaRPr>
          </a:p>
        </p:txBody>
      </p:sp>
      <p:sp>
        <p:nvSpPr>
          <p:cNvPr id="8" name="CuadroTexto 5">
            <a:extLst>
              <a:ext uri="{FF2B5EF4-FFF2-40B4-BE49-F238E27FC236}">
                <a16:creationId xmlns:a16="http://schemas.microsoft.com/office/drawing/2014/main" id="{AACDC7F3-9502-D726-D6A5-7CF7B34302B4}"/>
              </a:ext>
            </a:extLst>
          </p:cNvPr>
          <p:cNvSpPr txBox="1"/>
          <p:nvPr/>
        </p:nvSpPr>
        <p:spPr>
          <a:xfrm>
            <a:off x="3594870" y="988894"/>
            <a:ext cx="522900" cy="523220"/>
          </a:xfrm>
          <a:prstGeom prst="rect">
            <a:avLst/>
          </a:prstGeom>
          <a:noFill/>
          <a:ln w="25400">
            <a:solidFill>
              <a:schemeClr val="bg1"/>
            </a:solidFill>
          </a:ln>
        </p:spPr>
        <p:txBody>
          <a:bodyPr wrap="none" rtlCol="0">
            <a:spAutoFit/>
          </a:bodyPr>
          <a:lstStyle/>
          <a:p>
            <a:r>
              <a:rPr lang="es-ES" sz="2800" dirty="0">
                <a:latin typeface="Arial" panose="020B0604020202020204" pitchFamily="34" charset="0"/>
                <a:cs typeface="Arial" panose="020B0604020202020204" pitchFamily="34" charset="0"/>
              </a:rPr>
              <a:t>V </a:t>
            </a:r>
            <a:endParaRPr lang="es-ES" sz="2800" baseline="-25000" dirty="0">
              <a:latin typeface="Arial" panose="020B0604020202020204" pitchFamily="34" charset="0"/>
              <a:cs typeface="Arial" panose="020B0604020202020204" pitchFamily="34" charset="0"/>
            </a:endParaRPr>
          </a:p>
        </p:txBody>
      </p:sp>
      <p:cxnSp>
        <p:nvCxnSpPr>
          <p:cNvPr id="9" name="Conector recto de flecha 4">
            <a:extLst>
              <a:ext uri="{FF2B5EF4-FFF2-40B4-BE49-F238E27FC236}">
                <a16:creationId xmlns:a16="http://schemas.microsoft.com/office/drawing/2014/main" id="{29C5FE24-9AF3-6995-B2DE-3BC35CA25D83}"/>
              </a:ext>
            </a:extLst>
          </p:cNvPr>
          <p:cNvCxnSpPr>
            <a:cxnSpLocks/>
          </p:cNvCxnSpPr>
          <p:nvPr/>
        </p:nvCxnSpPr>
        <p:spPr>
          <a:xfrm flipH="1">
            <a:off x="2706020" y="1250503"/>
            <a:ext cx="782518" cy="0"/>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10" name="CuadroTexto 5">
            <a:extLst>
              <a:ext uri="{FF2B5EF4-FFF2-40B4-BE49-F238E27FC236}">
                <a16:creationId xmlns:a16="http://schemas.microsoft.com/office/drawing/2014/main" id="{1BE54523-EFE2-2067-3C34-C1510082307A}"/>
              </a:ext>
            </a:extLst>
          </p:cNvPr>
          <p:cNvSpPr txBox="1"/>
          <p:nvPr/>
        </p:nvSpPr>
        <p:spPr>
          <a:xfrm>
            <a:off x="2305013" y="2252265"/>
            <a:ext cx="655949" cy="523220"/>
          </a:xfrm>
          <a:prstGeom prst="rect">
            <a:avLst/>
          </a:prstGeom>
          <a:noFill/>
          <a:ln w="25400">
            <a:solidFill>
              <a:schemeClr val="bg1"/>
            </a:solidFill>
          </a:ln>
        </p:spPr>
        <p:txBody>
          <a:bodyPr wrap="none" rtlCol="0">
            <a:spAutoFit/>
          </a:bodyPr>
          <a:lstStyle/>
          <a:p>
            <a:r>
              <a:rPr lang="es-ES" sz="2800" dirty="0">
                <a:latin typeface="Arial" panose="020B0604020202020204" pitchFamily="34" charset="0"/>
                <a:cs typeface="Arial" panose="020B0604020202020204" pitchFamily="34" charset="0"/>
              </a:rPr>
              <a:t>S</a:t>
            </a:r>
            <a:r>
              <a:rPr lang="es-ES" sz="2800" baseline="-25000" dirty="0">
                <a:latin typeface="Arial" panose="020B0604020202020204" pitchFamily="34" charset="0"/>
                <a:cs typeface="Arial" panose="020B0604020202020204" pitchFamily="34" charset="0"/>
              </a:rPr>
              <a:t>1</a:t>
            </a:r>
            <a:r>
              <a:rPr lang="es-ES" sz="2800" dirty="0">
                <a:latin typeface="Arial" panose="020B0604020202020204" pitchFamily="34" charset="0"/>
                <a:cs typeface="Arial" panose="020B0604020202020204" pitchFamily="34" charset="0"/>
              </a:rPr>
              <a:t> </a:t>
            </a:r>
            <a:endParaRPr lang="es-ES" sz="2800" baseline="-25000" dirty="0">
              <a:latin typeface="Arial" panose="020B0604020202020204" pitchFamily="34" charset="0"/>
              <a:cs typeface="Arial" panose="020B0604020202020204" pitchFamily="34" charset="0"/>
            </a:endParaRPr>
          </a:p>
        </p:txBody>
      </p:sp>
      <p:sp>
        <p:nvSpPr>
          <p:cNvPr id="11" name="CuadroTexto 5">
            <a:extLst>
              <a:ext uri="{FF2B5EF4-FFF2-40B4-BE49-F238E27FC236}">
                <a16:creationId xmlns:a16="http://schemas.microsoft.com/office/drawing/2014/main" id="{B0D512AF-ED45-8C44-D10A-E7FBC7E81E70}"/>
              </a:ext>
            </a:extLst>
          </p:cNvPr>
          <p:cNvSpPr txBox="1"/>
          <p:nvPr/>
        </p:nvSpPr>
        <p:spPr>
          <a:xfrm>
            <a:off x="4739787" y="2223178"/>
            <a:ext cx="655949" cy="523220"/>
          </a:xfrm>
          <a:prstGeom prst="rect">
            <a:avLst/>
          </a:prstGeom>
          <a:noFill/>
          <a:ln w="25400">
            <a:solidFill>
              <a:schemeClr val="bg1"/>
            </a:solidFill>
          </a:ln>
        </p:spPr>
        <p:txBody>
          <a:bodyPr wrap="none" rtlCol="0">
            <a:spAutoFit/>
          </a:bodyPr>
          <a:lstStyle/>
          <a:p>
            <a:r>
              <a:rPr lang="es-ES" sz="2800" dirty="0">
                <a:latin typeface="Arial" panose="020B0604020202020204" pitchFamily="34" charset="0"/>
                <a:cs typeface="Arial" panose="020B0604020202020204" pitchFamily="34" charset="0"/>
              </a:rPr>
              <a:t>S</a:t>
            </a:r>
            <a:r>
              <a:rPr lang="es-ES" sz="2800" baseline="-25000" dirty="0">
                <a:latin typeface="Arial" panose="020B0604020202020204" pitchFamily="34" charset="0"/>
                <a:cs typeface="Arial" panose="020B0604020202020204" pitchFamily="34" charset="0"/>
              </a:rPr>
              <a:t>2</a:t>
            </a:r>
            <a:r>
              <a:rPr lang="es-ES" sz="2800" dirty="0">
                <a:latin typeface="Arial" panose="020B0604020202020204" pitchFamily="34" charset="0"/>
                <a:cs typeface="Arial" panose="020B0604020202020204" pitchFamily="34" charset="0"/>
              </a:rPr>
              <a:t> </a:t>
            </a:r>
            <a:endParaRPr lang="es-ES" sz="2800" baseline="-25000" dirty="0">
              <a:latin typeface="Arial" panose="020B0604020202020204" pitchFamily="34" charset="0"/>
              <a:cs typeface="Arial" panose="020B0604020202020204" pitchFamily="34" charset="0"/>
            </a:endParaRPr>
          </a:p>
        </p:txBody>
      </p:sp>
      <p:cxnSp>
        <p:nvCxnSpPr>
          <p:cNvPr id="12" name="Conector recto de flecha 4">
            <a:extLst>
              <a:ext uri="{FF2B5EF4-FFF2-40B4-BE49-F238E27FC236}">
                <a16:creationId xmlns:a16="http://schemas.microsoft.com/office/drawing/2014/main" id="{C2D50D85-0263-7B15-87B8-652D5DFDE3FB}"/>
              </a:ext>
            </a:extLst>
          </p:cNvPr>
          <p:cNvCxnSpPr>
            <a:cxnSpLocks/>
          </p:cNvCxnSpPr>
          <p:nvPr/>
        </p:nvCxnSpPr>
        <p:spPr>
          <a:xfrm>
            <a:off x="2489732" y="1502208"/>
            <a:ext cx="14990" cy="707505"/>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13" name="CuadroTexto 5">
            <a:extLst>
              <a:ext uri="{FF2B5EF4-FFF2-40B4-BE49-F238E27FC236}">
                <a16:creationId xmlns:a16="http://schemas.microsoft.com/office/drawing/2014/main" id="{FB742D43-C7BC-E9E6-DCD1-5FD8D3878A04}"/>
              </a:ext>
            </a:extLst>
          </p:cNvPr>
          <p:cNvSpPr txBox="1"/>
          <p:nvPr/>
        </p:nvSpPr>
        <p:spPr>
          <a:xfrm>
            <a:off x="4652770" y="988893"/>
            <a:ext cx="622286" cy="523220"/>
          </a:xfrm>
          <a:prstGeom prst="rect">
            <a:avLst/>
          </a:prstGeom>
          <a:noFill/>
          <a:ln w="25400">
            <a:solidFill>
              <a:schemeClr val="bg1"/>
            </a:solidFill>
          </a:ln>
        </p:spPr>
        <p:txBody>
          <a:bodyPr wrap="none" rtlCol="0">
            <a:spAutoFit/>
          </a:bodyPr>
          <a:lstStyle/>
          <a:p>
            <a:r>
              <a:rPr lang="es-ES" sz="2800" dirty="0">
                <a:latin typeface="Arial" panose="020B0604020202020204" pitchFamily="34" charset="0"/>
                <a:cs typeface="Arial" panose="020B0604020202020204" pitchFamily="34" charset="0"/>
              </a:rPr>
              <a:t>W </a:t>
            </a:r>
            <a:endParaRPr lang="es-ES" sz="2800" baseline="-25000" dirty="0">
              <a:latin typeface="Arial" panose="020B0604020202020204" pitchFamily="34" charset="0"/>
              <a:cs typeface="Arial" panose="020B0604020202020204" pitchFamily="34" charset="0"/>
            </a:endParaRPr>
          </a:p>
        </p:txBody>
      </p:sp>
      <p:sp>
        <p:nvSpPr>
          <p:cNvPr id="14" name="CuadroTexto 5">
            <a:extLst>
              <a:ext uri="{FF2B5EF4-FFF2-40B4-BE49-F238E27FC236}">
                <a16:creationId xmlns:a16="http://schemas.microsoft.com/office/drawing/2014/main" id="{509ABB8B-B696-29B2-2BEA-5C4D193B502F}"/>
              </a:ext>
            </a:extLst>
          </p:cNvPr>
          <p:cNvSpPr txBox="1"/>
          <p:nvPr/>
        </p:nvSpPr>
        <p:spPr>
          <a:xfrm>
            <a:off x="6017753" y="1001014"/>
            <a:ext cx="516423" cy="523220"/>
          </a:xfrm>
          <a:prstGeom prst="rect">
            <a:avLst/>
          </a:prstGeom>
          <a:noFill/>
          <a:ln w="25400">
            <a:solidFill>
              <a:schemeClr val="bg1"/>
            </a:solidFill>
          </a:ln>
        </p:spPr>
        <p:txBody>
          <a:bodyPr wrap="none" rtlCol="0">
            <a:spAutoFit/>
          </a:bodyPr>
          <a:lstStyle/>
          <a:p>
            <a:r>
              <a:rPr lang="es-ES" sz="2800" dirty="0">
                <a:latin typeface="Arial" panose="020B0604020202020204" pitchFamily="34" charset="0"/>
                <a:cs typeface="Arial" panose="020B0604020202020204" pitchFamily="34" charset="0"/>
              </a:rPr>
              <a:t>Y </a:t>
            </a:r>
            <a:endParaRPr lang="es-ES" sz="2800" baseline="-25000" dirty="0">
              <a:latin typeface="Arial" panose="020B0604020202020204" pitchFamily="34" charset="0"/>
              <a:cs typeface="Arial" panose="020B0604020202020204" pitchFamily="34" charset="0"/>
            </a:endParaRPr>
          </a:p>
        </p:txBody>
      </p:sp>
      <p:cxnSp>
        <p:nvCxnSpPr>
          <p:cNvPr id="15" name="Conector recto de flecha 4">
            <a:extLst>
              <a:ext uri="{FF2B5EF4-FFF2-40B4-BE49-F238E27FC236}">
                <a16:creationId xmlns:a16="http://schemas.microsoft.com/office/drawing/2014/main" id="{2F690F74-B3DA-E809-166C-1D62791298BC}"/>
              </a:ext>
            </a:extLst>
          </p:cNvPr>
          <p:cNvCxnSpPr>
            <a:cxnSpLocks/>
          </p:cNvCxnSpPr>
          <p:nvPr/>
        </p:nvCxnSpPr>
        <p:spPr>
          <a:xfrm>
            <a:off x="4899872" y="1500149"/>
            <a:ext cx="14990" cy="707505"/>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6" name="Conector recto de flecha 4">
            <a:extLst>
              <a:ext uri="{FF2B5EF4-FFF2-40B4-BE49-F238E27FC236}">
                <a16:creationId xmlns:a16="http://schemas.microsoft.com/office/drawing/2014/main" id="{452BC445-4AB9-1D0E-5488-A0057CE165D7}"/>
              </a:ext>
            </a:extLst>
          </p:cNvPr>
          <p:cNvCxnSpPr>
            <a:cxnSpLocks/>
          </p:cNvCxnSpPr>
          <p:nvPr/>
        </p:nvCxnSpPr>
        <p:spPr>
          <a:xfrm>
            <a:off x="3971434" y="1251561"/>
            <a:ext cx="686564" cy="0"/>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7" name="Conector recto de flecha 4">
            <a:extLst>
              <a:ext uri="{FF2B5EF4-FFF2-40B4-BE49-F238E27FC236}">
                <a16:creationId xmlns:a16="http://schemas.microsoft.com/office/drawing/2014/main" id="{1AFE0489-66F7-4CEC-D34F-8A34FE35F4C9}"/>
              </a:ext>
            </a:extLst>
          </p:cNvPr>
          <p:cNvCxnSpPr>
            <a:cxnSpLocks/>
          </p:cNvCxnSpPr>
          <p:nvPr/>
        </p:nvCxnSpPr>
        <p:spPr>
          <a:xfrm flipH="1">
            <a:off x="5175670" y="1250503"/>
            <a:ext cx="782518" cy="0"/>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61FC3B9E-B3EA-466B-0B5B-A7038295FA2C}"/>
              </a:ext>
            </a:extLst>
          </p:cNvPr>
          <p:cNvSpPr txBox="1"/>
          <p:nvPr/>
        </p:nvSpPr>
        <p:spPr>
          <a:xfrm>
            <a:off x="527518" y="3330970"/>
            <a:ext cx="4572000" cy="369332"/>
          </a:xfrm>
          <a:prstGeom prst="rect">
            <a:avLst/>
          </a:prstGeom>
          <a:noFill/>
        </p:spPr>
        <p:txBody>
          <a:bodyPr wrap="square">
            <a:spAutoFit/>
          </a:bodyPr>
          <a:lstStyle/>
          <a:p>
            <a:r>
              <a:rPr lang="en-US" dirty="0">
                <a:latin typeface="Arial" panose="020B0604020202020204" pitchFamily="34" charset="0"/>
                <a:cs typeface="Arial" panose="020B0604020202020204" pitchFamily="34" charset="0"/>
              </a:rPr>
              <a:t>Is </a:t>
            </a:r>
            <a:r>
              <a:rPr lang="en-US" b="1" dirty="0">
                <a:latin typeface="Arial" panose="020B0604020202020204" pitchFamily="34" charset="0"/>
                <a:cs typeface="Arial" panose="020B0604020202020204" pitchFamily="34" charset="0"/>
              </a:rPr>
              <a:t>U</a:t>
            </a:r>
            <a:r>
              <a:rPr lang="en-US" dirty="0">
                <a:latin typeface="Arial" panose="020B0604020202020204" pitchFamily="34" charset="0"/>
                <a:cs typeface="Arial" panose="020B0604020202020204" pitchFamily="34" charset="0"/>
              </a:rPr>
              <a:t> d-separated from </a:t>
            </a:r>
            <a:r>
              <a:rPr lang="en-US" b="1" dirty="0">
                <a:latin typeface="Arial" panose="020B0604020202020204" pitchFamily="34" charset="0"/>
                <a:cs typeface="Arial" panose="020B0604020202020204" pitchFamily="34" charset="0"/>
              </a:rPr>
              <a:t>S</a:t>
            </a:r>
            <a:r>
              <a:rPr lang="en-US" b="1" baseline="-25000" dirty="0">
                <a:latin typeface="Arial" panose="020B0604020202020204" pitchFamily="34" charset="0"/>
                <a:cs typeface="Arial" panose="020B0604020202020204" pitchFamily="34" charset="0"/>
              </a:rPr>
              <a:t>2</a:t>
            </a:r>
            <a:r>
              <a:rPr lang="en-US" dirty="0">
                <a:latin typeface="Arial" panose="020B0604020202020204" pitchFamily="34" charset="0"/>
                <a:cs typeface="Arial" panose="020B0604020202020204" pitchFamily="34" charset="0"/>
              </a:rPr>
              <a:t> given </a:t>
            </a:r>
            <a:r>
              <a:rPr lang="en-US" b="1" dirty="0">
                <a:latin typeface="Arial" panose="020B0604020202020204" pitchFamily="34" charset="0"/>
                <a:cs typeface="Arial" panose="020B0604020202020204" pitchFamily="34" charset="0"/>
              </a:rPr>
              <a:t>V</a:t>
            </a:r>
            <a:r>
              <a:rPr lang="en-US" dirty="0">
                <a:latin typeface="Arial" panose="020B0604020202020204" pitchFamily="34" charset="0"/>
                <a:cs typeface="Arial" panose="020B0604020202020204" pitchFamily="34" charset="0"/>
              </a:rPr>
              <a:t> ?</a:t>
            </a:r>
          </a:p>
        </p:txBody>
      </p:sp>
      <p:sp>
        <p:nvSpPr>
          <p:cNvPr id="19" name="TextBox 18">
            <a:extLst>
              <a:ext uri="{FF2B5EF4-FFF2-40B4-BE49-F238E27FC236}">
                <a16:creationId xmlns:a16="http://schemas.microsoft.com/office/drawing/2014/main" id="{740A7D53-32D6-E8CE-1874-E6EBFA3338DC}"/>
              </a:ext>
            </a:extLst>
          </p:cNvPr>
          <p:cNvSpPr txBox="1"/>
          <p:nvPr/>
        </p:nvSpPr>
        <p:spPr>
          <a:xfrm>
            <a:off x="4963913" y="3330970"/>
            <a:ext cx="2209800" cy="369332"/>
          </a:xfrm>
          <a:prstGeom prst="rect">
            <a:avLst/>
          </a:prstGeom>
          <a:noFill/>
        </p:spPr>
        <p:txBody>
          <a:bodyPr wrap="square" rtlCol="0">
            <a:spAutoFit/>
          </a:bodyPr>
          <a:lstStyle/>
          <a:p>
            <a:r>
              <a:rPr lang="en-US" b="1" dirty="0">
                <a:latin typeface="Arial" panose="020B0604020202020204" pitchFamily="34" charset="0"/>
                <a:cs typeface="Arial" panose="020B0604020202020204" pitchFamily="34" charset="0"/>
              </a:rPr>
              <a:t>U </a:t>
            </a:r>
            <a:r>
              <a:rPr lang="en-US" b="1" u="sng" dirty="0">
                <a:latin typeface="Arial" panose="020B0604020202020204" pitchFamily="34" charset="0"/>
                <a:cs typeface="Arial" panose="020B0604020202020204" pitchFamily="34" charset="0"/>
              </a:rPr>
              <a:t>||</a:t>
            </a:r>
            <a:r>
              <a:rPr lang="en-US" b="1" dirty="0">
                <a:latin typeface="Arial" panose="020B0604020202020204" pitchFamily="34" charset="0"/>
                <a:cs typeface="Arial" panose="020B0604020202020204" pitchFamily="34" charset="0"/>
              </a:rPr>
              <a:t> S</a:t>
            </a:r>
            <a:r>
              <a:rPr lang="en-US" b="1" baseline="-25000" dirty="0">
                <a:latin typeface="Arial" panose="020B0604020202020204" pitchFamily="34" charset="0"/>
                <a:cs typeface="Arial" panose="020B0604020202020204" pitchFamily="34" charset="0"/>
              </a:rPr>
              <a:t>2</a:t>
            </a:r>
            <a:r>
              <a:rPr lang="en-US" b="1" dirty="0">
                <a:latin typeface="Arial" panose="020B0604020202020204" pitchFamily="34" charset="0"/>
                <a:cs typeface="Arial" panose="020B0604020202020204" pitchFamily="34" charset="0"/>
              </a:rPr>
              <a:t> {V} </a:t>
            </a:r>
            <a:r>
              <a:rPr lang="en-US" dirty="0">
                <a:latin typeface="Arial" panose="020B0604020202020204" pitchFamily="34" charset="0"/>
                <a:cs typeface="Arial" panose="020B0604020202020204" pitchFamily="34" charset="0"/>
              </a:rPr>
              <a:t>?</a:t>
            </a:r>
          </a:p>
        </p:txBody>
      </p:sp>
      <p:sp>
        <p:nvSpPr>
          <p:cNvPr id="20" name="TextBox 19">
            <a:extLst>
              <a:ext uri="{FF2B5EF4-FFF2-40B4-BE49-F238E27FC236}">
                <a16:creationId xmlns:a16="http://schemas.microsoft.com/office/drawing/2014/main" id="{43898A70-61AE-2E10-1A96-8D4F12CFA58B}"/>
              </a:ext>
            </a:extLst>
          </p:cNvPr>
          <p:cNvSpPr txBox="1"/>
          <p:nvPr/>
        </p:nvSpPr>
        <p:spPr>
          <a:xfrm>
            <a:off x="528652" y="4297469"/>
            <a:ext cx="2209800" cy="369332"/>
          </a:xfrm>
          <a:prstGeom prst="rect">
            <a:avLst/>
          </a:prstGeom>
          <a:noFill/>
        </p:spPr>
        <p:txBody>
          <a:bodyPr wrap="square" rtlCol="0">
            <a:spAutoFit/>
          </a:bodyPr>
          <a:lstStyle/>
          <a:p>
            <a:r>
              <a:rPr lang="en-US" b="1" dirty="0">
                <a:latin typeface="Arial" panose="020B0604020202020204" pitchFamily="34" charset="0"/>
                <a:cs typeface="Arial" panose="020B0604020202020204" pitchFamily="34" charset="0"/>
              </a:rPr>
              <a:t>Y </a:t>
            </a:r>
            <a:r>
              <a:rPr lang="en-US" b="1" u="sng" dirty="0">
                <a:latin typeface="Arial" panose="020B0604020202020204" pitchFamily="34" charset="0"/>
                <a:cs typeface="Arial" panose="020B0604020202020204" pitchFamily="34" charset="0"/>
              </a:rPr>
              <a:t>||</a:t>
            </a:r>
            <a:r>
              <a:rPr lang="en-US" b="1" dirty="0">
                <a:latin typeface="Arial" panose="020B0604020202020204" pitchFamily="34" charset="0"/>
                <a:cs typeface="Arial" panose="020B0604020202020204" pitchFamily="34" charset="0"/>
              </a:rPr>
              <a:t> U {S2} </a:t>
            </a:r>
            <a:r>
              <a:rPr lang="en-US" dirty="0">
                <a:latin typeface="Arial" panose="020B0604020202020204" pitchFamily="34" charset="0"/>
                <a:cs typeface="Arial" panose="020B0604020202020204" pitchFamily="34" charset="0"/>
              </a:rPr>
              <a:t>?</a:t>
            </a:r>
          </a:p>
        </p:txBody>
      </p:sp>
      <p:sp>
        <p:nvSpPr>
          <p:cNvPr id="21" name="TextBox 20">
            <a:extLst>
              <a:ext uri="{FF2B5EF4-FFF2-40B4-BE49-F238E27FC236}">
                <a16:creationId xmlns:a16="http://schemas.microsoft.com/office/drawing/2014/main" id="{99095DB9-1124-2D6E-5CEE-7EF49BFDD2F0}"/>
              </a:ext>
            </a:extLst>
          </p:cNvPr>
          <p:cNvSpPr txBox="1"/>
          <p:nvPr/>
        </p:nvSpPr>
        <p:spPr>
          <a:xfrm>
            <a:off x="566792" y="5258681"/>
            <a:ext cx="2209800" cy="369332"/>
          </a:xfrm>
          <a:prstGeom prst="rect">
            <a:avLst/>
          </a:prstGeom>
          <a:noFill/>
        </p:spPr>
        <p:txBody>
          <a:bodyPr wrap="square" rtlCol="0">
            <a:spAutoFit/>
          </a:bodyPr>
          <a:lstStyle/>
          <a:p>
            <a:r>
              <a:rPr lang="en-US" b="1" dirty="0">
                <a:latin typeface="Arial" panose="020B0604020202020204" pitchFamily="34" charset="0"/>
                <a:cs typeface="Arial" panose="020B0604020202020204" pitchFamily="34" charset="0"/>
              </a:rPr>
              <a:t>X </a:t>
            </a:r>
            <a:r>
              <a:rPr lang="en-US" b="1" u="sng" dirty="0">
                <a:latin typeface="Arial" panose="020B0604020202020204" pitchFamily="34" charset="0"/>
                <a:cs typeface="Arial" panose="020B0604020202020204" pitchFamily="34" charset="0"/>
              </a:rPr>
              <a:t>||</a:t>
            </a:r>
            <a:r>
              <a:rPr lang="en-US" b="1" dirty="0">
                <a:latin typeface="Arial" panose="020B0604020202020204" pitchFamily="34" charset="0"/>
                <a:cs typeface="Arial" panose="020B0604020202020204" pitchFamily="34" charset="0"/>
              </a:rPr>
              <a:t> W {S1, V} </a:t>
            </a:r>
            <a:r>
              <a:rPr lang="en-US" dirty="0">
                <a:latin typeface="Arial" panose="020B0604020202020204" pitchFamily="34" charset="0"/>
                <a:cs typeface="Arial" panose="020B0604020202020204" pitchFamily="34" charset="0"/>
              </a:rPr>
              <a:t>?</a:t>
            </a:r>
          </a:p>
        </p:txBody>
      </p:sp>
      <p:sp>
        <p:nvSpPr>
          <p:cNvPr id="23" name="TextBox 22">
            <a:extLst>
              <a:ext uri="{FF2B5EF4-FFF2-40B4-BE49-F238E27FC236}">
                <a16:creationId xmlns:a16="http://schemas.microsoft.com/office/drawing/2014/main" id="{9B188644-D033-B4C0-7D14-F0E1260B717F}"/>
              </a:ext>
            </a:extLst>
          </p:cNvPr>
          <p:cNvSpPr txBox="1"/>
          <p:nvPr/>
        </p:nvSpPr>
        <p:spPr>
          <a:xfrm>
            <a:off x="4479138" y="4297469"/>
            <a:ext cx="4572000" cy="369332"/>
          </a:xfrm>
          <a:prstGeom prst="rect">
            <a:avLst/>
          </a:prstGeom>
          <a:noFill/>
        </p:spPr>
        <p:txBody>
          <a:bodyPr wrap="square">
            <a:spAutoFit/>
          </a:bodyPr>
          <a:lstStyle/>
          <a:p>
            <a:r>
              <a:rPr lang="en-US" b="1" dirty="0">
                <a:latin typeface="Arial" panose="020B0604020202020204" pitchFamily="34" charset="0"/>
                <a:cs typeface="Arial" panose="020B0604020202020204" pitchFamily="34" charset="0"/>
              </a:rPr>
              <a:t>_________</a:t>
            </a:r>
          </a:p>
        </p:txBody>
      </p:sp>
      <p:sp>
        <p:nvSpPr>
          <p:cNvPr id="25" name="TextBox 24">
            <a:extLst>
              <a:ext uri="{FF2B5EF4-FFF2-40B4-BE49-F238E27FC236}">
                <a16:creationId xmlns:a16="http://schemas.microsoft.com/office/drawing/2014/main" id="{297DC531-5AB6-A336-DB47-7C5B3303337F}"/>
              </a:ext>
            </a:extLst>
          </p:cNvPr>
          <p:cNvSpPr txBox="1"/>
          <p:nvPr/>
        </p:nvSpPr>
        <p:spPr>
          <a:xfrm>
            <a:off x="4851081" y="4175220"/>
            <a:ext cx="666076" cy="369332"/>
          </a:xfrm>
          <a:prstGeom prst="rect">
            <a:avLst/>
          </a:prstGeom>
          <a:noFill/>
        </p:spPr>
        <p:txBody>
          <a:bodyPr wrap="square">
            <a:spAutoFit/>
          </a:bodyPr>
          <a:lstStyle/>
          <a:p>
            <a:r>
              <a:rPr lang="en-US" b="1" dirty="0">
                <a:latin typeface="Arial" panose="020B0604020202020204" pitchFamily="34" charset="0"/>
                <a:cs typeface="Arial" panose="020B0604020202020204" pitchFamily="34" charset="0"/>
              </a:rPr>
              <a:t>V!</a:t>
            </a:r>
          </a:p>
        </p:txBody>
      </p:sp>
      <p:sp>
        <p:nvSpPr>
          <p:cNvPr id="27" name="TextBox 26">
            <a:extLst>
              <a:ext uri="{FF2B5EF4-FFF2-40B4-BE49-F238E27FC236}">
                <a16:creationId xmlns:a16="http://schemas.microsoft.com/office/drawing/2014/main" id="{CD388B42-2DE1-8708-78E6-9237A77D0BF0}"/>
              </a:ext>
            </a:extLst>
          </p:cNvPr>
          <p:cNvSpPr txBox="1"/>
          <p:nvPr/>
        </p:nvSpPr>
        <p:spPr>
          <a:xfrm>
            <a:off x="4585470" y="4681896"/>
            <a:ext cx="1144917" cy="369332"/>
          </a:xfrm>
          <a:prstGeom prst="rect">
            <a:avLst/>
          </a:prstGeom>
          <a:noFill/>
        </p:spPr>
        <p:txBody>
          <a:bodyPr wrap="square">
            <a:spAutoFit/>
          </a:bodyPr>
          <a:lstStyle/>
          <a:p>
            <a:r>
              <a:rPr lang="en-US" b="1" dirty="0">
                <a:latin typeface="Arial" panose="020B0604020202020204" pitchFamily="34" charset="0"/>
                <a:cs typeface="Arial" panose="020B0604020202020204" pitchFamily="34" charset="0"/>
              </a:rPr>
              <a:t>(V -2)! 2!</a:t>
            </a:r>
          </a:p>
        </p:txBody>
      </p:sp>
      <p:sp>
        <p:nvSpPr>
          <p:cNvPr id="28" name="TextBox 27">
            <a:extLst>
              <a:ext uri="{FF2B5EF4-FFF2-40B4-BE49-F238E27FC236}">
                <a16:creationId xmlns:a16="http://schemas.microsoft.com/office/drawing/2014/main" id="{9E57E3D4-FC58-F9D0-6B1A-CBA522541B38}"/>
              </a:ext>
            </a:extLst>
          </p:cNvPr>
          <p:cNvSpPr txBox="1"/>
          <p:nvPr/>
        </p:nvSpPr>
        <p:spPr>
          <a:xfrm>
            <a:off x="5750711" y="4359886"/>
            <a:ext cx="982598" cy="369332"/>
          </a:xfrm>
          <a:prstGeom prst="rect">
            <a:avLst/>
          </a:prstGeom>
          <a:noFill/>
        </p:spPr>
        <p:txBody>
          <a:bodyPr wrap="square">
            <a:spAutoFit/>
          </a:bodyPr>
          <a:lstStyle/>
          <a:p>
            <a:r>
              <a:rPr lang="en-US" b="1" dirty="0">
                <a:latin typeface="Arial" panose="020B0604020202020204" pitchFamily="34" charset="0"/>
                <a:cs typeface="Arial" panose="020B0604020202020204" pitchFamily="34" charset="0"/>
              </a:rPr>
              <a:t>2 </a:t>
            </a:r>
            <a:r>
              <a:rPr lang="en-US" b="1" baseline="30000" dirty="0">
                <a:latin typeface="Arial" panose="020B0604020202020204" pitchFamily="34" charset="0"/>
                <a:cs typeface="Arial" panose="020B0604020202020204" pitchFamily="34" charset="0"/>
              </a:rPr>
              <a:t>V- 2</a:t>
            </a:r>
          </a:p>
        </p:txBody>
      </p:sp>
      <p:sp>
        <p:nvSpPr>
          <p:cNvPr id="30" name="TextBox 29">
            <a:extLst>
              <a:ext uri="{FF2B5EF4-FFF2-40B4-BE49-F238E27FC236}">
                <a16:creationId xmlns:a16="http://schemas.microsoft.com/office/drawing/2014/main" id="{E89F4286-F203-C709-3601-BE5766B8F795}"/>
              </a:ext>
            </a:extLst>
          </p:cNvPr>
          <p:cNvSpPr txBox="1"/>
          <p:nvPr/>
        </p:nvSpPr>
        <p:spPr>
          <a:xfrm>
            <a:off x="3818059" y="5456544"/>
            <a:ext cx="4925891" cy="646331"/>
          </a:xfrm>
          <a:prstGeom prst="rect">
            <a:avLst/>
          </a:prstGeom>
          <a:noFill/>
        </p:spPr>
        <p:txBody>
          <a:bodyPr wrap="square">
            <a:spAutoFit/>
          </a:bodyPr>
          <a:lstStyle/>
          <a:p>
            <a:r>
              <a:rPr lang="en-US" b="1" dirty="0">
                <a:latin typeface="Arial" panose="020B0604020202020204" pitchFamily="34" charset="0"/>
                <a:cs typeface="Arial" panose="020B0604020202020204" pitchFamily="34" charset="0"/>
              </a:rPr>
              <a:t>Basis set </a:t>
            </a:r>
          </a:p>
          <a:p>
            <a:pPr marL="285750" indent="-285750">
              <a:buFont typeface="Arial" panose="020B0604020202020204" pitchFamily="34" charset="0"/>
              <a:buChar char="•"/>
            </a:pPr>
            <a:r>
              <a:rPr lang="en-US" dirty="0">
                <a:latin typeface="Arial" panose="020B0604020202020204" pitchFamily="34" charset="0"/>
                <a:cs typeface="Arial" panose="020B0604020202020204" pitchFamily="34" charset="0"/>
              </a:rPr>
              <a:t>You only need to test those in the basis test</a:t>
            </a:r>
          </a:p>
        </p:txBody>
      </p:sp>
      <p:cxnSp>
        <p:nvCxnSpPr>
          <p:cNvPr id="41" name="Straight Connector 40">
            <a:extLst>
              <a:ext uri="{FF2B5EF4-FFF2-40B4-BE49-F238E27FC236}">
                <a16:creationId xmlns:a16="http://schemas.microsoft.com/office/drawing/2014/main" id="{4A4B130F-5722-4098-C417-FB70CAB9FE72}"/>
              </a:ext>
            </a:extLst>
          </p:cNvPr>
          <p:cNvCxnSpPr/>
          <p:nvPr/>
        </p:nvCxnSpPr>
        <p:spPr>
          <a:xfrm>
            <a:off x="2232853" y="892629"/>
            <a:ext cx="3932501" cy="0"/>
          </a:xfrm>
          <a:prstGeom prst="line">
            <a:avLst/>
          </a:prstGeom>
          <a:ln w="50800">
            <a:solidFill>
              <a:srgbClr val="231DF4"/>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850BF7A8-A121-320C-606F-5B7ADEF97740}"/>
              </a:ext>
            </a:extLst>
          </p:cNvPr>
          <p:cNvCxnSpPr/>
          <p:nvPr/>
        </p:nvCxnSpPr>
        <p:spPr>
          <a:xfrm>
            <a:off x="1066345" y="1001014"/>
            <a:ext cx="3932501" cy="0"/>
          </a:xfrm>
          <a:prstGeom prst="line">
            <a:avLst/>
          </a:prstGeom>
          <a:ln w="50800">
            <a:solidFill>
              <a:srgbClr val="231DF4"/>
            </a:solidFill>
          </a:ln>
        </p:spPr>
        <p:style>
          <a:lnRef idx="1">
            <a:schemeClr val="accent1"/>
          </a:lnRef>
          <a:fillRef idx="0">
            <a:schemeClr val="accent1"/>
          </a:fillRef>
          <a:effectRef idx="0">
            <a:schemeClr val="accent1"/>
          </a:effectRef>
          <a:fontRef idx="minor">
            <a:schemeClr val="tx1"/>
          </a:fontRef>
        </p:style>
      </p:cxnSp>
      <p:cxnSp>
        <p:nvCxnSpPr>
          <p:cNvPr id="3" name="Elbow Connector 2">
            <a:extLst>
              <a:ext uri="{FF2B5EF4-FFF2-40B4-BE49-F238E27FC236}">
                <a16:creationId xmlns:a16="http://schemas.microsoft.com/office/drawing/2014/main" id="{1BAE967C-4083-11D7-354E-61FD1B7C357D}"/>
              </a:ext>
            </a:extLst>
          </p:cNvPr>
          <p:cNvCxnSpPr>
            <a:cxnSpLocks/>
          </p:cNvCxnSpPr>
          <p:nvPr/>
        </p:nvCxnSpPr>
        <p:spPr>
          <a:xfrm>
            <a:off x="2493510" y="1017155"/>
            <a:ext cx="2655456" cy="1184551"/>
          </a:xfrm>
          <a:prstGeom prst="bentConnector2">
            <a:avLst/>
          </a:prstGeom>
          <a:ln w="50800">
            <a:solidFill>
              <a:srgbClr val="231DF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98230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nodeType="clickEffect">
                                  <p:stCondLst>
                                    <p:cond delay="0"/>
                                  </p:stCondLst>
                                  <p:childTnLst>
                                    <p:set>
                                      <p:cBhvr>
                                        <p:cTn id="18" dur="1" fill="hold">
                                          <p:stCondLst>
                                            <p:cond delay="0"/>
                                          </p:stCondLst>
                                        </p:cTn>
                                        <p:tgtEl>
                                          <p:spTgt spid="3"/>
                                        </p:tgtEl>
                                        <p:attrNameLst>
                                          <p:attrName>style.visibility</p:attrName>
                                        </p:attrNameLst>
                                      </p:cBhvr>
                                      <p:to>
                                        <p:strVal val="hidden"/>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xit" presetSubtype="0" fill="hold" nodeType="clickEffect">
                                  <p:stCondLst>
                                    <p:cond delay="0"/>
                                  </p:stCondLst>
                                  <p:childTnLst>
                                    <p:set>
                                      <p:cBhvr>
                                        <p:cTn id="30" dur="1" fill="hold">
                                          <p:stCondLst>
                                            <p:cond delay="0"/>
                                          </p:stCondLst>
                                        </p:cTn>
                                        <p:tgtEl>
                                          <p:spTgt spid="41"/>
                                        </p:tgtEl>
                                        <p:attrNameLst>
                                          <p:attrName>style.visibility</p:attrName>
                                        </p:attrNameLst>
                                      </p:cBhvr>
                                      <p:to>
                                        <p:strVal val="hidden"/>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1"/>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42"/>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xit" presetSubtype="0" fill="hold" nodeType="clickEffect">
                                  <p:stCondLst>
                                    <p:cond delay="0"/>
                                  </p:stCondLst>
                                  <p:childTnLst>
                                    <p:set>
                                      <p:cBhvr>
                                        <p:cTn id="42" dur="1" fill="hold">
                                          <p:stCondLst>
                                            <p:cond delay="0"/>
                                          </p:stCondLst>
                                        </p:cTn>
                                        <p:tgtEl>
                                          <p:spTgt spid="42"/>
                                        </p:tgtEl>
                                        <p:attrNameLst>
                                          <p:attrName>style.visibility</p:attrName>
                                        </p:attrNameLst>
                                      </p:cBhvr>
                                      <p:to>
                                        <p:strVal val="hidden"/>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25"/>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7"/>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23"/>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28"/>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19" grpId="0"/>
      <p:bldP spid="20" grpId="0"/>
      <p:bldP spid="21" grpId="0"/>
      <p:bldP spid="23" grpId="0"/>
      <p:bldP spid="25" grpId="0"/>
      <p:bldP spid="27" grpId="0"/>
      <p:bldP spid="28" grpId="0"/>
      <p:bldP spid="30" grpId="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A28F044-376D-15A3-DB86-CDBC323894D9}"/>
              </a:ext>
            </a:extLst>
          </p:cNvPr>
          <p:cNvSpPr txBox="1"/>
          <p:nvPr/>
        </p:nvSpPr>
        <p:spPr>
          <a:xfrm>
            <a:off x="594360" y="592574"/>
            <a:ext cx="7978140" cy="461665"/>
          </a:xfrm>
          <a:prstGeom prst="rect">
            <a:avLst/>
          </a:prstGeom>
          <a:noFill/>
        </p:spPr>
        <p:txBody>
          <a:bodyPr wrap="square">
            <a:spAutoFit/>
          </a:bodyPr>
          <a:lstStyle/>
          <a:p>
            <a:r>
              <a:rPr lang="en-US" sz="2400" b="1" dirty="0">
                <a:latin typeface="Arial" panose="020B0604020202020204" pitchFamily="34" charset="0"/>
                <a:cs typeface="Arial" panose="020B0604020202020204" pitchFamily="34" charset="0"/>
              </a:rPr>
              <a:t>Practicing to master the notion of d-Separation </a:t>
            </a:r>
          </a:p>
        </p:txBody>
      </p:sp>
      <p:sp>
        <p:nvSpPr>
          <p:cNvPr id="10" name="TextBox 9">
            <a:extLst>
              <a:ext uri="{FF2B5EF4-FFF2-40B4-BE49-F238E27FC236}">
                <a16:creationId xmlns:a16="http://schemas.microsoft.com/office/drawing/2014/main" id="{8362DF09-71E9-42A9-2AA8-6967EBA6B9F7}"/>
              </a:ext>
            </a:extLst>
          </p:cNvPr>
          <p:cNvSpPr txBox="1"/>
          <p:nvPr/>
        </p:nvSpPr>
        <p:spPr>
          <a:xfrm>
            <a:off x="594360" y="3582145"/>
            <a:ext cx="7520940" cy="2308324"/>
          </a:xfrm>
          <a:prstGeom prst="rect">
            <a:avLst/>
          </a:prstGeom>
          <a:noFill/>
        </p:spPr>
        <p:txBody>
          <a:bodyPr wrap="square">
            <a:spAutoFit/>
          </a:bodyPr>
          <a:lstStyle/>
          <a:p>
            <a:r>
              <a:rPr lang="en-US" dirty="0">
                <a:latin typeface="Arial" panose="020B0604020202020204" pitchFamily="34" charset="0"/>
                <a:cs typeface="Arial" panose="020B0604020202020204" pitchFamily="34" charset="0"/>
              </a:rPr>
              <a:t>library(</a:t>
            </a:r>
            <a:r>
              <a:rPr lang="en-US" dirty="0" err="1">
                <a:latin typeface="Arial" panose="020B0604020202020204" pitchFamily="34" charset="0"/>
                <a:cs typeface="Arial" panose="020B0604020202020204" pitchFamily="34" charset="0"/>
              </a:rPr>
              <a:t>ggm</a:t>
            </a:r>
            <a:r>
              <a:rPr lang="en-US" dirty="0">
                <a:latin typeface="Arial" panose="020B0604020202020204" pitchFamily="34" charset="0"/>
                <a:cs typeface="Arial" panose="020B0604020202020204" pitchFamily="34" charset="0"/>
              </a:rPr>
              <a:t>)</a:t>
            </a:r>
          </a:p>
          <a:p>
            <a:endParaRPr lang="en-US" dirty="0">
              <a:latin typeface="Arial" panose="020B0604020202020204" pitchFamily="34" charset="0"/>
              <a:cs typeface="Arial" panose="020B0604020202020204" pitchFamily="34" charset="0"/>
            </a:endParaRPr>
          </a:p>
          <a:p>
            <a:r>
              <a:rPr lang="en-US" dirty="0" err="1">
                <a:latin typeface="Arial" panose="020B0604020202020204" pitchFamily="34" charset="0"/>
                <a:cs typeface="Arial" panose="020B0604020202020204" pitchFamily="34" charset="0"/>
              </a:rPr>
              <a:t>my.dag</a:t>
            </a:r>
            <a:r>
              <a:rPr lang="en-US" dirty="0">
                <a:latin typeface="Arial" panose="020B0604020202020204" pitchFamily="34" charset="0"/>
                <a:cs typeface="Arial" panose="020B0604020202020204" pitchFamily="34" charset="0"/>
              </a:rPr>
              <a:t>&lt;-DAG(U~ X + V, S1 ~ U, W ~ V + Y, S2 ~W)</a:t>
            </a:r>
          </a:p>
          <a:p>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 evaluating a d-separation claim</a:t>
            </a:r>
          </a:p>
          <a:p>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 U_||_S2|{X,W}</a:t>
            </a:r>
          </a:p>
          <a:p>
            <a:r>
              <a:rPr lang="en-US" dirty="0" err="1">
                <a:latin typeface="Arial" panose="020B0604020202020204" pitchFamily="34" charset="0"/>
                <a:cs typeface="Arial" panose="020B0604020202020204" pitchFamily="34" charset="0"/>
              </a:rPr>
              <a:t>dSep</a:t>
            </a:r>
            <a:r>
              <a:rPr lang="en-US" dirty="0">
                <a:latin typeface="Arial" panose="020B0604020202020204" pitchFamily="34" charset="0"/>
                <a:cs typeface="Arial" panose="020B0604020202020204" pitchFamily="34" charset="0"/>
              </a:rPr>
              <a:t>(</a:t>
            </a:r>
            <a:r>
              <a:rPr lang="en-US" dirty="0" err="1">
                <a:latin typeface="Arial" panose="020B0604020202020204" pitchFamily="34" charset="0"/>
                <a:cs typeface="Arial" panose="020B0604020202020204" pitchFamily="34" charset="0"/>
              </a:rPr>
              <a:t>amat</a:t>
            </a:r>
            <a:r>
              <a:rPr lang="en-US" dirty="0">
                <a:latin typeface="Arial" panose="020B0604020202020204" pitchFamily="34" charset="0"/>
                <a:cs typeface="Arial" panose="020B0604020202020204" pitchFamily="34" charset="0"/>
              </a:rPr>
              <a:t>=</a:t>
            </a:r>
            <a:r>
              <a:rPr lang="en-US" dirty="0" err="1">
                <a:latin typeface="Arial" panose="020B0604020202020204" pitchFamily="34" charset="0"/>
                <a:cs typeface="Arial" panose="020B0604020202020204" pitchFamily="34" charset="0"/>
              </a:rPr>
              <a:t>mydag_first</a:t>
            </a:r>
            <a:r>
              <a:rPr lang="en-US" dirty="0">
                <a:latin typeface="Arial" panose="020B0604020202020204" pitchFamily="34" charset="0"/>
                <a:cs typeface="Arial" panose="020B0604020202020204" pitchFamily="34" charset="0"/>
              </a:rPr>
              <a:t>="</a:t>
            </a:r>
            <a:r>
              <a:rPr lang="en-US" dirty="0" err="1">
                <a:latin typeface="Arial" panose="020B0604020202020204" pitchFamily="34" charset="0"/>
                <a:cs typeface="Arial" panose="020B0604020202020204" pitchFamily="34" charset="0"/>
              </a:rPr>
              <a:t>U",second</a:t>
            </a:r>
            <a:r>
              <a:rPr lang="en-US" dirty="0">
                <a:latin typeface="Arial" panose="020B0604020202020204" pitchFamily="34" charset="0"/>
                <a:cs typeface="Arial" panose="020B0604020202020204" pitchFamily="34" charset="0"/>
              </a:rPr>
              <a:t>="S2",cond=c("X","W"))</a:t>
            </a:r>
          </a:p>
        </p:txBody>
      </p:sp>
      <p:cxnSp>
        <p:nvCxnSpPr>
          <p:cNvPr id="2" name="Conector recto de flecha 4">
            <a:extLst>
              <a:ext uri="{FF2B5EF4-FFF2-40B4-BE49-F238E27FC236}">
                <a16:creationId xmlns:a16="http://schemas.microsoft.com/office/drawing/2014/main" id="{A8377DB9-32C9-49E2-D393-52139C46C1A9}"/>
              </a:ext>
            </a:extLst>
          </p:cNvPr>
          <p:cNvCxnSpPr>
            <a:cxnSpLocks/>
          </p:cNvCxnSpPr>
          <p:nvPr/>
        </p:nvCxnSpPr>
        <p:spPr>
          <a:xfrm>
            <a:off x="1198139" y="1751932"/>
            <a:ext cx="686564" cy="0"/>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3" name="CuadroTexto 5">
            <a:extLst>
              <a:ext uri="{FF2B5EF4-FFF2-40B4-BE49-F238E27FC236}">
                <a16:creationId xmlns:a16="http://schemas.microsoft.com/office/drawing/2014/main" id="{32068639-C815-EBFB-8E4C-01BAC9F68CBD}"/>
              </a:ext>
            </a:extLst>
          </p:cNvPr>
          <p:cNvSpPr txBox="1"/>
          <p:nvPr/>
        </p:nvSpPr>
        <p:spPr>
          <a:xfrm>
            <a:off x="2046462" y="1489265"/>
            <a:ext cx="543739" cy="523220"/>
          </a:xfrm>
          <a:prstGeom prst="rect">
            <a:avLst/>
          </a:prstGeom>
          <a:noFill/>
          <a:ln w="25400">
            <a:solidFill>
              <a:schemeClr val="bg1"/>
            </a:solidFill>
          </a:ln>
        </p:spPr>
        <p:txBody>
          <a:bodyPr wrap="none" rtlCol="0">
            <a:spAutoFit/>
          </a:bodyPr>
          <a:lstStyle/>
          <a:p>
            <a:r>
              <a:rPr lang="es-ES" sz="2800" dirty="0">
                <a:latin typeface="Arial" panose="020B0604020202020204" pitchFamily="34" charset="0"/>
                <a:cs typeface="Arial" panose="020B0604020202020204" pitchFamily="34" charset="0"/>
              </a:rPr>
              <a:t>U </a:t>
            </a:r>
            <a:endParaRPr lang="es-ES" sz="2800" baseline="-25000" dirty="0">
              <a:latin typeface="Arial" panose="020B0604020202020204" pitchFamily="34" charset="0"/>
              <a:cs typeface="Arial" panose="020B0604020202020204" pitchFamily="34" charset="0"/>
            </a:endParaRPr>
          </a:p>
        </p:txBody>
      </p:sp>
      <p:sp>
        <p:nvSpPr>
          <p:cNvPr id="4" name="CuadroTexto 5">
            <a:extLst>
              <a:ext uri="{FF2B5EF4-FFF2-40B4-BE49-F238E27FC236}">
                <a16:creationId xmlns:a16="http://schemas.microsoft.com/office/drawing/2014/main" id="{3CFCB71B-FFF1-7C38-EB9D-8317789F51F2}"/>
              </a:ext>
            </a:extLst>
          </p:cNvPr>
          <p:cNvSpPr txBox="1"/>
          <p:nvPr/>
        </p:nvSpPr>
        <p:spPr>
          <a:xfrm>
            <a:off x="594360" y="1501385"/>
            <a:ext cx="522900" cy="523220"/>
          </a:xfrm>
          <a:prstGeom prst="rect">
            <a:avLst/>
          </a:prstGeom>
          <a:noFill/>
          <a:ln w="25400">
            <a:solidFill>
              <a:schemeClr val="bg1"/>
            </a:solidFill>
          </a:ln>
        </p:spPr>
        <p:txBody>
          <a:bodyPr wrap="none" rtlCol="0">
            <a:spAutoFit/>
          </a:bodyPr>
          <a:lstStyle/>
          <a:p>
            <a:r>
              <a:rPr lang="es-ES" sz="2800" dirty="0">
                <a:latin typeface="Arial" panose="020B0604020202020204" pitchFamily="34" charset="0"/>
                <a:cs typeface="Arial" panose="020B0604020202020204" pitchFamily="34" charset="0"/>
              </a:rPr>
              <a:t>X </a:t>
            </a:r>
            <a:endParaRPr lang="es-ES" sz="2800" baseline="-25000" dirty="0">
              <a:latin typeface="Arial" panose="020B0604020202020204" pitchFamily="34" charset="0"/>
              <a:cs typeface="Arial" panose="020B0604020202020204" pitchFamily="34" charset="0"/>
            </a:endParaRPr>
          </a:p>
        </p:txBody>
      </p:sp>
      <p:sp>
        <p:nvSpPr>
          <p:cNvPr id="6" name="CuadroTexto 5">
            <a:extLst>
              <a:ext uri="{FF2B5EF4-FFF2-40B4-BE49-F238E27FC236}">
                <a16:creationId xmlns:a16="http://schemas.microsoft.com/office/drawing/2014/main" id="{8E19657C-F1E7-9786-CEBC-44D01B7699AA}"/>
              </a:ext>
            </a:extLst>
          </p:cNvPr>
          <p:cNvSpPr txBox="1"/>
          <p:nvPr/>
        </p:nvSpPr>
        <p:spPr>
          <a:xfrm>
            <a:off x="3408479" y="1489265"/>
            <a:ext cx="522900" cy="523220"/>
          </a:xfrm>
          <a:prstGeom prst="rect">
            <a:avLst/>
          </a:prstGeom>
          <a:noFill/>
          <a:ln w="25400">
            <a:solidFill>
              <a:schemeClr val="bg1"/>
            </a:solidFill>
          </a:ln>
        </p:spPr>
        <p:txBody>
          <a:bodyPr wrap="none" rtlCol="0">
            <a:spAutoFit/>
          </a:bodyPr>
          <a:lstStyle/>
          <a:p>
            <a:r>
              <a:rPr lang="es-ES" sz="2800" dirty="0">
                <a:latin typeface="Arial" panose="020B0604020202020204" pitchFamily="34" charset="0"/>
                <a:cs typeface="Arial" panose="020B0604020202020204" pitchFamily="34" charset="0"/>
              </a:rPr>
              <a:t>V </a:t>
            </a:r>
            <a:endParaRPr lang="es-ES" sz="2800" baseline="-25000" dirty="0">
              <a:latin typeface="Arial" panose="020B0604020202020204" pitchFamily="34" charset="0"/>
              <a:cs typeface="Arial" panose="020B0604020202020204" pitchFamily="34" charset="0"/>
            </a:endParaRPr>
          </a:p>
        </p:txBody>
      </p:sp>
      <p:cxnSp>
        <p:nvCxnSpPr>
          <p:cNvPr id="7" name="Conector recto de flecha 4">
            <a:extLst>
              <a:ext uri="{FF2B5EF4-FFF2-40B4-BE49-F238E27FC236}">
                <a16:creationId xmlns:a16="http://schemas.microsoft.com/office/drawing/2014/main" id="{50FDE6CA-B677-5CEB-541E-5ABC318FAE71}"/>
              </a:ext>
            </a:extLst>
          </p:cNvPr>
          <p:cNvCxnSpPr>
            <a:cxnSpLocks/>
          </p:cNvCxnSpPr>
          <p:nvPr/>
        </p:nvCxnSpPr>
        <p:spPr>
          <a:xfrm flipH="1">
            <a:off x="2519629" y="1750874"/>
            <a:ext cx="782518" cy="0"/>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8" name="CuadroTexto 5">
            <a:extLst>
              <a:ext uri="{FF2B5EF4-FFF2-40B4-BE49-F238E27FC236}">
                <a16:creationId xmlns:a16="http://schemas.microsoft.com/office/drawing/2014/main" id="{4BAEFDB9-CE65-F8E4-FEEF-EF19294E6060}"/>
              </a:ext>
            </a:extLst>
          </p:cNvPr>
          <p:cNvSpPr txBox="1"/>
          <p:nvPr/>
        </p:nvSpPr>
        <p:spPr>
          <a:xfrm>
            <a:off x="2118622" y="2752636"/>
            <a:ext cx="655949" cy="523220"/>
          </a:xfrm>
          <a:prstGeom prst="rect">
            <a:avLst/>
          </a:prstGeom>
          <a:noFill/>
          <a:ln w="25400">
            <a:solidFill>
              <a:schemeClr val="bg1"/>
            </a:solidFill>
          </a:ln>
        </p:spPr>
        <p:txBody>
          <a:bodyPr wrap="none" rtlCol="0">
            <a:spAutoFit/>
          </a:bodyPr>
          <a:lstStyle/>
          <a:p>
            <a:r>
              <a:rPr lang="es-ES" sz="2800" dirty="0">
                <a:latin typeface="Arial" panose="020B0604020202020204" pitchFamily="34" charset="0"/>
                <a:cs typeface="Arial" panose="020B0604020202020204" pitchFamily="34" charset="0"/>
              </a:rPr>
              <a:t>S</a:t>
            </a:r>
            <a:r>
              <a:rPr lang="es-ES" sz="2800" baseline="-25000" dirty="0">
                <a:latin typeface="Arial" panose="020B0604020202020204" pitchFamily="34" charset="0"/>
                <a:cs typeface="Arial" panose="020B0604020202020204" pitchFamily="34" charset="0"/>
              </a:rPr>
              <a:t>1</a:t>
            </a:r>
            <a:r>
              <a:rPr lang="es-ES" sz="2800" dirty="0">
                <a:latin typeface="Arial" panose="020B0604020202020204" pitchFamily="34" charset="0"/>
                <a:cs typeface="Arial" panose="020B0604020202020204" pitchFamily="34" charset="0"/>
              </a:rPr>
              <a:t> </a:t>
            </a:r>
            <a:endParaRPr lang="es-ES" sz="2800" baseline="-25000" dirty="0">
              <a:latin typeface="Arial" panose="020B0604020202020204" pitchFamily="34" charset="0"/>
              <a:cs typeface="Arial" panose="020B0604020202020204" pitchFamily="34" charset="0"/>
            </a:endParaRPr>
          </a:p>
        </p:txBody>
      </p:sp>
      <p:sp>
        <p:nvSpPr>
          <p:cNvPr id="11" name="CuadroTexto 5">
            <a:extLst>
              <a:ext uri="{FF2B5EF4-FFF2-40B4-BE49-F238E27FC236}">
                <a16:creationId xmlns:a16="http://schemas.microsoft.com/office/drawing/2014/main" id="{3BE39CF2-7CC3-C5B2-2040-03AFEAF00051}"/>
              </a:ext>
            </a:extLst>
          </p:cNvPr>
          <p:cNvSpPr txBox="1"/>
          <p:nvPr/>
        </p:nvSpPr>
        <p:spPr>
          <a:xfrm>
            <a:off x="4553396" y="2723549"/>
            <a:ext cx="655949" cy="523220"/>
          </a:xfrm>
          <a:prstGeom prst="rect">
            <a:avLst/>
          </a:prstGeom>
          <a:noFill/>
          <a:ln w="25400">
            <a:solidFill>
              <a:schemeClr val="bg1"/>
            </a:solidFill>
          </a:ln>
        </p:spPr>
        <p:txBody>
          <a:bodyPr wrap="none" rtlCol="0">
            <a:spAutoFit/>
          </a:bodyPr>
          <a:lstStyle/>
          <a:p>
            <a:r>
              <a:rPr lang="es-ES" sz="2800" dirty="0">
                <a:latin typeface="Arial" panose="020B0604020202020204" pitchFamily="34" charset="0"/>
                <a:cs typeface="Arial" panose="020B0604020202020204" pitchFamily="34" charset="0"/>
              </a:rPr>
              <a:t>S</a:t>
            </a:r>
            <a:r>
              <a:rPr lang="es-ES" sz="2800" baseline="-25000" dirty="0">
                <a:latin typeface="Arial" panose="020B0604020202020204" pitchFamily="34" charset="0"/>
                <a:cs typeface="Arial" panose="020B0604020202020204" pitchFamily="34" charset="0"/>
              </a:rPr>
              <a:t>2</a:t>
            </a:r>
            <a:r>
              <a:rPr lang="es-ES" sz="2800" dirty="0">
                <a:latin typeface="Arial" panose="020B0604020202020204" pitchFamily="34" charset="0"/>
                <a:cs typeface="Arial" panose="020B0604020202020204" pitchFamily="34" charset="0"/>
              </a:rPr>
              <a:t> </a:t>
            </a:r>
            <a:endParaRPr lang="es-ES" sz="2800" baseline="-25000" dirty="0">
              <a:latin typeface="Arial" panose="020B0604020202020204" pitchFamily="34" charset="0"/>
              <a:cs typeface="Arial" panose="020B0604020202020204" pitchFamily="34" charset="0"/>
            </a:endParaRPr>
          </a:p>
        </p:txBody>
      </p:sp>
      <p:cxnSp>
        <p:nvCxnSpPr>
          <p:cNvPr id="12" name="Conector recto de flecha 4">
            <a:extLst>
              <a:ext uri="{FF2B5EF4-FFF2-40B4-BE49-F238E27FC236}">
                <a16:creationId xmlns:a16="http://schemas.microsoft.com/office/drawing/2014/main" id="{92491BD9-058F-EAE1-5347-1C1F60833AAE}"/>
              </a:ext>
            </a:extLst>
          </p:cNvPr>
          <p:cNvCxnSpPr>
            <a:cxnSpLocks/>
          </p:cNvCxnSpPr>
          <p:nvPr/>
        </p:nvCxnSpPr>
        <p:spPr>
          <a:xfrm>
            <a:off x="2303341" y="2002579"/>
            <a:ext cx="14990" cy="707505"/>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13" name="CuadroTexto 5">
            <a:extLst>
              <a:ext uri="{FF2B5EF4-FFF2-40B4-BE49-F238E27FC236}">
                <a16:creationId xmlns:a16="http://schemas.microsoft.com/office/drawing/2014/main" id="{19EC339E-437B-1E71-F1DD-EECD04E7653D}"/>
              </a:ext>
            </a:extLst>
          </p:cNvPr>
          <p:cNvSpPr txBox="1"/>
          <p:nvPr/>
        </p:nvSpPr>
        <p:spPr>
          <a:xfrm>
            <a:off x="4466379" y="1489264"/>
            <a:ext cx="622286" cy="523220"/>
          </a:xfrm>
          <a:prstGeom prst="rect">
            <a:avLst/>
          </a:prstGeom>
          <a:noFill/>
          <a:ln w="25400">
            <a:solidFill>
              <a:schemeClr val="bg1"/>
            </a:solidFill>
          </a:ln>
        </p:spPr>
        <p:txBody>
          <a:bodyPr wrap="none" rtlCol="0">
            <a:spAutoFit/>
          </a:bodyPr>
          <a:lstStyle/>
          <a:p>
            <a:r>
              <a:rPr lang="es-ES" sz="2800" dirty="0">
                <a:latin typeface="Arial" panose="020B0604020202020204" pitchFamily="34" charset="0"/>
                <a:cs typeface="Arial" panose="020B0604020202020204" pitchFamily="34" charset="0"/>
              </a:rPr>
              <a:t>W </a:t>
            </a:r>
            <a:endParaRPr lang="es-ES" sz="2800" baseline="-25000" dirty="0">
              <a:latin typeface="Arial" panose="020B0604020202020204" pitchFamily="34" charset="0"/>
              <a:cs typeface="Arial" panose="020B0604020202020204" pitchFamily="34" charset="0"/>
            </a:endParaRPr>
          </a:p>
        </p:txBody>
      </p:sp>
      <p:sp>
        <p:nvSpPr>
          <p:cNvPr id="14" name="CuadroTexto 5">
            <a:extLst>
              <a:ext uri="{FF2B5EF4-FFF2-40B4-BE49-F238E27FC236}">
                <a16:creationId xmlns:a16="http://schemas.microsoft.com/office/drawing/2014/main" id="{657392C7-82BA-D401-62BB-238637189C89}"/>
              </a:ext>
            </a:extLst>
          </p:cNvPr>
          <p:cNvSpPr txBox="1"/>
          <p:nvPr/>
        </p:nvSpPr>
        <p:spPr>
          <a:xfrm>
            <a:off x="5831362" y="1501385"/>
            <a:ext cx="516423" cy="523220"/>
          </a:xfrm>
          <a:prstGeom prst="rect">
            <a:avLst/>
          </a:prstGeom>
          <a:noFill/>
          <a:ln w="25400">
            <a:solidFill>
              <a:schemeClr val="bg1"/>
            </a:solidFill>
          </a:ln>
        </p:spPr>
        <p:txBody>
          <a:bodyPr wrap="none" rtlCol="0">
            <a:spAutoFit/>
          </a:bodyPr>
          <a:lstStyle/>
          <a:p>
            <a:r>
              <a:rPr lang="es-ES" sz="2800" dirty="0">
                <a:latin typeface="Arial" panose="020B0604020202020204" pitchFamily="34" charset="0"/>
                <a:cs typeface="Arial" panose="020B0604020202020204" pitchFamily="34" charset="0"/>
              </a:rPr>
              <a:t>Y </a:t>
            </a:r>
            <a:endParaRPr lang="es-ES" sz="2800" baseline="-25000" dirty="0">
              <a:latin typeface="Arial" panose="020B0604020202020204" pitchFamily="34" charset="0"/>
              <a:cs typeface="Arial" panose="020B0604020202020204" pitchFamily="34" charset="0"/>
            </a:endParaRPr>
          </a:p>
        </p:txBody>
      </p:sp>
      <p:cxnSp>
        <p:nvCxnSpPr>
          <p:cNvPr id="15" name="Conector recto de flecha 4">
            <a:extLst>
              <a:ext uri="{FF2B5EF4-FFF2-40B4-BE49-F238E27FC236}">
                <a16:creationId xmlns:a16="http://schemas.microsoft.com/office/drawing/2014/main" id="{7E442343-F7DD-A2DB-381A-BE2051E8B145}"/>
              </a:ext>
            </a:extLst>
          </p:cNvPr>
          <p:cNvCxnSpPr>
            <a:cxnSpLocks/>
          </p:cNvCxnSpPr>
          <p:nvPr/>
        </p:nvCxnSpPr>
        <p:spPr>
          <a:xfrm>
            <a:off x="4713481" y="2000520"/>
            <a:ext cx="14990" cy="707505"/>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6" name="Conector recto de flecha 4">
            <a:extLst>
              <a:ext uri="{FF2B5EF4-FFF2-40B4-BE49-F238E27FC236}">
                <a16:creationId xmlns:a16="http://schemas.microsoft.com/office/drawing/2014/main" id="{3583F4D4-C5D3-6014-C70B-865967E2731B}"/>
              </a:ext>
            </a:extLst>
          </p:cNvPr>
          <p:cNvCxnSpPr>
            <a:cxnSpLocks/>
          </p:cNvCxnSpPr>
          <p:nvPr/>
        </p:nvCxnSpPr>
        <p:spPr>
          <a:xfrm>
            <a:off x="3785043" y="1751932"/>
            <a:ext cx="686564" cy="0"/>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7" name="Conector recto de flecha 4">
            <a:extLst>
              <a:ext uri="{FF2B5EF4-FFF2-40B4-BE49-F238E27FC236}">
                <a16:creationId xmlns:a16="http://schemas.microsoft.com/office/drawing/2014/main" id="{D90E69BB-E7E7-2907-18FB-499ED0F30171}"/>
              </a:ext>
            </a:extLst>
          </p:cNvPr>
          <p:cNvCxnSpPr>
            <a:cxnSpLocks/>
          </p:cNvCxnSpPr>
          <p:nvPr/>
        </p:nvCxnSpPr>
        <p:spPr>
          <a:xfrm flipH="1">
            <a:off x="4989279" y="1750874"/>
            <a:ext cx="782518" cy="0"/>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F4066B97-EBED-880F-FA19-A5D13F078252}"/>
              </a:ext>
            </a:extLst>
          </p:cNvPr>
          <p:cNvSpPr txBox="1"/>
          <p:nvPr/>
        </p:nvSpPr>
        <p:spPr>
          <a:xfrm>
            <a:off x="594360" y="6080760"/>
            <a:ext cx="7303770" cy="369332"/>
          </a:xfrm>
          <a:prstGeom prst="rect">
            <a:avLst/>
          </a:prstGeom>
          <a:noFill/>
        </p:spPr>
        <p:txBody>
          <a:bodyPr wrap="square">
            <a:spAutoFit/>
          </a:bodyPr>
          <a:lstStyle/>
          <a:p>
            <a:r>
              <a:rPr lang="en-US" dirty="0">
                <a:solidFill>
                  <a:srgbClr val="FF0000"/>
                </a:solidFill>
                <a:latin typeface="Arial" panose="020B0604020202020204" pitchFamily="34" charset="0"/>
                <a:cs typeface="Arial" panose="020B0604020202020204" pitchFamily="34" charset="0"/>
              </a:rPr>
              <a:t>Open Script_2 and run codes under “### exercise 1”</a:t>
            </a:r>
          </a:p>
        </p:txBody>
      </p:sp>
    </p:spTree>
    <p:extLst>
      <p:ext uri="{BB962C8B-B14F-4D97-AF65-F5344CB8AC3E}">
        <p14:creationId xmlns:p14="http://schemas.microsoft.com/office/powerpoint/2010/main" val="285115583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A19E7759-E875-45EA-5536-ED7E8153DF4B}"/>
              </a:ext>
            </a:extLst>
          </p:cNvPr>
          <p:cNvSpPr txBox="1"/>
          <p:nvPr/>
        </p:nvSpPr>
        <p:spPr>
          <a:xfrm>
            <a:off x="312517" y="314797"/>
            <a:ext cx="8831483" cy="4985980"/>
          </a:xfrm>
          <a:prstGeom prst="rect">
            <a:avLst/>
          </a:prstGeom>
          <a:noFill/>
        </p:spPr>
        <p:txBody>
          <a:bodyPr wrap="square">
            <a:spAutoFit/>
          </a:bodyPr>
          <a:lstStyle/>
          <a:p>
            <a:r>
              <a:rPr lang="en-US" sz="2400" b="1" dirty="0">
                <a:latin typeface="Arial" panose="020B0604020202020204" pitchFamily="34" charset="0"/>
                <a:cs typeface="Arial" panose="020B0604020202020204" pitchFamily="34" charset="0"/>
              </a:rPr>
              <a:t>What have we discussed so far?</a:t>
            </a:r>
          </a:p>
          <a:p>
            <a:endParaRPr lang="en-US" sz="2400" dirty="0">
              <a:latin typeface="Arial" panose="020B0604020202020204" pitchFamily="34" charset="0"/>
              <a:cs typeface="Arial" panose="020B0604020202020204" pitchFamily="34" charset="0"/>
            </a:endParaRPr>
          </a:p>
          <a:p>
            <a:r>
              <a:rPr lang="en-US" b="1" dirty="0">
                <a:latin typeface="Arial" panose="020B0604020202020204" pitchFamily="34" charset="0"/>
                <a:cs typeface="Arial" panose="020B0604020202020204" pitchFamily="34" charset="0"/>
              </a:rPr>
              <a:t>1. Statistical model selection</a:t>
            </a:r>
          </a:p>
          <a:p>
            <a:pPr marL="285750" indent="-285750">
              <a:buFont typeface="Arial" panose="020B0604020202020204" pitchFamily="34" charset="0"/>
              <a:buChar char="•"/>
            </a:pPr>
            <a:r>
              <a:rPr lang="en-US" dirty="0">
                <a:latin typeface="Arial" panose="020B0604020202020204" pitchFamily="34" charset="0"/>
                <a:cs typeface="Arial" panose="020B0604020202020204" pitchFamily="34" charset="0"/>
              </a:rPr>
              <a:t>Akaike Information Criterion (AIC)</a:t>
            </a:r>
          </a:p>
          <a:p>
            <a:pPr marL="285750" indent="-285750">
              <a:buFont typeface="Arial" panose="020B0604020202020204" pitchFamily="34" charset="0"/>
              <a:buChar char="•"/>
            </a:pPr>
            <a:r>
              <a:rPr lang="en-US" dirty="0">
                <a:latin typeface="Arial" panose="020B0604020202020204" pitchFamily="34" charset="0"/>
                <a:cs typeface="Arial" panose="020B0604020202020204" pitchFamily="34" charset="0"/>
              </a:rPr>
              <a:t>Stepwise regression (forward, backward, and bidirectional selection)</a:t>
            </a:r>
          </a:p>
          <a:p>
            <a:pPr marL="285750" indent="-285750">
              <a:buFont typeface="Arial" panose="020B0604020202020204" pitchFamily="34" charset="0"/>
              <a:buChar char="•"/>
            </a:pPr>
            <a:r>
              <a:rPr lang="en-US" dirty="0">
                <a:latin typeface="Arial" panose="020B0604020202020204" pitchFamily="34" charset="0"/>
                <a:cs typeface="Arial" panose="020B0604020202020204" pitchFamily="34" charset="0"/>
              </a:rPr>
              <a:t>Model averaging</a:t>
            </a:r>
          </a:p>
          <a:p>
            <a:endParaRPr lang="en-US" dirty="0">
              <a:latin typeface="Arial" panose="020B0604020202020204" pitchFamily="34" charset="0"/>
              <a:cs typeface="Arial" panose="020B0604020202020204" pitchFamily="34" charset="0"/>
            </a:endParaRPr>
          </a:p>
          <a:p>
            <a:r>
              <a:rPr lang="en-US" b="1" dirty="0">
                <a:latin typeface="Arial" panose="020B0604020202020204" pitchFamily="34" charset="0"/>
                <a:cs typeface="Arial" panose="020B0604020202020204" pitchFamily="34" charset="0"/>
              </a:rPr>
              <a:t>2. Model evaluation and comparison</a:t>
            </a:r>
          </a:p>
          <a:p>
            <a:pPr marL="285750" indent="-285750">
              <a:buFont typeface="Arial" panose="020B0604020202020204" pitchFamily="34" charset="0"/>
              <a:buChar char="•"/>
            </a:pPr>
            <a:r>
              <a:rPr lang="en-US" dirty="0">
                <a:latin typeface="Arial" panose="020B0604020202020204" pitchFamily="34" charset="0"/>
                <a:cs typeface="Arial" panose="020B0604020202020204" pitchFamily="34" charset="0"/>
              </a:rPr>
              <a:t>summary()</a:t>
            </a:r>
          </a:p>
          <a:p>
            <a:pPr marL="285750" indent="-285750">
              <a:buFont typeface="Arial" panose="020B0604020202020204" pitchFamily="34" charset="0"/>
              <a:buChar char="•"/>
            </a:pPr>
            <a:r>
              <a:rPr lang="en-US" dirty="0" err="1">
                <a:latin typeface="Arial" panose="020B0604020202020204" pitchFamily="34" charset="0"/>
                <a:cs typeface="Arial" panose="020B0604020202020204" pitchFamily="34" charset="0"/>
              </a:rPr>
              <a:t>anova</a:t>
            </a:r>
            <a:r>
              <a:rPr lang="en-US" dirty="0">
                <a:latin typeface="Arial" panose="020B0604020202020204" pitchFamily="34" charset="0"/>
                <a:cs typeface="Arial" panose="020B0604020202020204" pitchFamily="34" charset="0"/>
              </a:rPr>
              <a:t>()</a:t>
            </a:r>
          </a:p>
          <a:p>
            <a:pPr marL="285750" indent="-285750">
              <a:buFont typeface="Arial" panose="020B0604020202020204" pitchFamily="34" charset="0"/>
              <a:buChar char="•"/>
            </a:pPr>
            <a:r>
              <a:rPr lang="en-US" dirty="0">
                <a:latin typeface="Arial" panose="020B0604020202020204" pitchFamily="34" charset="0"/>
                <a:cs typeface="Arial" panose="020B0604020202020204" pitchFamily="34" charset="0"/>
              </a:rPr>
              <a:t>Anova()</a:t>
            </a:r>
          </a:p>
          <a:p>
            <a:pPr marL="285750" indent="-285750">
              <a:buFont typeface="Arial" panose="020B0604020202020204" pitchFamily="34" charset="0"/>
              <a:buChar char="•"/>
            </a:pPr>
            <a:r>
              <a:rPr lang="en-US" dirty="0">
                <a:latin typeface="Arial" panose="020B0604020202020204" pitchFamily="34" charset="0"/>
                <a:cs typeface="Arial" panose="020B0604020202020204" pitchFamily="34" charset="0"/>
              </a:rPr>
              <a:t>drop1()</a:t>
            </a:r>
          </a:p>
          <a:p>
            <a:endParaRPr lang="en-US" dirty="0">
              <a:latin typeface="Arial" panose="020B0604020202020204" pitchFamily="34" charset="0"/>
              <a:cs typeface="Arial" panose="020B0604020202020204" pitchFamily="34" charset="0"/>
            </a:endParaRPr>
          </a:p>
          <a:p>
            <a:r>
              <a:rPr lang="en-US" b="1" dirty="0">
                <a:latin typeface="Arial" panose="020B0604020202020204" pitchFamily="34" charset="0"/>
                <a:cs typeface="Arial" panose="020B0604020202020204" pitchFamily="34" charset="0"/>
              </a:rPr>
              <a:t>3. Causal inference and model building</a:t>
            </a:r>
          </a:p>
          <a:p>
            <a:pPr marL="285750" indent="-285750">
              <a:buFont typeface="Arial" panose="020B0604020202020204" pitchFamily="34" charset="0"/>
              <a:buChar char="•"/>
            </a:pPr>
            <a:r>
              <a:rPr lang="en-US" dirty="0">
                <a:latin typeface="Arial" panose="020B0604020202020204" pitchFamily="34" charset="0"/>
                <a:cs typeface="Arial" panose="020B0604020202020204" pitchFamily="34" charset="0"/>
              </a:rPr>
              <a:t>Directed acyclic graphs (DAGs)</a:t>
            </a:r>
          </a:p>
          <a:p>
            <a:pPr marL="285750" indent="-285750">
              <a:buFont typeface="Arial" panose="020B0604020202020204" pitchFamily="34" charset="0"/>
              <a:buChar char="•"/>
            </a:pPr>
            <a:r>
              <a:rPr lang="en-US" dirty="0">
                <a:latin typeface="Arial" panose="020B0604020202020204" pitchFamily="34" charset="0"/>
                <a:cs typeface="Arial" panose="020B0604020202020204" pitchFamily="34" charset="0"/>
              </a:rPr>
              <a:t>Common causal structures: chains (pipes), Descendants, Forks, and Colliders</a:t>
            </a:r>
          </a:p>
          <a:p>
            <a:pPr marL="285750" indent="-285750">
              <a:buFont typeface="Arial" panose="020B0604020202020204" pitchFamily="34" charset="0"/>
              <a:buChar char="•"/>
            </a:pPr>
            <a:r>
              <a:rPr lang="en-US" dirty="0">
                <a:latin typeface="Arial" panose="020B0604020202020204" pitchFamily="34" charset="0"/>
                <a:cs typeface="Arial" panose="020B0604020202020204" pitchFamily="34" charset="0"/>
              </a:rPr>
              <a:t>d-separation</a:t>
            </a:r>
          </a:p>
        </p:txBody>
      </p:sp>
    </p:spTree>
    <p:extLst>
      <p:ext uri="{BB962C8B-B14F-4D97-AF65-F5344CB8AC3E}">
        <p14:creationId xmlns:p14="http://schemas.microsoft.com/office/powerpoint/2010/main" val="246497989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059A94-8922-C9E3-0B7C-09647B6A0EB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2D9338DC-5B45-2CEB-0B2F-CF397ED14AA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63090" y="777240"/>
            <a:ext cx="5132070" cy="5132070"/>
          </a:xfrm>
          <a:prstGeom prst="rect">
            <a:avLst/>
          </a:prstGeom>
        </p:spPr>
      </p:pic>
    </p:spTree>
    <p:extLst>
      <p:ext uri="{BB962C8B-B14F-4D97-AF65-F5344CB8AC3E}">
        <p14:creationId xmlns:p14="http://schemas.microsoft.com/office/powerpoint/2010/main" val="672537324"/>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42684C-E78D-0D4F-06BF-F18C97655CBC}"/>
            </a:ext>
          </a:extLst>
        </p:cNvPr>
        <p:cNvGrpSpPr/>
        <p:nvPr/>
      </p:nvGrpSpPr>
      <p:grpSpPr>
        <a:xfrm>
          <a:off x="0" y="0"/>
          <a:ext cx="0" cy="0"/>
          <a:chOff x="0" y="0"/>
          <a:chExt cx="0" cy="0"/>
        </a:xfrm>
      </p:grpSpPr>
      <p:cxnSp>
        <p:nvCxnSpPr>
          <p:cNvPr id="2" name="Conector recto de flecha 4">
            <a:extLst>
              <a:ext uri="{FF2B5EF4-FFF2-40B4-BE49-F238E27FC236}">
                <a16:creationId xmlns:a16="http://schemas.microsoft.com/office/drawing/2014/main" id="{C97B4B4A-3118-338F-5CFB-078518D1EF30}"/>
              </a:ext>
            </a:extLst>
          </p:cNvPr>
          <p:cNvCxnSpPr>
            <a:cxnSpLocks/>
            <a:stCxn id="5" idx="3"/>
            <a:endCxn id="4" idx="1"/>
          </p:cNvCxnSpPr>
          <p:nvPr/>
        </p:nvCxnSpPr>
        <p:spPr>
          <a:xfrm>
            <a:off x="3467004" y="4102424"/>
            <a:ext cx="1404635" cy="0"/>
          </a:xfrm>
          <a:prstGeom prst="straightConnector1">
            <a:avLst/>
          </a:prstGeom>
          <a:ln w="25400">
            <a:solidFill>
              <a:srgbClr val="FF0000"/>
            </a:solidFill>
            <a:tailEnd type="triangle" w="lg" len="lg"/>
          </a:ln>
        </p:spPr>
        <p:style>
          <a:lnRef idx="1">
            <a:schemeClr val="accent1"/>
          </a:lnRef>
          <a:fillRef idx="0">
            <a:schemeClr val="accent1"/>
          </a:fillRef>
          <a:effectRef idx="0">
            <a:schemeClr val="accent1"/>
          </a:effectRef>
          <a:fontRef idx="minor">
            <a:schemeClr val="tx1"/>
          </a:fontRef>
        </p:style>
      </p:cxnSp>
      <p:sp>
        <p:nvSpPr>
          <p:cNvPr id="3" name="CuadroTexto 5">
            <a:extLst>
              <a:ext uri="{FF2B5EF4-FFF2-40B4-BE49-F238E27FC236}">
                <a16:creationId xmlns:a16="http://schemas.microsoft.com/office/drawing/2014/main" id="{35E265DC-E41B-8C7F-8CCF-E490C2F89A1D}"/>
              </a:ext>
            </a:extLst>
          </p:cNvPr>
          <p:cNvSpPr txBox="1"/>
          <p:nvPr/>
        </p:nvSpPr>
        <p:spPr>
          <a:xfrm>
            <a:off x="3916051" y="2264768"/>
            <a:ext cx="655949" cy="523220"/>
          </a:xfrm>
          <a:prstGeom prst="rect">
            <a:avLst/>
          </a:prstGeom>
          <a:noFill/>
          <a:ln w="25400">
            <a:solidFill>
              <a:schemeClr val="tx1"/>
            </a:solidFill>
          </a:ln>
        </p:spPr>
        <p:txBody>
          <a:bodyPr wrap="none" rtlCol="0">
            <a:spAutoFit/>
          </a:bodyPr>
          <a:lstStyle/>
          <a:p>
            <a:r>
              <a:rPr lang="es-ES" sz="2800" dirty="0">
                <a:latin typeface="Arial" panose="020B0604020202020204" pitchFamily="34" charset="0"/>
                <a:cs typeface="Arial" panose="020B0604020202020204" pitchFamily="34" charset="0"/>
              </a:rPr>
              <a:t>X</a:t>
            </a:r>
            <a:r>
              <a:rPr lang="es-ES" sz="2800" baseline="-25000" dirty="0">
                <a:latin typeface="Arial" panose="020B0604020202020204" pitchFamily="34" charset="0"/>
                <a:cs typeface="Arial" panose="020B0604020202020204" pitchFamily="34" charset="0"/>
              </a:rPr>
              <a:t>2</a:t>
            </a:r>
            <a:r>
              <a:rPr lang="es-ES" sz="2800" dirty="0">
                <a:latin typeface="Arial" panose="020B0604020202020204" pitchFamily="34" charset="0"/>
                <a:cs typeface="Arial" panose="020B0604020202020204" pitchFamily="34" charset="0"/>
              </a:rPr>
              <a:t> </a:t>
            </a:r>
            <a:endParaRPr lang="es-ES" sz="2800" baseline="-25000" dirty="0">
              <a:latin typeface="Arial" panose="020B0604020202020204" pitchFamily="34" charset="0"/>
              <a:cs typeface="Arial" panose="020B0604020202020204" pitchFamily="34" charset="0"/>
            </a:endParaRPr>
          </a:p>
        </p:txBody>
      </p:sp>
      <p:sp>
        <p:nvSpPr>
          <p:cNvPr id="4" name="CuadroTexto 5">
            <a:extLst>
              <a:ext uri="{FF2B5EF4-FFF2-40B4-BE49-F238E27FC236}">
                <a16:creationId xmlns:a16="http://schemas.microsoft.com/office/drawing/2014/main" id="{DF040DBB-B3EE-51AD-25EC-D74C85637226}"/>
              </a:ext>
            </a:extLst>
          </p:cNvPr>
          <p:cNvSpPr txBox="1"/>
          <p:nvPr/>
        </p:nvSpPr>
        <p:spPr>
          <a:xfrm>
            <a:off x="4871639" y="3840814"/>
            <a:ext cx="516423" cy="523220"/>
          </a:xfrm>
          <a:prstGeom prst="rect">
            <a:avLst/>
          </a:prstGeom>
          <a:noFill/>
          <a:ln w="25400">
            <a:solidFill>
              <a:srgbClr val="FF0000"/>
            </a:solidFill>
          </a:ln>
        </p:spPr>
        <p:txBody>
          <a:bodyPr wrap="none" rtlCol="0">
            <a:spAutoFit/>
          </a:bodyPr>
          <a:lstStyle/>
          <a:p>
            <a:r>
              <a:rPr lang="es-ES" sz="2800" dirty="0">
                <a:solidFill>
                  <a:srgbClr val="FF0000"/>
                </a:solidFill>
                <a:latin typeface="Arial" panose="020B0604020202020204" pitchFamily="34" charset="0"/>
                <a:cs typeface="Arial" panose="020B0604020202020204" pitchFamily="34" charset="0"/>
              </a:rPr>
              <a:t>Y</a:t>
            </a:r>
            <a:r>
              <a:rPr lang="es-ES" sz="2800" dirty="0">
                <a:latin typeface="Arial" panose="020B0604020202020204" pitchFamily="34" charset="0"/>
                <a:cs typeface="Arial" panose="020B0604020202020204" pitchFamily="34" charset="0"/>
              </a:rPr>
              <a:t> </a:t>
            </a:r>
            <a:endParaRPr lang="es-ES" sz="2800" baseline="-25000" dirty="0">
              <a:latin typeface="Arial" panose="020B0604020202020204" pitchFamily="34" charset="0"/>
              <a:cs typeface="Arial" panose="020B0604020202020204" pitchFamily="34" charset="0"/>
            </a:endParaRPr>
          </a:p>
        </p:txBody>
      </p:sp>
      <p:sp>
        <p:nvSpPr>
          <p:cNvPr id="5" name="CuadroTexto 5">
            <a:extLst>
              <a:ext uri="{FF2B5EF4-FFF2-40B4-BE49-F238E27FC236}">
                <a16:creationId xmlns:a16="http://schemas.microsoft.com/office/drawing/2014/main" id="{F4B0C8C6-EAE1-38C1-798B-BF76D8B3729F}"/>
              </a:ext>
            </a:extLst>
          </p:cNvPr>
          <p:cNvSpPr txBox="1"/>
          <p:nvPr/>
        </p:nvSpPr>
        <p:spPr>
          <a:xfrm>
            <a:off x="2910441" y="3840814"/>
            <a:ext cx="556563" cy="523220"/>
          </a:xfrm>
          <a:prstGeom prst="rect">
            <a:avLst/>
          </a:prstGeom>
          <a:noFill/>
          <a:ln w="25400">
            <a:solidFill>
              <a:srgbClr val="FF0000"/>
            </a:solidFill>
          </a:ln>
        </p:spPr>
        <p:txBody>
          <a:bodyPr wrap="none" rtlCol="0">
            <a:spAutoFit/>
          </a:bodyPr>
          <a:lstStyle/>
          <a:p>
            <a:r>
              <a:rPr lang="es-ES" sz="2800" dirty="0">
                <a:solidFill>
                  <a:srgbClr val="FF0000"/>
                </a:solidFill>
                <a:latin typeface="Arial" panose="020B0604020202020204" pitchFamily="34" charset="0"/>
                <a:cs typeface="Arial" panose="020B0604020202020204" pitchFamily="34" charset="0"/>
              </a:rPr>
              <a:t>X</a:t>
            </a:r>
            <a:r>
              <a:rPr lang="es-ES" sz="2800" baseline="-25000" dirty="0">
                <a:solidFill>
                  <a:srgbClr val="FF0000"/>
                </a:solidFill>
                <a:latin typeface="Arial" panose="020B0604020202020204" pitchFamily="34" charset="0"/>
                <a:cs typeface="Arial" panose="020B0604020202020204" pitchFamily="34" charset="0"/>
              </a:rPr>
              <a:t>1</a:t>
            </a:r>
            <a:endParaRPr lang="es-ES" sz="2800" baseline="-25000" dirty="0">
              <a:latin typeface="Arial" panose="020B0604020202020204" pitchFamily="34" charset="0"/>
              <a:cs typeface="Arial" panose="020B0604020202020204" pitchFamily="34" charset="0"/>
            </a:endParaRPr>
          </a:p>
        </p:txBody>
      </p:sp>
      <p:cxnSp>
        <p:nvCxnSpPr>
          <p:cNvPr id="6" name="Conector recto de flecha 4">
            <a:extLst>
              <a:ext uri="{FF2B5EF4-FFF2-40B4-BE49-F238E27FC236}">
                <a16:creationId xmlns:a16="http://schemas.microsoft.com/office/drawing/2014/main" id="{58FCDE53-B328-1527-2126-0CA569967D38}"/>
              </a:ext>
            </a:extLst>
          </p:cNvPr>
          <p:cNvCxnSpPr>
            <a:cxnSpLocks/>
            <a:stCxn id="5" idx="0"/>
            <a:endCxn id="3" idx="1"/>
          </p:cNvCxnSpPr>
          <p:nvPr/>
        </p:nvCxnSpPr>
        <p:spPr>
          <a:xfrm flipV="1">
            <a:off x="3188723" y="2526378"/>
            <a:ext cx="727328" cy="1314436"/>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8" name="Conector recto de flecha 4">
            <a:extLst>
              <a:ext uri="{FF2B5EF4-FFF2-40B4-BE49-F238E27FC236}">
                <a16:creationId xmlns:a16="http://schemas.microsoft.com/office/drawing/2014/main" id="{1E4FD902-1439-5073-1082-E5D80C42A7E6}"/>
              </a:ext>
            </a:extLst>
          </p:cNvPr>
          <p:cNvCxnSpPr>
            <a:cxnSpLocks/>
            <a:stCxn id="4" idx="0"/>
            <a:endCxn id="3" idx="3"/>
          </p:cNvCxnSpPr>
          <p:nvPr/>
        </p:nvCxnSpPr>
        <p:spPr>
          <a:xfrm flipH="1" flipV="1">
            <a:off x="4572000" y="2526378"/>
            <a:ext cx="557851" cy="1314436"/>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C79F967F-6C41-3196-6DAB-492C4976FA3B}"/>
              </a:ext>
            </a:extLst>
          </p:cNvPr>
          <p:cNvSpPr txBox="1"/>
          <p:nvPr/>
        </p:nvSpPr>
        <p:spPr>
          <a:xfrm>
            <a:off x="223268" y="365846"/>
            <a:ext cx="8307274" cy="830997"/>
          </a:xfrm>
          <a:prstGeom prst="rect">
            <a:avLst/>
          </a:prstGeom>
          <a:noFill/>
        </p:spPr>
        <p:txBody>
          <a:bodyPr wrap="square">
            <a:spAutoFit/>
          </a:bodyPr>
          <a:lstStyle/>
          <a:p>
            <a:r>
              <a:rPr lang="en-US" sz="2400" b="1" dirty="0"/>
              <a:t>How can we build a multiple regression model to estimate the causal effect of X₁ on Y?</a:t>
            </a:r>
          </a:p>
        </p:txBody>
      </p:sp>
      <p:sp>
        <p:nvSpPr>
          <p:cNvPr id="7" name="CuadroTexto 5">
            <a:extLst>
              <a:ext uri="{FF2B5EF4-FFF2-40B4-BE49-F238E27FC236}">
                <a16:creationId xmlns:a16="http://schemas.microsoft.com/office/drawing/2014/main" id="{9608FDDB-B337-D1EF-35E1-5A03002FF86A}"/>
              </a:ext>
            </a:extLst>
          </p:cNvPr>
          <p:cNvSpPr txBox="1"/>
          <p:nvPr/>
        </p:nvSpPr>
        <p:spPr>
          <a:xfrm>
            <a:off x="3912699" y="5553907"/>
            <a:ext cx="655949" cy="523220"/>
          </a:xfrm>
          <a:prstGeom prst="rect">
            <a:avLst/>
          </a:prstGeom>
          <a:noFill/>
          <a:ln w="25400">
            <a:solidFill>
              <a:schemeClr val="tx1"/>
            </a:solidFill>
          </a:ln>
        </p:spPr>
        <p:txBody>
          <a:bodyPr wrap="none" rtlCol="0">
            <a:spAutoFit/>
          </a:bodyPr>
          <a:lstStyle/>
          <a:p>
            <a:r>
              <a:rPr lang="es-ES" sz="2800" dirty="0">
                <a:latin typeface="Arial" panose="020B0604020202020204" pitchFamily="34" charset="0"/>
                <a:cs typeface="Arial" panose="020B0604020202020204" pitchFamily="34" charset="0"/>
              </a:rPr>
              <a:t>X</a:t>
            </a:r>
            <a:r>
              <a:rPr lang="es-ES" sz="2800" baseline="-25000" dirty="0">
                <a:latin typeface="Arial" panose="020B0604020202020204" pitchFamily="34" charset="0"/>
                <a:cs typeface="Arial" panose="020B0604020202020204" pitchFamily="34" charset="0"/>
              </a:rPr>
              <a:t>3</a:t>
            </a:r>
            <a:r>
              <a:rPr lang="es-ES" sz="2800" dirty="0">
                <a:latin typeface="Arial" panose="020B0604020202020204" pitchFamily="34" charset="0"/>
                <a:cs typeface="Arial" panose="020B0604020202020204" pitchFamily="34" charset="0"/>
              </a:rPr>
              <a:t> </a:t>
            </a:r>
            <a:endParaRPr lang="es-ES" sz="2800" baseline="-25000" dirty="0">
              <a:latin typeface="Arial" panose="020B0604020202020204" pitchFamily="34" charset="0"/>
              <a:cs typeface="Arial" panose="020B0604020202020204" pitchFamily="34" charset="0"/>
            </a:endParaRPr>
          </a:p>
        </p:txBody>
      </p:sp>
      <p:cxnSp>
        <p:nvCxnSpPr>
          <p:cNvPr id="8" name="Conector recto de flecha 4">
            <a:extLst>
              <a:ext uri="{FF2B5EF4-FFF2-40B4-BE49-F238E27FC236}">
                <a16:creationId xmlns:a16="http://schemas.microsoft.com/office/drawing/2014/main" id="{647A7DF9-1968-13C2-AAB0-B41657B43E4B}"/>
              </a:ext>
            </a:extLst>
          </p:cNvPr>
          <p:cNvCxnSpPr>
            <a:cxnSpLocks/>
            <a:stCxn id="7" idx="1"/>
            <a:endCxn id="5" idx="2"/>
          </p:cNvCxnSpPr>
          <p:nvPr/>
        </p:nvCxnSpPr>
        <p:spPr>
          <a:xfrm flipH="1" flipV="1">
            <a:off x="3188723" y="4364034"/>
            <a:ext cx="723976" cy="1451483"/>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0" name="Conector recto de flecha 4">
            <a:extLst>
              <a:ext uri="{FF2B5EF4-FFF2-40B4-BE49-F238E27FC236}">
                <a16:creationId xmlns:a16="http://schemas.microsoft.com/office/drawing/2014/main" id="{C5CBE319-2A3F-2829-4403-69BB74FE39E4}"/>
              </a:ext>
            </a:extLst>
          </p:cNvPr>
          <p:cNvCxnSpPr>
            <a:cxnSpLocks/>
            <a:stCxn id="7" idx="3"/>
            <a:endCxn id="4" idx="2"/>
          </p:cNvCxnSpPr>
          <p:nvPr/>
        </p:nvCxnSpPr>
        <p:spPr>
          <a:xfrm flipV="1">
            <a:off x="4568648" y="4364034"/>
            <a:ext cx="561203" cy="1451483"/>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6E079675-E49C-FA82-E42B-417880166EB3}"/>
              </a:ext>
            </a:extLst>
          </p:cNvPr>
          <p:cNvSpPr txBox="1"/>
          <p:nvPr/>
        </p:nvSpPr>
        <p:spPr>
          <a:xfrm>
            <a:off x="223268" y="1399945"/>
            <a:ext cx="8191527" cy="461665"/>
          </a:xfrm>
          <a:prstGeom prst="rect">
            <a:avLst/>
          </a:prstGeom>
          <a:noFill/>
        </p:spPr>
        <p:txBody>
          <a:bodyPr wrap="square">
            <a:spAutoFit/>
          </a:bodyPr>
          <a:lstStyle/>
          <a:p>
            <a:r>
              <a:rPr lang="en-US" sz="2400" b="1" dirty="0"/>
              <a:t>Ask: </a:t>
            </a:r>
            <a:r>
              <a:rPr lang="en-US" sz="2400" dirty="0"/>
              <a:t>Which need to be closed to estimate effect of X</a:t>
            </a:r>
            <a:r>
              <a:rPr lang="en-US" sz="2400" baseline="-25000" dirty="0"/>
              <a:t>1</a:t>
            </a:r>
            <a:r>
              <a:rPr lang="en-US" sz="2400" dirty="0"/>
              <a:t> on Y?</a:t>
            </a:r>
          </a:p>
        </p:txBody>
      </p:sp>
    </p:spTree>
    <p:extLst>
      <p:ext uri="{BB962C8B-B14F-4D97-AF65-F5344CB8AC3E}">
        <p14:creationId xmlns:p14="http://schemas.microsoft.com/office/powerpoint/2010/main" val="13289553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22F622-57F5-0671-B24A-E30BA026637A}"/>
            </a:ext>
          </a:extLst>
        </p:cNvPr>
        <p:cNvGrpSpPr/>
        <p:nvPr/>
      </p:nvGrpSpPr>
      <p:grpSpPr>
        <a:xfrm>
          <a:off x="0" y="0"/>
          <a:ext cx="0" cy="0"/>
          <a:chOff x="0" y="0"/>
          <a:chExt cx="0" cy="0"/>
        </a:xfrm>
      </p:grpSpPr>
      <p:cxnSp>
        <p:nvCxnSpPr>
          <p:cNvPr id="2" name="Conector recto de flecha 4">
            <a:extLst>
              <a:ext uri="{FF2B5EF4-FFF2-40B4-BE49-F238E27FC236}">
                <a16:creationId xmlns:a16="http://schemas.microsoft.com/office/drawing/2014/main" id="{961C2B4C-206A-F2A9-8AD8-CA9ABD843C57}"/>
              </a:ext>
            </a:extLst>
          </p:cNvPr>
          <p:cNvCxnSpPr>
            <a:cxnSpLocks/>
            <a:stCxn id="5" idx="3"/>
            <a:endCxn id="4" idx="1"/>
          </p:cNvCxnSpPr>
          <p:nvPr/>
        </p:nvCxnSpPr>
        <p:spPr>
          <a:xfrm>
            <a:off x="1991603" y="5906094"/>
            <a:ext cx="3941704" cy="3005"/>
          </a:xfrm>
          <a:prstGeom prst="straightConnector1">
            <a:avLst/>
          </a:prstGeom>
          <a:ln w="25400">
            <a:solidFill>
              <a:srgbClr val="FF0000"/>
            </a:solidFill>
            <a:tailEnd type="triangle" w="lg" len="lg"/>
          </a:ln>
        </p:spPr>
        <p:style>
          <a:lnRef idx="1">
            <a:schemeClr val="accent1"/>
          </a:lnRef>
          <a:fillRef idx="0">
            <a:schemeClr val="accent1"/>
          </a:fillRef>
          <a:effectRef idx="0">
            <a:schemeClr val="accent1"/>
          </a:effectRef>
          <a:fontRef idx="minor">
            <a:schemeClr val="tx1"/>
          </a:fontRef>
        </p:style>
      </p:cxnSp>
      <p:sp>
        <p:nvSpPr>
          <p:cNvPr id="3" name="CuadroTexto 5">
            <a:extLst>
              <a:ext uri="{FF2B5EF4-FFF2-40B4-BE49-F238E27FC236}">
                <a16:creationId xmlns:a16="http://schemas.microsoft.com/office/drawing/2014/main" id="{7F993E5E-214F-08CA-922E-8914D475E2BD}"/>
              </a:ext>
            </a:extLst>
          </p:cNvPr>
          <p:cNvSpPr txBox="1"/>
          <p:nvPr/>
        </p:nvSpPr>
        <p:spPr>
          <a:xfrm>
            <a:off x="3716078" y="2263477"/>
            <a:ext cx="655949" cy="523220"/>
          </a:xfrm>
          <a:prstGeom prst="rect">
            <a:avLst/>
          </a:prstGeom>
          <a:noFill/>
          <a:ln w="25400">
            <a:solidFill>
              <a:schemeClr val="tx1"/>
            </a:solidFill>
          </a:ln>
        </p:spPr>
        <p:txBody>
          <a:bodyPr wrap="none" rtlCol="0">
            <a:spAutoFit/>
          </a:bodyPr>
          <a:lstStyle/>
          <a:p>
            <a:r>
              <a:rPr lang="es-ES" sz="2800" dirty="0">
                <a:latin typeface="Arial" panose="020B0604020202020204" pitchFamily="34" charset="0"/>
                <a:cs typeface="Arial" panose="020B0604020202020204" pitchFamily="34" charset="0"/>
              </a:rPr>
              <a:t>X</a:t>
            </a:r>
            <a:r>
              <a:rPr lang="es-ES" sz="2800" baseline="-25000" dirty="0">
                <a:latin typeface="Arial" panose="020B0604020202020204" pitchFamily="34" charset="0"/>
                <a:cs typeface="Arial" panose="020B0604020202020204" pitchFamily="34" charset="0"/>
              </a:rPr>
              <a:t>3</a:t>
            </a:r>
            <a:r>
              <a:rPr lang="es-ES" sz="2800" dirty="0">
                <a:latin typeface="Arial" panose="020B0604020202020204" pitchFamily="34" charset="0"/>
                <a:cs typeface="Arial" panose="020B0604020202020204" pitchFamily="34" charset="0"/>
              </a:rPr>
              <a:t> </a:t>
            </a:r>
            <a:endParaRPr lang="es-ES" sz="2800" baseline="-25000" dirty="0">
              <a:latin typeface="Arial" panose="020B0604020202020204" pitchFamily="34" charset="0"/>
              <a:cs typeface="Arial" panose="020B0604020202020204" pitchFamily="34" charset="0"/>
            </a:endParaRPr>
          </a:p>
        </p:txBody>
      </p:sp>
      <p:sp>
        <p:nvSpPr>
          <p:cNvPr id="4" name="CuadroTexto 5">
            <a:extLst>
              <a:ext uri="{FF2B5EF4-FFF2-40B4-BE49-F238E27FC236}">
                <a16:creationId xmlns:a16="http://schemas.microsoft.com/office/drawing/2014/main" id="{F7F6EAC5-8B17-1E46-D8DF-C3FBA4475C1A}"/>
              </a:ext>
            </a:extLst>
          </p:cNvPr>
          <p:cNvSpPr txBox="1"/>
          <p:nvPr/>
        </p:nvSpPr>
        <p:spPr>
          <a:xfrm>
            <a:off x="5933307" y="5647489"/>
            <a:ext cx="655949" cy="523220"/>
          </a:xfrm>
          <a:prstGeom prst="rect">
            <a:avLst/>
          </a:prstGeom>
          <a:noFill/>
          <a:ln w="25400">
            <a:solidFill>
              <a:srgbClr val="FF0000"/>
            </a:solidFill>
          </a:ln>
        </p:spPr>
        <p:txBody>
          <a:bodyPr wrap="square" rtlCol="0">
            <a:spAutoFit/>
          </a:bodyPr>
          <a:lstStyle/>
          <a:p>
            <a:r>
              <a:rPr lang="es-ES" sz="2800" dirty="0">
                <a:solidFill>
                  <a:srgbClr val="FF0000"/>
                </a:solidFill>
                <a:latin typeface="Arial" panose="020B0604020202020204" pitchFamily="34" charset="0"/>
                <a:cs typeface="Arial" panose="020B0604020202020204" pitchFamily="34" charset="0"/>
              </a:rPr>
              <a:t>Y</a:t>
            </a:r>
            <a:endParaRPr lang="es-ES" sz="2800" baseline="-25000" dirty="0">
              <a:latin typeface="Arial" panose="020B0604020202020204" pitchFamily="34" charset="0"/>
              <a:cs typeface="Arial" panose="020B0604020202020204" pitchFamily="34" charset="0"/>
            </a:endParaRPr>
          </a:p>
        </p:txBody>
      </p:sp>
      <p:sp>
        <p:nvSpPr>
          <p:cNvPr id="5" name="CuadroTexto 5">
            <a:extLst>
              <a:ext uri="{FF2B5EF4-FFF2-40B4-BE49-F238E27FC236}">
                <a16:creationId xmlns:a16="http://schemas.microsoft.com/office/drawing/2014/main" id="{290A597D-D14D-C592-EF03-25DDF5078C69}"/>
              </a:ext>
            </a:extLst>
          </p:cNvPr>
          <p:cNvSpPr txBox="1"/>
          <p:nvPr/>
        </p:nvSpPr>
        <p:spPr>
          <a:xfrm>
            <a:off x="1335654" y="5644484"/>
            <a:ext cx="655949" cy="523220"/>
          </a:xfrm>
          <a:prstGeom prst="rect">
            <a:avLst/>
          </a:prstGeom>
          <a:noFill/>
          <a:ln w="25400">
            <a:solidFill>
              <a:srgbClr val="FF0000"/>
            </a:solidFill>
          </a:ln>
        </p:spPr>
        <p:txBody>
          <a:bodyPr wrap="square" rtlCol="0">
            <a:spAutoFit/>
          </a:bodyPr>
          <a:lstStyle/>
          <a:p>
            <a:r>
              <a:rPr lang="es-ES" sz="2800" dirty="0">
                <a:solidFill>
                  <a:srgbClr val="FF0000"/>
                </a:solidFill>
                <a:latin typeface="Arial" panose="020B0604020202020204" pitchFamily="34" charset="0"/>
                <a:cs typeface="Arial" panose="020B0604020202020204" pitchFamily="34" charset="0"/>
              </a:rPr>
              <a:t>X</a:t>
            </a:r>
            <a:r>
              <a:rPr lang="es-ES" sz="2800" baseline="-25000" dirty="0">
                <a:solidFill>
                  <a:srgbClr val="FF0000"/>
                </a:solidFill>
                <a:latin typeface="Arial" panose="020B0604020202020204" pitchFamily="34" charset="0"/>
                <a:cs typeface="Arial" panose="020B0604020202020204" pitchFamily="34" charset="0"/>
              </a:rPr>
              <a:t>1</a:t>
            </a:r>
            <a:r>
              <a:rPr lang="es-ES" sz="2800" dirty="0">
                <a:latin typeface="Arial" panose="020B0604020202020204" pitchFamily="34" charset="0"/>
                <a:cs typeface="Arial" panose="020B0604020202020204" pitchFamily="34" charset="0"/>
              </a:rPr>
              <a:t> </a:t>
            </a:r>
            <a:endParaRPr lang="es-ES" sz="2800" baseline="-25000" dirty="0">
              <a:latin typeface="Arial" panose="020B0604020202020204" pitchFamily="34" charset="0"/>
              <a:cs typeface="Arial" panose="020B0604020202020204" pitchFamily="34" charset="0"/>
            </a:endParaRPr>
          </a:p>
        </p:txBody>
      </p:sp>
      <p:cxnSp>
        <p:nvCxnSpPr>
          <p:cNvPr id="18" name="Conector recto de flecha 4">
            <a:extLst>
              <a:ext uri="{FF2B5EF4-FFF2-40B4-BE49-F238E27FC236}">
                <a16:creationId xmlns:a16="http://schemas.microsoft.com/office/drawing/2014/main" id="{3135BBE9-324A-7380-839B-E5598AA8F5F7}"/>
              </a:ext>
            </a:extLst>
          </p:cNvPr>
          <p:cNvCxnSpPr>
            <a:cxnSpLocks/>
            <a:stCxn id="7" idx="1"/>
          </p:cNvCxnSpPr>
          <p:nvPr/>
        </p:nvCxnSpPr>
        <p:spPr>
          <a:xfrm flipH="1">
            <a:off x="1991603" y="4065608"/>
            <a:ext cx="1724476" cy="1578876"/>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7" name="CuadroTexto 5">
            <a:extLst>
              <a:ext uri="{FF2B5EF4-FFF2-40B4-BE49-F238E27FC236}">
                <a16:creationId xmlns:a16="http://schemas.microsoft.com/office/drawing/2014/main" id="{297AB6BC-B02D-961C-CB04-A1F353515257}"/>
              </a:ext>
            </a:extLst>
          </p:cNvPr>
          <p:cNvSpPr txBox="1"/>
          <p:nvPr/>
        </p:nvSpPr>
        <p:spPr>
          <a:xfrm>
            <a:off x="3716079" y="3803998"/>
            <a:ext cx="655949" cy="523220"/>
          </a:xfrm>
          <a:prstGeom prst="rect">
            <a:avLst/>
          </a:prstGeom>
          <a:noFill/>
          <a:ln w="25400">
            <a:solidFill>
              <a:schemeClr val="tx1"/>
            </a:solidFill>
          </a:ln>
        </p:spPr>
        <p:txBody>
          <a:bodyPr wrap="none" rtlCol="0">
            <a:spAutoFit/>
          </a:bodyPr>
          <a:lstStyle/>
          <a:p>
            <a:r>
              <a:rPr lang="es-ES" sz="2800" dirty="0">
                <a:latin typeface="Arial" panose="020B0604020202020204" pitchFamily="34" charset="0"/>
                <a:cs typeface="Arial" panose="020B0604020202020204" pitchFamily="34" charset="0"/>
              </a:rPr>
              <a:t>X</a:t>
            </a:r>
            <a:r>
              <a:rPr lang="es-ES" sz="2800" baseline="-25000" dirty="0">
                <a:latin typeface="Arial" panose="020B0604020202020204" pitchFamily="34" charset="0"/>
                <a:cs typeface="Arial" panose="020B0604020202020204" pitchFamily="34" charset="0"/>
              </a:rPr>
              <a:t>2</a:t>
            </a:r>
            <a:r>
              <a:rPr lang="es-ES" sz="2800" dirty="0">
                <a:latin typeface="Arial" panose="020B0604020202020204" pitchFamily="34" charset="0"/>
                <a:cs typeface="Arial" panose="020B0604020202020204" pitchFamily="34" charset="0"/>
              </a:rPr>
              <a:t> </a:t>
            </a:r>
            <a:endParaRPr lang="es-ES" sz="2800" baseline="-25000" dirty="0">
              <a:latin typeface="Arial" panose="020B0604020202020204" pitchFamily="34" charset="0"/>
              <a:cs typeface="Arial" panose="020B0604020202020204" pitchFamily="34" charset="0"/>
            </a:endParaRPr>
          </a:p>
        </p:txBody>
      </p:sp>
      <p:cxnSp>
        <p:nvCxnSpPr>
          <p:cNvPr id="14" name="Conector recto de flecha 4">
            <a:extLst>
              <a:ext uri="{FF2B5EF4-FFF2-40B4-BE49-F238E27FC236}">
                <a16:creationId xmlns:a16="http://schemas.microsoft.com/office/drawing/2014/main" id="{B279F8B5-454C-F4EF-E821-8923CFF3E568}"/>
              </a:ext>
            </a:extLst>
          </p:cNvPr>
          <p:cNvCxnSpPr>
            <a:cxnSpLocks/>
            <a:stCxn id="7" idx="3"/>
          </p:cNvCxnSpPr>
          <p:nvPr/>
        </p:nvCxnSpPr>
        <p:spPr>
          <a:xfrm>
            <a:off x="4372028" y="4065608"/>
            <a:ext cx="1561278" cy="1578875"/>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7" name="Conector recto de flecha 4">
            <a:extLst>
              <a:ext uri="{FF2B5EF4-FFF2-40B4-BE49-F238E27FC236}">
                <a16:creationId xmlns:a16="http://schemas.microsoft.com/office/drawing/2014/main" id="{C035DB56-3ABF-4683-2124-F241438A9AA1}"/>
              </a:ext>
            </a:extLst>
          </p:cNvPr>
          <p:cNvCxnSpPr>
            <a:cxnSpLocks/>
            <a:stCxn id="3" idx="1"/>
          </p:cNvCxnSpPr>
          <p:nvPr/>
        </p:nvCxnSpPr>
        <p:spPr>
          <a:xfrm flipH="1">
            <a:off x="1335653" y="2525087"/>
            <a:ext cx="2380425" cy="3119396"/>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23" name="Conector recto de flecha 4">
            <a:extLst>
              <a:ext uri="{FF2B5EF4-FFF2-40B4-BE49-F238E27FC236}">
                <a16:creationId xmlns:a16="http://schemas.microsoft.com/office/drawing/2014/main" id="{EF96384F-E95C-D7B5-27CD-751317D75944}"/>
              </a:ext>
            </a:extLst>
          </p:cNvPr>
          <p:cNvCxnSpPr>
            <a:cxnSpLocks/>
            <a:stCxn id="3" idx="3"/>
            <a:endCxn id="24" idx="0"/>
          </p:cNvCxnSpPr>
          <p:nvPr/>
        </p:nvCxnSpPr>
        <p:spPr>
          <a:xfrm>
            <a:off x="4372027" y="2525087"/>
            <a:ext cx="1889255" cy="1278911"/>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24" name="CuadroTexto 5">
            <a:extLst>
              <a:ext uri="{FF2B5EF4-FFF2-40B4-BE49-F238E27FC236}">
                <a16:creationId xmlns:a16="http://schemas.microsoft.com/office/drawing/2014/main" id="{BD2874E1-AC8F-6DA5-62AA-60C6351CF9E8}"/>
              </a:ext>
            </a:extLst>
          </p:cNvPr>
          <p:cNvSpPr txBox="1"/>
          <p:nvPr/>
        </p:nvSpPr>
        <p:spPr>
          <a:xfrm>
            <a:off x="5933307" y="3803998"/>
            <a:ext cx="655949" cy="523220"/>
          </a:xfrm>
          <a:prstGeom prst="rect">
            <a:avLst/>
          </a:prstGeom>
          <a:noFill/>
          <a:ln w="25400">
            <a:solidFill>
              <a:schemeClr val="tx1"/>
            </a:solidFill>
          </a:ln>
        </p:spPr>
        <p:txBody>
          <a:bodyPr wrap="none" rtlCol="0">
            <a:spAutoFit/>
          </a:bodyPr>
          <a:lstStyle/>
          <a:p>
            <a:r>
              <a:rPr lang="es-ES" sz="2800" dirty="0">
                <a:latin typeface="Arial" panose="020B0604020202020204" pitchFamily="34" charset="0"/>
                <a:cs typeface="Arial" panose="020B0604020202020204" pitchFamily="34" charset="0"/>
              </a:rPr>
              <a:t>X</a:t>
            </a:r>
            <a:r>
              <a:rPr lang="es-ES" sz="2800" baseline="-25000" dirty="0">
                <a:latin typeface="Arial" panose="020B0604020202020204" pitchFamily="34" charset="0"/>
                <a:cs typeface="Arial" panose="020B0604020202020204" pitchFamily="34" charset="0"/>
              </a:rPr>
              <a:t>4</a:t>
            </a:r>
            <a:r>
              <a:rPr lang="es-ES" sz="2800" dirty="0">
                <a:latin typeface="Arial" panose="020B0604020202020204" pitchFamily="34" charset="0"/>
                <a:cs typeface="Arial" panose="020B0604020202020204" pitchFamily="34" charset="0"/>
              </a:rPr>
              <a:t> </a:t>
            </a:r>
            <a:endParaRPr lang="es-ES" sz="2800" baseline="-25000" dirty="0">
              <a:latin typeface="Arial" panose="020B0604020202020204" pitchFamily="34" charset="0"/>
              <a:cs typeface="Arial" panose="020B0604020202020204" pitchFamily="34" charset="0"/>
            </a:endParaRPr>
          </a:p>
        </p:txBody>
      </p:sp>
      <p:cxnSp>
        <p:nvCxnSpPr>
          <p:cNvPr id="28" name="Conector recto de flecha 4">
            <a:extLst>
              <a:ext uri="{FF2B5EF4-FFF2-40B4-BE49-F238E27FC236}">
                <a16:creationId xmlns:a16="http://schemas.microsoft.com/office/drawing/2014/main" id="{0A36A54C-5E6D-E458-AFA7-6D7CF467286D}"/>
              </a:ext>
            </a:extLst>
          </p:cNvPr>
          <p:cNvCxnSpPr>
            <a:cxnSpLocks/>
            <a:stCxn id="24" idx="2"/>
            <a:endCxn id="4" idx="0"/>
          </p:cNvCxnSpPr>
          <p:nvPr/>
        </p:nvCxnSpPr>
        <p:spPr>
          <a:xfrm>
            <a:off x="6261282" y="4327218"/>
            <a:ext cx="0" cy="1320271"/>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30" name="Conector recto de flecha 4">
            <a:extLst>
              <a:ext uri="{FF2B5EF4-FFF2-40B4-BE49-F238E27FC236}">
                <a16:creationId xmlns:a16="http://schemas.microsoft.com/office/drawing/2014/main" id="{8E1905C3-5182-C514-4D82-1A744ACEA003}"/>
              </a:ext>
            </a:extLst>
          </p:cNvPr>
          <p:cNvCxnSpPr>
            <a:cxnSpLocks/>
            <a:stCxn id="3" idx="2"/>
            <a:endCxn id="7" idx="0"/>
          </p:cNvCxnSpPr>
          <p:nvPr/>
        </p:nvCxnSpPr>
        <p:spPr>
          <a:xfrm>
            <a:off x="4044053" y="2786697"/>
            <a:ext cx="1" cy="1017301"/>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34" name="TextBox 33">
            <a:extLst>
              <a:ext uri="{FF2B5EF4-FFF2-40B4-BE49-F238E27FC236}">
                <a16:creationId xmlns:a16="http://schemas.microsoft.com/office/drawing/2014/main" id="{56AA7BB3-679D-FD59-CAA1-1F4C88051B51}"/>
              </a:ext>
            </a:extLst>
          </p:cNvPr>
          <p:cNvSpPr txBox="1"/>
          <p:nvPr/>
        </p:nvSpPr>
        <p:spPr>
          <a:xfrm>
            <a:off x="223268" y="365846"/>
            <a:ext cx="8307274" cy="830997"/>
          </a:xfrm>
          <a:prstGeom prst="rect">
            <a:avLst/>
          </a:prstGeom>
          <a:noFill/>
        </p:spPr>
        <p:txBody>
          <a:bodyPr wrap="square">
            <a:spAutoFit/>
          </a:bodyPr>
          <a:lstStyle/>
          <a:p>
            <a:r>
              <a:rPr lang="en-US" sz="2400" b="1" dirty="0"/>
              <a:t>How can we build a multiple regression model to estimate the causal effect of X₁ on Y?</a:t>
            </a:r>
          </a:p>
        </p:txBody>
      </p:sp>
      <p:sp>
        <p:nvSpPr>
          <p:cNvPr id="35" name="TextBox 34">
            <a:extLst>
              <a:ext uri="{FF2B5EF4-FFF2-40B4-BE49-F238E27FC236}">
                <a16:creationId xmlns:a16="http://schemas.microsoft.com/office/drawing/2014/main" id="{600A40E8-005B-0615-2B8E-A6BBB67E33DD}"/>
              </a:ext>
            </a:extLst>
          </p:cNvPr>
          <p:cNvSpPr txBox="1"/>
          <p:nvPr/>
        </p:nvSpPr>
        <p:spPr>
          <a:xfrm>
            <a:off x="223268" y="1399945"/>
            <a:ext cx="8191527" cy="461665"/>
          </a:xfrm>
          <a:prstGeom prst="rect">
            <a:avLst/>
          </a:prstGeom>
          <a:noFill/>
        </p:spPr>
        <p:txBody>
          <a:bodyPr wrap="square">
            <a:spAutoFit/>
          </a:bodyPr>
          <a:lstStyle/>
          <a:p>
            <a:r>
              <a:rPr lang="en-US" sz="2400" b="1" dirty="0"/>
              <a:t>Ask: </a:t>
            </a:r>
            <a:r>
              <a:rPr lang="en-US" sz="2400" dirty="0"/>
              <a:t>Which need to be closed to estimate effect of X</a:t>
            </a:r>
            <a:r>
              <a:rPr lang="en-US" sz="2400" baseline="-25000" dirty="0"/>
              <a:t>1</a:t>
            </a:r>
            <a:r>
              <a:rPr lang="en-US" sz="2400" dirty="0"/>
              <a:t> on Y?</a:t>
            </a:r>
          </a:p>
        </p:txBody>
      </p:sp>
    </p:spTree>
    <p:extLst>
      <p:ext uri="{BB962C8B-B14F-4D97-AF65-F5344CB8AC3E}">
        <p14:creationId xmlns:p14="http://schemas.microsoft.com/office/powerpoint/2010/main" val="1318080586"/>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Conector recto de flecha 4">
            <a:extLst>
              <a:ext uri="{FF2B5EF4-FFF2-40B4-BE49-F238E27FC236}">
                <a16:creationId xmlns:a16="http://schemas.microsoft.com/office/drawing/2014/main" id="{203C3CE7-636D-9AC6-0BC4-D9009AE08C47}"/>
              </a:ext>
            </a:extLst>
          </p:cNvPr>
          <p:cNvCxnSpPr>
            <a:cxnSpLocks/>
            <a:stCxn id="7" idx="3"/>
            <a:endCxn id="6" idx="1"/>
          </p:cNvCxnSpPr>
          <p:nvPr/>
        </p:nvCxnSpPr>
        <p:spPr>
          <a:xfrm>
            <a:off x="1991602" y="4575006"/>
            <a:ext cx="3941704" cy="3005"/>
          </a:xfrm>
          <a:prstGeom prst="straightConnector1">
            <a:avLst/>
          </a:prstGeom>
          <a:ln w="25400">
            <a:solidFill>
              <a:srgbClr val="FF0000"/>
            </a:solidFill>
            <a:tailEnd type="triangle" w="lg" len="lg"/>
          </a:ln>
        </p:spPr>
        <p:style>
          <a:lnRef idx="1">
            <a:schemeClr val="accent1"/>
          </a:lnRef>
          <a:fillRef idx="0">
            <a:schemeClr val="accent1"/>
          </a:fillRef>
          <a:effectRef idx="0">
            <a:schemeClr val="accent1"/>
          </a:effectRef>
          <a:fontRef idx="minor">
            <a:schemeClr val="tx1"/>
          </a:fontRef>
        </p:style>
      </p:cxnSp>
      <p:sp>
        <p:nvSpPr>
          <p:cNvPr id="5" name="CuadroTexto 5">
            <a:extLst>
              <a:ext uri="{FF2B5EF4-FFF2-40B4-BE49-F238E27FC236}">
                <a16:creationId xmlns:a16="http://schemas.microsoft.com/office/drawing/2014/main" id="{FDFA36CE-EEDC-A33F-C96C-DF1AF3CFA9EC}"/>
              </a:ext>
            </a:extLst>
          </p:cNvPr>
          <p:cNvSpPr txBox="1"/>
          <p:nvPr/>
        </p:nvSpPr>
        <p:spPr>
          <a:xfrm>
            <a:off x="1335653" y="2351251"/>
            <a:ext cx="655949" cy="523220"/>
          </a:xfrm>
          <a:prstGeom prst="rect">
            <a:avLst/>
          </a:prstGeom>
          <a:noFill/>
          <a:ln w="25400">
            <a:solidFill>
              <a:schemeClr val="tx1"/>
            </a:solidFill>
          </a:ln>
        </p:spPr>
        <p:txBody>
          <a:bodyPr wrap="none" rtlCol="0">
            <a:spAutoFit/>
          </a:bodyPr>
          <a:lstStyle/>
          <a:p>
            <a:r>
              <a:rPr lang="es-ES" sz="2800" dirty="0">
                <a:latin typeface="Arial" panose="020B0604020202020204" pitchFamily="34" charset="0"/>
                <a:cs typeface="Arial" panose="020B0604020202020204" pitchFamily="34" charset="0"/>
              </a:rPr>
              <a:t>X</a:t>
            </a:r>
            <a:r>
              <a:rPr lang="es-ES" sz="2800" baseline="-25000" dirty="0">
                <a:latin typeface="Arial" panose="020B0604020202020204" pitchFamily="34" charset="0"/>
                <a:cs typeface="Arial" panose="020B0604020202020204" pitchFamily="34" charset="0"/>
              </a:rPr>
              <a:t>3</a:t>
            </a:r>
            <a:r>
              <a:rPr lang="es-ES" sz="2800" dirty="0">
                <a:latin typeface="Arial" panose="020B0604020202020204" pitchFamily="34" charset="0"/>
                <a:cs typeface="Arial" panose="020B0604020202020204" pitchFamily="34" charset="0"/>
              </a:rPr>
              <a:t> </a:t>
            </a:r>
            <a:endParaRPr lang="es-ES" sz="2800" baseline="-25000" dirty="0">
              <a:latin typeface="Arial" panose="020B0604020202020204" pitchFamily="34" charset="0"/>
              <a:cs typeface="Arial" panose="020B0604020202020204" pitchFamily="34" charset="0"/>
            </a:endParaRPr>
          </a:p>
        </p:txBody>
      </p:sp>
      <p:sp>
        <p:nvSpPr>
          <p:cNvPr id="6" name="CuadroTexto 5">
            <a:extLst>
              <a:ext uri="{FF2B5EF4-FFF2-40B4-BE49-F238E27FC236}">
                <a16:creationId xmlns:a16="http://schemas.microsoft.com/office/drawing/2014/main" id="{C14E6087-63CA-B52A-5F1F-9C548B5685A1}"/>
              </a:ext>
            </a:extLst>
          </p:cNvPr>
          <p:cNvSpPr txBox="1"/>
          <p:nvPr/>
        </p:nvSpPr>
        <p:spPr>
          <a:xfrm>
            <a:off x="5933306" y="4316401"/>
            <a:ext cx="655949" cy="523220"/>
          </a:xfrm>
          <a:prstGeom prst="rect">
            <a:avLst/>
          </a:prstGeom>
          <a:noFill/>
          <a:ln w="25400">
            <a:solidFill>
              <a:srgbClr val="FF0000"/>
            </a:solidFill>
          </a:ln>
        </p:spPr>
        <p:txBody>
          <a:bodyPr wrap="square" rtlCol="0">
            <a:spAutoFit/>
          </a:bodyPr>
          <a:lstStyle/>
          <a:p>
            <a:r>
              <a:rPr lang="es-ES" sz="2800" dirty="0">
                <a:solidFill>
                  <a:srgbClr val="FF0000"/>
                </a:solidFill>
                <a:latin typeface="Arial" panose="020B0604020202020204" pitchFamily="34" charset="0"/>
                <a:cs typeface="Arial" panose="020B0604020202020204" pitchFamily="34" charset="0"/>
              </a:rPr>
              <a:t>Y</a:t>
            </a:r>
            <a:endParaRPr lang="es-ES" sz="2800" baseline="-25000" dirty="0">
              <a:latin typeface="Arial" panose="020B0604020202020204" pitchFamily="34" charset="0"/>
              <a:cs typeface="Arial" panose="020B0604020202020204" pitchFamily="34" charset="0"/>
            </a:endParaRPr>
          </a:p>
        </p:txBody>
      </p:sp>
      <p:sp>
        <p:nvSpPr>
          <p:cNvPr id="7" name="CuadroTexto 5">
            <a:extLst>
              <a:ext uri="{FF2B5EF4-FFF2-40B4-BE49-F238E27FC236}">
                <a16:creationId xmlns:a16="http://schemas.microsoft.com/office/drawing/2014/main" id="{5EE88AE0-DA67-C036-9AD5-D44EC92F8BBB}"/>
              </a:ext>
            </a:extLst>
          </p:cNvPr>
          <p:cNvSpPr txBox="1"/>
          <p:nvPr/>
        </p:nvSpPr>
        <p:spPr>
          <a:xfrm>
            <a:off x="1335653" y="4313396"/>
            <a:ext cx="655949" cy="523220"/>
          </a:xfrm>
          <a:prstGeom prst="rect">
            <a:avLst/>
          </a:prstGeom>
          <a:noFill/>
          <a:ln w="25400">
            <a:solidFill>
              <a:srgbClr val="FF0000"/>
            </a:solidFill>
          </a:ln>
        </p:spPr>
        <p:txBody>
          <a:bodyPr wrap="square" rtlCol="0">
            <a:spAutoFit/>
          </a:bodyPr>
          <a:lstStyle/>
          <a:p>
            <a:r>
              <a:rPr lang="es-ES" sz="2800" dirty="0">
                <a:solidFill>
                  <a:srgbClr val="FF0000"/>
                </a:solidFill>
                <a:latin typeface="Arial" panose="020B0604020202020204" pitchFamily="34" charset="0"/>
                <a:cs typeface="Arial" panose="020B0604020202020204" pitchFamily="34" charset="0"/>
              </a:rPr>
              <a:t>X</a:t>
            </a:r>
            <a:r>
              <a:rPr lang="es-ES" sz="2800" baseline="-25000" dirty="0">
                <a:solidFill>
                  <a:srgbClr val="FF0000"/>
                </a:solidFill>
                <a:latin typeface="Arial" panose="020B0604020202020204" pitchFamily="34" charset="0"/>
                <a:cs typeface="Arial" panose="020B0604020202020204" pitchFamily="34" charset="0"/>
              </a:rPr>
              <a:t>1</a:t>
            </a:r>
            <a:r>
              <a:rPr lang="es-ES" sz="2800" dirty="0">
                <a:latin typeface="Arial" panose="020B0604020202020204" pitchFamily="34" charset="0"/>
                <a:cs typeface="Arial" panose="020B0604020202020204" pitchFamily="34" charset="0"/>
              </a:rPr>
              <a:t> </a:t>
            </a:r>
            <a:endParaRPr lang="es-ES" sz="2800" baseline="-25000" dirty="0">
              <a:latin typeface="Arial" panose="020B0604020202020204" pitchFamily="34" charset="0"/>
              <a:cs typeface="Arial" panose="020B0604020202020204" pitchFamily="34" charset="0"/>
            </a:endParaRPr>
          </a:p>
        </p:txBody>
      </p:sp>
      <p:sp>
        <p:nvSpPr>
          <p:cNvPr id="9" name="CuadroTexto 5">
            <a:extLst>
              <a:ext uri="{FF2B5EF4-FFF2-40B4-BE49-F238E27FC236}">
                <a16:creationId xmlns:a16="http://schemas.microsoft.com/office/drawing/2014/main" id="{90A7479A-4A5F-FD21-DAE4-02E9D242A197}"/>
              </a:ext>
            </a:extLst>
          </p:cNvPr>
          <p:cNvSpPr txBox="1"/>
          <p:nvPr/>
        </p:nvSpPr>
        <p:spPr>
          <a:xfrm>
            <a:off x="3634480" y="2348625"/>
            <a:ext cx="655949" cy="523220"/>
          </a:xfrm>
          <a:prstGeom prst="rect">
            <a:avLst/>
          </a:prstGeom>
          <a:noFill/>
          <a:ln w="25400">
            <a:solidFill>
              <a:schemeClr val="tx1"/>
            </a:solidFill>
          </a:ln>
        </p:spPr>
        <p:txBody>
          <a:bodyPr wrap="none" rtlCol="0">
            <a:spAutoFit/>
          </a:bodyPr>
          <a:lstStyle/>
          <a:p>
            <a:r>
              <a:rPr lang="es-ES" sz="2800" dirty="0">
                <a:latin typeface="Arial" panose="020B0604020202020204" pitchFamily="34" charset="0"/>
                <a:cs typeface="Arial" panose="020B0604020202020204" pitchFamily="34" charset="0"/>
              </a:rPr>
              <a:t>X</a:t>
            </a:r>
            <a:r>
              <a:rPr lang="es-ES" sz="2800" baseline="-25000" dirty="0">
                <a:latin typeface="Arial" panose="020B0604020202020204" pitchFamily="34" charset="0"/>
                <a:cs typeface="Arial" panose="020B0604020202020204" pitchFamily="34" charset="0"/>
              </a:rPr>
              <a:t>2</a:t>
            </a:r>
            <a:r>
              <a:rPr lang="es-ES" sz="2800" dirty="0">
                <a:latin typeface="Arial" panose="020B0604020202020204" pitchFamily="34" charset="0"/>
                <a:cs typeface="Arial" panose="020B0604020202020204" pitchFamily="34" charset="0"/>
              </a:rPr>
              <a:t> </a:t>
            </a:r>
            <a:endParaRPr lang="es-ES" sz="2800" baseline="-25000" dirty="0">
              <a:latin typeface="Arial" panose="020B0604020202020204" pitchFamily="34" charset="0"/>
              <a:cs typeface="Arial" panose="020B0604020202020204" pitchFamily="34" charset="0"/>
            </a:endParaRPr>
          </a:p>
        </p:txBody>
      </p:sp>
      <p:sp>
        <p:nvSpPr>
          <p:cNvPr id="13" name="CuadroTexto 5">
            <a:extLst>
              <a:ext uri="{FF2B5EF4-FFF2-40B4-BE49-F238E27FC236}">
                <a16:creationId xmlns:a16="http://schemas.microsoft.com/office/drawing/2014/main" id="{BC6CB1F1-675B-F271-E1DC-6174263D1251}"/>
              </a:ext>
            </a:extLst>
          </p:cNvPr>
          <p:cNvSpPr txBox="1"/>
          <p:nvPr/>
        </p:nvSpPr>
        <p:spPr>
          <a:xfrm>
            <a:off x="5933307" y="2348625"/>
            <a:ext cx="655949" cy="523220"/>
          </a:xfrm>
          <a:prstGeom prst="rect">
            <a:avLst/>
          </a:prstGeom>
          <a:noFill/>
          <a:ln w="25400">
            <a:solidFill>
              <a:schemeClr val="tx1"/>
            </a:solidFill>
          </a:ln>
        </p:spPr>
        <p:txBody>
          <a:bodyPr wrap="none" rtlCol="0">
            <a:spAutoFit/>
          </a:bodyPr>
          <a:lstStyle/>
          <a:p>
            <a:r>
              <a:rPr lang="es-ES" sz="2800" dirty="0">
                <a:latin typeface="Arial" panose="020B0604020202020204" pitchFamily="34" charset="0"/>
                <a:cs typeface="Arial" panose="020B0604020202020204" pitchFamily="34" charset="0"/>
              </a:rPr>
              <a:t>X</a:t>
            </a:r>
            <a:r>
              <a:rPr lang="es-ES" sz="2800" baseline="-25000" dirty="0">
                <a:latin typeface="Arial" panose="020B0604020202020204" pitchFamily="34" charset="0"/>
                <a:cs typeface="Arial" panose="020B0604020202020204" pitchFamily="34" charset="0"/>
              </a:rPr>
              <a:t>4</a:t>
            </a:r>
            <a:r>
              <a:rPr lang="es-ES" sz="2800" dirty="0">
                <a:latin typeface="Arial" panose="020B0604020202020204" pitchFamily="34" charset="0"/>
                <a:cs typeface="Arial" panose="020B0604020202020204" pitchFamily="34" charset="0"/>
              </a:rPr>
              <a:t> </a:t>
            </a:r>
            <a:endParaRPr lang="es-ES" sz="2800" baseline="-25000" dirty="0">
              <a:latin typeface="Arial" panose="020B0604020202020204" pitchFamily="34" charset="0"/>
              <a:cs typeface="Arial" panose="020B0604020202020204" pitchFamily="34" charset="0"/>
            </a:endParaRPr>
          </a:p>
        </p:txBody>
      </p:sp>
      <p:cxnSp>
        <p:nvCxnSpPr>
          <p:cNvPr id="14" name="Conector recto de flecha 4">
            <a:extLst>
              <a:ext uri="{FF2B5EF4-FFF2-40B4-BE49-F238E27FC236}">
                <a16:creationId xmlns:a16="http://schemas.microsoft.com/office/drawing/2014/main" id="{C4547512-59F4-04CF-19FC-4A83FBBA89D4}"/>
              </a:ext>
            </a:extLst>
          </p:cNvPr>
          <p:cNvCxnSpPr>
            <a:cxnSpLocks/>
            <a:stCxn id="5" idx="3"/>
            <a:endCxn id="9" idx="1"/>
          </p:cNvCxnSpPr>
          <p:nvPr/>
        </p:nvCxnSpPr>
        <p:spPr>
          <a:xfrm flipV="1">
            <a:off x="1991602" y="2610235"/>
            <a:ext cx="1642878" cy="2626"/>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B7EACD47-A1BC-644B-D750-0002C7E662DA}"/>
              </a:ext>
            </a:extLst>
          </p:cNvPr>
          <p:cNvSpPr txBox="1"/>
          <p:nvPr/>
        </p:nvSpPr>
        <p:spPr>
          <a:xfrm>
            <a:off x="223268" y="365846"/>
            <a:ext cx="8307274" cy="830997"/>
          </a:xfrm>
          <a:prstGeom prst="rect">
            <a:avLst/>
          </a:prstGeom>
          <a:noFill/>
        </p:spPr>
        <p:txBody>
          <a:bodyPr wrap="square">
            <a:spAutoFit/>
          </a:bodyPr>
          <a:lstStyle/>
          <a:p>
            <a:r>
              <a:rPr lang="en-US" sz="2400" b="1" dirty="0"/>
              <a:t>How can we build a multiple regression model to estimate the causal effect of X₁ on Y?</a:t>
            </a:r>
          </a:p>
        </p:txBody>
      </p:sp>
      <p:sp>
        <p:nvSpPr>
          <p:cNvPr id="17" name="TextBox 16">
            <a:extLst>
              <a:ext uri="{FF2B5EF4-FFF2-40B4-BE49-F238E27FC236}">
                <a16:creationId xmlns:a16="http://schemas.microsoft.com/office/drawing/2014/main" id="{B9B2711B-03E0-FB40-9E71-9C6079279E70}"/>
              </a:ext>
            </a:extLst>
          </p:cNvPr>
          <p:cNvSpPr txBox="1"/>
          <p:nvPr/>
        </p:nvSpPr>
        <p:spPr>
          <a:xfrm>
            <a:off x="223268" y="1399945"/>
            <a:ext cx="8191527" cy="461665"/>
          </a:xfrm>
          <a:prstGeom prst="rect">
            <a:avLst/>
          </a:prstGeom>
          <a:noFill/>
        </p:spPr>
        <p:txBody>
          <a:bodyPr wrap="square">
            <a:spAutoFit/>
          </a:bodyPr>
          <a:lstStyle/>
          <a:p>
            <a:r>
              <a:rPr lang="en-US" sz="2400" b="1" dirty="0"/>
              <a:t>Ask: </a:t>
            </a:r>
            <a:r>
              <a:rPr lang="en-US" sz="2400" dirty="0"/>
              <a:t>Which need to be closed to estimate effect of X</a:t>
            </a:r>
            <a:r>
              <a:rPr lang="en-US" sz="2400" baseline="-25000" dirty="0"/>
              <a:t>1</a:t>
            </a:r>
            <a:r>
              <a:rPr lang="en-US" sz="2400" dirty="0"/>
              <a:t> on Y?</a:t>
            </a:r>
          </a:p>
        </p:txBody>
      </p:sp>
      <p:cxnSp>
        <p:nvCxnSpPr>
          <p:cNvPr id="27" name="Conector recto de flecha 4">
            <a:extLst>
              <a:ext uri="{FF2B5EF4-FFF2-40B4-BE49-F238E27FC236}">
                <a16:creationId xmlns:a16="http://schemas.microsoft.com/office/drawing/2014/main" id="{9ABA2ABF-2247-E09C-5DEB-2F014199563B}"/>
              </a:ext>
            </a:extLst>
          </p:cNvPr>
          <p:cNvCxnSpPr>
            <a:cxnSpLocks/>
            <a:stCxn id="13" idx="1"/>
            <a:endCxn id="9" idx="3"/>
          </p:cNvCxnSpPr>
          <p:nvPr/>
        </p:nvCxnSpPr>
        <p:spPr>
          <a:xfrm flipH="1">
            <a:off x="4290429" y="2610235"/>
            <a:ext cx="1642878" cy="0"/>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30" name="Conector recto de flecha 4">
            <a:extLst>
              <a:ext uri="{FF2B5EF4-FFF2-40B4-BE49-F238E27FC236}">
                <a16:creationId xmlns:a16="http://schemas.microsoft.com/office/drawing/2014/main" id="{02B2D2E2-F3D0-FE20-51C6-73DEFEBD5184}"/>
              </a:ext>
            </a:extLst>
          </p:cNvPr>
          <p:cNvCxnSpPr>
            <a:cxnSpLocks/>
            <a:stCxn id="5" idx="2"/>
            <a:endCxn id="7" idx="0"/>
          </p:cNvCxnSpPr>
          <p:nvPr/>
        </p:nvCxnSpPr>
        <p:spPr>
          <a:xfrm>
            <a:off x="1663628" y="2874471"/>
            <a:ext cx="0" cy="1438925"/>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33" name="Conector recto de flecha 4">
            <a:extLst>
              <a:ext uri="{FF2B5EF4-FFF2-40B4-BE49-F238E27FC236}">
                <a16:creationId xmlns:a16="http://schemas.microsoft.com/office/drawing/2014/main" id="{2778463C-19E0-2FD8-AB35-51913C36F62D}"/>
              </a:ext>
            </a:extLst>
          </p:cNvPr>
          <p:cNvCxnSpPr>
            <a:cxnSpLocks/>
          </p:cNvCxnSpPr>
          <p:nvPr/>
        </p:nvCxnSpPr>
        <p:spPr>
          <a:xfrm>
            <a:off x="6261280" y="2871845"/>
            <a:ext cx="0" cy="1438925"/>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34" name="Conector recto de flecha 4">
            <a:extLst>
              <a:ext uri="{FF2B5EF4-FFF2-40B4-BE49-F238E27FC236}">
                <a16:creationId xmlns:a16="http://schemas.microsoft.com/office/drawing/2014/main" id="{E9EA163F-C411-788A-D839-6B9DD12083EA}"/>
              </a:ext>
            </a:extLst>
          </p:cNvPr>
          <p:cNvCxnSpPr>
            <a:cxnSpLocks/>
          </p:cNvCxnSpPr>
          <p:nvPr/>
        </p:nvCxnSpPr>
        <p:spPr>
          <a:xfrm flipH="1">
            <a:off x="1991602" y="2871845"/>
            <a:ext cx="1642878" cy="1438925"/>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37" name="Conector recto de flecha 4">
            <a:extLst>
              <a:ext uri="{FF2B5EF4-FFF2-40B4-BE49-F238E27FC236}">
                <a16:creationId xmlns:a16="http://schemas.microsoft.com/office/drawing/2014/main" id="{ED670FED-9914-DE2A-F585-AC771447B904}"/>
              </a:ext>
            </a:extLst>
          </p:cNvPr>
          <p:cNvCxnSpPr>
            <a:cxnSpLocks/>
          </p:cNvCxnSpPr>
          <p:nvPr/>
        </p:nvCxnSpPr>
        <p:spPr>
          <a:xfrm>
            <a:off x="4290428" y="2877476"/>
            <a:ext cx="1641375" cy="1433294"/>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40" name="CuadroTexto 5">
            <a:extLst>
              <a:ext uri="{FF2B5EF4-FFF2-40B4-BE49-F238E27FC236}">
                <a16:creationId xmlns:a16="http://schemas.microsoft.com/office/drawing/2014/main" id="{530A6D9F-FD3A-A23E-E020-96409D211350}"/>
              </a:ext>
            </a:extLst>
          </p:cNvPr>
          <p:cNvSpPr txBox="1"/>
          <p:nvPr/>
        </p:nvSpPr>
        <p:spPr>
          <a:xfrm>
            <a:off x="3634479" y="5621694"/>
            <a:ext cx="655949" cy="523220"/>
          </a:xfrm>
          <a:prstGeom prst="rect">
            <a:avLst/>
          </a:prstGeom>
          <a:noFill/>
          <a:ln w="25400">
            <a:solidFill>
              <a:schemeClr val="tx1"/>
            </a:solidFill>
          </a:ln>
        </p:spPr>
        <p:txBody>
          <a:bodyPr wrap="none" rtlCol="0">
            <a:spAutoFit/>
          </a:bodyPr>
          <a:lstStyle/>
          <a:p>
            <a:r>
              <a:rPr lang="es-ES" sz="2800" dirty="0">
                <a:latin typeface="Arial" panose="020B0604020202020204" pitchFamily="34" charset="0"/>
                <a:cs typeface="Arial" panose="020B0604020202020204" pitchFamily="34" charset="0"/>
              </a:rPr>
              <a:t>X</a:t>
            </a:r>
            <a:r>
              <a:rPr lang="es-ES" sz="2800" baseline="-25000" dirty="0">
                <a:latin typeface="Arial" panose="020B0604020202020204" pitchFamily="34" charset="0"/>
                <a:cs typeface="Arial" panose="020B0604020202020204" pitchFamily="34" charset="0"/>
              </a:rPr>
              <a:t>5</a:t>
            </a:r>
            <a:r>
              <a:rPr lang="es-ES" sz="2800" dirty="0">
                <a:latin typeface="Arial" panose="020B0604020202020204" pitchFamily="34" charset="0"/>
                <a:cs typeface="Arial" panose="020B0604020202020204" pitchFamily="34" charset="0"/>
              </a:rPr>
              <a:t> </a:t>
            </a:r>
            <a:endParaRPr lang="es-ES" sz="2800" baseline="-25000" dirty="0">
              <a:latin typeface="Arial" panose="020B0604020202020204" pitchFamily="34" charset="0"/>
              <a:cs typeface="Arial" panose="020B0604020202020204" pitchFamily="34" charset="0"/>
            </a:endParaRPr>
          </a:p>
        </p:txBody>
      </p:sp>
      <p:cxnSp>
        <p:nvCxnSpPr>
          <p:cNvPr id="41" name="Conector recto de flecha 4">
            <a:extLst>
              <a:ext uri="{FF2B5EF4-FFF2-40B4-BE49-F238E27FC236}">
                <a16:creationId xmlns:a16="http://schemas.microsoft.com/office/drawing/2014/main" id="{EA7EF18B-5690-FD0F-E8E4-BE51D9245568}"/>
              </a:ext>
            </a:extLst>
          </p:cNvPr>
          <p:cNvCxnSpPr>
            <a:cxnSpLocks/>
            <a:stCxn id="40" idx="1"/>
            <a:endCxn id="7" idx="2"/>
          </p:cNvCxnSpPr>
          <p:nvPr/>
        </p:nvCxnSpPr>
        <p:spPr>
          <a:xfrm flipH="1" flipV="1">
            <a:off x="1663628" y="4836616"/>
            <a:ext cx="1970851" cy="1046688"/>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44" name="Conector recto de flecha 4">
            <a:extLst>
              <a:ext uri="{FF2B5EF4-FFF2-40B4-BE49-F238E27FC236}">
                <a16:creationId xmlns:a16="http://schemas.microsoft.com/office/drawing/2014/main" id="{845F7918-BD01-B599-490A-FF2897CFA0C0}"/>
              </a:ext>
            </a:extLst>
          </p:cNvPr>
          <p:cNvCxnSpPr>
            <a:cxnSpLocks/>
            <a:stCxn id="40" idx="3"/>
            <a:endCxn id="6" idx="2"/>
          </p:cNvCxnSpPr>
          <p:nvPr/>
        </p:nvCxnSpPr>
        <p:spPr>
          <a:xfrm flipV="1">
            <a:off x="4290428" y="4839621"/>
            <a:ext cx="1970853" cy="1043683"/>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36278312"/>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A1882E23-2236-8478-2CB4-CE9D240ECC52}"/>
              </a:ext>
            </a:extLst>
          </p:cNvPr>
          <p:cNvSpPr txBox="1"/>
          <p:nvPr/>
        </p:nvSpPr>
        <p:spPr>
          <a:xfrm>
            <a:off x="619570" y="600040"/>
            <a:ext cx="7419174" cy="3347840"/>
          </a:xfrm>
          <a:prstGeom prst="rect">
            <a:avLst/>
          </a:prstGeom>
          <a:noFill/>
        </p:spPr>
        <p:txBody>
          <a:bodyPr wrap="square">
            <a:spAutoFit/>
          </a:bodyPr>
          <a:lstStyle/>
          <a:p>
            <a:pPr>
              <a:lnSpc>
                <a:spcPct val="150000"/>
              </a:lnSpc>
            </a:pPr>
            <a:r>
              <a:rPr lang="en-US" sz="2000" b="1" dirty="0">
                <a:latin typeface="Arial" panose="020B0604020202020204" pitchFamily="34" charset="0"/>
                <a:cs typeface="Arial" panose="020B0604020202020204" pitchFamily="34" charset="0"/>
              </a:rPr>
              <a:t>Why is the d-Sep test performed on a DAG?</a:t>
            </a:r>
          </a:p>
          <a:p>
            <a:pPr>
              <a:lnSpc>
                <a:spcPct val="150000"/>
              </a:lnSpc>
            </a:pPr>
            <a:endParaRPr lang="en-US" sz="2000" dirty="0">
              <a:latin typeface="Arial" panose="020B0604020202020204" pitchFamily="34" charset="0"/>
              <a:cs typeface="Arial" panose="020B0604020202020204" pitchFamily="34" charset="0"/>
            </a:endParaRPr>
          </a:p>
          <a:p>
            <a:pPr marL="342900" indent="-342900">
              <a:lnSpc>
                <a:spcPct val="150000"/>
              </a:lnSpc>
              <a:buFont typeface="Arial" panose="020B0604020202020204" pitchFamily="34" charset="0"/>
              <a:buChar char="•"/>
            </a:pPr>
            <a:r>
              <a:rPr lang="en-US" sz="2000" dirty="0">
                <a:latin typeface="Arial" panose="020B0604020202020204" pitchFamily="34" charset="0"/>
                <a:cs typeface="Arial" panose="020B0604020202020204" pitchFamily="34" charset="0"/>
              </a:rPr>
              <a:t>The d-</a:t>
            </a:r>
            <a:r>
              <a:rPr lang="en-US" sz="2000" dirty="0" err="1">
                <a:latin typeface="Arial" panose="020B0604020202020204" pitchFamily="34" charset="0"/>
                <a:cs typeface="Arial" panose="020B0604020202020204" pitchFamily="34" charset="0"/>
              </a:rPr>
              <a:t>sep</a:t>
            </a:r>
            <a:r>
              <a:rPr lang="en-US" sz="2000" dirty="0">
                <a:latin typeface="Arial" panose="020B0604020202020204" pitchFamily="34" charset="0"/>
                <a:cs typeface="Arial" panose="020B0604020202020204" pitchFamily="34" charset="0"/>
              </a:rPr>
              <a:t> test is designed to tell us whether we should retain the proposed DAG or not. If the DAG is rejected, we stop there and conclude that the data were not generated according to our </a:t>
            </a:r>
            <a:r>
              <a:rPr lang="en-US" sz="2000" dirty="0" err="1">
                <a:latin typeface="Arial" panose="020B0604020202020204" pitchFamily="34" charset="0"/>
                <a:cs typeface="Arial" panose="020B0604020202020204" pitchFamily="34" charset="0"/>
              </a:rPr>
              <a:t>hypothesised</a:t>
            </a:r>
            <a:r>
              <a:rPr lang="en-US" sz="2000" dirty="0">
                <a:latin typeface="Arial" panose="020B0604020202020204" pitchFamily="34" charset="0"/>
                <a:cs typeface="Arial" panose="020B0604020202020204" pitchFamily="34" charset="0"/>
              </a:rPr>
              <a:t> causal model.</a:t>
            </a:r>
            <a:br>
              <a:rPr lang="en-US" sz="2400" dirty="0">
                <a:latin typeface="Arial" panose="020B0604020202020204" pitchFamily="34" charset="0"/>
                <a:cs typeface="Arial" panose="020B0604020202020204" pitchFamily="34" charset="0"/>
              </a:rPr>
            </a:br>
            <a:endParaRPr 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137578268"/>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6C25DE-3E4F-1935-EB30-8009DE857271}"/>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7E81CB1D-D373-384F-EF41-26FE15878B91}"/>
              </a:ext>
            </a:extLst>
          </p:cNvPr>
          <p:cNvSpPr txBox="1"/>
          <p:nvPr/>
        </p:nvSpPr>
        <p:spPr>
          <a:xfrm>
            <a:off x="476250" y="961659"/>
            <a:ext cx="7739743" cy="2308324"/>
          </a:xfrm>
          <a:prstGeom prst="rect">
            <a:avLst/>
          </a:prstGeom>
          <a:noFill/>
        </p:spPr>
        <p:txBody>
          <a:bodyPr wrap="square">
            <a:spAutoFit/>
          </a:bodyPr>
          <a:lstStyle/>
          <a:p>
            <a:r>
              <a:rPr lang="en-US" dirty="0">
                <a:latin typeface="Arial" panose="020B0604020202020204" pitchFamily="34" charset="0"/>
                <a:cs typeface="Arial" panose="020B0604020202020204" pitchFamily="34" charset="0"/>
              </a:rPr>
              <a:t>The null hypothesis: </a:t>
            </a:r>
          </a:p>
          <a:p>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a:t>
            </a:r>
            <a:r>
              <a:rPr lang="en-US" dirty="0" err="1">
                <a:latin typeface="Arial" panose="020B0604020202020204" pitchFamily="34" charset="0"/>
                <a:cs typeface="Arial" panose="020B0604020202020204" pitchFamily="34" charset="0"/>
              </a:rPr>
              <a:t>i</a:t>
            </a:r>
            <a:r>
              <a:rPr lang="en-US" dirty="0">
                <a:latin typeface="Arial" panose="020B0604020202020204" pitchFamily="34" charset="0"/>
                <a:cs typeface="Arial" panose="020B0604020202020204" pitchFamily="34" charset="0"/>
              </a:rPr>
              <a:t>). The observed data were generated by the hypothesized DAG.</a:t>
            </a:r>
          </a:p>
          <a:p>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(ii). Each of the predicted d-separation claims in the DAG are true.</a:t>
            </a:r>
          </a:p>
          <a:p>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If the null hypothesis is true, the the </a:t>
            </a:r>
            <a:r>
              <a:rPr lang="en-US" i="1" dirty="0">
                <a:latin typeface="Arial" panose="020B0604020202020204" pitchFamily="34" charset="0"/>
                <a:cs typeface="Arial" panose="020B0604020202020204" pitchFamily="34" charset="0"/>
              </a:rPr>
              <a:t>C</a:t>
            </a:r>
            <a:r>
              <a:rPr lang="en-US" dirty="0">
                <a:latin typeface="Arial" panose="020B0604020202020204" pitchFamily="34" charset="0"/>
                <a:cs typeface="Arial" panose="020B0604020202020204" pitchFamily="34" charset="0"/>
              </a:rPr>
              <a:t> statistic will not be unusually large and the null probability will not be unusually small </a:t>
            </a:r>
          </a:p>
        </p:txBody>
      </p:sp>
      <p:sp>
        <p:nvSpPr>
          <p:cNvPr id="4" name="TextBox 3">
            <a:extLst>
              <a:ext uri="{FF2B5EF4-FFF2-40B4-BE49-F238E27FC236}">
                <a16:creationId xmlns:a16="http://schemas.microsoft.com/office/drawing/2014/main" id="{C60F2201-5ABD-AA4F-637D-400B8B91ABFE}"/>
              </a:ext>
            </a:extLst>
          </p:cNvPr>
          <p:cNvSpPr txBox="1"/>
          <p:nvPr/>
        </p:nvSpPr>
        <p:spPr>
          <a:xfrm>
            <a:off x="476249" y="3429000"/>
            <a:ext cx="7887821" cy="646331"/>
          </a:xfrm>
          <a:prstGeom prst="rect">
            <a:avLst/>
          </a:prstGeom>
          <a:noFill/>
        </p:spPr>
        <p:txBody>
          <a:bodyPr wrap="square">
            <a:spAutoFit/>
          </a:bodyPr>
          <a:lstStyle/>
          <a:p>
            <a:pPr marL="285750" indent="-285750">
              <a:buFont typeface="Arial" panose="020B0604020202020204" pitchFamily="34" charset="0"/>
              <a:buChar char="•"/>
            </a:pPr>
            <a:r>
              <a:rPr lang="en-US" dirty="0">
                <a:latin typeface="Arial" panose="020B0604020202020204" pitchFamily="34" charset="0"/>
                <a:cs typeface="Arial" panose="020B0604020202020204" pitchFamily="34" charset="0"/>
              </a:rPr>
              <a:t>If the null probability is larger than your chosen significance level (alpha = 0.05) then we DO NOT reject the null hypothesis (and your DAG).</a:t>
            </a:r>
          </a:p>
        </p:txBody>
      </p:sp>
      <p:sp>
        <p:nvSpPr>
          <p:cNvPr id="6" name="TextBox 5">
            <a:extLst>
              <a:ext uri="{FF2B5EF4-FFF2-40B4-BE49-F238E27FC236}">
                <a16:creationId xmlns:a16="http://schemas.microsoft.com/office/drawing/2014/main" id="{270A5313-45A0-1D3D-03E3-1F202A9FFFA1}"/>
              </a:ext>
            </a:extLst>
          </p:cNvPr>
          <p:cNvSpPr txBox="1"/>
          <p:nvPr/>
        </p:nvSpPr>
        <p:spPr>
          <a:xfrm>
            <a:off x="370113" y="326098"/>
            <a:ext cx="4572000" cy="461665"/>
          </a:xfrm>
          <a:prstGeom prst="rect">
            <a:avLst/>
          </a:prstGeom>
          <a:noFill/>
        </p:spPr>
        <p:txBody>
          <a:bodyPr wrap="square">
            <a:spAutoFit/>
          </a:bodyPr>
          <a:lstStyle/>
          <a:p>
            <a:r>
              <a:rPr lang="en-US" sz="2400" b="1" dirty="0">
                <a:latin typeface="Arial" panose="020B0604020202020204" pitchFamily="34" charset="0"/>
                <a:cs typeface="Arial" panose="020B0604020202020204" pitchFamily="34" charset="0"/>
              </a:rPr>
              <a:t> The d-</a:t>
            </a:r>
            <a:r>
              <a:rPr lang="en-US" sz="2400" b="1" dirty="0" err="1">
                <a:latin typeface="Arial" panose="020B0604020202020204" pitchFamily="34" charset="0"/>
                <a:cs typeface="Arial" panose="020B0604020202020204" pitchFamily="34" charset="0"/>
              </a:rPr>
              <a:t>sep</a:t>
            </a:r>
            <a:r>
              <a:rPr lang="en-US" sz="2400" b="1" dirty="0">
                <a:latin typeface="Arial" panose="020B0604020202020204" pitchFamily="34" charset="0"/>
                <a:cs typeface="Arial" panose="020B0604020202020204" pitchFamily="34" charset="0"/>
              </a:rPr>
              <a:t> test of A DAG</a:t>
            </a:r>
          </a:p>
        </p:txBody>
      </p:sp>
      <p:sp>
        <p:nvSpPr>
          <p:cNvPr id="8" name="TextBox 7">
            <a:extLst>
              <a:ext uri="{FF2B5EF4-FFF2-40B4-BE49-F238E27FC236}">
                <a16:creationId xmlns:a16="http://schemas.microsoft.com/office/drawing/2014/main" id="{11FE5743-1C14-C364-6815-A4F1005D5610}"/>
              </a:ext>
            </a:extLst>
          </p:cNvPr>
          <p:cNvSpPr txBox="1"/>
          <p:nvPr/>
        </p:nvSpPr>
        <p:spPr>
          <a:xfrm>
            <a:off x="476250" y="4227317"/>
            <a:ext cx="8284029" cy="2031325"/>
          </a:xfrm>
          <a:prstGeom prst="rect">
            <a:avLst/>
          </a:prstGeom>
          <a:noFill/>
        </p:spPr>
        <p:txBody>
          <a:bodyPr wrap="square">
            <a:spAutoFit/>
          </a:bodyPr>
          <a:lstStyle/>
          <a:p>
            <a:r>
              <a:rPr lang="en-SG" dirty="0">
                <a:solidFill>
                  <a:srgbClr val="000000"/>
                </a:solidFill>
                <a:effectLst/>
                <a:latin typeface="Arial" panose="020B0604020202020204" pitchFamily="34" charset="0"/>
                <a:cs typeface="Arial" panose="020B0604020202020204" pitchFamily="34" charset="0"/>
              </a:rPr>
              <a:t>E.g., </a:t>
            </a:r>
          </a:p>
          <a:p>
            <a:endParaRPr lang="en-SG" dirty="0">
              <a:solidFill>
                <a:srgbClr val="000000"/>
              </a:solidFill>
              <a:effectLst/>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SG" dirty="0">
                <a:solidFill>
                  <a:srgbClr val="000000"/>
                </a:solidFill>
                <a:effectLst/>
                <a:latin typeface="Arial" panose="020B0604020202020204" pitchFamily="34" charset="0"/>
                <a:cs typeface="Arial" panose="020B0604020202020204" pitchFamily="34" charset="0"/>
              </a:rPr>
              <a:t>Root Mean Square Error of Approximation (RMSEA)</a:t>
            </a:r>
          </a:p>
          <a:p>
            <a:endParaRPr lang="en-SG" dirty="0">
              <a:solidFill>
                <a:srgbClr val="000000"/>
              </a:solidFill>
              <a:effectLst/>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SG" dirty="0">
                <a:solidFill>
                  <a:srgbClr val="000000"/>
                </a:solidFill>
                <a:effectLst/>
                <a:latin typeface="Arial" panose="020B0604020202020204" pitchFamily="34" charset="0"/>
                <a:cs typeface="Arial" panose="020B0604020202020204" pitchFamily="34" charset="0"/>
              </a:rPr>
              <a:t>Comparative Fit Index (CFI)</a:t>
            </a:r>
          </a:p>
          <a:p>
            <a:endParaRPr lang="en-SG" dirty="0">
              <a:solidFill>
                <a:srgbClr val="000000"/>
              </a:solidFill>
              <a:effectLst/>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SG" dirty="0">
                <a:solidFill>
                  <a:srgbClr val="000000"/>
                </a:solidFill>
                <a:effectLst/>
                <a:latin typeface="Arial" panose="020B0604020202020204" pitchFamily="34" charset="0"/>
                <a:cs typeface="Arial" panose="020B0604020202020204" pitchFamily="34" charset="0"/>
              </a:rPr>
              <a:t>Standardized Root Mean Square Residual (SRMR)</a:t>
            </a:r>
          </a:p>
        </p:txBody>
      </p:sp>
    </p:spTree>
    <p:extLst>
      <p:ext uri="{BB962C8B-B14F-4D97-AF65-F5344CB8AC3E}">
        <p14:creationId xmlns:p14="http://schemas.microsoft.com/office/powerpoint/2010/main" val="1180647756"/>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A diagram of a diagram&#10;&#10;AI-generated content may be incorrect.">
            <a:extLst>
              <a:ext uri="{FF2B5EF4-FFF2-40B4-BE49-F238E27FC236}">
                <a16:creationId xmlns:a16="http://schemas.microsoft.com/office/drawing/2014/main" id="{C68AC7AD-16F7-0879-4FF8-E615847A0AF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94328" y="4160037"/>
            <a:ext cx="4194497" cy="2393718"/>
          </a:xfrm>
          <a:prstGeom prst="rect">
            <a:avLst/>
          </a:prstGeom>
        </p:spPr>
      </p:pic>
      <p:sp>
        <p:nvSpPr>
          <p:cNvPr id="8" name="TextBox 7">
            <a:extLst>
              <a:ext uri="{FF2B5EF4-FFF2-40B4-BE49-F238E27FC236}">
                <a16:creationId xmlns:a16="http://schemas.microsoft.com/office/drawing/2014/main" id="{1107F67E-8AB8-2F2C-D205-72520B37C02D}"/>
              </a:ext>
            </a:extLst>
          </p:cNvPr>
          <p:cNvSpPr txBox="1"/>
          <p:nvPr/>
        </p:nvSpPr>
        <p:spPr>
          <a:xfrm>
            <a:off x="418744" y="304246"/>
            <a:ext cx="7451933" cy="4031873"/>
          </a:xfrm>
          <a:prstGeom prst="rect">
            <a:avLst/>
          </a:prstGeom>
          <a:noFill/>
        </p:spPr>
        <p:txBody>
          <a:bodyPr wrap="square">
            <a:spAutoFit/>
          </a:bodyPr>
          <a:lstStyle/>
          <a:p>
            <a:pPr>
              <a:buNone/>
            </a:pPr>
            <a:r>
              <a:rPr lang="en-SG" sz="1600" b="1" kern="100" dirty="0">
                <a:effectLst/>
                <a:latin typeface="Arial" panose="020B0604020202020204" pitchFamily="34" charset="0"/>
                <a:ea typeface="Aptos" panose="020B0004020202020204" pitchFamily="34" charset="0"/>
                <a:cs typeface="Arial" panose="020B0604020202020204" pitchFamily="34" charset="0"/>
              </a:rPr>
              <a:t>Scenario:</a:t>
            </a:r>
            <a:endParaRPr lang="en-SG" sz="1600" kern="100" dirty="0">
              <a:effectLst/>
              <a:latin typeface="Arial" panose="020B0604020202020204" pitchFamily="34" charset="0"/>
              <a:ea typeface="Aptos" panose="020B0004020202020204" pitchFamily="34" charset="0"/>
              <a:cs typeface="Arial" panose="020B0604020202020204" pitchFamily="34" charset="0"/>
            </a:endParaRPr>
          </a:p>
          <a:p>
            <a:pPr>
              <a:buNone/>
            </a:pPr>
            <a:r>
              <a:rPr lang="en-SG" sz="1600" kern="100" dirty="0">
                <a:effectLst/>
                <a:latin typeface="Arial" panose="020B0604020202020204" pitchFamily="34" charset="0"/>
                <a:ea typeface="Aptos" panose="020B0004020202020204" pitchFamily="34" charset="0"/>
                <a:cs typeface="Arial" panose="020B0604020202020204" pitchFamily="34" charset="0"/>
              </a:rPr>
              <a:t>Conservation scientists suggest that bee abundance in Singapore has declined due to urbanisation. As a solution, they propose that increasing the number of urban parks with greenery could help enhance bee populations.</a:t>
            </a:r>
          </a:p>
          <a:p>
            <a:pPr>
              <a:buNone/>
            </a:pPr>
            <a:r>
              <a:rPr lang="en-SG" sz="1600" kern="100" dirty="0">
                <a:effectLst/>
                <a:latin typeface="Arial" panose="020B0604020202020204" pitchFamily="34" charset="0"/>
                <a:ea typeface="Aptos" panose="020B0004020202020204" pitchFamily="34" charset="0"/>
                <a:cs typeface="Arial" panose="020B0604020202020204" pitchFamily="34" charset="0"/>
              </a:rPr>
              <a:t> </a:t>
            </a:r>
          </a:p>
          <a:p>
            <a:pPr>
              <a:buNone/>
            </a:pPr>
            <a:r>
              <a:rPr lang="en-SG" sz="1600" b="1" kern="100" dirty="0">
                <a:effectLst/>
                <a:latin typeface="Arial" panose="020B0604020202020204" pitchFamily="34" charset="0"/>
                <a:ea typeface="Aptos" panose="020B0004020202020204" pitchFamily="34" charset="0"/>
                <a:cs typeface="Arial" panose="020B0604020202020204" pitchFamily="34" charset="0"/>
              </a:rPr>
              <a:t>Research Question:</a:t>
            </a:r>
            <a:endParaRPr lang="en-SG" sz="1600" kern="100" dirty="0">
              <a:effectLst/>
              <a:latin typeface="Arial" panose="020B0604020202020204" pitchFamily="34" charset="0"/>
              <a:ea typeface="Aptos" panose="020B0004020202020204" pitchFamily="34" charset="0"/>
              <a:cs typeface="Arial" panose="020B0604020202020204" pitchFamily="34" charset="0"/>
            </a:endParaRPr>
          </a:p>
          <a:p>
            <a:pPr>
              <a:buNone/>
            </a:pPr>
            <a:r>
              <a:rPr lang="en-SG" sz="1600" kern="100" dirty="0">
                <a:effectLst/>
                <a:latin typeface="Arial" panose="020B0604020202020204" pitchFamily="34" charset="0"/>
                <a:ea typeface="Aptos" panose="020B0004020202020204" pitchFamily="34" charset="0"/>
                <a:cs typeface="Arial" panose="020B0604020202020204" pitchFamily="34" charset="0"/>
              </a:rPr>
              <a:t>Can bee abundance be increased by adding more urban parks to Singapore’s landscape?</a:t>
            </a:r>
          </a:p>
          <a:p>
            <a:pPr>
              <a:buNone/>
            </a:pPr>
            <a:r>
              <a:rPr lang="en-SG" sz="1600" kern="100" dirty="0">
                <a:effectLst/>
                <a:latin typeface="Arial" panose="020B0604020202020204" pitchFamily="34" charset="0"/>
                <a:ea typeface="Aptos" panose="020B0004020202020204" pitchFamily="34" charset="0"/>
                <a:cs typeface="Arial" panose="020B0604020202020204" pitchFamily="34" charset="0"/>
              </a:rPr>
              <a:t> </a:t>
            </a:r>
          </a:p>
          <a:p>
            <a:pPr>
              <a:buNone/>
            </a:pPr>
            <a:r>
              <a:rPr lang="en-SG" sz="1600" b="1" kern="100" dirty="0">
                <a:effectLst/>
                <a:latin typeface="Arial" panose="020B0604020202020204" pitchFamily="34" charset="0"/>
                <a:ea typeface="Aptos" panose="020B0004020202020204" pitchFamily="34" charset="0"/>
                <a:cs typeface="Arial" panose="020B0604020202020204" pitchFamily="34" charset="0"/>
              </a:rPr>
              <a:t>Causal hypotheses: </a:t>
            </a:r>
            <a:endParaRPr lang="en-SG" sz="1600" kern="100" dirty="0">
              <a:effectLst/>
              <a:latin typeface="Arial" panose="020B0604020202020204" pitchFamily="34" charset="0"/>
              <a:ea typeface="Aptos" panose="020B0004020202020204" pitchFamily="34" charset="0"/>
              <a:cs typeface="Arial" panose="020B0604020202020204" pitchFamily="34" charset="0"/>
            </a:endParaRPr>
          </a:p>
          <a:p>
            <a:pPr marL="285750" indent="-285750">
              <a:buFont typeface="Arial" panose="020B0604020202020204" pitchFamily="34" charset="0"/>
              <a:buChar char="•"/>
            </a:pPr>
            <a:r>
              <a:rPr lang="en-SG" sz="1600" kern="100" dirty="0">
                <a:effectLst/>
                <a:latin typeface="Arial" panose="020B0604020202020204" pitchFamily="34" charset="0"/>
                <a:ea typeface="Aptos" panose="020B0004020202020204" pitchFamily="34" charset="0"/>
                <a:cs typeface="Arial" panose="020B0604020202020204" pitchFamily="34" charset="0"/>
              </a:rPr>
              <a:t>An increase in the number of urban parks (A) enhances plant cover (B) within Singapore’s urban landscape.</a:t>
            </a:r>
          </a:p>
          <a:p>
            <a:pPr marL="285750" indent="-285750">
              <a:buFont typeface="Arial" panose="020B0604020202020204" pitchFamily="34" charset="0"/>
              <a:buChar char="•"/>
            </a:pPr>
            <a:r>
              <a:rPr lang="en-SG" sz="1600" kern="100" dirty="0">
                <a:effectLst/>
                <a:latin typeface="Arial" panose="020B0604020202020204" pitchFamily="34" charset="0"/>
                <a:ea typeface="Aptos" panose="020B0004020202020204" pitchFamily="34" charset="0"/>
                <a:cs typeface="Arial" panose="020B0604020202020204" pitchFamily="34" charset="0"/>
              </a:rPr>
              <a:t>Greater plant cover (B) positively influences both floral richness (C) and floral abundance (D).</a:t>
            </a:r>
          </a:p>
          <a:p>
            <a:pPr marL="285750" indent="-285750">
              <a:buFont typeface="Arial" panose="020B0604020202020204" pitchFamily="34" charset="0"/>
              <a:buChar char="•"/>
            </a:pPr>
            <a:r>
              <a:rPr lang="en-SG" sz="1600" kern="100" dirty="0">
                <a:effectLst/>
                <a:latin typeface="Arial" panose="020B0604020202020204" pitchFamily="34" charset="0"/>
                <a:ea typeface="Aptos" panose="020B0004020202020204" pitchFamily="34" charset="0"/>
                <a:cs typeface="Arial" panose="020B0604020202020204" pitchFamily="34" charset="0"/>
              </a:rPr>
              <a:t>In turn, higher floral richness (C) and floral abundance (D) contribute to increased bee abundance (E).</a:t>
            </a:r>
          </a:p>
        </p:txBody>
      </p:sp>
      <p:sp>
        <p:nvSpPr>
          <p:cNvPr id="2" name="TextBox 1">
            <a:extLst>
              <a:ext uri="{FF2B5EF4-FFF2-40B4-BE49-F238E27FC236}">
                <a16:creationId xmlns:a16="http://schemas.microsoft.com/office/drawing/2014/main" id="{C21A0D37-5723-10DA-EEF4-E3D4D8F5FD2E}"/>
              </a:ext>
            </a:extLst>
          </p:cNvPr>
          <p:cNvSpPr txBox="1"/>
          <p:nvPr/>
        </p:nvSpPr>
        <p:spPr>
          <a:xfrm>
            <a:off x="613054" y="5121771"/>
            <a:ext cx="3627476" cy="646331"/>
          </a:xfrm>
          <a:prstGeom prst="rect">
            <a:avLst/>
          </a:prstGeom>
          <a:noFill/>
        </p:spPr>
        <p:txBody>
          <a:bodyPr wrap="square">
            <a:spAutoFit/>
          </a:bodyPr>
          <a:lstStyle/>
          <a:p>
            <a:r>
              <a:rPr lang="en-US" dirty="0">
                <a:solidFill>
                  <a:srgbClr val="FF0000"/>
                </a:solidFill>
                <a:latin typeface="Arial" panose="020B0604020202020204" pitchFamily="34" charset="0"/>
                <a:cs typeface="Arial" panose="020B0604020202020204" pitchFamily="34" charset="0"/>
              </a:rPr>
              <a:t>Open Script_2 and run codes under “### exercise 2”</a:t>
            </a:r>
          </a:p>
        </p:txBody>
      </p:sp>
    </p:spTree>
    <p:extLst>
      <p:ext uri="{BB962C8B-B14F-4D97-AF65-F5344CB8AC3E}">
        <p14:creationId xmlns:p14="http://schemas.microsoft.com/office/powerpoint/2010/main" val="17512370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16FE5E36-170A-B0D8-1A0A-CFAF7720CDF3}"/>
              </a:ext>
            </a:extLst>
          </p:cNvPr>
          <p:cNvSpPr txBox="1"/>
          <p:nvPr/>
        </p:nvSpPr>
        <p:spPr>
          <a:xfrm>
            <a:off x="707571" y="1626275"/>
            <a:ext cx="2198916" cy="2308324"/>
          </a:xfrm>
          <a:prstGeom prst="rect">
            <a:avLst/>
          </a:prstGeom>
          <a:solidFill>
            <a:schemeClr val="bg1">
              <a:lumMod val="95000"/>
            </a:schemeClr>
          </a:solidFill>
          <a:ln>
            <a:solidFill>
              <a:schemeClr val="tx1"/>
            </a:solidFill>
          </a:ln>
        </p:spPr>
        <p:txBody>
          <a:bodyPr wrap="square">
            <a:spAutoFit/>
          </a:bodyPr>
          <a:lstStyle/>
          <a:p>
            <a:r>
              <a:rPr lang="en-SG" b="1" dirty="0">
                <a:solidFill>
                  <a:srgbClr val="000000"/>
                </a:solidFill>
                <a:effectLst/>
                <a:latin typeface="Arial" panose="020B0604020202020204" pitchFamily="34" charset="0"/>
                <a:cs typeface="Arial" panose="020B0604020202020204" pitchFamily="34" charset="0"/>
              </a:rPr>
              <a:t>Structural</a:t>
            </a:r>
            <a:r>
              <a:rPr lang="en-SG" dirty="0">
                <a:solidFill>
                  <a:srgbClr val="000000"/>
                </a:solidFill>
                <a:effectLst/>
                <a:latin typeface="Arial" panose="020B0604020202020204" pitchFamily="34" charset="0"/>
                <a:cs typeface="Arial" panose="020B0604020202020204" pitchFamily="34" charset="0"/>
              </a:rPr>
              <a:t> </a:t>
            </a:r>
          </a:p>
          <a:p>
            <a:endParaRPr lang="en-SG" dirty="0">
              <a:solidFill>
                <a:srgbClr val="000000"/>
              </a:solidFill>
              <a:latin typeface="Arial" panose="020B0604020202020204" pitchFamily="34" charset="0"/>
              <a:cs typeface="Arial" panose="020B0604020202020204" pitchFamily="34" charset="0"/>
            </a:endParaRPr>
          </a:p>
          <a:p>
            <a:r>
              <a:rPr lang="en-SG" dirty="0">
                <a:solidFill>
                  <a:srgbClr val="000000"/>
                </a:solidFill>
                <a:effectLst/>
                <a:latin typeface="Arial" panose="020B0604020202020204" pitchFamily="34" charset="0"/>
                <a:cs typeface="Arial" panose="020B0604020202020204" pitchFamily="34" charset="0"/>
              </a:rPr>
              <a:t>There is hypothesized</a:t>
            </a:r>
          </a:p>
          <a:p>
            <a:r>
              <a:rPr lang="en-SG" dirty="0">
                <a:solidFill>
                  <a:srgbClr val="000000"/>
                </a:solidFill>
                <a:latin typeface="Arial" panose="020B0604020202020204" pitchFamily="34" charset="0"/>
                <a:cs typeface="Arial" panose="020B0604020202020204" pitchFamily="34" charset="0"/>
              </a:rPr>
              <a:t>u</a:t>
            </a:r>
            <a:r>
              <a:rPr lang="en-SG" dirty="0">
                <a:solidFill>
                  <a:srgbClr val="000000"/>
                </a:solidFill>
                <a:effectLst/>
                <a:latin typeface="Arial" panose="020B0604020202020204" pitchFamily="34" charset="0"/>
                <a:cs typeface="Arial" panose="020B0604020202020204" pitchFamily="34" charset="0"/>
              </a:rPr>
              <a:t>nderlying </a:t>
            </a:r>
          </a:p>
          <a:p>
            <a:r>
              <a:rPr lang="en-SG" dirty="0">
                <a:solidFill>
                  <a:srgbClr val="000000"/>
                </a:solidFill>
                <a:effectLst/>
                <a:latin typeface="Arial" panose="020B0604020202020204" pitchFamily="34" charset="0"/>
                <a:cs typeface="Arial" panose="020B0604020202020204" pitchFamily="34" charset="0"/>
              </a:rPr>
              <a:t>structure to</a:t>
            </a:r>
          </a:p>
          <a:p>
            <a:r>
              <a:rPr lang="en-SG" dirty="0">
                <a:solidFill>
                  <a:srgbClr val="000000"/>
                </a:solidFill>
                <a:effectLst/>
                <a:latin typeface="Arial" panose="020B0604020202020204" pitchFamily="34" charset="0"/>
                <a:cs typeface="Arial" panose="020B0604020202020204" pitchFamily="34" charset="0"/>
              </a:rPr>
              <a:t>nature (a cause and an effect)…</a:t>
            </a:r>
          </a:p>
        </p:txBody>
      </p:sp>
      <p:sp>
        <p:nvSpPr>
          <p:cNvPr id="14" name="TextBox 13">
            <a:extLst>
              <a:ext uri="{FF2B5EF4-FFF2-40B4-BE49-F238E27FC236}">
                <a16:creationId xmlns:a16="http://schemas.microsoft.com/office/drawing/2014/main" id="{07488A81-C55B-7EC8-E469-7EE068E0A608}"/>
              </a:ext>
            </a:extLst>
          </p:cNvPr>
          <p:cNvSpPr txBox="1"/>
          <p:nvPr/>
        </p:nvSpPr>
        <p:spPr>
          <a:xfrm>
            <a:off x="3472542" y="1630575"/>
            <a:ext cx="2198916" cy="2308324"/>
          </a:xfrm>
          <a:prstGeom prst="rect">
            <a:avLst/>
          </a:prstGeom>
          <a:solidFill>
            <a:schemeClr val="bg1">
              <a:lumMod val="95000"/>
            </a:schemeClr>
          </a:solidFill>
          <a:ln>
            <a:solidFill>
              <a:schemeClr val="tx1"/>
            </a:solidFill>
          </a:ln>
        </p:spPr>
        <p:txBody>
          <a:bodyPr wrap="square">
            <a:spAutoFit/>
          </a:bodyPr>
          <a:lstStyle/>
          <a:p>
            <a:r>
              <a:rPr lang="en-SG" b="1" dirty="0">
                <a:solidFill>
                  <a:srgbClr val="000000"/>
                </a:solidFill>
                <a:effectLst/>
                <a:latin typeface="Arial" panose="020B0604020202020204" pitchFamily="34" charset="0"/>
                <a:cs typeface="Arial" panose="020B0604020202020204" pitchFamily="34" charset="0"/>
              </a:rPr>
              <a:t>Equation</a:t>
            </a:r>
            <a:r>
              <a:rPr lang="en-SG" dirty="0">
                <a:solidFill>
                  <a:srgbClr val="000000"/>
                </a:solidFill>
                <a:effectLst/>
                <a:latin typeface="Arial" panose="020B0604020202020204" pitchFamily="34" charset="0"/>
                <a:cs typeface="Arial" panose="020B0604020202020204" pitchFamily="34" charset="0"/>
              </a:rPr>
              <a:t> </a:t>
            </a:r>
          </a:p>
          <a:p>
            <a:endParaRPr lang="en-SG" dirty="0">
              <a:solidFill>
                <a:srgbClr val="000000"/>
              </a:solidFill>
              <a:effectLst/>
              <a:latin typeface="Arial" panose="020B0604020202020204" pitchFamily="34" charset="0"/>
              <a:cs typeface="Arial" panose="020B0604020202020204" pitchFamily="34" charset="0"/>
            </a:endParaRPr>
          </a:p>
          <a:p>
            <a:r>
              <a:rPr lang="en-SG" dirty="0">
                <a:solidFill>
                  <a:srgbClr val="000000"/>
                </a:solidFill>
                <a:effectLst/>
                <a:latin typeface="Arial" panose="020B0604020202020204" pitchFamily="34" charset="0"/>
                <a:cs typeface="Arial" panose="020B0604020202020204" pitchFamily="34" charset="0"/>
              </a:rPr>
              <a:t>…that can be</a:t>
            </a:r>
          </a:p>
          <a:p>
            <a:r>
              <a:rPr lang="en-SG" dirty="0">
                <a:solidFill>
                  <a:srgbClr val="000000"/>
                </a:solidFill>
                <a:effectLst/>
                <a:latin typeface="Arial" panose="020B0604020202020204" pitchFamily="34" charset="0"/>
                <a:cs typeface="Arial" panose="020B0604020202020204" pitchFamily="34" charset="0"/>
              </a:rPr>
              <a:t>translated to</a:t>
            </a:r>
          </a:p>
          <a:p>
            <a:r>
              <a:rPr lang="en-SG" dirty="0">
                <a:solidFill>
                  <a:srgbClr val="000000"/>
                </a:solidFill>
                <a:effectLst/>
                <a:latin typeface="Arial" panose="020B0604020202020204" pitchFamily="34" charset="0"/>
                <a:cs typeface="Arial" panose="020B0604020202020204" pitchFamily="34" charset="0"/>
              </a:rPr>
              <a:t>a series of</a:t>
            </a:r>
          </a:p>
          <a:p>
            <a:r>
              <a:rPr lang="en-SG" dirty="0">
                <a:solidFill>
                  <a:srgbClr val="000000"/>
                </a:solidFill>
                <a:effectLst/>
                <a:latin typeface="Arial" panose="020B0604020202020204" pitchFamily="34" charset="0"/>
                <a:cs typeface="Arial" panose="020B0604020202020204" pitchFamily="34" charset="0"/>
              </a:rPr>
              <a:t>mathematical</a:t>
            </a:r>
          </a:p>
          <a:p>
            <a:r>
              <a:rPr lang="en-SG" dirty="0">
                <a:solidFill>
                  <a:srgbClr val="000000"/>
                </a:solidFill>
                <a:effectLst/>
                <a:latin typeface="Arial" panose="020B0604020202020204" pitchFamily="34" charset="0"/>
                <a:cs typeface="Arial" panose="020B0604020202020204" pitchFamily="34" charset="0"/>
              </a:rPr>
              <a:t>equations…</a:t>
            </a:r>
          </a:p>
          <a:p>
            <a:endParaRPr lang="en-SG" dirty="0">
              <a:solidFill>
                <a:srgbClr val="000000"/>
              </a:solidFill>
              <a:latin typeface="Arial" panose="020B0604020202020204" pitchFamily="34" charset="0"/>
              <a:cs typeface="Arial" panose="020B0604020202020204" pitchFamily="34" charset="0"/>
            </a:endParaRPr>
          </a:p>
        </p:txBody>
      </p:sp>
      <p:sp>
        <p:nvSpPr>
          <p:cNvPr id="15" name="TextBox 14">
            <a:extLst>
              <a:ext uri="{FF2B5EF4-FFF2-40B4-BE49-F238E27FC236}">
                <a16:creationId xmlns:a16="http://schemas.microsoft.com/office/drawing/2014/main" id="{B6449C16-CABC-55DD-E6D0-08AF43026CBF}"/>
              </a:ext>
            </a:extLst>
          </p:cNvPr>
          <p:cNvSpPr txBox="1"/>
          <p:nvPr/>
        </p:nvSpPr>
        <p:spPr>
          <a:xfrm>
            <a:off x="6096001" y="1626273"/>
            <a:ext cx="2198916" cy="2308324"/>
          </a:xfrm>
          <a:prstGeom prst="rect">
            <a:avLst/>
          </a:prstGeom>
          <a:solidFill>
            <a:schemeClr val="bg1">
              <a:lumMod val="95000"/>
            </a:schemeClr>
          </a:solidFill>
          <a:ln>
            <a:solidFill>
              <a:schemeClr val="tx1"/>
            </a:solidFill>
          </a:ln>
        </p:spPr>
        <p:txBody>
          <a:bodyPr wrap="square">
            <a:spAutoFit/>
          </a:bodyPr>
          <a:lstStyle/>
          <a:p>
            <a:r>
              <a:rPr lang="en-SG" b="1" dirty="0" err="1">
                <a:solidFill>
                  <a:srgbClr val="000000"/>
                </a:solidFill>
                <a:effectLst/>
                <a:latin typeface="Arial" panose="020B0604020202020204" pitchFamily="34" charset="0"/>
                <a:cs typeface="Arial" panose="020B0604020202020204" pitchFamily="34" charset="0"/>
              </a:rPr>
              <a:t>Modeling</a:t>
            </a:r>
            <a:endParaRPr lang="en-SG" b="1" dirty="0">
              <a:solidFill>
                <a:srgbClr val="000000"/>
              </a:solidFill>
              <a:effectLst/>
              <a:latin typeface="Arial" panose="020B0604020202020204" pitchFamily="34" charset="0"/>
              <a:cs typeface="Arial" panose="020B0604020202020204" pitchFamily="34" charset="0"/>
            </a:endParaRPr>
          </a:p>
          <a:p>
            <a:r>
              <a:rPr lang="en-SG" dirty="0">
                <a:solidFill>
                  <a:srgbClr val="000000"/>
                </a:solidFill>
                <a:effectLst/>
                <a:latin typeface="Arial" panose="020B0604020202020204" pitchFamily="34" charset="0"/>
                <a:cs typeface="Arial" panose="020B0604020202020204" pitchFamily="34" charset="0"/>
              </a:rPr>
              <a:t> </a:t>
            </a:r>
          </a:p>
          <a:p>
            <a:r>
              <a:rPr lang="en-SG" dirty="0">
                <a:solidFill>
                  <a:srgbClr val="000000"/>
                </a:solidFill>
                <a:effectLst/>
                <a:latin typeface="Arial" panose="020B0604020202020204" pitchFamily="34" charset="0"/>
                <a:cs typeface="Arial" panose="020B0604020202020204" pitchFamily="34" charset="0"/>
              </a:rPr>
              <a:t>…which can be modelled</a:t>
            </a:r>
            <a:r>
              <a:rPr lang="en-SG" dirty="0">
                <a:solidFill>
                  <a:srgbClr val="000000"/>
                </a:solidFill>
                <a:latin typeface="Arial" panose="020B0604020202020204" pitchFamily="34" charset="0"/>
                <a:cs typeface="Arial" panose="020B0604020202020204" pitchFamily="34" charset="0"/>
              </a:rPr>
              <a:t> </a:t>
            </a:r>
            <a:r>
              <a:rPr lang="en-SG" dirty="0">
                <a:solidFill>
                  <a:srgbClr val="000000"/>
                </a:solidFill>
                <a:effectLst/>
                <a:latin typeface="Arial" panose="020B0604020202020204" pitchFamily="34" charset="0"/>
                <a:cs typeface="Arial" panose="020B0604020202020204" pitchFamily="34" charset="0"/>
              </a:rPr>
              <a:t>against data to support or refute the proposed</a:t>
            </a:r>
          </a:p>
          <a:p>
            <a:r>
              <a:rPr lang="en-SG" dirty="0">
                <a:solidFill>
                  <a:srgbClr val="000000"/>
                </a:solidFill>
                <a:latin typeface="Arial" panose="020B0604020202020204" pitchFamily="34" charset="0"/>
                <a:cs typeface="Arial" panose="020B0604020202020204" pitchFamily="34" charset="0"/>
              </a:rPr>
              <a:t>s</a:t>
            </a:r>
            <a:r>
              <a:rPr lang="en-SG" dirty="0">
                <a:solidFill>
                  <a:srgbClr val="000000"/>
                </a:solidFill>
                <a:effectLst/>
                <a:latin typeface="Arial" panose="020B0604020202020204" pitchFamily="34" charset="0"/>
                <a:cs typeface="Arial" panose="020B0604020202020204" pitchFamily="34" charset="0"/>
              </a:rPr>
              <a:t>tructure</a:t>
            </a:r>
          </a:p>
          <a:p>
            <a:endParaRPr lang="en-SG" dirty="0">
              <a:solidFill>
                <a:srgbClr val="000000"/>
              </a:solidFill>
              <a:effectLst/>
              <a:latin typeface="Arial" panose="020B0604020202020204" pitchFamily="34" charset="0"/>
              <a:cs typeface="Arial" panose="020B0604020202020204" pitchFamily="34" charset="0"/>
            </a:endParaRPr>
          </a:p>
        </p:txBody>
      </p:sp>
      <p:sp>
        <p:nvSpPr>
          <p:cNvPr id="17" name="TextBox 16">
            <a:extLst>
              <a:ext uri="{FF2B5EF4-FFF2-40B4-BE49-F238E27FC236}">
                <a16:creationId xmlns:a16="http://schemas.microsoft.com/office/drawing/2014/main" id="{F28D945E-A978-8793-5A81-6621AB5CD68F}"/>
              </a:ext>
            </a:extLst>
          </p:cNvPr>
          <p:cNvSpPr txBox="1"/>
          <p:nvPr/>
        </p:nvSpPr>
        <p:spPr>
          <a:xfrm>
            <a:off x="620487" y="501134"/>
            <a:ext cx="4572000" cy="461665"/>
          </a:xfrm>
          <a:prstGeom prst="rect">
            <a:avLst/>
          </a:prstGeom>
          <a:noFill/>
        </p:spPr>
        <p:txBody>
          <a:bodyPr wrap="square">
            <a:spAutoFit/>
          </a:bodyPr>
          <a:lstStyle/>
          <a:p>
            <a:r>
              <a:rPr lang="en-US" sz="2400" b="1" dirty="0">
                <a:latin typeface="Arial" panose="020B0604020202020204" pitchFamily="34" charset="0"/>
                <a:cs typeface="Arial" panose="020B0604020202020204" pitchFamily="34" charset="0"/>
              </a:rPr>
              <a:t>Structural Equation Modeling</a:t>
            </a:r>
          </a:p>
        </p:txBody>
      </p:sp>
      <p:sp>
        <p:nvSpPr>
          <p:cNvPr id="2" name="TextBox 1">
            <a:extLst>
              <a:ext uri="{FF2B5EF4-FFF2-40B4-BE49-F238E27FC236}">
                <a16:creationId xmlns:a16="http://schemas.microsoft.com/office/drawing/2014/main" id="{2F0A21BD-6ABD-1A72-F60D-7DAB997DCFC7}"/>
              </a:ext>
            </a:extLst>
          </p:cNvPr>
          <p:cNvSpPr txBox="1"/>
          <p:nvPr/>
        </p:nvSpPr>
        <p:spPr>
          <a:xfrm>
            <a:off x="707571" y="4607857"/>
            <a:ext cx="2198916" cy="461665"/>
          </a:xfrm>
          <a:prstGeom prst="rect">
            <a:avLst/>
          </a:prstGeom>
          <a:noFill/>
        </p:spPr>
        <p:txBody>
          <a:bodyPr wrap="square" rtlCol="0">
            <a:spAutoFit/>
          </a:bodyPr>
          <a:lstStyle/>
          <a:p>
            <a:pPr algn="ctr"/>
            <a:r>
              <a:rPr lang="en-US" sz="2400" b="1" dirty="0">
                <a:latin typeface="Arial" panose="020B0604020202020204" pitchFamily="34" charset="0"/>
                <a:cs typeface="Arial" panose="020B0604020202020204" pitchFamily="34" charset="0"/>
              </a:rPr>
              <a:t>S</a:t>
            </a:r>
          </a:p>
        </p:txBody>
      </p:sp>
      <p:sp>
        <p:nvSpPr>
          <p:cNvPr id="3" name="TextBox 2">
            <a:extLst>
              <a:ext uri="{FF2B5EF4-FFF2-40B4-BE49-F238E27FC236}">
                <a16:creationId xmlns:a16="http://schemas.microsoft.com/office/drawing/2014/main" id="{32533A30-48EB-5EE3-1B51-B36FA64FF60D}"/>
              </a:ext>
            </a:extLst>
          </p:cNvPr>
          <p:cNvSpPr txBox="1"/>
          <p:nvPr/>
        </p:nvSpPr>
        <p:spPr>
          <a:xfrm>
            <a:off x="6096001" y="4580964"/>
            <a:ext cx="2198916" cy="461665"/>
          </a:xfrm>
          <a:prstGeom prst="rect">
            <a:avLst/>
          </a:prstGeom>
          <a:noFill/>
        </p:spPr>
        <p:txBody>
          <a:bodyPr wrap="square" rtlCol="0">
            <a:spAutoFit/>
          </a:bodyPr>
          <a:lstStyle/>
          <a:p>
            <a:pPr algn="ctr"/>
            <a:r>
              <a:rPr lang="en-US" sz="2400" b="1" dirty="0">
                <a:latin typeface="Arial" panose="020B0604020202020204" pitchFamily="34" charset="0"/>
                <a:cs typeface="Arial" panose="020B0604020202020204" pitchFamily="34" charset="0"/>
              </a:rPr>
              <a:t>M</a:t>
            </a:r>
          </a:p>
        </p:txBody>
      </p:sp>
      <p:sp>
        <p:nvSpPr>
          <p:cNvPr id="4" name="TextBox 3">
            <a:extLst>
              <a:ext uri="{FF2B5EF4-FFF2-40B4-BE49-F238E27FC236}">
                <a16:creationId xmlns:a16="http://schemas.microsoft.com/office/drawing/2014/main" id="{6E0066B9-3674-5206-2A5C-F8AA9EB07B14}"/>
              </a:ext>
            </a:extLst>
          </p:cNvPr>
          <p:cNvSpPr txBox="1"/>
          <p:nvPr/>
        </p:nvSpPr>
        <p:spPr>
          <a:xfrm>
            <a:off x="3472542" y="4606675"/>
            <a:ext cx="2198916" cy="461665"/>
          </a:xfrm>
          <a:prstGeom prst="rect">
            <a:avLst/>
          </a:prstGeom>
          <a:noFill/>
        </p:spPr>
        <p:txBody>
          <a:bodyPr wrap="square" rtlCol="0">
            <a:spAutoFit/>
          </a:bodyPr>
          <a:lstStyle/>
          <a:p>
            <a:pPr algn="ctr"/>
            <a:r>
              <a:rPr lang="en-US" sz="2400" b="1" dirty="0">
                <a:latin typeface="Arial" panose="020B0604020202020204" pitchFamily="34" charset="0"/>
                <a:cs typeface="Arial" panose="020B0604020202020204" pitchFamily="34" charset="0"/>
              </a:rPr>
              <a:t>E</a:t>
            </a:r>
          </a:p>
        </p:txBody>
      </p:sp>
    </p:spTree>
    <p:extLst>
      <p:ext uri="{BB962C8B-B14F-4D97-AF65-F5344CB8AC3E}">
        <p14:creationId xmlns:p14="http://schemas.microsoft.com/office/powerpoint/2010/main" val="177572400"/>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23411" y="695534"/>
            <a:ext cx="8316096" cy="2673850"/>
          </a:xfrm>
        </p:spPr>
        <p:txBody>
          <a:bodyPr>
            <a:noAutofit/>
          </a:bodyPr>
          <a:lstStyle/>
          <a:p>
            <a:pPr>
              <a:lnSpc>
                <a:spcPct val="150000"/>
              </a:lnSpc>
            </a:pPr>
            <a:r>
              <a:rPr lang="en-GB" sz="1800" dirty="0">
                <a:latin typeface="Arial" panose="020B0604020202020204" pitchFamily="34" charset="0"/>
                <a:cs typeface="Arial" panose="020B0604020202020204" pitchFamily="34" charset="0"/>
              </a:rPr>
              <a:t>Can be thought of as a series of equations united in a single causal network.</a:t>
            </a:r>
          </a:p>
          <a:p>
            <a:pPr>
              <a:lnSpc>
                <a:spcPct val="150000"/>
              </a:lnSpc>
            </a:pPr>
            <a:r>
              <a:rPr lang="en-SG" sz="1800" dirty="0">
                <a:solidFill>
                  <a:srgbClr val="000000"/>
                </a:solidFill>
                <a:effectLst/>
                <a:latin typeface="Arial" panose="020B0604020202020204" pitchFamily="34" charset="0"/>
                <a:cs typeface="Arial" panose="020B0604020202020204" pitchFamily="34" charset="0"/>
              </a:rPr>
              <a:t>Can investigate the flow of effects through a system (i.e., simultaneously estimating both direct and indirect effects of variables on each other).</a:t>
            </a:r>
            <a:endParaRPr lang="en-GB" sz="1800" dirty="0">
              <a:latin typeface="Arial" panose="020B0604020202020204" pitchFamily="34" charset="0"/>
              <a:cs typeface="Arial" panose="020B0604020202020204" pitchFamily="34" charset="0"/>
            </a:endParaRPr>
          </a:p>
          <a:p>
            <a:pPr>
              <a:lnSpc>
                <a:spcPct val="150000"/>
              </a:lnSpc>
            </a:pPr>
            <a:r>
              <a:rPr lang="en-GB" sz="1800" dirty="0">
                <a:latin typeface="Arial" panose="020B0604020202020204" pitchFamily="34" charset="0"/>
                <a:cs typeface="Arial" panose="020B0604020202020204" pitchFamily="34" charset="0"/>
              </a:rPr>
              <a:t>Can be used to test an a priori hypothesized path model or to develop an exploratory model.</a:t>
            </a:r>
          </a:p>
          <a:p>
            <a:pPr marL="0" indent="0">
              <a:buNone/>
            </a:pPr>
            <a:endParaRPr lang="en-GB" sz="1800" dirty="0">
              <a:latin typeface="Arial" panose="020B0604020202020204" pitchFamily="34" charset="0"/>
              <a:cs typeface="Arial" panose="020B0604020202020204" pitchFamily="34" charset="0"/>
            </a:endParaRPr>
          </a:p>
          <a:p>
            <a:pPr marL="0" indent="0">
              <a:buNone/>
            </a:pPr>
            <a:endParaRPr lang="en-GB" sz="1800" dirty="0">
              <a:latin typeface="Arial" panose="020B0604020202020204" pitchFamily="34" charset="0"/>
              <a:cs typeface="Arial" panose="020B0604020202020204" pitchFamily="34" charset="0"/>
            </a:endParaRPr>
          </a:p>
        </p:txBody>
      </p:sp>
      <p:sp>
        <p:nvSpPr>
          <p:cNvPr id="13" name="TextBox 12">
            <a:extLst>
              <a:ext uri="{FF2B5EF4-FFF2-40B4-BE49-F238E27FC236}">
                <a16:creationId xmlns:a16="http://schemas.microsoft.com/office/drawing/2014/main" id="{045D38FF-CC1A-FB8C-EA74-E95046A51710}"/>
              </a:ext>
            </a:extLst>
          </p:cNvPr>
          <p:cNvSpPr txBox="1"/>
          <p:nvPr/>
        </p:nvSpPr>
        <p:spPr>
          <a:xfrm>
            <a:off x="423411" y="230916"/>
            <a:ext cx="7010401" cy="461665"/>
          </a:xfrm>
          <a:prstGeom prst="rect">
            <a:avLst/>
          </a:prstGeom>
          <a:noFill/>
        </p:spPr>
        <p:txBody>
          <a:bodyPr wrap="square">
            <a:spAutoFit/>
          </a:bodyPr>
          <a:lstStyle/>
          <a:p>
            <a:r>
              <a:rPr lang="en-GB" sz="2400" b="1" dirty="0">
                <a:latin typeface="Arial" panose="020B0604020202020204" pitchFamily="34" charset="0"/>
                <a:cs typeface="Arial" panose="020B0604020202020204" pitchFamily="34" charset="0"/>
              </a:rPr>
              <a:t>What is Structural Equation Modelling?</a:t>
            </a:r>
            <a:endParaRPr lang="en-US" sz="2400" dirty="0"/>
          </a:p>
        </p:txBody>
      </p:sp>
      <p:grpSp>
        <p:nvGrpSpPr>
          <p:cNvPr id="5" name="Group 4">
            <a:extLst>
              <a:ext uri="{FF2B5EF4-FFF2-40B4-BE49-F238E27FC236}">
                <a16:creationId xmlns:a16="http://schemas.microsoft.com/office/drawing/2014/main" id="{90B207AD-77C8-E03F-593C-231340F0059E}"/>
              </a:ext>
            </a:extLst>
          </p:cNvPr>
          <p:cNvGrpSpPr/>
          <p:nvPr/>
        </p:nvGrpSpPr>
        <p:grpSpPr>
          <a:xfrm>
            <a:off x="857569" y="3234242"/>
            <a:ext cx="2671310" cy="2673850"/>
            <a:chOff x="2357718" y="2589365"/>
            <a:chExt cx="3723829" cy="3614863"/>
          </a:xfrm>
        </p:grpSpPr>
        <p:pic>
          <p:nvPicPr>
            <p:cNvPr id="7" name="Picture 6" descr="A diagram of a plant&#10;&#10;Description automatically generated">
              <a:extLst>
                <a:ext uri="{FF2B5EF4-FFF2-40B4-BE49-F238E27FC236}">
                  <a16:creationId xmlns:a16="http://schemas.microsoft.com/office/drawing/2014/main" id="{92D40EE8-1D70-6F1B-B743-396BD10B514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84358" y="2589365"/>
              <a:ext cx="3697189" cy="3614863"/>
            </a:xfrm>
            <a:prstGeom prst="rect">
              <a:avLst/>
            </a:prstGeom>
          </p:spPr>
        </p:pic>
        <p:sp>
          <p:nvSpPr>
            <p:cNvPr id="4" name="TextBox 3">
              <a:extLst>
                <a:ext uri="{FF2B5EF4-FFF2-40B4-BE49-F238E27FC236}">
                  <a16:creationId xmlns:a16="http://schemas.microsoft.com/office/drawing/2014/main" id="{1A7ECB9D-624C-9133-A1C4-F40437148D04}"/>
                </a:ext>
              </a:extLst>
            </p:cNvPr>
            <p:cNvSpPr txBox="1"/>
            <p:nvPr/>
          </p:nvSpPr>
          <p:spPr>
            <a:xfrm>
              <a:off x="2357718" y="2734235"/>
              <a:ext cx="412376" cy="369332"/>
            </a:xfrm>
            <a:prstGeom prst="rect">
              <a:avLst/>
            </a:prstGeom>
            <a:solidFill>
              <a:schemeClr val="bg1"/>
            </a:solidFill>
          </p:spPr>
          <p:txBody>
            <a:bodyPr wrap="square" rtlCol="0">
              <a:spAutoFit/>
            </a:bodyPr>
            <a:lstStyle/>
            <a:p>
              <a:endParaRPr lang="en-US" dirty="0"/>
            </a:p>
          </p:txBody>
        </p:sp>
      </p:grpSp>
      <p:pic>
        <p:nvPicPr>
          <p:cNvPr id="6" name="Content Placeholder 4">
            <a:extLst>
              <a:ext uri="{FF2B5EF4-FFF2-40B4-BE49-F238E27FC236}">
                <a16:creationId xmlns:a16="http://schemas.microsoft.com/office/drawing/2014/main" id="{0EA075B3-CA1C-9E56-100F-CFF33E1EFA4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72000" y="3234242"/>
            <a:ext cx="3565134" cy="2673850"/>
          </a:xfrm>
          <a:prstGeom prst="rect">
            <a:avLst/>
          </a:prstGeom>
        </p:spPr>
      </p:pic>
      <p:sp>
        <p:nvSpPr>
          <p:cNvPr id="8" name="TextBox 7">
            <a:extLst>
              <a:ext uri="{FF2B5EF4-FFF2-40B4-BE49-F238E27FC236}">
                <a16:creationId xmlns:a16="http://schemas.microsoft.com/office/drawing/2014/main" id="{FF6B3CD5-0717-6283-B4F4-BECF99727974}"/>
              </a:ext>
            </a:extLst>
          </p:cNvPr>
          <p:cNvSpPr txBox="1"/>
          <p:nvPr/>
        </p:nvSpPr>
        <p:spPr>
          <a:xfrm>
            <a:off x="538029" y="6066536"/>
            <a:ext cx="4033971" cy="523220"/>
          </a:xfrm>
          <a:prstGeom prst="rect">
            <a:avLst/>
          </a:prstGeom>
          <a:noFill/>
        </p:spPr>
        <p:txBody>
          <a:bodyPr wrap="square">
            <a:spAutoFit/>
          </a:bodyPr>
          <a:lstStyle/>
          <a:p>
            <a:r>
              <a:rPr lang="en-US" sz="1400" dirty="0">
                <a:latin typeface="Arial" panose="020B0604020202020204" pitchFamily="34" charset="0"/>
                <a:cs typeface="Arial" panose="020B0604020202020204" pitchFamily="34" charset="0"/>
              </a:rPr>
              <a:t>Priyadarshana et al., 2025,</a:t>
            </a:r>
          </a:p>
          <a:p>
            <a:r>
              <a:rPr lang="en-US" sz="1400" dirty="0">
                <a:latin typeface="Arial" panose="020B0604020202020204" pitchFamily="34" charset="0"/>
                <a:cs typeface="Arial" panose="020B0604020202020204" pitchFamily="34" charset="0"/>
              </a:rPr>
              <a:t>10.1016/j.landurbplan.2025.105335</a:t>
            </a:r>
          </a:p>
        </p:txBody>
      </p:sp>
      <p:sp>
        <p:nvSpPr>
          <p:cNvPr id="10" name="TextBox 9">
            <a:extLst>
              <a:ext uri="{FF2B5EF4-FFF2-40B4-BE49-F238E27FC236}">
                <a16:creationId xmlns:a16="http://schemas.microsoft.com/office/drawing/2014/main" id="{DE9F1FDE-6C17-80BB-2F19-20F25B2160C8}"/>
              </a:ext>
            </a:extLst>
          </p:cNvPr>
          <p:cNvSpPr txBox="1"/>
          <p:nvPr/>
        </p:nvSpPr>
        <p:spPr>
          <a:xfrm>
            <a:off x="4572000" y="6066536"/>
            <a:ext cx="3874770" cy="523220"/>
          </a:xfrm>
          <a:prstGeom prst="rect">
            <a:avLst/>
          </a:prstGeom>
          <a:noFill/>
        </p:spPr>
        <p:txBody>
          <a:bodyPr wrap="square">
            <a:spAutoFit/>
          </a:bodyPr>
          <a:lstStyle/>
          <a:p>
            <a:r>
              <a:rPr lang="en-US" sz="1400" dirty="0">
                <a:latin typeface="Arial" panose="020B0604020202020204" pitchFamily="34" charset="0"/>
                <a:cs typeface="Arial" panose="020B0604020202020204" pitchFamily="34" charset="0"/>
              </a:rPr>
              <a:t>Li et al., 2024,</a:t>
            </a:r>
          </a:p>
          <a:p>
            <a:r>
              <a:rPr lang="en-US" sz="1400" dirty="0">
                <a:latin typeface="Arial" panose="020B0604020202020204" pitchFamily="34" charset="0"/>
                <a:cs typeface="Arial" panose="020B0604020202020204" pitchFamily="34" charset="0"/>
              </a:rPr>
              <a:t>https://</a:t>
            </a:r>
            <a:r>
              <a:rPr lang="en-US" sz="1400" dirty="0" err="1">
                <a:latin typeface="Arial" panose="020B0604020202020204" pitchFamily="34" charset="0"/>
                <a:cs typeface="Arial" panose="020B0604020202020204" pitchFamily="34" charset="0"/>
              </a:rPr>
              <a:t>doi.org</a:t>
            </a:r>
            <a:r>
              <a:rPr lang="en-US" sz="1400" dirty="0">
                <a:latin typeface="Arial" panose="020B0604020202020204" pitchFamily="34" charset="0"/>
                <a:cs typeface="Arial" panose="020B0604020202020204" pitchFamily="34" charset="0"/>
              </a:rPr>
              <a:t>/10.1038/s41559-024-02517-2</a:t>
            </a:r>
          </a:p>
        </p:txBody>
      </p:sp>
    </p:spTree>
    <p:extLst>
      <p:ext uri="{BB962C8B-B14F-4D97-AF65-F5344CB8AC3E}">
        <p14:creationId xmlns:p14="http://schemas.microsoft.com/office/powerpoint/2010/main" val="3159439072"/>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41A9FBF6-CBD5-3B82-16A2-697C16AC2631}"/>
              </a:ext>
            </a:extLst>
          </p:cNvPr>
          <p:cNvSpPr txBox="1"/>
          <p:nvPr/>
        </p:nvSpPr>
        <p:spPr>
          <a:xfrm>
            <a:off x="2153647" y="1005777"/>
            <a:ext cx="4793037" cy="871970"/>
          </a:xfrm>
          <a:prstGeom prst="rect">
            <a:avLst/>
          </a:prstGeom>
          <a:noFill/>
          <a:ln>
            <a:solidFill>
              <a:schemeClr val="tx1"/>
            </a:solidFill>
          </a:ln>
        </p:spPr>
        <p:txBody>
          <a:bodyPr wrap="square">
            <a:spAutoFit/>
          </a:bodyPr>
          <a:lstStyle/>
          <a:p>
            <a:pPr>
              <a:lnSpc>
                <a:spcPct val="150000"/>
              </a:lnSpc>
            </a:pPr>
            <a:r>
              <a:rPr lang="en-GB" dirty="0">
                <a:latin typeface="Arial" panose="020B0604020202020204" pitchFamily="34" charset="0"/>
                <a:cs typeface="Arial" panose="020B0604020202020204" pitchFamily="34" charset="0"/>
              </a:rPr>
              <a:t>1. Build a hypothesized causal structure (based on theory and/or expert knowledge)</a:t>
            </a:r>
          </a:p>
        </p:txBody>
      </p:sp>
      <p:sp>
        <p:nvSpPr>
          <p:cNvPr id="7" name="TextBox 6">
            <a:extLst>
              <a:ext uri="{FF2B5EF4-FFF2-40B4-BE49-F238E27FC236}">
                <a16:creationId xmlns:a16="http://schemas.microsoft.com/office/drawing/2014/main" id="{B2EFE389-7E63-A753-9596-37CD9C60AFF4}"/>
              </a:ext>
            </a:extLst>
          </p:cNvPr>
          <p:cNvSpPr txBox="1"/>
          <p:nvPr/>
        </p:nvSpPr>
        <p:spPr>
          <a:xfrm>
            <a:off x="402772" y="356919"/>
            <a:ext cx="4572000" cy="461665"/>
          </a:xfrm>
          <a:prstGeom prst="rect">
            <a:avLst/>
          </a:prstGeom>
          <a:noFill/>
        </p:spPr>
        <p:txBody>
          <a:bodyPr wrap="square">
            <a:spAutoFit/>
          </a:bodyPr>
          <a:lstStyle/>
          <a:p>
            <a:r>
              <a:rPr lang="en-GB" sz="2400" b="1" dirty="0">
                <a:latin typeface="Arial" panose="020B0604020202020204" pitchFamily="34" charset="0"/>
                <a:cs typeface="Arial" panose="020B0604020202020204" pitchFamily="34" charset="0"/>
              </a:rPr>
              <a:t>SEM analysis steps</a:t>
            </a:r>
            <a:endParaRPr lang="en-US" sz="2400" b="1" dirty="0">
              <a:latin typeface="Arial" panose="020B0604020202020204" pitchFamily="34" charset="0"/>
              <a:cs typeface="Arial" panose="020B0604020202020204" pitchFamily="34" charset="0"/>
            </a:endParaRPr>
          </a:p>
        </p:txBody>
      </p:sp>
      <p:sp>
        <p:nvSpPr>
          <p:cNvPr id="9" name="TextBox 8">
            <a:extLst>
              <a:ext uri="{FF2B5EF4-FFF2-40B4-BE49-F238E27FC236}">
                <a16:creationId xmlns:a16="http://schemas.microsoft.com/office/drawing/2014/main" id="{72FE32F5-2E5A-EE35-46DA-A9B3F913F3DE}"/>
              </a:ext>
            </a:extLst>
          </p:cNvPr>
          <p:cNvSpPr txBox="1"/>
          <p:nvPr/>
        </p:nvSpPr>
        <p:spPr>
          <a:xfrm>
            <a:off x="2197313" y="2392719"/>
            <a:ext cx="4749373" cy="369332"/>
          </a:xfrm>
          <a:prstGeom prst="rect">
            <a:avLst/>
          </a:prstGeom>
          <a:noFill/>
          <a:ln>
            <a:solidFill>
              <a:schemeClr val="tx1"/>
            </a:solidFill>
          </a:ln>
        </p:spPr>
        <p:txBody>
          <a:bodyPr wrap="square">
            <a:spAutoFit/>
          </a:bodyPr>
          <a:lstStyle/>
          <a:p>
            <a:r>
              <a:rPr lang="en-US" dirty="0">
                <a:latin typeface="Arial" panose="020B0604020202020204" pitchFamily="34" charset="0"/>
                <a:cs typeface="Arial" panose="020B0604020202020204" pitchFamily="34" charset="0"/>
              </a:rPr>
              <a:t>2. Collect data and fit the model</a:t>
            </a:r>
          </a:p>
        </p:txBody>
      </p:sp>
      <p:sp>
        <p:nvSpPr>
          <p:cNvPr id="11" name="TextBox 10">
            <a:extLst>
              <a:ext uri="{FF2B5EF4-FFF2-40B4-BE49-F238E27FC236}">
                <a16:creationId xmlns:a16="http://schemas.microsoft.com/office/drawing/2014/main" id="{622740A6-B896-57A8-A10C-E5B1E60BC462}"/>
              </a:ext>
            </a:extLst>
          </p:cNvPr>
          <p:cNvSpPr txBox="1"/>
          <p:nvPr/>
        </p:nvSpPr>
        <p:spPr>
          <a:xfrm>
            <a:off x="2197312" y="3176624"/>
            <a:ext cx="4749374" cy="1702967"/>
          </a:xfrm>
          <a:prstGeom prst="rect">
            <a:avLst/>
          </a:prstGeom>
          <a:noFill/>
          <a:ln>
            <a:solidFill>
              <a:schemeClr val="tx1"/>
            </a:solidFill>
          </a:ln>
        </p:spPr>
        <p:txBody>
          <a:bodyPr wrap="square">
            <a:spAutoFit/>
          </a:bodyPr>
          <a:lstStyle/>
          <a:p>
            <a:pPr>
              <a:lnSpc>
                <a:spcPct val="150000"/>
              </a:lnSpc>
            </a:pPr>
            <a:r>
              <a:rPr lang="en-US" dirty="0">
                <a:latin typeface="Arial" panose="020B0604020202020204" pitchFamily="34" charset="0"/>
                <a:cs typeface="Arial" panose="020B0604020202020204" pitchFamily="34" charset="0"/>
              </a:rPr>
              <a:t>3. Test data against the proposed </a:t>
            </a:r>
            <a:r>
              <a:rPr lang="en-GB" dirty="0">
                <a:latin typeface="Arial" panose="020B0604020202020204" pitchFamily="34" charset="0"/>
                <a:cs typeface="Arial" panose="020B0604020202020204" pitchFamily="34" charset="0"/>
              </a:rPr>
              <a:t>causal </a:t>
            </a:r>
            <a:r>
              <a:rPr lang="en-US" dirty="0">
                <a:latin typeface="Arial" panose="020B0604020202020204" pitchFamily="34" charset="0"/>
                <a:cs typeface="Arial" panose="020B0604020202020204" pitchFamily="34" charset="0"/>
              </a:rPr>
              <a:t>structure (i.e., </a:t>
            </a:r>
            <a:r>
              <a:rPr lang="en-GB" dirty="0">
                <a:latin typeface="Arial" panose="020B0604020202020204" pitchFamily="34" charset="0"/>
                <a:cs typeface="Arial" panose="020B0604020202020204" pitchFamily="34" charset="0"/>
              </a:rPr>
              <a:t>test the goodness-of-fit/evaluate the model/model fit</a:t>
            </a:r>
            <a:r>
              <a:rPr lang="en-US" dirty="0">
                <a:latin typeface="Arial" panose="020B0604020202020204" pitchFamily="34" charset="0"/>
                <a:cs typeface="Arial" panose="020B0604020202020204" pitchFamily="34" charset="0"/>
              </a:rPr>
              <a:t>) and extract inferences </a:t>
            </a:r>
          </a:p>
        </p:txBody>
      </p:sp>
      <p:sp>
        <p:nvSpPr>
          <p:cNvPr id="15" name="TextBox 14">
            <a:extLst>
              <a:ext uri="{FF2B5EF4-FFF2-40B4-BE49-F238E27FC236}">
                <a16:creationId xmlns:a16="http://schemas.microsoft.com/office/drawing/2014/main" id="{B2ACDEBF-5C43-9423-DA5F-35D97FE9840B}"/>
              </a:ext>
            </a:extLst>
          </p:cNvPr>
          <p:cNvSpPr txBox="1"/>
          <p:nvPr/>
        </p:nvSpPr>
        <p:spPr>
          <a:xfrm>
            <a:off x="2197310" y="5211263"/>
            <a:ext cx="4749375" cy="871970"/>
          </a:xfrm>
          <a:prstGeom prst="rect">
            <a:avLst/>
          </a:prstGeom>
          <a:noFill/>
          <a:ln>
            <a:solidFill>
              <a:schemeClr val="tx1"/>
            </a:solidFill>
          </a:ln>
        </p:spPr>
        <p:txBody>
          <a:bodyPr wrap="square">
            <a:spAutoFit/>
          </a:bodyPr>
          <a:lstStyle/>
          <a:p>
            <a:pPr>
              <a:lnSpc>
                <a:spcPct val="150000"/>
              </a:lnSpc>
            </a:pPr>
            <a:r>
              <a:rPr lang="en-GB" dirty="0">
                <a:latin typeface="Arial" panose="020B0604020202020204" pitchFamily="34" charset="0"/>
                <a:cs typeface="Arial" panose="020B0604020202020204" pitchFamily="34" charset="0"/>
              </a:rPr>
              <a:t>4. Modify the model if necessary and if carrying an exploratory analysis</a:t>
            </a:r>
          </a:p>
        </p:txBody>
      </p:sp>
      <p:cxnSp>
        <p:nvCxnSpPr>
          <p:cNvPr id="10" name="Curved Connector 9">
            <a:extLst>
              <a:ext uri="{FF2B5EF4-FFF2-40B4-BE49-F238E27FC236}">
                <a16:creationId xmlns:a16="http://schemas.microsoft.com/office/drawing/2014/main" id="{F345E697-DD0B-9002-7A16-E1458BCDBD70}"/>
              </a:ext>
            </a:extLst>
          </p:cNvPr>
          <p:cNvCxnSpPr>
            <a:cxnSpLocks/>
            <a:stCxn id="5" idx="1"/>
            <a:endCxn id="9" idx="1"/>
          </p:cNvCxnSpPr>
          <p:nvPr/>
        </p:nvCxnSpPr>
        <p:spPr>
          <a:xfrm rot="10800000" flipH="1" flipV="1">
            <a:off x="2153647" y="1441761"/>
            <a:ext cx="43666" cy="1135623"/>
          </a:xfrm>
          <a:prstGeom prst="curvedConnector3">
            <a:avLst>
              <a:gd name="adj1" fmla="val -1201015"/>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4" name="Curved Connector 33">
            <a:extLst>
              <a:ext uri="{FF2B5EF4-FFF2-40B4-BE49-F238E27FC236}">
                <a16:creationId xmlns:a16="http://schemas.microsoft.com/office/drawing/2014/main" id="{E7BC72D8-7B20-3FA9-565B-4EEAD41A29A3}"/>
              </a:ext>
            </a:extLst>
          </p:cNvPr>
          <p:cNvCxnSpPr>
            <a:cxnSpLocks/>
            <a:stCxn id="9" idx="3"/>
            <a:endCxn id="11" idx="3"/>
          </p:cNvCxnSpPr>
          <p:nvPr/>
        </p:nvCxnSpPr>
        <p:spPr>
          <a:xfrm>
            <a:off x="6946686" y="2577385"/>
            <a:ext cx="12700" cy="1450723"/>
          </a:xfrm>
          <a:prstGeom prst="curvedConnector3">
            <a:avLst>
              <a:gd name="adj1" fmla="val 3988236"/>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0" name="Curved Connector 49">
            <a:extLst>
              <a:ext uri="{FF2B5EF4-FFF2-40B4-BE49-F238E27FC236}">
                <a16:creationId xmlns:a16="http://schemas.microsoft.com/office/drawing/2014/main" id="{CCC27777-976A-8C6B-E515-59F9EA1D79A5}"/>
              </a:ext>
            </a:extLst>
          </p:cNvPr>
          <p:cNvCxnSpPr>
            <a:cxnSpLocks/>
          </p:cNvCxnSpPr>
          <p:nvPr/>
        </p:nvCxnSpPr>
        <p:spPr>
          <a:xfrm rot="10800000" flipH="1" flipV="1">
            <a:off x="2109980" y="4643451"/>
            <a:ext cx="43666" cy="1135623"/>
          </a:xfrm>
          <a:prstGeom prst="curvedConnector3">
            <a:avLst>
              <a:gd name="adj1" fmla="val -1201015"/>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52260044"/>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49C0D2FD-3320-9C44-42FA-F0E0D9D7AA4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58945" y="2445874"/>
            <a:ext cx="7077920" cy="3981330"/>
          </a:xfrm>
          <a:prstGeom prst="rect">
            <a:avLst/>
          </a:prstGeom>
        </p:spPr>
      </p:pic>
      <p:pic>
        <p:nvPicPr>
          <p:cNvPr id="13" name="Picture 12">
            <a:extLst>
              <a:ext uri="{FF2B5EF4-FFF2-40B4-BE49-F238E27FC236}">
                <a16:creationId xmlns:a16="http://schemas.microsoft.com/office/drawing/2014/main" id="{649B04D8-2B0F-35B9-D61F-1B98E4352E0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6136" y="3468766"/>
            <a:ext cx="1061977" cy="1061977"/>
          </a:xfrm>
          <a:prstGeom prst="rect">
            <a:avLst/>
          </a:prstGeom>
        </p:spPr>
      </p:pic>
      <p:sp>
        <p:nvSpPr>
          <p:cNvPr id="14" name="TextBox 13">
            <a:extLst>
              <a:ext uri="{FF2B5EF4-FFF2-40B4-BE49-F238E27FC236}">
                <a16:creationId xmlns:a16="http://schemas.microsoft.com/office/drawing/2014/main" id="{6E5BF5DA-2C8C-ADDF-C68B-620ACD507A5D}"/>
              </a:ext>
            </a:extLst>
          </p:cNvPr>
          <p:cNvSpPr txBox="1"/>
          <p:nvPr/>
        </p:nvSpPr>
        <p:spPr>
          <a:xfrm>
            <a:off x="237281" y="4941813"/>
            <a:ext cx="7575630" cy="738664"/>
          </a:xfrm>
          <a:prstGeom prst="rect">
            <a:avLst/>
          </a:prstGeom>
          <a:noFill/>
        </p:spPr>
        <p:txBody>
          <a:bodyPr wrap="square">
            <a:spAutoFit/>
          </a:bodyPr>
          <a:lstStyle/>
          <a:p>
            <a:r>
              <a:rPr lang="en-GB" sz="1400" dirty="0">
                <a:latin typeface="Arial" panose="020B0604020202020204" pitchFamily="34" charset="0"/>
                <a:cs typeface="Arial" panose="020B0604020202020204" pitchFamily="34" charset="0"/>
              </a:rPr>
              <a:t>Chiew et al., 2026 </a:t>
            </a:r>
          </a:p>
          <a:p>
            <a:r>
              <a:rPr lang="en-GB" sz="1400" dirty="0">
                <a:latin typeface="Arial" panose="020B0604020202020204" pitchFamily="34" charset="0"/>
                <a:cs typeface="Arial" panose="020B0604020202020204" pitchFamily="34" charset="0"/>
              </a:rPr>
              <a:t>In review, J. Appl. Ecol. </a:t>
            </a:r>
          </a:p>
          <a:p>
            <a:r>
              <a:rPr lang="en-GB" sz="1400" b="1" dirty="0">
                <a:latin typeface="Arial" panose="020B0604020202020204" pitchFamily="34" charset="0"/>
                <a:cs typeface="Arial" panose="020B0604020202020204" pitchFamily="34" charset="0"/>
              </a:rPr>
              <a:t>Preprint: </a:t>
            </a:r>
            <a:r>
              <a:rPr lang="en-GB" sz="1400" dirty="0">
                <a:latin typeface="Arial" panose="020B0604020202020204" pitchFamily="34" charset="0"/>
                <a:cs typeface="Arial" panose="020B0604020202020204" pitchFamily="34" charset="0"/>
              </a:rPr>
              <a:t>https://</a:t>
            </a:r>
            <a:r>
              <a:rPr lang="en-GB" sz="1400" dirty="0" err="1">
                <a:latin typeface="Arial" panose="020B0604020202020204" pitchFamily="34" charset="0"/>
                <a:cs typeface="Arial" panose="020B0604020202020204" pitchFamily="34" charset="0"/>
              </a:rPr>
              <a:t>doi.org</a:t>
            </a:r>
            <a:r>
              <a:rPr lang="en-GB" sz="1400" dirty="0">
                <a:latin typeface="Arial" panose="020B0604020202020204" pitchFamily="34" charset="0"/>
                <a:cs typeface="Arial" panose="020B0604020202020204" pitchFamily="34" charset="0"/>
              </a:rPr>
              <a:t>/10.64898/2026.02.10.704761 </a:t>
            </a:r>
            <a:endParaRPr lang="en-US" sz="1400" dirty="0">
              <a:latin typeface="Arial" panose="020B0604020202020204" pitchFamily="34" charset="0"/>
              <a:cs typeface="Arial" panose="020B0604020202020204" pitchFamily="34" charset="0"/>
            </a:endParaRPr>
          </a:p>
        </p:txBody>
      </p:sp>
      <p:pic>
        <p:nvPicPr>
          <p:cNvPr id="15" name="Picture 14">
            <a:extLst>
              <a:ext uri="{FF2B5EF4-FFF2-40B4-BE49-F238E27FC236}">
                <a16:creationId xmlns:a16="http://schemas.microsoft.com/office/drawing/2014/main" id="{6CA0429E-FA80-0736-BD03-408183AF27B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73621" y="-149747"/>
            <a:ext cx="5040129" cy="2835073"/>
          </a:xfrm>
          <a:prstGeom prst="rect">
            <a:avLst/>
          </a:prstGeom>
        </p:spPr>
      </p:pic>
      <p:cxnSp>
        <p:nvCxnSpPr>
          <p:cNvPr id="19" name="Curved Connector 18">
            <a:extLst>
              <a:ext uri="{FF2B5EF4-FFF2-40B4-BE49-F238E27FC236}">
                <a16:creationId xmlns:a16="http://schemas.microsoft.com/office/drawing/2014/main" id="{057B2A8A-0C54-AC84-3FCC-9EB88E05D6EE}"/>
              </a:ext>
            </a:extLst>
          </p:cNvPr>
          <p:cNvCxnSpPr>
            <a:cxnSpLocks/>
          </p:cNvCxnSpPr>
          <p:nvPr/>
        </p:nvCxnSpPr>
        <p:spPr>
          <a:xfrm>
            <a:off x="4572000" y="783559"/>
            <a:ext cx="1825905" cy="1562633"/>
          </a:xfrm>
          <a:prstGeom prst="curvedConnector2">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22" name="Picture 21">
            <a:extLst>
              <a:ext uri="{FF2B5EF4-FFF2-40B4-BE49-F238E27FC236}">
                <a16:creationId xmlns:a16="http://schemas.microsoft.com/office/drawing/2014/main" id="{8D5F3F19-3068-C1D2-0621-9DA61A4A04A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593352" y="430796"/>
            <a:ext cx="934295" cy="934295"/>
          </a:xfrm>
          <a:prstGeom prst="rect">
            <a:avLst/>
          </a:prstGeom>
        </p:spPr>
      </p:pic>
    </p:spTree>
    <p:extLst>
      <p:ext uri="{BB962C8B-B14F-4D97-AF65-F5344CB8AC3E}">
        <p14:creationId xmlns:p14="http://schemas.microsoft.com/office/powerpoint/2010/main" val="3883960050"/>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95B1C95-1B16-DAC8-87D0-1A07872DFF7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93537" y="1365091"/>
            <a:ext cx="8124784" cy="4570191"/>
          </a:xfrm>
          <a:prstGeom prst="rect">
            <a:avLst/>
          </a:prstGeom>
        </p:spPr>
      </p:pic>
      <p:pic>
        <p:nvPicPr>
          <p:cNvPr id="5" name="Picture 4">
            <a:extLst>
              <a:ext uri="{FF2B5EF4-FFF2-40B4-BE49-F238E27FC236}">
                <a16:creationId xmlns:a16="http://schemas.microsoft.com/office/drawing/2014/main" id="{0197195B-C36A-053C-42BE-1830A7DADC6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593352" y="430796"/>
            <a:ext cx="934295" cy="934295"/>
          </a:xfrm>
          <a:prstGeom prst="rect">
            <a:avLst/>
          </a:prstGeom>
        </p:spPr>
      </p:pic>
      <p:sp>
        <p:nvSpPr>
          <p:cNvPr id="6" name="TextBox 5">
            <a:extLst>
              <a:ext uri="{FF2B5EF4-FFF2-40B4-BE49-F238E27FC236}">
                <a16:creationId xmlns:a16="http://schemas.microsoft.com/office/drawing/2014/main" id="{A8746BF0-6E81-E959-1BAE-7A2CA61049E1}"/>
              </a:ext>
            </a:extLst>
          </p:cNvPr>
          <p:cNvSpPr txBox="1"/>
          <p:nvPr/>
        </p:nvSpPr>
        <p:spPr>
          <a:xfrm>
            <a:off x="248856" y="5565949"/>
            <a:ext cx="7575630" cy="738664"/>
          </a:xfrm>
          <a:prstGeom prst="rect">
            <a:avLst/>
          </a:prstGeom>
          <a:noFill/>
        </p:spPr>
        <p:txBody>
          <a:bodyPr wrap="square">
            <a:spAutoFit/>
          </a:bodyPr>
          <a:lstStyle/>
          <a:p>
            <a:r>
              <a:rPr lang="en-GB" sz="1400" dirty="0">
                <a:latin typeface="Arial" panose="020B0604020202020204" pitchFamily="34" charset="0"/>
                <a:cs typeface="Arial" panose="020B0604020202020204" pitchFamily="34" charset="0"/>
              </a:rPr>
              <a:t>Chiew et al., 2026 </a:t>
            </a:r>
          </a:p>
          <a:p>
            <a:r>
              <a:rPr lang="en-GB" sz="1400" dirty="0">
                <a:latin typeface="Arial" panose="020B0604020202020204" pitchFamily="34" charset="0"/>
                <a:cs typeface="Arial" panose="020B0604020202020204" pitchFamily="34" charset="0"/>
              </a:rPr>
              <a:t>In review, J. Appl. Ecol. </a:t>
            </a:r>
          </a:p>
          <a:p>
            <a:r>
              <a:rPr lang="en-GB" sz="1400" b="1" dirty="0">
                <a:latin typeface="Arial" panose="020B0604020202020204" pitchFamily="34" charset="0"/>
                <a:cs typeface="Arial" panose="020B0604020202020204" pitchFamily="34" charset="0"/>
              </a:rPr>
              <a:t>Preprint: </a:t>
            </a:r>
            <a:r>
              <a:rPr lang="en-GB" sz="1400" dirty="0">
                <a:latin typeface="Arial" panose="020B0604020202020204" pitchFamily="34" charset="0"/>
                <a:cs typeface="Arial" panose="020B0604020202020204" pitchFamily="34" charset="0"/>
              </a:rPr>
              <a:t>https://</a:t>
            </a:r>
            <a:r>
              <a:rPr lang="en-GB" sz="1400" dirty="0" err="1">
                <a:latin typeface="Arial" panose="020B0604020202020204" pitchFamily="34" charset="0"/>
                <a:cs typeface="Arial" panose="020B0604020202020204" pitchFamily="34" charset="0"/>
              </a:rPr>
              <a:t>doi.org</a:t>
            </a:r>
            <a:r>
              <a:rPr lang="en-GB" sz="1400" dirty="0">
                <a:latin typeface="Arial" panose="020B0604020202020204" pitchFamily="34" charset="0"/>
                <a:cs typeface="Arial" panose="020B0604020202020204" pitchFamily="34" charset="0"/>
              </a:rPr>
              <a:t>/10.64898/2026.02.10.704761 </a:t>
            </a:r>
            <a:endParaRPr lang="en-US" sz="1400" dirty="0">
              <a:latin typeface="Arial" panose="020B0604020202020204" pitchFamily="34" charset="0"/>
              <a:cs typeface="Arial" panose="020B0604020202020204" pitchFamily="34" charset="0"/>
            </a:endParaRPr>
          </a:p>
        </p:txBody>
      </p:sp>
      <p:sp>
        <p:nvSpPr>
          <p:cNvPr id="7" name="TextBox 6">
            <a:extLst>
              <a:ext uri="{FF2B5EF4-FFF2-40B4-BE49-F238E27FC236}">
                <a16:creationId xmlns:a16="http://schemas.microsoft.com/office/drawing/2014/main" id="{AEE31897-B8F0-EFBA-D3D1-9988822D4149}"/>
              </a:ext>
            </a:extLst>
          </p:cNvPr>
          <p:cNvSpPr txBox="1"/>
          <p:nvPr/>
        </p:nvSpPr>
        <p:spPr>
          <a:xfrm>
            <a:off x="248856" y="436278"/>
            <a:ext cx="4572000" cy="461665"/>
          </a:xfrm>
          <a:prstGeom prst="rect">
            <a:avLst/>
          </a:prstGeom>
          <a:noFill/>
        </p:spPr>
        <p:txBody>
          <a:bodyPr wrap="square">
            <a:spAutoFit/>
          </a:bodyPr>
          <a:lstStyle/>
          <a:p>
            <a:r>
              <a:rPr lang="en-GB" sz="2400" b="1" dirty="0">
                <a:latin typeface="Arial" panose="020B0604020202020204" pitchFamily="34" charset="0"/>
                <a:cs typeface="Arial" panose="020B0604020202020204" pitchFamily="34" charset="0"/>
              </a:rPr>
              <a:t>Results</a:t>
            </a:r>
            <a:endParaRPr lang="en-US" sz="2400"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95753109"/>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DEC2219-07B8-2C3A-C075-C54F0B75DF93}"/>
              </a:ext>
            </a:extLst>
          </p:cNvPr>
          <p:cNvSpPr txBox="1"/>
          <p:nvPr/>
        </p:nvSpPr>
        <p:spPr>
          <a:xfrm>
            <a:off x="412568" y="613976"/>
            <a:ext cx="5793922" cy="461665"/>
          </a:xfrm>
          <a:prstGeom prst="rect">
            <a:avLst/>
          </a:prstGeom>
          <a:noFill/>
        </p:spPr>
        <p:txBody>
          <a:bodyPr wrap="square">
            <a:spAutoFit/>
          </a:bodyPr>
          <a:lstStyle/>
          <a:p>
            <a:r>
              <a:rPr lang="en-US" sz="2400" b="1" dirty="0">
                <a:latin typeface="Arial" panose="020B0604020202020204" pitchFamily="34" charset="0"/>
                <a:cs typeface="Arial" panose="020B0604020202020204" pitchFamily="34" charset="0"/>
              </a:rPr>
              <a:t>Global and Local estimation SEMs</a:t>
            </a:r>
          </a:p>
        </p:txBody>
      </p:sp>
      <p:sp>
        <p:nvSpPr>
          <p:cNvPr id="5" name="TextBox 4">
            <a:extLst>
              <a:ext uri="{FF2B5EF4-FFF2-40B4-BE49-F238E27FC236}">
                <a16:creationId xmlns:a16="http://schemas.microsoft.com/office/drawing/2014/main" id="{1D63D65C-8853-99BC-65E6-8E2CF2FC205C}"/>
              </a:ext>
            </a:extLst>
          </p:cNvPr>
          <p:cNvSpPr txBox="1"/>
          <p:nvPr/>
        </p:nvSpPr>
        <p:spPr>
          <a:xfrm>
            <a:off x="412568" y="1542819"/>
            <a:ext cx="3904789" cy="2862322"/>
          </a:xfrm>
          <a:prstGeom prst="rect">
            <a:avLst/>
          </a:prstGeom>
          <a:noFill/>
        </p:spPr>
        <p:txBody>
          <a:bodyPr wrap="square">
            <a:spAutoFit/>
          </a:bodyPr>
          <a:lstStyle/>
          <a:p>
            <a:r>
              <a:rPr lang="en-US" b="1" dirty="0">
                <a:latin typeface="Arial" panose="020B0604020202020204" pitchFamily="34" charset="0"/>
                <a:cs typeface="Arial" panose="020B0604020202020204" pitchFamily="34" charset="0"/>
              </a:rPr>
              <a:t>Global estimation SEM</a:t>
            </a:r>
          </a:p>
          <a:p>
            <a:endParaRPr lang="en-US"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dirty="0">
                <a:latin typeface="Arial" panose="020B0604020202020204" pitchFamily="34" charset="0"/>
                <a:cs typeface="Arial" panose="020B0604020202020204" pitchFamily="34" charset="0"/>
              </a:rPr>
              <a:t>Considers the model as a whole</a:t>
            </a:r>
          </a:p>
          <a:p>
            <a:endParaRPr lang="en-US"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dirty="0">
                <a:latin typeface="Arial" panose="020B0604020202020204" pitchFamily="34" charset="0"/>
                <a:cs typeface="Arial" panose="020B0604020202020204" pitchFamily="34" charset="0"/>
              </a:rPr>
              <a:t>Compares observed covariances to model covariances</a:t>
            </a:r>
          </a:p>
          <a:p>
            <a:endParaRPr lang="en-US"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dirty="0">
                <a:latin typeface="Arial" panose="020B0604020202020204" pitchFamily="34" charset="0"/>
                <a:cs typeface="Arial" panose="020B0604020202020204" pitchFamily="34" charset="0"/>
              </a:rPr>
              <a:t>A linear modeling technique</a:t>
            </a:r>
          </a:p>
          <a:p>
            <a:endParaRPr lang="en-US"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b="1" dirty="0" err="1">
                <a:latin typeface="Arial" panose="020B0604020202020204" pitchFamily="34" charset="0"/>
                <a:cs typeface="Arial" panose="020B0604020202020204" pitchFamily="34" charset="0"/>
              </a:rPr>
              <a:t>lavaan</a:t>
            </a:r>
            <a:r>
              <a:rPr lang="en-US" dirty="0">
                <a:latin typeface="Arial" panose="020B0604020202020204" pitchFamily="34" charset="0"/>
                <a:cs typeface="Arial" panose="020B0604020202020204" pitchFamily="34" charset="0"/>
              </a:rPr>
              <a:t> R-package </a:t>
            </a:r>
          </a:p>
        </p:txBody>
      </p:sp>
      <p:sp>
        <p:nvSpPr>
          <p:cNvPr id="7" name="TextBox 6">
            <a:extLst>
              <a:ext uri="{FF2B5EF4-FFF2-40B4-BE49-F238E27FC236}">
                <a16:creationId xmlns:a16="http://schemas.microsoft.com/office/drawing/2014/main" id="{8E0C145F-B6D5-2167-938C-513C5941C809}"/>
              </a:ext>
            </a:extLst>
          </p:cNvPr>
          <p:cNvSpPr txBox="1"/>
          <p:nvPr/>
        </p:nvSpPr>
        <p:spPr>
          <a:xfrm>
            <a:off x="4572000" y="1404319"/>
            <a:ext cx="3765369" cy="3139321"/>
          </a:xfrm>
          <a:prstGeom prst="rect">
            <a:avLst/>
          </a:prstGeom>
          <a:noFill/>
        </p:spPr>
        <p:txBody>
          <a:bodyPr wrap="square">
            <a:spAutoFit/>
          </a:bodyPr>
          <a:lstStyle/>
          <a:p>
            <a:r>
              <a:rPr lang="en-US" b="1" dirty="0">
                <a:latin typeface="Arial" panose="020B0604020202020204" pitchFamily="34" charset="0"/>
                <a:cs typeface="Arial" panose="020B0604020202020204" pitchFamily="34" charset="0"/>
              </a:rPr>
              <a:t>Local estimation SEM</a:t>
            </a:r>
          </a:p>
          <a:p>
            <a:endParaRPr lang="en-US"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dirty="0">
                <a:latin typeface="Arial" panose="020B0604020202020204" pitchFamily="34" charset="0"/>
                <a:cs typeface="Arial" panose="020B0604020202020204" pitchFamily="34" charset="0"/>
              </a:rPr>
              <a:t>Breaks the model in sub-models</a:t>
            </a:r>
          </a:p>
          <a:p>
            <a:endParaRPr lang="en-US"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dirty="0">
                <a:latin typeface="Arial" panose="020B0604020202020204" pitchFamily="34" charset="0"/>
                <a:cs typeface="Arial" panose="020B0604020202020204" pitchFamily="34" charset="0"/>
              </a:rPr>
              <a:t>Evaluates the importance of missing paths for the model</a:t>
            </a:r>
          </a:p>
          <a:p>
            <a:endParaRPr lang="en-US"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dirty="0">
                <a:latin typeface="Arial" panose="020B0604020202020204" pitchFamily="34" charset="0"/>
                <a:cs typeface="Arial" panose="020B0604020202020204" pitchFamily="34" charset="0"/>
              </a:rPr>
              <a:t>Allows generalized mixed models</a:t>
            </a:r>
          </a:p>
          <a:p>
            <a:endParaRPr lang="en-US"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b="1" dirty="0" err="1">
                <a:latin typeface="Arial" panose="020B0604020202020204" pitchFamily="34" charset="0"/>
                <a:cs typeface="Arial" panose="020B0604020202020204" pitchFamily="34" charset="0"/>
              </a:rPr>
              <a:t>piecewiseSEM</a:t>
            </a:r>
            <a:r>
              <a:rPr lang="en-US" dirty="0">
                <a:latin typeface="Arial" panose="020B0604020202020204" pitchFamily="34" charset="0"/>
                <a:cs typeface="Arial" panose="020B0604020202020204" pitchFamily="34" charset="0"/>
              </a:rPr>
              <a:t> R-package</a:t>
            </a:r>
          </a:p>
        </p:txBody>
      </p:sp>
    </p:spTree>
    <p:extLst>
      <p:ext uri="{BB962C8B-B14F-4D97-AF65-F5344CB8AC3E}">
        <p14:creationId xmlns:p14="http://schemas.microsoft.com/office/powerpoint/2010/main" val="2745025695"/>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28650" y="1460340"/>
            <a:ext cx="7886700" cy="4351338"/>
          </a:xfrm>
        </p:spPr>
        <p:txBody>
          <a:bodyPr>
            <a:normAutofit/>
          </a:bodyPr>
          <a:lstStyle/>
          <a:p>
            <a:pPr>
              <a:lnSpc>
                <a:spcPct val="150000"/>
              </a:lnSpc>
            </a:pPr>
            <a:r>
              <a:rPr lang="en-GB" sz="1800" dirty="0">
                <a:latin typeface="Arial" panose="020B0604020202020204" pitchFamily="34" charset="0"/>
                <a:cs typeface="Arial" panose="020B0604020202020204" pitchFamily="34" charset="0"/>
              </a:rPr>
              <a:t>Study the direct and indirect effects of explanatory variables.</a:t>
            </a:r>
          </a:p>
          <a:p>
            <a:pPr>
              <a:lnSpc>
                <a:spcPct val="150000"/>
              </a:lnSpc>
            </a:pPr>
            <a:r>
              <a:rPr lang="en-GB" sz="1800" dirty="0">
                <a:latin typeface="Arial" panose="020B0604020202020204" pitchFamily="34" charset="0"/>
                <a:cs typeface="Arial" panose="020B0604020202020204" pitchFamily="34" charset="0"/>
              </a:rPr>
              <a:t>It does not assume that only the dependent variable is subject to measurement error.</a:t>
            </a:r>
          </a:p>
          <a:p>
            <a:pPr>
              <a:lnSpc>
                <a:spcPct val="150000"/>
              </a:lnSpc>
            </a:pPr>
            <a:r>
              <a:rPr lang="en-GB" sz="1800" dirty="0">
                <a:latin typeface="Arial" panose="020B0604020202020204" pitchFamily="34" charset="0"/>
                <a:cs typeface="Arial" panose="020B0604020202020204" pitchFamily="34" charset="0"/>
              </a:rPr>
              <a:t>Evaluates the whole model.</a:t>
            </a:r>
          </a:p>
          <a:p>
            <a:pPr>
              <a:lnSpc>
                <a:spcPct val="150000"/>
              </a:lnSpc>
            </a:pPr>
            <a:r>
              <a:rPr lang="en-GB" sz="1800" dirty="0">
                <a:latin typeface="Arial" panose="020B0604020202020204" pitchFamily="34" charset="0"/>
                <a:cs typeface="Arial" panose="020B0604020202020204" pitchFamily="34" charset="0"/>
              </a:rPr>
              <a:t>Can be used to test latent variables (cannot be observed or measured).</a:t>
            </a:r>
          </a:p>
          <a:p>
            <a:pPr>
              <a:lnSpc>
                <a:spcPct val="150000"/>
              </a:lnSpc>
            </a:pPr>
            <a:r>
              <a:rPr lang="en-GB" sz="1800" dirty="0">
                <a:latin typeface="Arial" panose="020B0604020202020204" pitchFamily="34" charset="0"/>
                <a:cs typeface="Arial" panose="020B0604020202020204" pitchFamily="34" charset="0"/>
              </a:rPr>
              <a:t>Large sample size. </a:t>
            </a:r>
          </a:p>
          <a:p>
            <a:pPr>
              <a:lnSpc>
                <a:spcPct val="150000"/>
              </a:lnSpc>
            </a:pPr>
            <a:r>
              <a:rPr lang="en-GB" sz="1800" dirty="0">
                <a:latin typeface="Arial" panose="020B0604020202020204" pitchFamily="34" charset="0"/>
                <a:cs typeface="Arial" panose="020B0604020202020204" pitchFamily="34" charset="0"/>
              </a:rPr>
              <a:t>The method is continuously developed. </a:t>
            </a:r>
          </a:p>
          <a:p>
            <a:endParaRPr lang="en-GB" sz="1800" dirty="0">
              <a:latin typeface="Arial" panose="020B06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9ACB31FB-CD41-155D-FA67-812D3FB227FC}"/>
              </a:ext>
            </a:extLst>
          </p:cNvPr>
          <p:cNvSpPr txBox="1"/>
          <p:nvPr/>
        </p:nvSpPr>
        <p:spPr>
          <a:xfrm>
            <a:off x="628650" y="659887"/>
            <a:ext cx="6139542" cy="461665"/>
          </a:xfrm>
          <a:prstGeom prst="rect">
            <a:avLst/>
          </a:prstGeom>
          <a:noFill/>
        </p:spPr>
        <p:txBody>
          <a:bodyPr wrap="square">
            <a:spAutoFit/>
          </a:bodyPr>
          <a:lstStyle/>
          <a:p>
            <a:r>
              <a:rPr lang="en-GB" sz="2400" b="1" dirty="0">
                <a:latin typeface="Arial" panose="020B0604020202020204" pitchFamily="34" charset="0"/>
                <a:cs typeface="Arial" panose="020B0604020202020204" pitchFamily="34" charset="0"/>
              </a:rPr>
              <a:t>Advantages and Limitations of SEM </a:t>
            </a:r>
            <a:endParaRPr lang="en-US" sz="2400"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53187305"/>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7AD3C47E-338C-451C-5A35-311FF1ECD126}"/>
              </a:ext>
            </a:extLst>
          </p:cNvPr>
          <p:cNvSpPr txBox="1"/>
          <p:nvPr/>
        </p:nvSpPr>
        <p:spPr>
          <a:xfrm>
            <a:off x="413658" y="670450"/>
            <a:ext cx="4887686" cy="461665"/>
          </a:xfrm>
          <a:prstGeom prst="rect">
            <a:avLst/>
          </a:prstGeom>
          <a:noFill/>
        </p:spPr>
        <p:txBody>
          <a:bodyPr wrap="square">
            <a:spAutoFit/>
          </a:bodyPr>
          <a:lstStyle/>
          <a:p>
            <a:r>
              <a:rPr lang="en-SG" sz="2400" b="1" dirty="0">
                <a:solidFill>
                  <a:srgbClr val="000000"/>
                </a:solidFill>
                <a:effectLst/>
                <a:latin typeface="Arial" panose="020B0604020202020204" pitchFamily="34" charset="0"/>
                <a:cs typeface="Arial" panose="020B0604020202020204" pitchFamily="34" charset="0"/>
              </a:rPr>
              <a:t>Let’s go through a real example</a:t>
            </a:r>
          </a:p>
        </p:txBody>
      </p:sp>
      <p:sp>
        <p:nvSpPr>
          <p:cNvPr id="5" name="TextBox 4">
            <a:extLst>
              <a:ext uri="{FF2B5EF4-FFF2-40B4-BE49-F238E27FC236}">
                <a16:creationId xmlns:a16="http://schemas.microsoft.com/office/drawing/2014/main" id="{276B6129-BA56-4808-D07D-1E7DA58308C4}"/>
              </a:ext>
            </a:extLst>
          </p:cNvPr>
          <p:cNvSpPr txBox="1"/>
          <p:nvPr/>
        </p:nvSpPr>
        <p:spPr>
          <a:xfrm>
            <a:off x="413658" y="1475240"/>
            <a:ext cx="7979229" cy="871970"/>
          </a:xfrm>
          <a:prstGeom prst="rect">
            <a:avLst/>
          </a:prstGeom>
          <a:noFill/>
        </p:spPr>
        <p:txBody>
          <a:bodyPr wrap="square">
            <a:spAutoFit/>
          </a:bodyPr>
          <a:lstStyle/>
          <a:p>
            <a:pPr>
              <a:lnSpc>
                <a:spcPct val="150000"/>
              </a:lnSpc>
            </a:pPr>
            <a:r>
              <a:rPr lang="en-SG" dirty="0">
                <a:solidFill>
                  <a:srgbClr val="000000"/>
                </a:solidFill>
                <a:effectLst/>
                <a:latin typeface="Arial" panose="020B0604020202020204" pitchFamily="34" charset="0"/>
                <a:cs typeface="Arial" panose="020B0604020202020204" pitchFamily="34" charset="0"/>
              </a:rPr>
              <a:t>The indirect effects of habitat disturbance on the bird communities in a tropical African forest </a:t>
            </a:r>
          </a:p>
        </p:txBody>
      </p:sp>
      <p:sp>
        <p:nvSpPr>
          <p:cNvPr id="7" name="TextBox 6">
            <a:extLst>
              <a:ext uri="{FF2B5EF4-FFF2-40B4-BE49-F238E27FC236}">
                <a16:creationId xmlns:a16="http://schemas.microsoft.com/office/drawing/2014/main" id="{ABA2D999-87EB-C2C7-4437-B5A15A664764}"/>
              </a:ext>
            </a:extLst>
          </p:cNvPr>
          <p:cNvSpPr txBox="1"/>
          <p:nvPr/>
        </p:nvSpPr>
        <p:spPr>
          <a:xfrm>
            <a:off x="413658" y="2690336"/>
            <a:ext cx="4572000" cy="1477328"/>
          </a:xfrm>
          <a:prstGeom prst="rect">
            <a:avLst/>
          </a:prstGeom>
          <a:noFill/>
        </p:spPr>
        <p:txBody>
          <a:bodyPr wrap="square">
            <a:spAutoFit/>
          </a:bodyPr>
          <a:lstStyle/>
          <a:p>
            <a:r>
              <a:rPr lang="en-US" sz="1800" dirty="0" err="1">
                <a:latin typeface="Arial" panose="020B0604020202020204" pitchFamily="34" charset="0"/>
                <a:cs typeface="Arial" panose="020B0604020202020204" pitchFamily="34" charset="0"/>
              </a:rPr>
              <a:t>Mammides</a:t>
            </a:r>
            <a:r>
              <a:rPr lang="en-US" sz="1800" dirty="0">
                <a:latin typeface="Arial" panose="020B0604020202020204" pitchFamily="34" charset="0"/>
                <a:cs typeface="Arial" panose="020B0604020202020204" pitchFamily="34" charset="0"/>
              </a:rPr>
              <a:t> et al., 2015</a:t>
            </a:r>
          </a:p>
          <a:p>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Biodiversity Conservation</a:t>
            </a:r>
          </a:p>
          <a:p>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hlinkClick r:id="rId2"/>
              </a:rPr>
              <a:t>https://doi.org/10.1007/s10531-015-1001-x</a:t>
            </a:r>
            <a:r>
              <a:rPr lang="en-US" dirty="0">
                <a:latin typeface="Arial" panose="020B0604020202020204" pitchFamily="34" charset="0"/>
                <a:cs typeface="Arial" panose="020B0604020202020204" pitchFamily="34" charset="0"/>
              </a:rPr>
              <a:t> </a:t>
            </a:r>
          </a:p>
        </p:txBody>
      </p:sp>
    </p:spTree>
    <p:extLst>
      <p:ext uri="{BB962C8B-B14F-4D97-AF65-F5344CB8AC3E}">
        <p14:creationId xmlns:p14="http://schemas.microsoft.com/office/powerpoint/2010/main" val="3912611024"/>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3D4D8D71-844F-9F86-F828-5B90ED53470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3027" y="969219"/>
            <a:ext cx="8133563" cy="4800209"/>
          </a:xfrm>
          <a:prstGeom prst="rect">
            <a:avLst/>
          </a:prstGeom>
        </p:spPr>
      </p:pic>
      <p:sp>
        <p:nvSpPr>
          <p:cNvPr id="9" name="TextBox 8">
            <a:extLst>
              <a:ext uri="{FF2B5EF4-FFF2-40B4-BE49-F238E27FC236}">
                <a16:creationId xmlns:a16="http://schemas.microsoft.com/office/drawing/2014/main" id="{CBADDE26-3C19-EB3A-63D7-875252F972F3}"/>
              </a:ext>
            </a:extLst>
          </p:cNvPr>
          <p:cNvSpPr txBox="1"/>
          <p:nvPr/>
        </p:nvSpPr>
        <p:spPr>
          <a:xfrm>
            <a:off x="424543" y="282628"/>
            <a:ext cx="4871356" cy="461665"/>
          </a:xfrm>
          <a:prstGeom prst="rect">
            <a:avLst/>
          </a:prstGeom>
          <a:noFill/>
        </p:spPr>
        <p:txBody>
          <a:bodyPr wrap="square">
            <a:spAutoFit/>
          </a:bodyPr>
          <a:lstStyle/>
          <a:p>
            <a:r>
              <a:rPr lang="en-GB" sz="2400" b="1" dirty="0">
                <a:latin typeface="Arial" panose="020B0604020202020204" pitchFamily="34" charset="0"/>
                <a:cs typeface="Arial" panose="020B0604020202020204" pitchFamily="34" charset="0"/>
              </a:rPr>
              <a:t>Reviewed the literature</a:t>
            </a:r>
            <a:endParaRPr lang="en-US" sz="2400"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048566568"/>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30EAD9B-44B6-3D78-194D-A42842BA3316}"/>
              </a:ext>
            </a:extLst>
          </p:cNvPr>
          <p:cNvSpPr txBox="1"/>
          <p:nvPr/>
        </p:nvSpPr>
        <p:spPr>
          <a:xfrm>
            <a:off x="854528" y="363287"/>
            <a:ext cx="4572000" cy="461665"/>
          </a:xfrm>
          <a:prstGeom prst="rect">
            <a:avLst/>
          </a:prstGeom>
          <a:noFill/>
        </p:spPr>
        <p:txBody>
          <a:bodyPr wrap="square">
            <a:spAutoFit/>
          </a:bodyPr>
          <a:lstStyle/>
          <a:p>
            <a:r>
              <a:rPr lang="en-GB" sz="2400" b="1" dirty="0">
                <a:latin typeface="Arial" panose="020B0604020202020204" pitchFamily="34" charset="0"/>
                <a:cs typeface="Arial" panose="020B0604020202020204" pitchFamily="34" charset="0"/>
              </a:rPr>
              <a:t>Proposed casual model/DAG</a:t>
            </a:r>
            <a:endParaRPr lang="en-US" sz="2400" b="1" dirty="0">
              <a:latin typeface="Arial" panose="020B0604020202020204" pitchFamily="34" charset="0"/>
              <a:cs typeface="Arial" panose="020B0604020202020204" pitchFamily="34" charset="0"/>
            </a:endParaRPr>
          </a:p>
        </p:txBody>
      </p:sp>
      <p:sp>
        <p:nvSpPr>
          <p:cNvPr id="7" name="TextBox 6">
            <a:extLst>
              <a:ext uri="{FF2B5EF4-FFF2-40B4-BE49-F238E27FC236}">
                <a16:creationId xmlns:a16="http://schemas.microsoft.com/office/drawing/2014/main" id="{642A0A53-1A9B-42DC-3EE9-49160D37B99F}"/>
              </a:ext>
            </a:extLst>
          </p:cNvPr>
          <p:cNvSpPr txBox="1"/>
          <p:nvPr/>
        </p:nvSpPr>
        <p:spPr>
          <a:xfrm>
            <a:off x="6081043" y="1549600"/>
            <a:ext cx="2862943" cy="646331"/>
          </a:xfrm>
          <a:prstGeom prst="rect">
            <a:avLst/>
          </a:prstGeom>
          <a:noFill/>
        </p:spPr>
        <p:txBody>
          <a:bodyPr wrap="square">
            <a:spAutoFit/>
          </a:bodyPr>
          <a:lstStyle/>
          <a:p>
            <a:r>
              <a:rPr lang="en-SG" dirty="0">
                <a:solidFill>
                  <a:srgbClr val="000000"/>
                </a:solidFill>
                <a:effectLst/>
                <a:latin typeface="Helvetica" pitchFamily="2" charset="0"/>
              </a:rPr>
              <a:t>FHD = Foliage </a:t>
            </a:r>
            <a:r>
              <a:rPr lang="en-SG" dirty="0">
                <a:solidFill>
                  <a:srgbClr val="000000"/>
                </a:solidFill>
                <a:latin typeface="Arial" panose="020B0604020202020204" pitchFamily="34" charset="0"/>
                <a:cs typeface="Arial" panose="020B0604020202020204" pitchFamily="34" charset="0"/>
              </a:rPr>
              <a:t>H</a:t>
            </a:r>
            <a:r>
              <a:rPr lang="en-SG" dirty="0">
                <a:solidFill>
                  <a:srgbClr val="000000"/>
                </a:solidFill>
                <a:effectLst/>
                <a:latin typeface="Arial" panose="020B0604020202020204" pitchFamily="34" charset="0"/>
                <a:cs typeface="Arial" panose="020B0604020202020204" pitchFamily="34" charset="0"/>
              </a:rPr>
              <a:t>eight</a:t>
            </a:r>
            <a:r>
              <a:rPr lang="en-SG" dirty="0">
                <a:solidFill>
                  <a:srgbClr val="000000"/>
                </a:solidFill>
                <a:effectLst/>
                <a:latin typeface="Helvetica" pitchFamily="2" charset="0"/>
              </a:rPr>
              <a:t> </a:t>
            </a:r>
            <a:r>
              <a:rPr lang="en-SG" dirty="0">
                <a:solidFill>
                  <a:srgbClr val="000000"/>
                </a:solidFill>
                <a:latin typeface="Helvetica" pitchFamily="2" charset="0"/>
              </a:rPr>
              <a:t>D</a:t>
            </a:r>
            <a:r>
              <a:rPr lang="en-SG" dirty="0">
                <a:solidFill>
                  <a:srgbClr val="000000"/>
                </a:solidFill>
                <a:effectLst/>
                <a:latin typeface="Helvetica" pitchFamily="2" charset="0"/>
              </a:rPr>
              <a:t>iversity</a:t>
            </a:r>
          </a:p>
        </p:txBody>
      </p:sp>
      <p:sp>
        <p:nvSpPr>
          <p:cNvPr id="15" name="TextBox 14">
            <a:extLst>
              <a:ext uri="{FF2B5EF4-FFF2-40B4-BE49-F238E27FC236}">
                <a16:creationId xmlns:a16="http://schemas.microsoft.com/office/drawing/2014/main" id="{A341D716-F93C-ECC0-B95A-F81C8E95782F}"/>
              </a:ext>
            </a:extLst>
          </p:cNvPr>
          <p:cNvSpPr txBox="1"/>
          <p:nvPr/>
        </p:nvSpPr>
        <p:spPr>
          <a:xfrm>
            <a:off x="854528" y="3265113"/>
            <a:ext cx="1377043" cy="646331"/>
          </a:xfrm>
          <a:prstGeom prst="rect">
            <a:avLst/>
          </a:prstGeom>
          <a:noFill/>
          <a:ln>
            <a:solidFill>
              <a:schemeClr val="tx1"/>
            </a:solidFill>
          </a:ln>
        </p:spPr>
        <p:txBody>
          <a:bodyPr wrap="square">
            <a:spAutoFit/>
          </a:bodyPr>
          <a:lstStyle/>
          <a:p>
            <a:r>
              <a:rPr lang="en-US" dirty="0">
                <a:latin typeface="Arial" panose="020B0604020202020204" pitchFamily="34" charset="0"/>
                <a:cs typeface="Arial" panose="020B0604020202020204" pitchFamily="34" charset="0"/>
              </a:rPr>
              <a:t>Habitat disturbance</a:t>
            </a:r>
          </a:p>
        </p:txBody>
      </p:sp>
      <p:sp>
        <p:nvSpPr>
          <p:cNvPr id="17" name="TextBox 16">
            <a:extLst>
              <a:ext uri="{FF2B5EF4-FFF2-40B4-BE49-F238E27FC236}">
                <a16:creationId xmlns:a16="http://schemas.microsoft.com/office/drawing/2014/main" id="{CBE8900B-EB59-EEF2-EE88-EFBEC1D17BDB}"/>
              </a:ext>
            </a:extLst>
          </p:cNvPr>
          <p:cNvSpPr txBox="1"/>
          <p:nvPr/>
        </p:nvSpPr>
        <p:spPr>
          <a:xfrm>
            <a:off x="854529" y="4994150"/>
            <a:ext cx="1377042" cy="646331"/>
          </a:xfrm>
          <a:prstGeom prst="rect">
            <a:avLst/>
          </a:prstGeom>
          <a:noFill/>
          <a:ln>
            <a:solidFill>
              <a:schemeClr val="tx1"/>
            </a:solidFill>
          </a:ln>
        </p:spPr>
        <p:txBody>
          <a:bodyPr wrap="square">
            <a:spAutoFit/>
          </a:bodyPr>
          <a:lstStyle/>
          <a:p>
            <a:r>
              <a:rPr lang="en-US" dirty="0">
                <a:latin typeface="Arial" panose="020B0604020202020204" pitchFamily="34" charset="0"/>
                <a:cs typeface="Arial" panose="020B0604020202020204" pitchFamily="34" charset="0"/>
              </a:rPr>
              <a:t>Distance to forest edge</a:t>
            </a:r>
          </a:p>
        </p:txBody>
      </p:sp>
      <p:cxnSp>
        <p:nvCxnSpPr>
          <p:cNvPr id="18" name="Conector recto de flecha 4">
            <a:extLst>
              <a:ext uri="{FF2B5EF4-FFF2-40B4-BE49-F238E27FC236}">
                <a16:creationId xmlns:a16="http://schemas.microsoft.com/office/drawing/2014/main" id="{89BC82B2-069A-69F1-EB42-7DAC2C55E85B}"/>
              </a:ext>
            </a:extLst>
          </p:cNvPr>
          <p:cNvCxnSpPr>
            <a:cxnSpLocks/>
            <a:stCxn id="17" idx="0"/>
            <a:endCxn id="15" idx="2"/>
          </p:cNvCxnSpPr>
          <p:nvPr/>
        </p:nvCxnSpPr>
        <p:spPr>
          <a:xfrm flipV="1">
            <a:off x="1543050" y="3911444"/>
            <a:ext cx="0" cy="1082706"/>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45B89FB3-EE4C-4815-5645-EBBF8CBFD9CE}"/>
              </a:ext>
            </a:extLst>
          </p:cNvPr>
          <p:cNvSpPr txBox="1"/>
          <p:nvPr/>
        </p:nvSpPr>
        <p:spPr>
          <a:xfrm>
            <a:off x="3755571" y="1584492"/>
            <a:ext cx="1289957" cy="646331"/>
          </a:xfrm>
          <a:prstGeom prst="rect">
            <a:avLst/>
          </a:prstGeom>
          <a:noFill/>
          <a:ln>
            <a:solidFill>
              <a:schemeClr val="tx1"/>
            </a:solidFill>
          </a:ln>
        </p:spPr>
        <p:txBody>
          <a:bodyPr wrap="square">
            <a:spAutoFit/>
          </a:bodyPr>
          <a:lstStyle/>
          <a:p>
            <a:r>
              <a:rPr lang="en-US" dirty="0">
                <a:latin typeface="Arial" panose="020B0604020202020204" pitchFamily="34" charset="0"/>
                <a:cs typeface="Arial" panose="020B0604020202020204" pitchFamily="34" charset="0"/>
              </a:rPr>
              <a:t>Canopy openness </a:t>
            </a:r>
          </a:p>
        </p:txBody>
      </p:sp>
      <p:cxnSp>
        <p:nvCxnSpPr>
          <p:cNvPr id="21" name="Conector recto de flecha 4">
            <a:extLst>
              <a:ext uri="{FF2B5EF4-FFF2-40B4-BE49-F238E27FC236}">
                <a16:creationId xmlns:a16="http://schemas.microsoft.com/office/drawing/2014/main" id="{48369788-3180-E771-4CBB-972B92251754}"/>
              </a:ext>
            </a:extLst>
          </p:cNvPr>
          <p:cNvCxnSpPr>
            <a:cxnSpLocks/>
            <a:stCxn id="15" idx="3"/>
            <a:endCxn id="20" idx="1"/>
          </p:cNvCxnSpPr>
          <p:nvPr/>
        </p:nvCxnSpPr>
        <p:spPr>
          <a:xfrm flipV="1">
            <a:off x="2231571" y="1907658"/>
            <a:ext cx="1524000" cy="1680621"/>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01FA888E-4342-47E0-5F4E-3E90DBDC18D7}"/>
              </a:ext>
            </a:extLst>
          </p:cNvPr>
          <p:cNvSpPr txBox="1"/>
          <p:nvPr/>
        </p:nvSpPr>
        <p:spPr>
          <a:xfrm>
            <a:off x="4011389" y="2667942"/>
            <a:ext cx="778320" cy="369332"/>
          </a:xfrm>
          <a:prstGeom prst="rect">
            <a:avLst/>
          </a:prstGeom>
          <a:noFill/>
          <a:ln>
            <a:solidFill>
              <a:schemeClr val="tx1"/>
            </a:solidFill>
          </a:ln>
        </p:spPr>
        <p:txBody>
          <a:bodyPr wrap="square">
            <a:spAutoFit/>
          </a:bodyPr>
          <a:lstStyle/>
          <a:p>
            <a:r>
              <a:rPr lang="en-US" dirty="0">
                <a:latin typeface="Arial" panose="020B0604020202020204" pitchFamily="34" charset="0"/>
                <a:cs typeface="Arial" panose="020B0604020202020204" pitchFamily="34" charset="0"/>
              </a:rPr>
              <a:t>FHD</a:t>
            </a:r>
          </a:p>
        </p:txBody>
      </p:sp>
      <p:cxnSp>
        <p:nvCxnSpPr>
          <p:cNvPr id="24" name="Conector recto de flecha 4">
            <a:extLst>
              <a:ext uri="{FF2B5EF4-FFF2-40B4-BE49-F238E27FC236}">
                <a16:creationId xmlns:a16="http://schemas.microsoft.com/office/drawing/2014/main" id="{E5A8BA11-56BC-0A6A-F820-3144599E7234}"/>
              </a:ext>
            </a:extLst>
          </p:cNvPr>
          <p:cNvCxnSpPr>
            <a:cxnSpLocks/>
            <a:stCxn id="15" idx="3"/>
            <a:endCxn id="23" idx="1"/>
          </p:cNvCxnSpPr>
          <p:nvPr/>
        </p:nvCxnSpPr>
        <p:spPr>
          <a:xfrm flipV="1">
            <a:off x="2231571" y="2852608"/>
            <a:ext cx="1779818" cy="735671"/>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85EAEB3B-7E32-E64E-8A85-BB560B6CBBBB}"/>
              </a:ext>
            </a:extLst>
          </p:cNvPr>
          <p:cNvSpPr txBox="1"/>
          <p:nvPr/>
        </p:nvSpPr>
        <p:spPr>
          <a:xfrm>
            <a:off x="3633109" y="3981230"/>
            <a:ext cx="1534880" cy="646331"/>
          </a:xfrm>
          <a:prstGeom prst="rect">
            <a:avLst/>
          </a:prstGeom>
          <a:noFill/>
          <a:ln>
            <a:solidFill>
              <a:schemeClr val="tx1"/>
            </a:solidFill>
          </a:ln>
        </p:spPr>
        <p:txBody>
          <a:bodyPr wrap="square">
            <a:spAutoFit/>
          </a:bodyPr>
          <a:lstStyle/>
          <a:p>
            <a:r>
              <a:rPr lang="en-US" dirty="0">
                <a:latin typeface="Arial" panose="020B0604020202020204" pitchFamily="34" charset="0"/>
                <a:cs typeface="Arial" panose="020B0604020202020204" pitchFamily="34" charset="0"/>
              </a:rPr>
              <a:t>Plant diversity</a:t>
            </a:r>
          </a:p>
        </p:txBody>
      </p:sp>
      <p:cxnSp>
        <p:nvCxnSpPr>
          <p:cNvPr id="28" name="Conector recto de flecha 4">
            <a:extLst>
              <a:ext uri="{FF2B5EF4-FFF2-40B4-BE49-F238E27FC236}">
                <a16:creationId xmlns:a16="http://schemas.microsoft.com/office/drawing/2014/main" id="{444F0081-326F-74A4-7272-6A5B9FA25E4D}"/>
              </a:ext>
            </a:extLst>
          </p:cNvPr>
          <p:cNvCxnSpPr>
            <a:cxnSpLocks/>
            <a:stCxn id="15" idx="3"/>
            <a:endCxn id="27" idx="1"/>
          </p:cNvCxnSpPr>
          <p:nvPr/>
        </p:nvCxnSpPr>
        <p:spPr>
          <a:xfrm>
            <a:off x="2231571" y="3588279"/>
            <a:ext cx="1401538" cy="716117"/>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DCE0B059-E5D1-4D9E-F910-1FF477DF3197}"/>
              </a:ext>
            </a:extLst>
          </p:cNvPr>
          <p:cNvSpPr txBox="1"/>
          <p:nvPr/>
        </p:nvSpPr>
        <p:spPr>
          <a:xfrm>
            <a:off x="5887822" y="3257476"/>
            <a:ext cx="1624693" cy="646331"/>
          </a:xfrm>
          <a:prstGeom prst="rect">
            <a:avLst/>
          </a:prstGeom>
          <a:noFill/>
          <a:ln>
            <a:solidFill>
              <a:schemeClr val="tx1"/>
            </a:solidFill>
          </a:ln>
        </p:spPr>
        <p:txBody>
          <a:bodyPr wrap="square">
            <a:spAutoFit/>
          </a:bodyPr>
          <a:lstStyle/>
          <a:p>
            <a:r>
              <a:rPr lang="en-US" dirty="0">
                <a:latin typeface="Arial" panose="020B0604020202020204" pitchFamily="34" charset="0"/>
                <a:cs typeface="Arial" panose="020B0604020202020204" pitchFamily="34" charset="0"/>
              </a:rPr>
              <a:t>Bird communities</a:t>
            </a:r>
          </a:p>
        </p:txBody>
      </p:sp>
      <p:cxnSp>
        <p:nvCxnSpPr>
          <p:cNvPr id="32" name="Conector recto de flecha 4">
            <a:extLst>
              <a:ext uri="{FF2B5EF4-FFF2-40B4-BE49-F238E27FC236}">
                <a16:creationId xmlns:a16="http://schemas.microsoft.com/office/drawing/2014/main" id="{1B12B8C6-59F9-7CC0-D992-8C1E7EEC166E}"/>
              </a:ext>
            </a:extLst>
          </p:cNvPr>
          <p:cNvCxnSpPr>
            <a:cxnSpLocks/>
            <a:stCxn id="20" idx="3"/>
          </p:cNvCxnSpPr>
          <p:nvPr/>
        </p:nvCxnSpPr>
        <p:spPr>
          <a:xfrm>
            <a:off x="5045528" y="1907658"/>
            <a:ext cx="1035515" cy="1280033"/>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34" name="Conector recto de flecha 4">
            <a:extLst>
              <a:ext uri="{FF2B5EF4-FFF2-40B4-BE49-F238E27FC236}">
                <a16:creationId xmlns:a16="http://schemas.microsoft.com/office/drawing/2014/main" id="{1FF5ECC1-CAB6-04CF-CD5D-71E465D660E2}"/>
              </a:ext>
            </a:extLst>
          </p:cNvPr>
          <p:cNvCxnSpPr>
            <a:cxnSpLocks/>
            <a:stCxn id="15" idx="3"/>
          </p:cNvCxnSpPr>
          <p:nvPr/>
        </p:nvCxnSpPr>
        <p:spPr>
          <a:xfrm flipV="1">
            <a:off x="2231571" y="3580642"/>
            <a:ext cx="3656251" cy="7637"/>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36" name="Conector recto de flecha 4">
            <a:extLst>
              <a:ext uri="{FF2B5EF4-FFF2-40B4-BE49-F238E27FC236}">
                <a16:creationId xmlns:a16="http://schemas.microsoft.com/office/drawing/2014/main" id="{91B2D120-B62E-1598-7EA2-84A479086186}"/>
              </a:ext>
            </a:extLst>
          </p:cNvPr>
          <p:cNvCxnSpPr>
            <a:cxnSpLocks/>
            <a:stCxn id="27" idx="3"/>
          </p:cNvCxnSpPr>
          <p:nvPr/>
        </p:nvCxnSpPr>
        <p:spPr>
          <a:xfrm flipV="1">
            <a:off x="5167989" y="3731059"/>
            <a:ext cx="719833" cy="573337"/>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57" name="Conector recto de flecha 4">
            <a:extLst>
              <a:ext uri="{FF2B5EF4-FFF2-40B4-BE49-F238E27FC236}">
                <a16:creationId xmlns:a16="http://schemas.microsoft.com/office/drawing/2014/main" id="{EB9969E5-BF51-7DE4-D640-6A20BC2F6589}"/>
              </a:ext>
            </a:extLst>
          </p:cNvPr>
          <p:cNvCxnSpPr>
            <a:cxnSpLocks/>
          </p:cNvCxnSpPr>
          <p:nvPr/>
        </p:nvCxnSpPr>
        <p:spPr>
          <a:xfrm>
            <a:off x="4789709" y="2838711"/>
            <a:ext cx="1083139" cy="599151"/>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73" name="Curved Connector 72">
            <a:extLst>
              <a:ext uri="{FF2B5EF4-FFF2-40B4-BE49-F238E27FC236}">
                <a16:creationId xmlns:a16="http://schemas.microsoft.com/office/drawing/2014/main" id="{9F750AE1-02E6-A507-2CF5-4F940F28F2E7}"/>
              </a:ext>
            </a:extLst>
          </p:cNvPr>
          <p:cNvCxnSpPr>
            <a:stCxn id="17" idx="2"/>
            <a:endCxn id="31" idx="2"/>
          </p:cNvCxnSpPr>
          <p:nvPr/>
        </p:nvCxnSpPr>
        <p:spPr>
          <a:xfrm rot="5400000" flipH="1" flipV="1">
            <a:off x="3253272" y="2193584"/>
            <a:ext cx="1736674" cy="5157119"/>
          </a:xfrm>
          <a:prstGeom prst="curvedConnector3">
            <a:avLst>
              <a:gd name="adj1" fmla="val -13163"/>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6" name="TextBox 75">
            <a:extLst>
              <a:ext uri="{FF2B5EF4-FFF2-40B4-BE49-F238E27FC236}">
                <a16:creationId xmlns:a16="http://schemas.microsoft.com/office/drawing/2014/main" id="{CA387ECD-5F44-A18F-C870-45B56CD043A5}"/>
              </a:ext>
            </a:extLst>
          </p:cNvPr>
          <p:cNvSpPr txBox="1"/>
          <p:nvPr/>
        </p:nvSpPr>
        <p:spPr>
          <a:xfrm>
            <a:off x="781049" y="1580674"/>
            <a:ext cx="1523999" cy="646331"/>
          </a:xfrm>
          <a:prstGeom prst="rect">
            <a:avLst/>
          </a:prstGeom>
          <a:noFill/>
          <a:ln>
            <a:solidFill>
              <a:srgbClr val="231DF4"/>
            </a:solidFill>
          </a:ln>
        </p:spPr>
        <p:txBody>
          <a:bodyPr wrap="square">
            <a:spAutoFit/>
          </a:bodyPr>
          <a:lstStyle/>
          <a:p>
            <a:r>
              <a:rPr lang="en-US" dirty="0">
                <a:latin typeface="Arial" panose="020B0604020202020204" pitchFamily="34" charset="0"/>
                <a:cs typeface="Arial" panose="020B0604020202020204" pitchFamily="34" charset="0"/>
              </a:rPr>
              <a:t>Human pop. density</a:t>
            </a:r>
          </a:p>
        </p:txBody>
      </p:sp>
      <p:cxnSp>
        <p:nvCxnSpPr>
          <p:cNvPr id="77" name="Conector recto de flecha 4">
            <a:extLst>
              <a:ext uri="{FF2B5EF4-FFF2-40B4-BE49-F238E27FC236}">
                <a16:creationId xmlns:a16="http://schemas.microsoft.com/office/drawing/2014/main" id="{F7F5CA6B-9D2E-2A6E-2D56-A2224416D49F}"/>
              </a:ext>
            </a:extLst>
          </p:cNvPr>
          <p:cNvCxnSpPr>
            <a:cxnSpLocks/>
            <a:stCxn id="76" idx="2"/>
          </p:cNvCxnSpPr>
          <p:nvPr/>
        </p:nvCxnSpPr>
        <p:spPr>
          <a:xfrm flipH="1">
            <a:off x="1543048" y="2227005"/>
            <a:ext cx="1" cy="1038108"/>
          </a:xfrm>
          <a:prstGeom prst="straightConnector1">
            <a:avLst/>
          </a:prstGeom>
          <a:ln w="25400">
            <a:solidFill>
              <a:srgbClr val="231DF4"/>
            </a:solidFill>
            <a:tailEnd type="triangle" w="lg" len="lg"/>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1322D944-E32D-EB54-6AD6-5CA18C60B6A9}"/>
              </a:ext>
            </a:extLst>
          </p:cNvPr>
          <p:cNvSpPr txBox="1"/>
          <p:nvPr/>
        </p:nvSpPr>
        <p:spPr>
          <a:xfrm>
            <a:off x="594360" y="6080760"/>
            <a:ext cx="7303770" cy="369332"/>
          </a:xfrm>
          <a:prstGeom prst="rect">
            <a:avLst/>
          </a:prstGeom>
          <a:noFill/>
        </p:spPr>
        <p:txBody>
          <a:bodyPr wrap="square">
            <a:spAutoFit/>
          </a:bodyPr>
          <a:lstStyle/>
          <a:p>
            <a:r>
              <a:rPr lang="en-US" dirty="0">
                <a:solidFill>
                  <a:srgbClr val="FF0000"/>
                </a:solidFill>
                <a:latin typeface="Arial" panose="020B0604020202020204" pitchFamily="34" charset="0"/>
                <a:cs typeface="Arial" panose="020B0604020202020204" pitchFamily="34" charset="0"/>
              </a:rPr>
              <a:t>Open Script_3 and run codes for this analysis </a:t>
            </a:r>
          </a:p>
        </p:txBody>
      </p:sp>
    </p:spTree>
    <p:extLst>
      <p:ext uri="{BB962C8B-B14F-4D97-AF65-F5344CB8AC3E}">
        <p14:creationId xmlns:p14="http://schemas.microsoft.com/office/powerpoint/2010/main" val="233704933"/>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304D3DF4-08AD-AC11-9A79-2271F6A94314}"/>
              </a:ext>
            </a:extLst>
          </p:cNvPr>
          <p:cNvSpPr txBox="1"/>
          <p:nvPr/>
        </p:nvSpPr>
        <p:spPr>
          <a:xfrm>
            <a:off x="281332" y="135123"/>
            <a:ext cx="4572000" cy="461665"/>
          </a:xfrm>
          <a:prstGeom prst="rect">
            <a:avLst/>
          </a:prstGeom>
          <a:noFill/>
        </p:spPr>
        <p:txBody>
          <a:bodyPr wrap="square">
            <a:spAutoFit/>
          </a:bodyPr>
          <a:lstStyle/>
          <a:p>
            <a:r>
              <a:rPr lang="en-GB" sz="2400" b="1" dirty="0">
                <a:latin typeface="Arial" panose="020B0604020202020204" pitchFamily="34" charset="0"/>
                <a:cs typeface="Arial" panose="020B0604020202020204" pitchFamily="34" charset="0"/>
              </a:rPr>
              <a:t>Results</a:t>
            </a:r>
            <a:endParaRPr lang="en-US" sz="2400" b="1" dirty="0">
              <a:latin typeface="Arial" panose="020B0604020202020204" pitchFamily="34" charset="0"/>
              <a:cs typeface="Arial" panose="020B0604020202020204" pitchFamily="34" charset="0"/>
            </a:endParaRPr>
          </a:p>
        </p:txBody>
      </p:sp>
      <p:sp>
        <p:nvSpPr>
          <p:cNvPr id="11" name="TextBox 10">
            <a:extLst>
              <a:ext uri="{FF2B5EF4-FFF2-40B4-BE49-F238E27FC236}">
                <a16:creationId xmlns:a16="http://schemas.microsoft.com/office/drawing/2014/main" id="{26228614-D8DA-66B5-D2BA-56EA793137A0}"/>
              </a:ext>
            </a:extLst>
          </p:cNvPr>
          <p:cNvSpPr txBox="1"/>
          <p:nvPr/>
        </p:nvSpPr>
        <p:spPr>
          <a:xfrm>
            <a:off x="484414" y="2187426"/>
            <a:ext cx="1377043" cy="923330"/>
          </a:xfrm>
          <a:prstGeom prst="rect">
            <a:avLst/>
          </a:prstGeom>
          <a:noFill/>
          <a:ln>
            <a:solidFill>
              <a:schemeClr val="tx1"/>
            </a:solidFill>
          </a:ln>
        </p:spPr>
        <p:txBody>
          <a:bodyPr wrap="square">
            <a:spAutoFit/>
          </a:bodyPr>
          <a:lstStyle/>
          <a:p>
            <a:r>
              <a:rPr lang="en-US" dirty="0">
                <a:latin typeface="Arial" panose="020B0604020202020204" pitchFamily="34" charset="0"/>
                <a:cs typeface="Arial" panose="020B0604020202020204" pitchFamily="34" charset="0"/>
              </a:rPr>
              <a:t>Habitat disturbance</a:t>
            </a:r>
          </a:p>
          <a:p>
            <a:r>
              <a:rPr lang="en-US" dirty="0">
                <a:latin typeface="Arial" panose="020B0604020202020204" pitchFamily="34" charset="0"/>
                <a:cs typeface="Arial" panose="020B0604020202020204" pitchFamily="34" charset="0"/>
              </a:rPr>
              <a:t> </a:t>
            </a:r>
            <a:r>
              <a:rPr lang="en-US" sz="1400" dirty="0">
                <a:latin typeface="Arial" panose="020B0604020202020204" pitchFamily="34" charset="0"/>
                <a:cs typeface="Arial" panose="020B0604020202020204" pitchFamily="34" charset="0"/>
              </a:rPr>
              <a:t>R</a:t>
            </a:r>
            <a:r>
              <a:rPr lang="en-US" sz="1400" baseline="30000" dirty="0">
                <a:latin typeface="Arial" panose="020B0604020202020204" pitchFamily="34" charset="0"/>
                <a:cs typeface="Arial" panose="020B0604020202020204" pitchFamily="34" charset="0"/>
              </a:rPr>
              <a:t>2</a:t>
            </a:r>
            <a:r>
              <a:rPr lang="en-US" sz="1400" dirty="0">
                <a:latin typeface="Arial" panose="020B0604020202020204" pitchFamily="34" charset="0"/>
                <a:cs typeface="Arial" panose="020B0604020202020204" pitchFamily="34" charset="0"/>
              </a:rPr>
              <a:t>=0.008</a:t>
            </a:r>
          </a:p>
        </p:txBody>
      </p:sp>
      <p:sp>
        <p:nvSpPr>
          <p:cNvPr id="12" name="TextBox 11">
            <a:extLst>
              <a:ext uri="{FF2B5EF4-FFF2-40B4-BE49-F238E27FC236}">
                <a16:creationId xmlns:a16="http://schemas.microsoft.com/office/drawing/2014/main" id="{6C28CEF6-2C3C-3351-17B2-82AC0BD2407B}"/>
              </a:ext>
            </a:extLst>
          </p:cNvPr>
          <p:cNvSpPr txBox="1"/>
          <p:nvPr/>
        </p:nvSpPr>
        <p:spPr>
          <a:xfrm>
            <a:off x="484415" y="3916463"/>
            <a:ext cx="1377042" cy="646331"/>
          </a:xfrm>
          <a:prstGeom prst="rect">
            <a:avLst/>
          </a:prstGeom>
          <a:noFill/>
          <a:ln>
            <a:solidFill>
              <a:schemeClr val="tx1"/>
            </a:solidFill>
          </a:ln>
        </p:spPr>
        <p:txBody>
          <a:bodyPr wrap="square">
            <a:spAutoFit/>
          </a:bodyPr>
          <a:lstStyle/>
          <a:p>
            <a:r>
              <a:rPr lang="en-US" dirty="0">
                <a:latin typeface="Arial" panose="020B0604020202020204" pitchFamily="34" charset="0"/>
                <a:cs typeface="Arial" panose="020B0604020202020204" pitchFamily="34" charset="0"/>
              </a:rPr>
              <a:t>Distance to forest edge</a:t>
            </a:r>
          </a:p>
        </p:txBody>
      </p:sp>
      <p:cxnSp>
        <p:nvCxnSpPr>
          <p:cNvPr id="13" name="Conector recto de flecha 4">
            <a:extLst>
              <a:ext uri="{FF2B5EF4-FFF2-40B4-BE49-F238E27FC236}">
                <a16:creationId xmlns:a16="http://schemas.microsoft.com/office/drawing/2014/main" id="{C8526336-B9E1-3CA5-EECA-198E0CC05BF3}"/>
              </a:ext>
            </a:extLst>
          </p:cNvPr>
          <p:cNvCxnSpPr>
            <a:cxnSpLocks/>
            <a:stCxn id="12" idx="0"/>
            <a:endCxn id="11" idx="2"/>
          </p:cNvCxnSpPr>
          <p:nvPr/>
        </p:nvCxnSpPr>
        <p:spPr>
          <a:xfrm flipV="1">
            <a:off x="1172936" y="3110756"/>
            <a:ext cx="0" cy="805707"/>
          </a:xfrm>
          <a:prstGeom prst="straightConnector1">
            <a:avLst/>
          </a:prstGeom>
          <a:ln w="12700">
            <a:solidFill>
              <a:schemeClr val="bg2">
                <a:lumMod val="90000"/>
              </a:schemeClr>
            </a:solidFill>
            <a:tailEnd type="triangle" w="lg" len="lg"/>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C7FE1AED-2343-CF80-E8B6-86DF8FC58EE4}"/>
              </a:ext>
            </a:extLst>
          </p:cNvPr>
          <p:cNvSpPr txBox="1"/>
          <p:nvPr/>
        </p:nvSpPr>
        <p:spPr>
          <a:xfrm>
            <a:off x="3385457" y="506805"/>
            <a:ext cx="1289957" cy="923330"/>
          </a:xfrm>
          <a:prstGeom prst="rect">
            <a:avLst/>
          </a:prstGeom>
          <a:noFill/>
          <a:ln>
            <a:solidFill>
              <a:schemeClr val="tx1"/>
            </a:solidFill>
          </a:ln>
        </p:spPr>
        <p:txBody>
          <a:bodyPr wrap="square">
            <a:spAutoFit/>
          </a:bodyPr>
          <a:lstStyle/>
          <a:p>
            <a:r>
              <a:rPr lang="en-US" dirty="0">
                <a:latin typeface="Arial" panose="020B0604020202020204" pitchFamily="34" charset="0"/>
                <a:cs typeface="Arial" panose="020B0604020202020204" pitchFamily="34" charset="0"/>
              </a:rPr>
              <a:t>Canopy openness</a:t>
            </a:r>
          </a:p>
          <a:p>
            <a:r>
              <a:rPr lang="en-US" sz="1400" dirty="0">
                <a:latin typeface="Arial" panose="020B0604020202020204" pitchFamily="34" charset="0"/>
                <a:cs typeface="Arial" panose="020B0604020202020204" pitchFamily="34" charset="0"/>
              </a:rPr>
              <a:t>R</a:t>
            </a:r>
            <a:r>
              <a:rPr lang="en-US" sz="1400" baseline="30000" dirty="0">
                <a:latin typeface="Arial" panose="020B0604020202020204" pitchFamily="34" charset="0"/>
                <a:cs typeface="Arial" panose="020B0604020202020204" pitchFamily="34" charset="0"/>
              </a:rPr>
              <a:t>2</a:t>
            </a:r>
            <a:r>
              <a:rPr lang="en-US" sz="1400" dirty="0">
                <a:latin typeface="Arial" panose="020B0604020202020204" pitchFamily="34" charset="0"/>
                <a:cs typeface="Arial" panose="020B0604020202020204" pitchFamily="34" charset="0"/>
              </a:rPr>
              <a:t>=0.39</a:t>
            </a:r>
            <a:r>
              <a:rPr lang="en-US" dirty="0">
                <a:latin typeface="Arial" panose="020B0604020202020204" pitchFamily="34" charset="0"/>
                <a:cs typeface="Arial" panose="020B0604020202020204" pitchFamily="34" charset="0"/>
              </a:rPr>
              <a:t> </a:t>
            </a:r>
          </a:p>
        </p:txBody>
      </p:sp>
      <p:cxnSp>
        <p:nvCxnSpPr>
          <p:cNvPr id="15" name="Conector recto de flecha 4">
            <a:extLst>
              <a:ext uri="{FF2B5EF4-FFF2-40B4-BE49-F238E27FC236}">
                <a16:creationId xmlns:a16="http://schemas.microsoft.com/office/drawing/2014/main" id="{7B8B0F26-C463-A0F6-5808-C4D9E65CEEB9}"/>
              </a:ext>
            </a:extLst>
          </p:cNvPr>
          <p:cNvCxnSpPr>
            <a:cxnSpLocks/>
            <a:stCxn id="11" idx="3"/>
            <a:endCxn id="14" idx="1"/>
          </p:cNvCxnSpPr>
          <p:nvPr/>
        </p:nvCxnSpPr>
        <p:spPr>
          <a:xfrm flipV="1">
            <a:off x="1861457" y="968470"/>
            <a:ext cx="1524000" cy="1680621"/>
          </a:xfrm>
          <a:prstGeom prst="straightConnector1">
            <a:avLst/>
          </a:prstGeom>
          <a:ln w="7874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42FCBB7D-02E5-441B-CA6E-75DABA090BE5}"/>
              </a:ext>
            </a:extLst>
          </p:cNvPr>
          <p:cNvSpPr txBox="1"/>
          <p:nvPr/>
        </p:nvSpPr>
        <p:spPr>
          <a:xfrm>
            <a:off x="3571538" y="1602651"/>
            <a:ext cx="927005" cy="584775"/>
          </a:xfrm>
          <a:prstGeom prst="rect">
            <a:avLst/>
          </a:prstGeom>
          <a:noFill/>
          <a:ln>
            <a:solidFill>
              <a:schemeClr val="tx1"/>
            </a:solidFill>
          </a:ln>
        </p:spPr>
        <p:txBody>
          <a:bodyPr wrap="square">
            <a:spAutoFit/>
          </a:bodyPr>
          <a:lstStyle/>
          <a:p>
            <a:r>
              <a:rPr lang="en-US" dirty="0">
                <a:latin typeface="Arial" panose="020B0604020202020204" pitchFamily="34" charset="0"/>
                <a:cs typeface="Arial" panose="020B0604020202020204" pitchFamily="34" charset="0"/>
              </a:rPr>
              <a:t>FHD</a:t>
            </a:r>
          </a:p>
          <a:p>
            <a:r>
              <a:rPr lang="en-US" sz="1400" dirty="0">
                <a:latin typeface="Arial" panose="020B0604020202020204" pitchFamily="34" charset="0"/>
                <a:cs typeface="Arial" panose="020B0604020202020204" pitchFamily="34" charset="0"/>
              </a:rPr>
              <a:t>R</a:t>
            </a:r>
            <a:r>
              <a:rPr lang="en-US" sz="1400" baseline="30000" dirty="0">
                <a:latin typeface="Arial" panose="020B0604020202020204" pitchFamily="34" charset="0"/>
                <a:cs typeface="Arial" panose="020B0604020202020204" pitchFamily="34" charset="0"/>
              </a:rPr>
              <a:t>2</a:t>
            </a:r>
            <a:r>
              <a:rPr lang="en-US" sz="1400" dirty="0">
                <a:latin typeface="Arial" panose="020B0604020202020204" pitchFamily="34" charset="0"/>
                <a:cs typeface="Arial" panose="020B0604020202020204" pitchFamily="34" charset="0"/>
              </a:rPr>
              <a:t>=0.45</a:t>
            </a:r>
          </a:p>
        </p:txBody>
      </p:sp>
      <p:cxnSp>
        <p:nvCxnSpPr>
          <p:cNvPr id="17" name="Conector recto de flecha 4">
            <a:extLst>
              <a:ext uri="{FF2B5EF4-FFF2-40B4-BE49-F238E27FC236}">
                <a16:creationId xmlns:a16="http://schemas.microsoft.com/office/drawing/2014/main" id="{3070EA1F-25AF-CABD-95F0-CAF882372AB3}"/>
              </a:ext>
            </a:extLst>
          </p:cNvPr>
          <p:cNvCxnSpPr>
            <a:cxnSpLocks/>
            <a:stCxn id="11" idx="3"/>
            <a:endCxn id="16" idx="1"/>
          </p:cNvCxnSpPr>
          <p:nvPr/>
        </p:nvCxnSpPr>
        <p:spPr>
          <a:xfrm flipV="1">
            <a:off x="1861457" y="1895039"/>
            <a:ext cx="1710081" cy="754052"/>
          </a:xfrm>
          <a:prstGeom prst="straightConnector1">
            <a:avLst/>
          </a:prstGeom>
          <a:ln w="8509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73A88ECB-5A7B-70CD-78B9-AE75E4E07D9E}"/>
              </a:ext>
            </a:extLst>
          </p:cNvPr>
          <p:cNvSpPr txBox="1"/>
          <p:nvPr/>
        </p:nvSpPr>
        <p:spPr>
          <a:xfrm>
            <a:off x="3262995" y="2903543"/>
            <a:ext cx="1534880" cy="861774"/>
          </a:xfrm>
          <a:prstGeom prst="rect">
            <a:avLst/>
          </a:prstGeom>
          <a:noFill/>
          <a:ln>
            <a:solidFill>
              <a:schemeClr val="tx1"/>
            </a:solidFill>
          </a:ln>
        </p:spPr>
        <p:txBody>
          <a:bodyPr wrap="square">
            <a:spAutoFit/>
          </a:bodyPr>
          <a:lstStyle/>
          <a:p>
            <a:r>
              <a:rPr lang="en-US" dirty="0">
                <a:latin typeface="Arial" panose="020B0604020202020204" pitchFamily="34" charset="0"/>
                <a:cs typeface="Arial" panose="020B0604020202020204" pitchFamily="34" charset="0"/>
              </a:rPr>
              <a:t>Plant diversity</a:t>
            </a:r>
          </a:p>
          <a:p>
            <a:r>
              <a:rPr lang="en-US" sz="1400" dirty="0">
                <a:latin typeface="Arial" panose="020B0604020202020204" pitchFamily="34" charset="0"/>
                <a:cs typeface="Arial" panose="020B0604020202020204" pitchFamily="34" charset="0"/>
              </a:rPr>
              <a:t>R</a:t>
            </a:r>
            <a:r>
              <a:rPr lang="en-US" sz="1400" baseline="30000" dirty="0">
                <a:latin typeface="Arial" panose="020B0604020202020204" pitchFamily="34" charset="0"/>
                <a:cs typeface="Arial" panose="020B0604020202020204" pitchFamily="34" charset="0"/>
              </a:rPr>
              <a:t>2</a:t>
            </a:r>
            <a:r>
              <a:rPr lang="en-US" sz="1400" dirty="0">
                <a:latin typeface="Arial" panose="020B0604020202020204" pitchFamily="34" charset="0"/>
                <a:cs typeface="Arial" panose="020B0604020202020204" pitchFamily="34" charset="0"/>
              </a:rPr>
              <a:t>=0.20</a:t>
            </a:r>
          </a:p>
        </p:txBody>
      </p:sp>
      <p:cxnSp>
        <p:nvCxnSpPr>
          <p:cNvPr id="19" name="Conector recto de flecha 4">
            <a:extLst>
              <a:ext uri="{FF2B5EF4-FFF2-40B4-BE49-F238E27FC236}">
                <a16:creationId xmlns:a16="http://schemas.microsoft.com/office/drawing/2014/main" id="{1D037536-4CCD-1C66-A4A6-62F32D287DE8}"/>
              </a:ext>
            </a:extLst>
          </p:cNvPr>
          <p:cNvCxnSpPr>
            <a:cxnSpLocks/>
            <a:stCxn id="11" idx="3"/>
            <a:endCxn id="18" idx="1"/>
          </p:cNvCxnSpPr>
          <p:nvPr/>
        </p:nvCxnSpPr>
        <p:spPr>
          <a:xfrm>
            <a:off x="1861457" y="2649091"/>
            <a:ext cx="1401538" cy="685339"/>
          </a:xfrm>
          <a:prstGeom prst="straightConnector1">
            <a:avLst/>
          </a:prstGeom>
          <a:ln w="5715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1E7725A0-6F0D-4005-0045-40879BE1B93E}"/>
              </a:ext>
            </a:extLst>
          </p:cNvPr>
          <p:cNvSpPr txBox="1"/>
          <p:nvPr/>
        </p:nvSpPr>
        <p:spPr>
          <a:xfrm>
            <a:off x="5517709" y="2179789"/>
            <a:ext cx="1519906" cy="584775"/>
          </a:xfrm>
          <a:prstGeom prst="rect">
            <a:avLst/>
          </a:prstGeom>
          <a:noFill/>
          <a:ln>
            <a:solidFill>
              <a:schemeClr val="tx1"/>
            </a:solidFill>
          </a:ln>
        </p:spPr>
        <p:txBody>
          <a:bodyPr wrap="square">
            <a:spAutoFit/>
          </a:bodyPr>
          <a:lstStyle/>
          <a:p>
            <a:r>
              <a:rPr lang="en-US" dirty="0">
                <a:latin typeface="Arial" panose="020B0604020202020204" pitchFamily="34" charset="0"/>
                <a:cs typeface="Arial" panose="020B0604020202020204" pitchFamily="34" charset="0"/>
              </a:rPr>
              <a:t>Bird richness</a:t>
            </a:r>
          </a:p>
          <a:p>
            <a:r>
              <a:rPr lang="en-US" sz="1400" dirty="0">
                <a:latin typeface="Arial" panose="020B0604020202020204" pitchFamily="34" charset="0"/>
                <a:cs typeface="Arial" panose="020B0604020202020204" pitchFamily="34" charset="0"/>
              </a:rPr>
              <a:t>R</a:t>
            </a:r>
            <a:r>
              <a:rPr lang="en-US" sz="1400" baseline="30000" dirty="0">
                <a:latin typeface="Arial" panose="020B0604020202020204" pitchFamily="34" charset="0"/>
                <a:cs typeface="Arial" panose="020B0604020202020204" pitchFamily="34" charset="0"/>
              </a:rPr>
              <a:t>2</a:t>
            </a:r>
            <a:r>
              <a:rPr lang="en-US" sz="1400" dirty="0">
                <a:latin typeface="Arial" panose="020B0604020202020204" pitchFamily="34" charset="0"/>
                <a:cs typeface="Arial" panose="020B0604020202020204" pitchFamily="34" charset="0"/>
              </a:rPr>
              <a:t>=0.56</a:t>
            </a:r>
          </a:p>
        </p:txBody>
      </p:sp>
      <p:cxnSp>
        <p:nvCxnSpPr>
          <p:cNvPr id="21" name="Conector recto de flecha 4">
            <a:extLst>
              <a:ext uri="{FF2B5EF4-FFF2-40B4-BE49-F238E27FC236}">
                <a16:creationId xmlns:a16="http://schemas.microsoft.com/office/drawing/2014/main" id="{E404CA32-CF54-CA5F-5EBC-AB83A9F46A7F}"/>
              </a:ext>
            </a:extLst>
          </p:cNvPr>
          <p:cNvCxnSpPr>
            <a:cxnSpLocks/>
            <a:stCxn id="14" idx="3"/>
          </p:cNvCxnSpPr>
          <p:nvPr/>
        </p:nvCxnSpPr>
        <p:spPr>
          <a:xfrm>
            <a:off x="4675414" y="968470"/>
            <a:ext cx="1035515" cy="1141534"/>
          </a:xfrm>
          <a:prstGeom prst="straightConnector1">
            <a:avLst/>
          </a:prstGeom>
          <a:ln w="1270">
            <a:solidFill>
              <a:schemeClr val="bg2">
                <a:lumMod val="75000"/>
              </a:schemeClr>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22" name="Conector recto de flecha 4">
            <a:extLst>
              <a:ext uri="{FF2B5EF4-FFF2-40B4-BE49-F238E27FC236}">
                <a16:creationId xmlns:a16="http://schemas.microsoft.com/office/drawing/2014/main" id="{7020029B-2E20-2D0C-7ED6-BE7C8E070A19}"/>
              </a:ext>
            </a:extLst>
          </p:cNvPr>
          <p:cNvCxnSpPr>
            <a:cxnSpLocks/>
            <a:stCxn id="11" idx="3"/>
          </p:cNvCxnSpPr>
          <p:nvPr/>
        </p:nvCxnSpPr>
        <p:spPr>
          <a:xfrm flipV="1">
            <a:off x="1861457" y="2502955"/>
            <a:ext cx="3656251" cy="146136"/>
          </a:xfrm>
          <a:prstGeom prst="straightConnector1">
            <a:avLst/>
          </a:prstGeom>
          <a:ln w="12700">
            <a:solidFill>
              <a:schemeClr val="bg2">
                <a:lumMod val="75000"/>
              </a:schemeClr>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23" name="Conector recto de flecha 4">
            <a:extLst>
              <a:ext uri="{FF2B5EF4-FFF2-40B4-BE49-F238E27FC236}">
                <a16:creationId xmlns:a16="http://schemas.microsoft.com/office/drawing/2014/main" id="{52DF6B43-7823-C848-ED21-B2466E330289}"/>
              </a:ext>
            </a:extLst>
          </p:cNvPr>
          <p:cNvCxnSpPr>
            <a:cxnSpLocks/>
            <a:stCxn id="18" idx="3"/>
          </p:cNvCxnSpPr>
          <p:nvPr/>
        </p:nvCxnSpPr>
        <p:spPr>
          <a:xfrm flipV="1">
            <a:off x="4797875" y="2653372"/>
            <a:ext cx="719833" cy="681058"/>
          </a:xfrm>
          <a:prstGeom prst="straightConnector1">
            <a:avLst/>
          </a:prstGeom>
          <a:ln w="58419">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24" name="Conector recto de flecha 4">
            <a:extLst>
              <a:ext uri="{FF2B5EF4-FFF2-40B4-BE49-F238E27FC236}">
                <a16:creationId xmlns:a16="http://schemas.microsoft.com/office/drawing/2014/main" id="{8924DA9B-5D8B-E274-4BDA-92FECD84FFA4}"/>
              </a:ext>
            </a:extLst>
          </p:cNvPr>
          <p:cNvCxnSpPr>
            <a:cxnSpLocks/>
            <a:stCxn id="16" idx="3"/>
          </p:cNvCxnSpPr>
          <p:nvPr/>
        </p:nvCxnSpPr>
        <p:spPr>
          <a:xfrm>
            <a:off x="4498543" y="1895039"/>
            <a:ext cx="1004191" cy="465136"/>
          </a:xfrm>
          <a:prstGeom prst="straightConnector1">
            <a:avLst/>
          </a:prstGeom>
          <a:ln w="33020">
            <a:solidFill>
              <a:schemeClr val="bg2">
                <a:lumMod val="75000"/>
              </a:schemeClr>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25" name="Curved Connector 24">
            <a:extLst>
              <a:ext uri="{FF2B5EF4-FFF2-40B4-BE49-F238E27FC236}">
                <a16:creationId xmlns:a16="http://schemas.microsoft.com/office/drawing/2014/main" id="{519AB038-8266-C65B-5C8F-7FD5530DC67E}"/>
              </a:ext>
            </a:extLst>
          </p:cNvPr>
          <p:cNvCxnSpPr>
            <a:cxnSpLocks/>
            <a:stCxn id="12" idx="2"/>
            <a:endCxn id="20" idx="2"/>
          </p:cNvCxnSpPr>
          <p:nvPr/>
        </p:nvCxnSpPr>
        <p:spPr>
          <a:xfrm rot="5400000" flipH="1" flipV="1">
            <a:off x="2826184" y="1111316"/>
            <a:ext cx="1798230" cy="5104726"/>
          </a:xfrm>
          <a:prstGeom prst="curvedConnector3">
            <a:avLst>
              <a:gd name="adj1" fmla="val -12713"/>
            </a:avLst>
          </a:prstGeom>
          <a:ln w="3937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C4864039-F831-8DC5-AF33-ED65588F9888}"/>
              </a:ext>
            </a:extLst>
          </p:cNvPr>
          <p:cNvSpPr txBox="1"/>
          <p:nvPr/>
        </p:nvSpPr>
        <p:spPr>
          <a:xfrm>
            <a:off x="550785" y="3317669"/>
            <a:ext cx="783766" cy="307777"/>
          </a:xfrm>
          <a:prstGeom prst="rect">
            <a:avLst/>
          </a:prstGeom>
          <a:noFill/>
        </p:spPr>
        <p:txBody>
          <a:bodyPr wrap="square">
            <a:spAutoFit/>
          </a:bodyPr>
          <a:lstStyle/>
          <a:p>
            <a:r>
              <a:rPr lang="en-US" sz="1400" dirty="0">
                <a:latin typeface="Arial" panose="020B0604020202020204" pitchFamily="34" charset="0"/>
                <a:cs typeface="Arial" panose="020B0604020202020204" pitchFamily="34" charset="0"/>
              </a:rPr>
              <a:t>-0.10</a:t>
            </a:r>
          </a:p>
        </p:txBody>
      </p:sp>
      <p:sp>
        <p:nvSpPr>
          <p:cNvPr id="30" name="TextBox 29">
            <a:extLst>
              <a:ext uri="{FF2B5EF4-FFF2-40B4-BE49-F238E27FC236}">
                <a16:creationId xmlns:a16="http://schemas.microsoft.com/office/drawing/2014/main" id="{538AA0C1-C0EC-CC44-F393-F25898BFA711}"/>
              </a:ext>
            </a:extLst>
          </p:cNvPr>
          <p:cNvSpPr txBox="1"/>
          <p:nvPr/>
        </p:nvSpPr>
        <p:spPr>
          <a:xfrm>
            <a:off x="2197218" y="1385348"/>
            <a:ext cx="729342" cy="307777"/>
          </a:xfrm>
          <a:prstGeom prst="rect">
            <a:avLst/>
          </a:prstGeom>
          <a:noFill/>
        </p:spPr>
        <p:txBody>
          <a:bodyPr wrap="square">
            <a:spAutoFit/>
          </a:bodyPr>
          <a:lstStyle/>
          <a:p>
            <a:r>
              <a:rPr lang="en-US" sz="1400" dirty="0">
                <a:latin typeface="Arial" panose="020B0604020202020204" pitchFamily="34" charset="0"/>
                <a:cs typeface="Arial" panose="020B0604020202020204" pitchFamily="34" charset="0"/>
              </a:rPr>
              <a:t>0.62</a:t>
            </a:r>
          </a:p>
        </p:txBody>
      </p:sp>
      <p:sp>
        <p:nvSpPr>
          <p:cNvPr id="32" name="TextBox 31">
            <a:extLst>
              <a:ext uri="{FF2B5EF4-FFF2-40B4-BE49-F238E27FC236}">
                <a16:creationId xmlns:a16="http://schemas.microsoft.com/office/drawing/2014/main" id="{5265CFC2-73CD-6C69-138A-C4760171E231}"/>
              </a:ext>
            </a:extLst>
          </p:cNvPr>
          <p:cNvSpPr txBox="1"/>
          <p:nvPr/>
        </p:nvSpPr>
        <p:spPr>
          <a:xfrm>
            <a:off x="2431934" y="1895038"/>
            <a:ext cx="908957" cy="307777"/>
          </a:xfrm>
          <a:prstGeom prst="rect">
            <a:avLst/>
          </a:prstGeom>
          <a:noFill/>
        </p:spPr>
        <p:txBody>
          <a:bodyPr wrap="square">
            <a:spAutoFit/>
          </a:bodyPr>
          <a:lstStyle/>
          <a:p>
            <a:r>
              <a:rPr lang="en-US" sz="1400" dirty="0">
                <a:latin typeface="Arial" panose="020B0604020202020204" pitchFamily="34" charset="0"/>
                <a:cs typeface="Arial" panose="020B0604020202020204" pitchFamily="34" charset="0"/>
              </a:rPr>
              <a:t>-0.67</a:t>
            </a:r>
          </a:p>
        </p:txBody>
      </p:sp>
      <p:sp>
        <p:nvSpPr>
          <p:cNvPr id="34" name="TextBox 33">
            <a:extLst>
              <a:ext uri="{FF2B5EF4-FFF2-40B4-BE49-F238E27FC236}">
                <a16:creationId xmlns:a16="http://schemas.microsoft.com/office/drawing/2014/main" id="{9A0458E0-5F2C-68C6-BE8F-87D47C273976}"/>
              </a:ext>
            </a:extLst>
          </p:cNvPr>
          <p:cNvSpPr txBox="1"/>
          <p:nvPr/>
        </p:nvSpPr>
        <p:spPr>
          <a:xfrm>
            <a:off x="2040760" y="3038413"/>
            <a:ext cx="894654" cy="307777"/>
          </a:xfrm>
          <a:prstGeom prst="rect">
            <a:avLst/>
          </a:prstGeom>
          <a:noFill/>
        </p:spPr>
        <p:txBody>
          <a:bodyPr wrap="square">
            <a:spAutoFit/>
          </a:bodyPr>
          <a:lstStyle/>
          <a:p>
            <a:r>
              <a:rPr lang="en-US" sz="1400" dirty="0">
                <a:latin typeface="Arial" panose="020B0604020202020204" pitchFamily="34" charset="0"/>
                <a:cs typeface="Arial" panose="020B0604020202020204" pitchFamily="34" charset="0"/>
              </a:rPr>
              <a:t>-0.45</a:t>
            </a:r>
          </a:p>
        </p:txBody>
      </p:sp>
      <p:sp>
        <p:nvSpPr>
          <p:cNvPr id="36" name="TextBox 35">
            <a:extLst>
              <a:ext uri="{FF2B5EF4-FFF2-40B4-BE49-F238E27FC236}">
                <a16:creationId xmlns:a16="http://schemas.microsoft.com/office/drawing/2014/main" id="{9C032153-B15D-446E-2120-4DD47D8F0F11}"/>
              </a:ext>
            </a:extLst>
          </p:cNvPr>
          <p:cNvSpPr txBox="1"/>
          <p:nvPr/>
        </p:nvSpPr>
        <p:spPr>
          <a:xfrm>
            <a:off x="4993830" y="1088270"/>
            <a:ext cx="879016" cy="307777"/>
          </a:xfrm>
          <a:prstGeom prst="rect">
            <a:avLst/>
          </a:prstGeom>
          <a:noFill/>
        </p:spPr>
        <p:txBody>
          <a:bodyPr wrap="square">
            <a:spAutoFit/>
          </a:bodyPr>
          <a:lstStyle/>
          <a:p>
            <a:r>
              <a:rPr lang="en-US" sz="1400" dirty="0">
                <a:latin typeface="Arial" panose="020B0604020202020204" pitchFamily="34" charset="0"/>
                <a:cs typeface="Arial" panose="020B0604020202020204" pitchFamily="34" charset="0"/>
              </a:rPr>
              <a:t>0.011</a:t>
            </a:r>
          </a:p>
        </p:txBody>
      </p:sp>
      <p:sp>
        <p:nvSpPr>
          <p:cNvPr id="38" name="TextBox 37">
            <a:extLst>
              <a:ext uri="{FF2B5EF4-FFF2-40B4-BE49-F238E27FC236}">
                <a16:creationId xmlns:a16="http://schemas.microsoft.com/office/drawing/2014/main" id="{09A28761-53CF-676F-48E7-B847B32AB2F9}"/>
              </a:ext>
            </a:extLst>
          </p:cNvPr>
          <p:cNvSpPr txBox="1"/>
          <p:nvPr/>
        </p:nvSpPr>
        <p:spPr>
          <a:xfrm>
            <a:off x="4861495" y="1793971"/>
            <a:ext cx="592592" cy="307777"/>
          </a:xfrm>
          <a:prstGeom prst="rect">
            <a:avLst/>
          </a:prstGeom>
          <a:noFill/>
        </p:spPr>
        <p:txBody>
          <a:bodyPr wrap="square">
            <a:spAutoFit/>
          </a:bodyPr>
          <a:lstStyle/>
          <a:p>
            <a:r>
              <a:rPr lang="en-US" sz="1400" dirty="0">
                <a:latin typeface="Arial" panose="020B0604020202020204" pitchFamily="34" charset="0"/>
                <a:cs typeface="Arial" panose="020B0604020202020204" pitchFamily="34" charset="0"/>
              </a:rPr>
              <a:t>0.26</a:t>
            </a:r>
          </a:p>
        </p:txBody>
      </p:sp>
      <p:sp>
        <p:nvSpPr>
          <p:cNvPr id="40" name="TextBox 39">
            <a:extLst>
              <a:ext uri="{FF2B5EF4-FFF2-40B4-BE49-F238E27FC236}">
                <a16:creationId xmlns:a16="http://schemas.microsoft.com/office/drawing/2014/main" id="{D381BAFC-23C9-3C7B-C73D-753BF72DFAE0}"/>
              </a:ext>
            </a:extLst>
          </p:cNvPr>
          <p:cNvSpPr txBox="1"/>
          <p:nvPr/>
        </p:nvSpPr>
        <p:spPr>
          <a:xfrm>
            <a:off x="5037366" y="2996009"/>
            <a:ext cx="835480" cy="307777"/>
          </a:xfrm>
          <a:prstGeom prst="rect">
            <a:avLst/>
          </a:prstGeom>
          <a:noFill/>
        </p:spPr>
        <p:txBody>
          <a:bodyPr wrap="square">
            <a:spAutoFit/>
          </a:bodyPr>
          <a:lstStyle/>
          <a:p>
            <a:r>
              <a:rPr lang="en-US" sz="1400" dirty="0">
                <a:latin typeface="Arial" panose="020B0604020202020204" pitchFamily="34" charset="0"/>
                <a:cs typeface="Arial" panose="020B0604020202020204" pitchFamily="34" charset="0"/>
              </a:rPr>
              <a:t>0.46</a:t>
            </a:r>
          </a:p>
        </p:txBody>
      </p:sp>
      <p:sp>
        <p:nvSpPr>
          <p:cNvPr id="42" name="TextBox 41">
            <a:extLst>
              <a:ext uri="{FF2B5EF4-FFF2-40B4-BE49-F238E27FC236}">
                <a16:creationId xmlns:a16="http://schemas.microsoft.com/office/drawing/2014/main" id="{4C26960D-0B90-D339-AB19-B10798F91628}"/>
              </a:ext>
            </a:extLst>
          </p:cNvPr>
          <p:cNvSpPr txBox="1"/>
          <p:nvPr/>
        </p:nvSpPr>
        <p:spPr>
          <a:xfrm>
            <a:off x="3964434" y="2263022"/>
            <a:ext cx="760626" cy="307777"/>
          </a:xfrm>
          <a:prstGeom prst="rect">
            <a:avLst/>
          </a:prstGeom>
          <a:noFill/>
        </p:spPr>
        <p:txBody>
          <a:bodyPr wrap="square">
            <a:spAutoFit/>
          </a:bodyPr>
          <a:lstStyle/>
          <a:p>
            <a:r>
              <a:rPr lang="en-US" sz="1400" dirty="0">
                <a:latin typeface="Arial" panose="020B0604020202020204" pitchFamily="34" charset="0"/>
                <a:cs typeface="Arial" panose="020B0604020202020204" pitchFamily="34" charset="0"/>
              </a:rPr>
              <a:t>-0.10</a:t>
            </a:r>
          </a:p>
        </p:txBody>
      </p:sp>
      <p:sp>
        <p:nvSpPr>
          <p:cNvPr id="44" name="TextBox 43">
            <a:extLst>
              <a:ext uri="{FF2B5EF4-FFF2-40B4-BE49-F238E27FC236}">
                <a16:creationId xmlns:a16="http://schemas.microsoft.com/office/drawing/2014/main" id="{391FE67C-21C4-1A49-9E45-E8EF91D3EB17}"/>
              </a:ext>
            </a:extLst>
          </p:cNvPr>
          <p:cNvSpPr txBox="1"/>
          <p:nvPr/>
        </p:nvSpPr>
        <p:spPr>
          <a:xfrm>
            <a:off x="4344747" y="4195821"/>
            <a:ext cx="719833" cy="307777"/>
          </a:xfrm>
          <a:prstGeom prst="rect">
            <a:avLst/>
          </a:prstGeom>
          <a:noFill/>
        </p:spPr>
        <p:txBody>
          <a:bodyPr wrap="square">
            <a:spAutoFit/>
          </a:bodyPr>
          <a:lstStyle/>
          <a:p>
            <a:r>
              <a:rPr lang="en-US" sz="1400" dirty="0">
                <a:latin typeface="Arial" panose="020B0604020202020204" pitchFamily="34" charset="0"/>
                <a:cs typeface="Arial" panose="020B0604020202020204" pitchFamily="34" charset="0"/>
              </a:rPr>
              <a:t>0.31</a:t>
            </a:r>
          </a:p>
        </p:txBody>
      </p:sp>
      <p:graphicFrame>
        <p:nvGraphicFramePr>
          <p:cNvPr id="57" name="Table 56">
            <a:extLst>
              <a:ext uri="{FF2B5EF4-FFF2-40B4-BE49-F238E27FC236}">
                <a16:creationId xmlns:a16="http://schemas.microsoft.com/office/drawing/2014/main" id="{01A2DB14-24EE-23A3-7A5D-0586EE28AF72}"/>
              </a:ext>
            </a:extLst>
          </p:cNvPr>
          <p:cNvGraphicFramePr>
            <a:graphicFrameLocks noGrp="1"/>
          </p:cNvGraphicFramePr>
          <p:nvPr/>
        </p:nvGraphicFramePr>
        <p:xfrm>
          <a:off x="281332" y="5137587"/>
          <a:ext cx="3746384" cy="1493520"/>
        </p:xfrm>
        <a:graphic>
          <a:graphicData uri="http://schemas.openxmlformats.org/drawingml/2006/table">
            <a:tbl>
              <a:tblPr firstRow="1" firstCol="1">
                <a:tableStyleId>{9D7B26C5-4107-4FEC-AEDC-1716B250A1EF}</a:tableStyleId>
              </a:tblPr>
              <a:tblGrid>
                <a:gridCol w="1373299">
                  <a:extLst>
                    <a:ext uri="{9D8B030D-6E8A-4147-A177-3AD203B41FA5}">
                      <a16:colId xmlns:a16="http://schemas.microsoft.com/office/drawing/2014/main" val="20000"/>
                    </a:ext>
                  </a:extLst>
                </a:gridCol>
                <a:gridCol w="827314">
                  <a:extLst>
                    <a:ext uri="{9D8B030D-6E8A-4147-A177-3AD203B41FA5}">
                      <a16:colId xmlns:a16="http://schemas.microsoft.com/office/drawing/2014/main" val="20001"/>
                    </a:ext>
                  </a:extLst>
                </a:gridCol>
                <a:gridCol w="729343">
                  <a:extLst>
                    <a:ext uri="{9D8B030D-6E8A-4147-A177-3AD203B41FA5}">
                      <a16:colId xmlns:a16="http://schemas.microsoft.com/office/drawing/2014/main" val="20002"/>
                    </a:ext>
                  </a:extLst>
                </a:gridCol>
                <a:gridCol w="816428">
                  <a:extLst>
                    <a:ext uri="{9D8B030D-6E8A-4147-A177-3AD203B41FA5}">
                      <a16:colId xmlns:a16="http://schemas.microsoft.com/office/drawing/2014/main" val="1811943529"/>
                    </a:ext>
                  </a:extLst>
                </a:gridCol>
              </a:tblGrid>
              <a:tr h="576596">
                <a:tc>
                  <a:txBody>
                    <a:bodyPr/>
                    <a:lstStyle/>
                    <a:p>
                      <a:pPr algn="l">
                        <a:spcAft>
                          <a:spcPts val="0"/>
                        </a:spcAft>
                      </a:pPr>
                      <a:r>
                        <a:rPr lang="en-GB" sz="1400" dirty="0">
                          <a:effectLst/>
                          <a:latin typeface="Arial" panose="020B0604020202020204" pitchFamily="34" charset="0"/>
                          <a:cs typeface="Arial" panose="020B0604020202020204" pitchFamily="34" charset="0"/>
                        </a:rPr>
                        <a:t>Bird Assemblages</a:t>
                      </a:r>
                      <a:endParaRPr lang="en-GB" sz="14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spcAft>
                          <a:spcPts val="0"/>
                        </a:spcAft>
                      </a:pPr>
                      <a:r>
                        <a:rPr lang="en-GB" sz="1400" dirty="0">
                          <a:effectLst/>
                          <a:latin typeface="Arial" panose="020B0604020202020204" pitchFamily="34" charset="0"/>
                          <a:cs typeface="Arial" panose="020B0604020202020204" pitchFamily="34" charset="0"/>
                        </a:rPr>
                        <a:t>Indirect effects</a:t>
                      </a:r>
                      <a:endParaRPr lang="en-GB" sz="14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spcAft>
                          <a:spcPts val="0"/>
                        </a:spcAft>
                      </a:pPr>
                      <a:r>
                        <a:rPr lang="en-GB" sz="1400" dirty="0">
                          <a:effectLst/>
                          <a:latin typeface="Arial" panose="020B0604020202020204" pitchFamily="34" charset="0"/>
                          <a:cs typeface="Arial" panose="020B0604020202020204" pitchFamily="34" charset="0"/>
                        </a:rPr>
                        <a:t>Direct effects</a:t>
                      </a:r>
                      <a:endParaRPr lang="en-GB" sz="14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GB" sz="1400" dirty="0">
                        <a:effectLst/>
                        <a:latin typeface="Arial" panose="020B0604020202020204" pitchFamily="34" charset="0"/>
                        <a:cs typeface="Arial" panose="020B0604020202020204" pitchFamily="34"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GB" sz="1400" dirty="0">
                          <a:effectLst/>
                          <a:latin typeface="Arial" panose="020B0604020202020204" pitchFamily="34" charset="0"/>
                          <a:cs typeface="Arial" panose="020B0604020202020204" pitchFamily="34" charset="0"/>
                        </a:rPr>
                        <a:t>Total effects</a:t>
                      </a:r>
                      <a:endParaRPr lang="en-GB" sz="1400" dirty="0">
                        <a:effectLst/>
                        <a:latin typeface="Arial" panose="020B0604020202020204" pitchFamily="34" charset="0"/>
                        <a:ea typeface="Times New Roman" panose="02020603050405020304" pitchFamily="18" charset="0"/>
                        <a:cs typeface="Arial" panose="020B0604020202020204" pitchFamily="34" charset="0"/>
                      </a:endParaRPr>
                    </a:p>
                    <a:p>
                      <a:pPr algn="ctr">
                        <a:spcAft>
                          <a:spcPts val="0"/>
                        </a:spcAft>
                      </a:pPr>
                      <a:endParaRPr lang="en-GB" sz="14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r h="310138">
                <a:tc>
                  <a:txBody>
                    <a:bodyPr/>
                    <a:lstStyle/>
                    <a:p>
                      <a:pPr algn="l">
                        <a:spcAft>
                          <a:spcPts val="0"/>
                        </a:spcAft>
                      </a:pPr>
                      <a:r>
                        <a:rPr lang="en-GB" sz="1400" dirty="0">
                          <a:effectLst/>
                          <a:latin typeface="Arial" panose="020B0604020202020204" pitchFamily="34" charset="0"/>
                          <a:cs typeface="Arial" panose="020B0604020202020204" pitchFamily="34" charset="0"/>
                        </a:rPr>
                        <a:t>Overall Richness</a:t>
                      </a:r>
                      <a:endParaRPr lang="en-GB" sz="14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spcAft>
                          <a:spcPts val="0"/>
                        </a:spcAft>
                      </a:pPr>
                      <a:r>
                        <a:rPr lang="en-GB" sz="1400" dirty="0">
                          <a:effectLst/>
                          <a:latin typeface="Arial" panose="020B0604020202020204" pitchFamily="34" charset="0"/>
                          <a:cs typeface="Arial" panose="020B0604020202020204" pitchFamily="34" charset="0"/>
                        </a:rPr>
                        <a:t>-0.37</a:t>
                      </a:r>
                      <a:endParaRPr lang="en-GB" sz="14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spcAft>
                          <a:spcPts val="0"/>
                        </a:spcAft>
                      </a:pPr>
                      <a:r>
                        <a:rPr lang="en-GB" sz="1400" dirty="0">
                          <a:effectLst/>
                          <a:latin typeface="Arial" panose="020B0604020202020204" pitchFamily="34" charset="0"/>
                          <a:cs typeface="Arial" panose="020B0604020202020204" pitchFamily="34" charset="0"/>
                        </a:rPr>
                        <a:t> -0.1</a:t>
                      </a:r>
                      <a:endParaRPr lang="en-GB" sz="14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GB" sz="1400" dirty="0">
                        <a:effectLst/>
                        <a:latin typeface="Arial" panose="020B0604020202020204" pitchFamily="34" charset="0"/>
                        <a:cs typeface="Arial" panose="020B0604020202020204" pitchFamily="34"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GB" sz="1400" dirty="0">
                          <a:effectLst/>
                          <a:latin typeface="Arial" panose="020B0604020202020204" pitchFamily="34" charset="0"/>
                          <a:cs typeface="Arial" panose="020B0604020202020204" pitchFamily="34" charset="0"/>
                        </a:rPr>
                        <a:t>-0.47</a:t>
                      </a:r>
                      <a:endParaRPr lang="en-GB" sz="1400" dirty="0">
                        <a:effectLst/>
                        <a:latin typeface="Arial" panose="020B0604020202020204" pitchFamily="34" charset="0"/>
                        <a:ea typeface="Times New Roman" panose="02020603050405020304" pitchFamily="18" charset="0"/>
                        <a:cs typeface="Arial" panose="020B0604020202020204" pitchFamily="34" charset="0"/>
                      </a:endParaRPr>
                    </a:p>
                    <a:p>
                      <a:pPr algn="ctr">
                        <a:spcAft>
                          <a:spcPts val="0"/>
                        </a:spcAft>
                      </a:pPr>
                      <a:endParaRPr lang="en-GB" sz="14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1"/>
                  </a:ext>
                </a:extLst>
              </a:tr>
            </a:tbl>
          </a:graphicData>
        </a:graphic>
      </p:graphicFrame>
      <p:sp>
        <p:nvSpPr>
          <p:cNvPr id="58" name="TextBox 57">
            <a:extLst>
              <a:ext uri="{FF2B5EF4-FFF2-40B4-BE49-F238E27FC236}">
                <a16:creationId xmlns:a16="http://schemas.microsoft.com/office/drawing/2014/main" id="{C3981631-F12B-580D-22B7-3A54BE94AAFD}"/>
              </a:ext>
            </a:extLst>
          </p:cNvPr>
          <p:cNvSpPr txBox="1"/>
          <p:nvPr/>
        </p:nvSpPr>
        <p:spPr>
          <a:xfrm>
            <a:off x="5098250" y="4908063"/>
            <a:ext cx="3291550" cy="1015663"/>
          </a:xfrm>
          <a:prstGeom prst="rect">
            <a:avLst/>
          </a:prstGeom>
          <a:noFill/>
        </p:spPr>
        <p:txBody>
          <a:bodyPr wrap="square" rtlCol="0">
            <a:spAutoFit/>
          </a:bodyPr>
          <a:lstStyle/>
          <a:p>
            <a:r>
              <a:rPr lang="en-GB" sz="1200" dirty="0">
                <a:latin typeface="Arial" panose="020B0604020202020204" pitchFamily="34" charset="0"/>
                <a:cs typeface="Arial" panose="020B0604020202020204" pitchFamily="34" charset="0"/>
              </a:rPr>
              <a:t>HD       CO        BR =  0.62 x 0.011 = 0.00682</a:t>
            </a:r>
          </a:p>
          <a:p>
            <a:r>
              <a:rPr lang="en-GB" sz="1200" dirty="0">
                <a:latin typeface="Arial" panose="020B0604020202020204" pitchFamily="34" charset="0"/>
                <a:cs typeface="Arial" panose="020B0604020202020204" pitchFamily="34" charset="0"/>
              </a:rPr>
              <a:t>HD       FHD      BR = -0.67 x 0.26 = -0.1742</a:t>
            </a:r>
          </a:p>
          <a:p>
            <a:r>
              <a:rPr lang="en-GB" sz="1200" dirty="0">
                <a:latin typeface="Arial" panose="020B0604020202020204" pitchFamily="34" charset="0"/>
                <a:cs typeface="Arial" panose="020B0604020202020204" pitchFamily="34" charset="0"/>
              </a:rPr>
              <a:t>HD	  PD        BR = -0.45 x 0.46 = -0.207</a:t>
            </a:r>
          </a:p>
          <a:p>
            <a:endParaRPr lang="en-GB" sz="1200" dirty="0">
              <a:latin typeface="Arial" panose="020B0604020202020204" pitchFamily="34" charset="0"/>
              <a:cs typeface="Arial" panose="020B0604020202020204" pitchFamily="34" charset="0"/>
            </a:endParaRPr>
          </a:p>
          <a:p>
            <a:r>
              <a:rPr lang="en-GB" sz="1200" dirty="0">
                <a:latin typeface="Arial" panose="020B0604020202020204" pitchFamily="34" charset="0"/>
                <a:cs typeface="Arial" panose="020B0604020202020204" pitchFamily="34" charset="0"/>
              </a:rPr>
              <a:t>0.00682 +(-0.1742)+(-0.207) = -0.37</a:t>
            </a:r>
          </a:p>
        </p:txBody>
      </p:sp>
      <p:cxnSp>
        <p:nvCxnSpPr>
          <p:cNvPr id="61" name="Straight Arrow Connector 60">
            <a:extLst>
              <a:ext uri="{FF2B5EF4-FFF2-40B4-BE49-F238E27FC236}">
                <a16:creationId xmlns:a16="http://schemas.microsoft.com/office/drawing/2014/main" id="{1B534AAD-4E1D-25D3-B1A1-FEB55FD7A8EE}"/>
              </a:ext>
            </a:extLst>
          </p:cNvPr>
          <p:cNvCxnSpPr>
            <a:cxnSpLocks/>
          </p:cNvCxnSpPr>
          <p:nvPr/>
        </p:nvCxnSpPr>
        <p:spPr>
          <a:xfrm>
            <a:off x="5458743" y="5046699"/>
            <a:ext cx="197927"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4" name="Straight Arrow Connector 63">
            <a:extLst>
              <a:ext uri="{FF2B5EF4-FFF2-40B4-BE49-F238E27FC236}">
                <a16:creationId xmlns:a16="http://schemas.microsoft.com/office/drawing/2014/main" id="{F32D229C-84B2-1CE7-59B6-EA4968466B93}"/>
              </a:ext>
            </a:extLst>
          </p:cNvPr>
          <p:cNvCxnSpPr>
            <a:cxnSpLocks/>
          </p:cNvCxnSpPr>
          <p:nvPr/>
        </p:nvCxnSpPr>
        <p:spPr>
          <a:xfrm>
            <a:off x="5966754" y="5045780"/>
            <a:ext cx="197927"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5" name="Straight Arrow Connector 64">
            <a:extLst>
              <a:ext uri="{FF2B5EF4-FFF2-40B4-BE49-F238E27FC236}">
                <a16:creationId xmlns:a16="http://schemas.microsoft.com/office/drawing/2014/main" id="{9902BCDF-941E-2FB7-BF07-2D3CC26920AE}"/>
              </a:ext>
            </a:extLst>
          </p:cNvPr>
          <p:cNvCxnSpPr>
            <a:cxnSpLocks/>
          </p:cNvCxnSpPr>
          <p:nvPr/>
        </p:nvCxnSpPr>
        <p:spPr>
          <a:xfrm>
            <a:off x="5439851" y="5215130"/>
            <a:ext cx="197927"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6" name="Straight Arrow Connector 65">
            <a:extLst>
              <a:ext uri="{FF2B5EF4-FFF2-40B4-BE49-F238E27FC236}">
                <a16:creationId xmlns:a16="http://schemas.microsoft.com/office/drawing/2014/main" id="{7F603BAD-6BB7-F53C-A32B-0BE0ED400C19}"/>
              </a:ext>
            </a:extLst>
          </p:cNvPr>
          <p:cNvCxnSpPr>
            <a:cxnSpLocks/>
          </p:cNvCxnSpPr>
          <p:nvPr/>
        </p:nvCxnSpPr>
        <p:spPr>
          <a:xfrm>
            <a:off x="6037521" y="5219951"/>
            <a:ext cx="197927"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7" name="Straight Arrow Connector 66">
            <a:extLst>
              <a:ext uri="{FF2B5EF4-FFF2-40B4-BE49-F238E27FC236}">
                <a16:creationId xmlns:a16="http://schemas.microsoft.com/office/drawing/2014/main" id="{301488D7-0010-2E0E-9163-9E393A5DA3FC}"/>
              </a:ext>
            </a:extLst>
          </p:cNvPr>
          <p:cNvCxnSpPr>
            <a:cxnSpLocks/>
          </p:cNvCxnSpPr>
          <p:nvPr/>
        </p:nvCxnSpPr>
        <p:spPr>
          <a:xfrm>
            <a:off x="5427973" y="5390981"/>
            <a:ext cx="197927"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8" name="Straight Arrow Connector 67">
            <a:extLst>
              <a:ext uri="{FF2B5EF4-FFF2-40B4-BE49-F238E27FC236}">
                <a16:creationId xmlns:a16="http://schemas.microsoft.com/office/drawing/2014/main" id="{B2E9BB9E-842D-AD56-9303-3029892E76FB}"/>
              </a:ext>
            </a:extLst>
          </p:cNvPr>
          <p:cNvCxnSpPr>
            <a:cxnSpLocks/>
          </p:cNvCxnSpPr>
          <p:nvPr/>
        </p:nvCxnSpPr>
        <p:spPr>
          <a:xfrm>
            <a:off x="5982101" y="5406688"/>
            <a:ext cx="197927"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9" name="TextBox 68">
            <a:extLst>
              <a:ext uri="{FF2B5EF4-FFF2-40B4-BE49-F238E27FC236}">
                <a16:creationId xmlns:a16="http://schemas.microsoft.com/office/drawing/2014/main" id="{F10AFAEC-625B-C3F8-B992-E7619D084761}"/>
              </a:ext>
            </a:extLst>
          </p:cNvPr>
          <p:cNvSpPr txBox="1"/>
          <p:nvPr/>
        </p:nvSpPr>
        <p:spPr>
          <a:xfrm>
            <a:off x="6491330" y="3586378"/>
            <a:ext cx="2375740" cy="646331"/>
          </a:xfrm>
          <a:prstGeom prst="rect">
            <a:avLst/>
          </a:prstGeom>
          <a:noFill/>
        </p:spPr>
        <p:txBody>
          <a:bodyPr wrap="square" rtlCol="0">
            <a:spAutoFit/>
          </a:bodyPr>
          <a:lstStyle/>
          <a:p>
            <a:r>
              <a:rPr lang="en-US" i="1" dirty="0">
                <a:latin typeface="Arial" panose="020B0604020202020204" pitchFamily="34" charset="0"/>
                <a:cs typeface="Arial" panose="020B0604020202020204" pitchFamily="34" charset="0"/>
              </a:rPr>
              <a:t>X</a:t>
            </a:r>
            <a:r>
              <a:rPr lang="en-US" i="1" baseline="30000" dirty="0">
                <a:latin typeface="Arial" panose="020B0604020202020204" pitchFamily="34" charset="0"/>
                <a:cs typeface="Arial" panose="020B0604020202020204" pitchFamily="34" charset="0"/>
              </a:rPr>
              <a:t>2</a:t>
            </a:r>
            <a:r>
              <a:rPr lang="en-US" i="1" dirty="0">
                <a:latin typeface="Arial" panose="020B0604020202020204" pitchFamily="34" charset="0"/>
                <a:cs typeface="Arial" panose="020B0604020202020204" pitchFamily="34" charset="0"/>
              </a:rPr>
              <a:t> </a:t>
            </a:r>
            <a:r>
              <a:rPr lang="en-US" dirty="0">
                <a:latin typeface="Arial" panose="020B0604020202020204" pitchFamily="34" charset="0"/>
                <a:cs typeface="Arial" panose="020B0604020202020204" pitchFamily="34" charset="0"/>
              </a:rPr>
              <a:t>= 2.76 (</a:t>
            </a:r>
            <a:r>
              <a:rPr lang="en-US" i="1" dirty="0">
                <a:latin typeface="Arial" panose="020B0604020202020204" pitchFamily="34" charset="0"/>
                <a:cs typeface="Arial" panose="020B0604020202020204" pitchFamily="34" charset="0"/>
              </a:rPr>
              <a:t>p</a:t>
            </a:r>
            <a:r>
              <a:rPr lang="en-US" dirty="0">
                <a:latin typeface="Arial" panose="020B0604020202020204" pitchFamily="34" charset="0"/>
                <a:cs typeface="Arial" panose="020B0604020202020204" pitchFamily="34" charset="0"/>
              </a:rPr>
              <a:t> = 0.89)</a:t>
            </a:r>
          </a:p>
          <a:p>
            <a:r>
              <a:rPr lang="en-US" dirty="0" err="1">
                <a:latin typeface="Arial" panose="020B0604020202020204" pitchFamily="34" charset="0"/>
                <a:cs typeface="Arial" panose="020B0604020202020204" pitchFamily="34" charset="0"/>
              </a:rPr>
              <a:t>df</a:t>
            </a:r>
            <a:r>
              <a:rPr lang="en-US" dirty="0">
                <a:latin typeface="Arial" panose="020B0604020202020204" pitchFamily="34" charset="0"/>
                <a:cs typeface="Arial" panose="020B0604020202020204" pitchFamily="34" charset="0"/>
              </a:rPr>
              <a:t> = 6</a:t>
            </a:r>
          </a:p>
        </p:txBody>
      </p:sp>
    </p:spTree>
    <p:extLst>
      <p:ext uri="{BB962C8B-B14F-4D97-AF65-F5344CB8AC3E}">
        <p14:creationId xmlns:p14="http://schemas.microsoft.com/office/powerpoint/2010/main" val="37146103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1"/>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4"/>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5"/>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6"/>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67"/>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6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 grpId="0"/>
      <p:bldP spid="69" grpId="0"/>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93F3C809-D776-7C96-99DB-516E8D82F809}"/>
              </a:ext>
            </a:extLst>
          </p:cNvPr>
          <p:cNvSpPr txBox="1"/>
          <p:nvPr/>
        </p:nvSpPr>
        <p:spPr>
          <a:xfrm>
            <a:off x="203690" y="353698"/>
            <a:ext cx="8803150" cy="1667957"/>
          </a:xfrm>
          <a:prstGeom prst="rect">
            <a:avLst/>
          </a:prstGeom>
          <a:noFill/>
        </p:spPr>
        <p:txBody>
          <a:bodyPr wrap="square">
            <a:spAutoFit/>
          </a:bodyPr>
          <a:lstStyle/>
          <a:p>
            <a:r>
              <a:rPr lang="en-SG" sz="2400" b="1" dirty="0">
                <a:effectLst/>
                <a:latin typeface="Arial" panose="020B0604020202020204" pitchFamily="34" charset="0"/>
                <a:cs typeface="Arial" panose="020B0604020202020204" pitchFamily="34" charset="0"/>
              </a:rPr>
              <a:t>Think Critically!</a:t>
            </a:r>
          </a:p>
          <a:p>
            <a:pPr marL="285750" indent="-285750">
              <a:lnSpc>
                <a:spcPct val="150000"/>
              </a:lnSpc>
              <a:buFont typeface="Arial" panose="020B0604020202020204" pitchFamily="34" charset="0"/>
              <a:buChar char="•"/>
            </a:pPr>
            <a:r>
              <a:rPr lang="en-SG" dirty="0">
                <a:solidFill>
                  <a:srgbClr val="000000"/>
                </a:solidFill>
                <a:latin typeface="Helvetica" pitchFamily="2" charset="0"/>
              </a:rPr>
              <a:t>SEM is a tool, it is up to the user to employ it thoughtfully.</a:t>
            </a:r>
          </a:p>
          <a:p>
            <a:pPr marL="285750" indent="-285750">
              <a:lnSpc>
                <a:spcPct val="150000"/>
              </a:lnSpc>
              <a:buFont typeface="Arial" panose="020B0604020202020204" pitchFamily="34" charset="0"/>
              <a:buChar char="•"/>
            </a:pPr>
            <a:r>
              <a:rPr lang="en-SG" dirty="0">
                <a:solidFill>
                  <a:srgbClr val="000000"/>
                </a:solidFill>
                <a:latin typeface="Helvetica" pitchFamily="2" charset="0"/>
              </a:rPr>
              <a:t>Do not rely on the statistics as much as what you know about biology and ecology.</a:t>
            </a:r>
          </a:p>
          <a:p>
            <a:pPr marL="285750" indent="-285750">
              <a:lnSpc>
                <a:spcPct val="150000"/>
              </a:lnSpc>
              <a:buFont typeface="Arial" panose="020B0604020202020204" pitchFamily="34" charset="0"/>
              <a:buChar char="•"/>
            </a:pPr>
            <a:r>
              <a:rPr lang="en-SG" dirty="0">
                <a:solidFill>
                  <a:srgbClr val="000000"/>
                </a:solidFill>
                <a:latin typeface="Helvetica" pitchFamily="2" charset="0"/>
              </a:rPr>
              <a:t>If the answer does not make sense, assume the model or test is wrong!</a:t>
            </a:r>
          </a:p>
        </p:txBody>
      </p:sp>
      <p:sp>
        <p:nvSpPr>
          <p:cNvPr id="5" name="TextBox 4">
            <a:extLst>
              <a:ext uri="{FF2B5EF4-FFF2-40B4-BE49-F238E27FC236}">
                <a16:creationId xmlns:a16="http://schemas.microsoft.com/office/drawing/2014/main" id="{E0B936D5-1612-022B-89B1-C50DDB4683D0}"/>
              </a:ext>
            </a:extLst>
          </p:cNvPr>
          <p:cNvSpPr txBox="1"/>
          <p:nvPr/>
        </p:nvSpPr>
        <p:spPr>
          <a:xfrm>
            <a:off x="203690" y="2189863"/>
            <a:ext cx="8728853" cy="2072299"/>
          </a:xfrm>
          <a:prstGeom prst="rect">
            <a:avLst/>
          </a:prstGeom>
          <a:noFill/>
        </p:spPr>
        <p:txBody>
          <a:bodyPr wrap="square">
            <a:spAutoFit/>
          </a:bodyPr>
          <a:lstStyle/>
          <a:p>
            <a:r>
              <a:rPr lang="en-US" sz="2400" b="1" dirty="0">
                <a:latin typeface="Arial" panose="020B0604020202020204" pitchFamily="34" charset="0"/>
                <a:cs typeface="Arial" panose="020B0604020202020204" pitchFamily="34" charset="0"/>
              </a:rPr>
              <a:t>My Advice!</a:t>
            </a:r>
          </a:p>
          <a:p>
            <a:pPr marL="285750" indent="-285750">
              <a:lnSpc>
                <a:spcPct val="150000"/>
              </a:lnSpc>
              <a:buFont typeface="Arial" panose="020B0604020202020204" pitchFamily="34" charset="0"/>
              <a:buChar char="•"/>
            </a:pPr>
            <a:r>
              <a:rPr lang="en-US" dirty="0">
                <a:latin typeface="Arial" panose="020B0604020202020204" pitchFamily="34" charset="0"/>
                <a:cs typeface="Arial" panose="020B0604020202020204" pitchFamily="34" charset="0"/>
              </a:rPr>
              <a:t>Start by drawing a causal diagram (DAG) that reflects your research question(s).</a:t>
            </a:r>
          </a:p>
          <a:p>
            <a:pPr marL="285750" indent="-285750">
              <a:lnSpc>
                <a:spcPct val="150000"/>
              </a:lnSpc>
              <a:buFont typeface="Arial" panose="020B0604020202020204" pitchFamily="34" charset="0"/>
              <a:buChar char="•"/>
            </a:pPr>
            <a:r>
              <a:rPr lang="en-US" dirty="0">
                <a:latin typeface="Arial" panose="020B0604020202020204" pitchFamily="34" charset="0"/>
                <a:cs typeface="Arial" panose="020B0604020202020204" pitchFamily="34" charset="0"/>
              </a:rPr>
              <a:t>Build your DAG based on evidence from previous studies, your understanding of the study system and underlying ecological mechanisms, and expert knowledge.</a:t>
            </a:r>
          </a:p>
          <a:p>
            <a:pPr marL="285750" indent="-285750">
              <a:lnSpc>
                <a:spcPct val="150000"/>
              </a:lnSpc>
              <a:buFont typeface="Arial" panose="020B0604020202020204" pitchFamily="34" charset="0"/>
              <a:buChar char="•"/>
            </a:pPr>
            <a:r>
              <a:rPr lang="en-US" dirty="0">
                <a:latin typeface="Arial" panose="020B0604020202020204" pitchFamily="34" charset="0"/>
                <a:cs typeface="Arial" panose="020B0604020202020204" pitchFamily="34" charset="0"/>
              </a:rPr>
              <a:t>“No causes in, no causes out!” — Nancy Cartwright</a:t>
            </a:r>
          </a:p>
        </p:txBody>
      </p:sp>
      <p:sp>
        <p:nvSpPr>
          <p:cNvPr id="6" name="TextBox 5">
            <a:extLst>
              <a:ext uri="{FF2B5EF4-FFF2-40B4-BE49-F238E27FC236}">
                <a16:creationId xmlns:a16="http://schemas.microsoft.com/office/drawing/2014/main" id="{4FBB99C0-4E79-C41A-2A06-4100647CED90}"/>
              </a:ext>
            </a:extLst>
          </p:cNvPr>
          <p:cNvSpPr txBox="1"/>
          <p:nvPr/>
        </p:nvSpPr>
        <p:spPr>
          <a:xfrm>
            <a:off x="203690" y="4430370"/>
            <a:ext cx="8608840" cy="1241302"/>
          </a:xfrm>
          <a:prstGeom prst="rect">
            <a:avLst/>
          </a:prstGeom>
          <a:noFill/>
        </p:spPr>
        <p:txBody>
          <a:bodyPr wrap="square">
            <a:spAutoFit/>
          </a:bodyPr>
          <a:lstStyle/>
          <a:p>
            <a:r>
              <a:rPr lang="en-US" sz="2400" b="1" dirty="0">
                <a:latin typeface="Arial" panose="020B0604020202020204" pitchFamily="34" charset="0"/>
                <a:cs typeface="Arial" panose="020B0604020202020204" pitchFamily="34" charset="0"/>
              </a:rPr>
              <a:t>Remember!</a:t>
            </a:r>
          </a:p>
          <a:p>
            <a:pPr marL="285750" indent="-285750">
              <a:lnSpc>
                <a:spcPct val="150000"/>
              </a:lnSpc>
              <a:buFont typeface="Arial" panose="020B0604020202020204" pitchFamily="34" charset="0"/>
              <a:buChar char="•"/>
            </a:pPr>
            <a:r>
              <a:rPr lang="en-US" dirty="0">
                <a:latin typeface="Arial" panose="020B0604020202020204" pitchFamily="34" charset="0"/>
                <a:cs typeface="Arial" panose="020B0604020202020204" pitchFamily="34" charset="0"/>
              </a:rPr>
              <a:t>Your DAG should represent your causal assumptions, not simply the statistical relationships observed in your data.</a:t>
            </a:r>
          </a:p>
        </p:txBody>
      </p:sp>
      <p:sp>
        <p:nvSpPr>
          <p:cNvPr id="8" name="TextBox 7">
            <a:extLst>
              <a:ext uri="{FF2B5EF4-FFF2-40B4-BE49-F238E27FC236}">
                <a16:creationId xmlns:a16="http://schemas.microsoft.com/office/drawing/2014/main" id="{B801133E-77D2-1268-800B-67A274B09FD0}"/>
              </a:ext>
            </a:extLst>
          </p:cNvPr>
          <p:cNvSpPr txBox="1"/>
          <p:nvPr/>
        </p:nvSpPr>
        <p:spPr>
          <a:xfrm>
            <a:off x="4773857" y="5981082"/>
            <a:ext cx="3692490" cy="523220"/>
          </a:xfrm>
          <a:prstGeom prst="rect">
            <a:avLst/>
          </a:prstGeom>
          <a:noFill/>
        </p:spPr>
        <p:txBody>
          <a:bodyPr wrap="square">
            <a:spAutoFit/>
          </a:bodyPr>
          <a:lstStyle/>
          <a:p>
            <a:r>
              <a:rPr lang="en-US" sz="1400" dirty="0">
                <a:latin typeface="Arial" panose="020B0604020202020204" pitchFamily="34" charset="0"/>
                <a:cs typeface="Arial" panose="020B0604020202020204" pitchFamily="34" charset="0"/>
              </a:rPr>
              <a:t>Priyadarshana &amp; Slade 2026,</a:t>
            </a:r>
          </a:p>
          <a:p>
            <a:r>
              <a:rPr lang="en-US" sz="1400" dirty="0">
                <a:latin typeface="Arial" panose="020B0604020202020204" pitchFamily="34" charset="0"/>
                <a:cs typeface="Arial" panose="020B0604020202020204" pitchFamily="34" charset="0"/>
              </a:rPr>
              <a:t>https://</a:t>
            </a:r>
            <a:r>
              <a:rPr lang="en-US" sz="1400" dirty="0" err="1">
                <a:latin typeface="Arial" panose="020B0604020202020204" pitchFamily="34" charset="0"/>
                <a:cs typeface="Arial" panose="020B0604020202020204" pitchFamily="34" charset="0"/>
              </a:rPr>
              <a:t>doi.org</a:t>
            </a:r>
            <a:r>
              <a:rPr lang="en-US" sz="1400" dirty="0">
                <a:latin typeface="Arial" panose="020B0604020202020204" pitchFamily="34" charset="0"/>
                <a:cs typeface="Arial" panose="020B0604020202020204" pitchFamily="34" charset="0"/>
              </a:rPr>
              <a:t>/10.1016/j.cois.2026.101538</a:t>
            </a:r>
          </a:p>
        </p:txBody>
      </p:sp>
    </p:spTree>
    <p:extLst>
      <p:ext uri="{BB962C8B-B14F-4D97-AF65-F5344CB8AC3E}">
        <p14:creationId xmlns:p14="http://schemas.microsoft.com/office/powerpoint/2010/main" val="15511028"/>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1E00EC-55C9-8F2F-987C-D22A9B32E3D7}"/>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D563AA9-9146-2208-F649-7205B3EDEC3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63090" y="777240"/>
            <a:ext cx="5132070" cy="5132070"/>
          </a:xfrm>
          <a:prstGeom prst="rect">
            <a:avLst/>
          </a:prstGeom>
        </p:spPr>
      </p:pic>
    </p:spTree>
    <p:extLst>
      <p:ext uri="{BB962C8B-B14F-4D97-AF65-F5344CB8AC3E}">
        <p14:creationId xmlns:p14="http://schemas.microsoft.com/office/powerpoint/2010/main" val="3431835521"/>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57031</TotalTime>
  <Words>4084</Words>
  <Application>Microsoft Macintosh PowerPoint</Application>
  <PresentationFormat>On-screen Show (4:3)</PresentationFormat>
  <Paragraphs>785</Paragraphs>
  <Slides>82</Slides>
  <Notes>10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82</vt:i4>
      </vt:variant>
    </vt:vector>
  </HeadingPairs>
  <TitlesOfParts>
    <vt:vector size="87" baseType="lpstr">
      <vt:lpstr>Arial</vt:lpstr>
      <vt:lpstr>Calibri</vt:lpstr>
      <vt:lpstr>Calibri Light</vt:lpstr>
      <vt:lpstr>Helvetica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Tharaka S. Priyadarshana</dc:creator>
  <cp:lastModifiedBy>Tharaka Sudesh Priyadarshana</cp:lastModifiedBy>
  <cp:revision>1001</cp:revision>
  <dcterms:created xsi:type="dcterms:W3CDTF">2019-05-14T19:17:51Z</dcterms:created>
  <dcterms:modified xsi:type="dcterms:W3CDTF">2026-10-21T19:33:46Z</dcterms:modified>
</cp:coreProperties>
</file>